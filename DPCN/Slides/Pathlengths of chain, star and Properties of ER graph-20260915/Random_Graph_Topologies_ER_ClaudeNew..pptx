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74" r:id="rId12"/>
    <p:sldId id="275" r:id="rId13"/>
    <p:sldId id="276" r:id="rId14"/>
    <p:sldId id="277" r:id="rId15"/>
    <p:sldId id="278" r:id="rId16"/>
    <p:sldId id="306" r:id="rId17"/>
    <p:sldId id="279" r:id="rId18"/>
    <p:sldId id="280" r:id="rId19"/>
    <p:sldId id="281" r:id="rId20"/>
    <p:sldId id="1000" r:id="rId21"/>
    <p:sldId id="282" r:id="rId22"/>
    <p:sldId id="283" r:id="rId23"/>
    <p:sldId id="284" r:id="rId24"/>
    <p:sldId id="1030" r:id="rId25"/>
    <p:sldId id="1042" r:id="rId26"/>
    <p:sldId id="1043" r:id="rId27"/>
    <p:sldId id="1044" r:id="rId28"/>
    <p:sldId id="1045" r:id="rId29"/>
    <p:sldId id="285" r:id="rId30"/>
    <p:sldId id="286" r:id="rId31"/>
    <p:sldId id="1046" r:id="rId32"/>
    <p:sldId id="289" r:id="rId33"/>
    <p:sldId id="290" r:id="rId34"/>
    <p:sldId id="1047" r:id="rId35"/>
    <p:sldId id="287" r:id="rId36"/>
    <p:sldId id="1050" r:id="rId37"/>
    <p:sldId id="1051" r:id="rId38"/>
    <p:sldId id="1052" r:id="rId39"/>
    <p:sldId id="1053" r:id="rId40"/>
    <p:sldId id="1054" r:id="rId41"/>
    <p:sldId id="1055" r:id="rId42"/>
    <p:sldId id="1056" r:id="rId43"/>
    <p:sldId id="1057" r:id="rId44"/>
    <p:sldId id="1058" r:id="rId45"/>
    <p:sldId id="288" r:id="rId46"/>
    <p:sldId id="307" r:id="rId47"/>
    <p:sldId id="266" r:id="rId48"/>
    <p:sldId id="989" r:id="rId49"/>
    <p:sldId id="991" r:id="rId50"/>
    <p:sldId id="992" r:id="rId51"/>
    <p:sldId id="993" r:id="rId52"/>
    <p:sldId id="994" r:id="rId53"/>
    <p:sldId id="995" r:id="rId54"/>
    <p:sldId id="997" r:id="rId55"/>
    <p:sldId id="998" r:id="rId56"/>
    <p:sldId id="999" r:id="rId57"/>
    <p:sldId id="996" r:id="rId58"/>
    <p:sldId id="267" r:id="rId59"/>
    <p:sldId id="268" r:id="rId60"/>
    <p:sldId id="269" r:id="rId61"/>
    <p:sldId id="270" r:id="rId62"/>
    <p:sldId id="271" r:id="rId63"/>
    <p:sldId id="272" r:id="rId64"/>
    <p:sldId id="273" r:id="rId65"/>
    <p:sldId id="291" r:id="rId66"/>
    <p:sldId id="292" r:id="rId67"/>
    <p:sldId id="293" r:id="rId68"/>
    <p:sldId id="1059" r:id="rId69"/>
    <p:sldId id="294" r:id="rId70"/>
    <p:sldId id="295" r:id="rId71"/>
    <p:sldId id="296" r:id="rId72"/>
    <p:sldId id="297" r:id="rId73"/>
    <p:sldId id="298" r:id="rId74"/>
    <p:sldId id="299" r:id="rId75"/>
    <p:sldId id="300" r:id="rId76"/>
    <p:sldId id="301" r:id="rId77"/>
    <p:sldId id="302" r:id="rId78"/>
    <p:sldId id="303" r:id="rId79"/>
    <p:sldId id="304" r:id="rId80"/>
    <p:sldId id="305" r:id="rId8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445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we build the entire topology of G(n,p) analytically. Every result on these 50 slides is derived, not quoted. The talk closes with the probability-generating-function formalism, which subsumes almost everything that came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structural fact: two thresholds, separated by a factor of ln n. Students routinely conflate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everything follows from one modelling choice — edges are independent.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Independence of edges is the single assumption that produces every result in this deck — and the single reason ER fails to reproduce clustering.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Binomial is exact, the Poisson is a limit. All later closed-form results use the Poisson 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limits are worth writing out separately — students usually wave at 'Stirling' and miss that factor (iii) is what makes the k-dependence drop 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pointwise error 3.5e-3 at n=100 was computed, not estimated.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panel is log-scale: the curvature downward is the factorial, and it is what kills hubs.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networkx fast_gnp_random_graph, n=20000, p=6/(n-1), single realisation, seed 11.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in the table are exact Poisson pmf values, normalised power law over k=1..1000.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 the celebrated transition, and the one with a genuine order parameter.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locally-tree-like assumption explicitly. It is the same assumption that later makes clustering vanish.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disappearance of n is the deep point: universality. Only &lt;k&gt; matters.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&lt;k&gt;=5 the giant holds 99.3% of nodes and the graph is still disconnected — the ln n threshold is far above 5 for any large n. This is the punchline of the two-threshold story.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tangency picture is the whole transition: a fixed point being born as a slope crosses one. Identical mathematics to the mean-field Ising magnetisation.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Derivation of beta: 1-e^{-kS} ≈ kS - (kS)^2/2, set equal to S, solve for 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8 realisations per point for n=200 and 2000, 3 for n=20000.</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largest component. Grey = isolated vertices and pairs. Same n and layout algorithm across all four; only p changes.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geometric series here is heuristic; slide 47 gives the rigorous PGF derivation. Deliberate forward reference.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realisations per point. This single figure closes Sections II and III together.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IV: two successes (short paths, the paradox) and one instructive failure (clustering).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Geometric growth is the mechanism; the logarithm is just its inverse.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concentration of the distance distribution is what makes ER a poor model of geography and a good model of, say, well-mixed epidemics.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routes — a local conditional expectation and a global ratio of counts — give the same answer. In ER, C-bar = T = p exactly.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panel: ER predictions computed as &lt;k&gt;/N from each network's published n and mean degree. The gap is three to four orders of magnitude.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universality of &lt;k_nn&gt; &gt; &lt;k&gt; is the memorable part. The ER specialisation to exactly +1 is the cute part.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first, then the surprise. Note that eq (10) averages over NODES with equal weight - that is the definition in the notes. There is a second, edge-weighted average which is the one that equals &lt;k^2&gt;/&lt;k&gt; exactly in any graph; for Poisson degrees the two coincide, which is why the notes' claim is correct here. We verify both numerically in a moment.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edge-end counting argument is the cleanest derivation and it is what the notes do on page 9 with the 10-node graph: 20 edge-ends, 5 of them belong to the degree-5 node, so q_5 = 5/20. Say the bus/queue analogy out loud - it lands.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notes' own example rebuilt: degrees 1,1,1,1,2,2,2,2,3,5, sum 20, &lt;k&gt; = 2. Walk through q_5 = 5 x (1/10) / 2 = 5/20 = 0.25 versus p_5 = 0.10. The crossover is exactly at k = &lt;k&gt;: below it q &lt; p, above it q &gt; p, and equality at k = &lt;k&gt; = 2. That is a general feature of size-biasing.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identity &lt;k^2&gt;/&lt;k&gt; = &lt;k&gt; + Var(k)/&lt;k&gt; is the one to remember - it makes the friendship paradox obvious and quantitative. It also shows the effect is about variance, so it is strongest for heavy-tailed degree distributions, which is why it matters so much for scale-free networks.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proofs are worth giving because they illuminate different things. The moment proof shows it is Var(k)/&lt;k&gt; = 1 for Poisson. The direct proof shows WHERE the +1 comes from: the edge you arrived along. Measured: at &lt;k&gt;=2 we got 3.047 vs 3; at &lt;k&gt;=10, 10.95 vs 11.</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repetition argument is worth stating explicitly: the calculation for z_2 never used the fact that we were on step 2, so it iterates. This is exactly the shell census panel in the ER dashboard - open it here and drag &lt;k&gt; to watch the bars follow &lt;k&gt;^l.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one that deserves a caveat: 'most nodes at distance about L' is exactly the statement the notes make on page 13, and it is right because the shell sizes are geometric - the last shell dominates. So the ball of radius L holding N nodes gives &lt;k&gt;^L = N immediately.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the 5%: the formula captures the scaling, not the constant. Refinements like L = ln(N/&lt;k&gt;)/ln&lt;k&gt; + 1/2 exist. What matters for the physics is the ln N - a graph of a billion nodes has L around 9 or 10 at &lt;k&gt; = 10.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the question written in the notes. For N = 10^3 and &lt;k&gt; = 10 the prediction z_4 = 10^4 exceeds the entire graph, so it is impossible; measurement gives 522 and then 9. The saturation point is m = L, which closes the loop with the previous slide beautifully.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panel uses a continuous power law with k_max = 10^4 — the divergence is cut off by finite size, which is exactly what happens in real data.</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the first phase transition. Note it is NOT the giant-component transition.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943080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E30AD-3FC5-437F-F48E-6D23F05E7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2A9CA-8914-8461-E040-50418940C3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4B11A-AAAE-D486-1721-69FB8F65CA1D}"/>
              </a:ext>
            </a:extLst>
          </p:cNvPr>
          <p:cNvSpPr>
            <a:spLocks noGrp="1"/>
          </p:cNvSpPr>
          <p:nvPr>
            <p:ph type="body" idx="1"/>
          </p:nvPr>
        </p:nvSpPr>
        <p:spPr/>
        <p:txBody>
          <a:bodyPr/>
          <a:lstStyle/>
          <a:p>
            <a:r>
              <a:rPr lang="en-US" dirty="0"/>
              <a:t>The four columns are the same statement at four scales; p = ln n/n gives E[X] = n e^{-ln n} = 1 identically.</a:t>
            </a:r>
          </a:p>
        </p:txBody>
      </p:sp>
      <p:sp>
        <p:nvSpPr>
          <p:cNvPr id="4" name="Slide Number Placeholder 3">
            <a:extLst>
              <a:ext uri="{FF2B5EF4-FFF2-40B4-BE49-F238E27FC236}">
                <a16:creationId xmlns:a16="http://schemas.microsoft.com/office/drawing/2014/main" id="{C12B6B2B-519A-0339-E012-A178723DDF90}"/>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33613367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F559C-DC64-9117-15BD-26015B684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2EE07-DBE2-9648-9411-5266BD0439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38882-F75D-482E-8DFA-49D8EBB59E39}"/>
              </a:ext>
            </a:extLst>
          </p:cNvPr>
          <p:cNvSpPr>
            <a:spLocks noGrp="1"/>
          </p:cNvSpPr>
          <p:nvPr>
            <p:ph type="body" idx="1"/>
          </p:nvPr>
        </p:nvSpPr>
        <p:spPr/>
        <p:txBody>
          <a:bodyPr/>
          <a:lstStyle/>
          <a:p>
            <a:r>
              <a:rPr lang="en-US" dirty="0"/>
              <a:t>This slide is the conceptual payoff of Section II: an extreme-value statement, not a bulk statement.</a:t>
            </a:r>
          </a:p>
        </p:txBody>
      </p:sp>
      <p:sp>
        <p:nvSpPr>
          <p:cNvPr id="4" name="Slide Number Placeholder 3">
            <a:extLst>
              <a:ext uri="{FF2B5EF4-FFF2-40B4-BE49-F238E27FC236}">
                <a16:creationId xmlns:a16="http://schemas.microsoft.com/office/drawing/2014/main" id="{AB236E2D-AE72-336D-5F3D-27784EAADC15}"/>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20174675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CE62-2B6A-1330-5647-C6574002B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5B8A5-7360-0B1B-FF1C-5397B19E5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199827-A9A8-F689-98E9-E6FE8F2F83EC}"/>
              </a:ext>
            </a:extLst>
          </p:cNvPr>
          <p:cNvSpPr>
            <a:spLocks noGrp="1"/>
          </p:cNvSpPr>
          <p:nvPr>
            <p:ph type="body" idx="1"/>
          </p:nvPr>
        </p:nvSpPr>
        <p:spPr/>
        <p:txBody>
          <a:bodyPr/>
          <a:lstStyle/>
          <a:p>
            <a:r>
              <a:rPr lang="en-US" dirty="0"/>
              <a:t>If students remember one slide from Section II, it should be this one.</a:t>
            </a:r>
          </a:p>
        </p:txBody>
      </p:sp>
      <p:sp>
        <p:nvSpPr>
          <p:cNvPr id="4" name="Slide Number Placeholder 3">
            <a:extLst>
              <a:ext uri="{FF2B5EF4-FFF2-40B4-BE49-F238E27FC236}">
                <a16:creationId xmlns:a16="http://schemas.microsoft.com/office/drawing/2014/main" id="{B1A6FDBC-52A3-0493-B4D6-80FE95F13BAA}"/>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3322216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Monotone property: adding edges never destroys it. Connectivity, containing a triangle, Hamiltonicity are all monotone.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26991542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 equivalence pass unremarked — it is where the real content of the theorem sits.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4284489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columns are the same statement at four scales; p = ln n/n gives E[X] = n e^{-ln n} = 1 identically.</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20615406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Chen-Stein is the technically delicate step; everything before it is elementary. Mention the total variation bound is O(1/n).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7788919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120 realisations per point per n, exact connectivity test. The collapse onto e^{-e^{-c}} is the content of the theorem.</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6669100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conceptual payoff of Section II: an extreme-value statement, not a bulk statement.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9469729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remember one slide from Section II, it should be this one.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4563819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 a ladder of thresholds. Each structure has its own critical density.</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coincidence of first-cycle and giant-component thresholds at 1/n is not accidental: both require the mean excess degree to reach one.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exponent -2/(r-1) for K_r: K_r needs C(r,2) edges on r vertices; setting n^r p^{C(r,2)} = Theta(1) gives the result.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 keep the local tree structure, throw away the Poisson degree law.</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Molloy-Reed 1995. The excess degree is why the criterion involves the second moment at all.</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consequence: random vaccination is hopeless on a scale-free contact network; targeted, hub-first immunisation is required.</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VII is the payoff. Everything derived by hand in Sections I-VI drops out of this one formalism, and the general case comes free.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section re-derives earlier results, then goes beyond them.</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exponential form e^{lambda(z-1)} is the single most useful identity in this section. Everything downstream is a consequence of it.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g0 = g1 is unique to the Poisson distribution among all degree distributions — it is the generating-function statement of 'Poisson is its own size-bias, shifted'.</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number of iid summands' structure is the powers property applied with a random exponent — that is exactly what composing g0 with h does.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justifies the whole formalism: same answer, but now it is a theorem rather than a plausible bookkeeping argument.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numerical check performed: sum_s s*pi_s at &lt;k&gt;=0.8 equals 5.000000 to 15 digits, and sum_s pi_s = 1.0.</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the formalism was worth building: Sections III, VI and VII collapse into two equations.</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duality: ER is the right null model precisely because its failures are informative and analytically transparent.</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p:cNvSpPr>
            <a:spLocks noGrp="1"/>
          </p:cNvSpPr>
          <p:nvPr>
            <p:ph type="ftr" sz="quarter" idx="11"/>
          </p:nvPr>
        </p:nvSpPr>
        <p:spPr/>
        <p:txBody>
          <a:bodyPr/>
          <a:lstStyle/>
          <a:p>
            <a:r>
              <a:rPr lang="en-IN"/>
              <a:t>C.H, CCNSB</a:t>
            </a:r>
          </a:p>
        </p:txBody>
      </p:sp>
      <p:sp>
        <p:nvSpPr>
          <p:cNvPr id="6" name="Slide Number Placeholder 5"/>
          <p:cNvSpPr>
            <a:spLocks noGrp="1"/>
          </p:cNvSpPr>
          <p:nvPr>
            <p:ph type="sldNum" sz="quarter" idx="12"/>
          </p:nvPr>
        </p:nvSpPr>
        <p:spPr/>
        <p:txBody>
          <a:bodyPr/>
          <a:lstStyle/>
          <a:p>
            <a:fld id="{40FF48A1-BBC9-46E7-A4CC-5BFD9B1F42DF}" type="slidenum">
              <a:rPr lang="en-IN" smtClean="0"/>
              <a:pPr/>
              <a:t>‹#›</a:t>
            </a:fld>
            <a:endParaRPr lang="en-IN"/>
          </a:p>
        </p:txBody>
      </p:sp>
    </p:spTree>
    <p:extLst>
      <p:ext uri="{BB962C8B-B14F-4D97-AF65-F5344CB8AC3E}">
        <p14:creationId xmlns:p14="http://schemas.microsoft.com/office/powerpoint/2010/main" val="1363679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0.png"/><Relationship Id="rId5" Type="http://schemas.openxmlformats.org/officeDocument/2006/relationships/image" Target="../media/image23.png"/><Relationship Id="rId4" Type="http://schemas.openxmlformats.org/officeDocument/2006/relationships/image" Target="../media/image21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 Id="rId5" Type="http://schemas.openxmlformats.org/officeDocument/2006/relationships/image" Target="../media/image40.emf"/><Relationship Id="rId4" Type="http://schemas.openxmlformats.org/officeDocument/2006/relationships/image" Target="../media/image39.emf"/></Relationships>
</file>

<file path=ppt/slides/_rels/slide2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emf"/><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3.emf"/></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3.emf"/><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74.png"/></Relationships>
</file>

<file path=ppt/slides/_rels/slide3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4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4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4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image" Target="../media/image590.png"/><Relationship Id="rId1" Type="http://schemas.openxmlformats.org/officeDocument/2006/relationships/slideLayout" Target="../slideLayouts/slideLayout2.xml"/><Relationship Id="rId4" Type="http://schemas.openxmlformats.org/officeDocument/2006/relationships/image" Target="../media/image610.png"/></Relationships>
</file>

<file path=ppt/slides/_rels/slide49.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image" Target="../media/image6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image" Target="../media/image620.png"/><Relationship Id="rId1" Type="http://schemas.openxmlformats.org/officeDocument/2006/relationships/slideLayout" Target="../slideLayouts/slideLayout2.xml"/><Relationship Id="rId4" Type="http://schemas.openxmlformats.org/officeDocument/2006/relationships/image" Target="../media/image650.png"/></Relationships>
</file>

<file path=ppt/slides/_rels/slide51.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20.png"/><Relationship Id="rId1" Type="http://schemas.openxmlformats.org/officeDocument/2006/relationships/slideLayout" Target="../slideLayouts/slideLayout2.xml"/><Relationship Id="rId5" Type="http://schemas.openxmlformats.org/officeDocument/2006/relationships/image" Target="../media/image680.png"/><Relationship Id="rId4" Type="http://schemas.openxmlformats.org/officeDocument/2006/relationships/image" Target="../media/image670.png"/></Relationships>
</file>

<file path=ppt/slides/_rels/slide52.xml.rels><?xml version="1.0" encoding="UTF-8" standalone="yes"?>
<Relationships xmlns="http://schemas.openxmlformats.org/package/2006/relationships"><Relationship Id="rId3" Type="http://schemas.openxmlformats.org/officeDocument/2006/relationships/image" Target="../media/image690.png"/><Relationship Id="rId7" Type="http://schemas.openxmlformats.org/officeDocument/2006/relationships/image" Target="../media/image730.png"/><Relationship Id="rId2" Type="http://schemas.openxmlformats.org/officeDocument/2006/relationships/image" Target="../media/image620.png"/><Relationship Id="rId1" Type="http://schemas.openxmlformats.org/officeDocument/2006/relationships/slideLayout" Target="../slideLayouts/slideLayout2.xml"/><Relationship Id="rId6" Type="http://schemas.openxmlformats.org/officeDocument/2006/relationships/image" Target="../media/image720.png"/><Relationship Id="rId5" Type="http://schemas.openxmlformats.org/officeDocument/2006/relationships/image" Target="../media/image710.png"/><Relationship Id="rId4" Type="http://schemas.openxmlformats.org/officeDocument/2006/relationships/image" Target="../media/image700.png"/></Relationships>
</file>

<file path=ppt/slides/_rels/slide53.xml.rels><?xml version="1.0" encoding="UTF-8" standalone="yes"?>
<Relationships xmlns="http://schemas.openxmlformats.org/package/2006/relationships"><Relationship Id="rId3" Type="http://schemas.openxmlformats.org/officeDocument/2006/relationships/image" Target="../media/image750.png"/><Relationship Id="rId7" Type="http://schemas.openxmlformats.org/officeDocument/2006/relationships/image" Target="../media/image790.png"/><Relationship Id="rId2" Type="http://schemas.openxmlformats.org/officeDocument/2006/relationships/image" Target="../media/image740.png"/><Relationship Id="rId1" Type="http://schemas.openxmlformats.org/officeDocument/2006/relationships/slideLayout" Target="../slideLayouts/slideLayout2.xml"/><Relationship Id="rId6" Type="http://schemas.openxmlformats.org/officeDocument/2006/relationships/image" Target="../media/image780.png"/><Relationship Id="rId5" Type="http://schemas.openxmlformats.org/officeDocument/2006/relationships/image" Target="../media/image770.png"/><Relationship Id="rId4" Type="http://schemas.openxmlformats.org/officeDocument/2006/relationships/image" Target="../media/image760.png"/></Relationships>
</file>

<file path=ppt/slides/_rels/slide5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00.png"/><Relationship Id="rId4" Type="http://schemas.openxmlformats.org/officeDocument/2006/relationships/image" Target="../media/image99.png"/></Relationships>
</file>

<file path=ppt/slides/_rels/slide5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0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5.png"/></Relationships>
</file>

<file path=ppt/slides/_rels/slide5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00.png"/><Relationship Id="rId4" Type="http://schemas.openxmlformats.org/officeDocument/2006/relationships/image" Target="../media/image99.png"/></Relationships>
</file>

<file path=ppt/slides/_rels/slide6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10.png"/><Relationship Id="rId4" Type="http://schemas.openxmlformats.org/officeDocument/2006/relationships/image" Target="../media/image109.png"/></Relationships>
</file>

<file path=ppt/slides/_rels/slide6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03.png"/></Relationships>
</file>

<file path=ppt/slides/_rels/slide6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6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1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7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7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s>
</file>

<file path=ppt/slides/_rels/slide7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138.png"/><Relationship Id="rId4" Type="http://schemas.openxmlformats.org/officeDocument/2006/relationships/image" Target="../media/image137.png"/></Relationships>
</file>

<file path=ppt/slides/_rels/slide7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141.png"/><Relationship Id="rId4" Type="http://schemas.openxmlformats.org/officeDocument/2006/relationships/image" Target="../media/image140.png"/></Relationships>
</file>

<file path=ppt/slides/_rels/slide7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144.png"/><Relationship Id="rId5" Type="http://schemas.openxmlformats.org/officeDocument/2006/relationships/image" Target="../media/image34.png"/><Relationship Id="rId4" Type="http://schemas.openxmlformats.org/officeDocument/2006/relationships/image" Target="../media/image143.png"/></Relationships>
</file>

<file path=ppt/slides/_rels/slide7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147.png"/><Relationship Id="rId4" Type="http://schemas.openxmlformats.org/officeDocument/2006/relationships/image" Target="../media/image146.png"/></Relationships>
</file>

<file path=ppt/slides/_rels/slide79.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 Id="rId9" Type="http://schemas.openxmlformats.org/officeDocument/2006/relationships/image" Target="../media/image154.png"/></Relationships>
</file>

<file path=ppt/slides/_rels/slide80.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3.png"/><Relationship Id="rId3" Type="http://schemas.openxmlformats.org/officeDocument/2006/relationships/image" Target="../media/image155.png"/><Relationship Id="rId7" Type="http://schemas.openxmlformats.org/officeDocument/2006/relationships/image" Target="../media/image158.png"/><Relationship Id="rId12" Type="http://schemas.openxmlformats.org/officeDocument/2006/relationships/image" Target="../media/image120.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162.png"/><Relationship Id="rId5" Type="http://schemas.openxmlformats.org/officeDocument/2006/relationships/image" Target="../media/image157.png"/><Relationship Id="rId15" Type="http://schemas.openxmlformats.org/officeDocument/2006/relationships/image" Target="../media/image165.png"/><Relationship Id="rId10" Type="http://schemas.openxmlformats.org/officeDocument/2006/relationships/image" Target="../media/image161.png"/><Relationship Id="rId4" Type="http://schemas.openxmlformats.org/officeDocument/2006/relationships/image" Target="../media/image156.png"/><Relationship Id="rId9" Type="http://schemas.openxmlformats.org/officeDocument/2006/relationships/image" Target="../media/image160.png"/><Relationship Id="rId14" Type="http://schemas.openxmlformats.org/officeDocument/2006/relationships/image" Target="../media/image16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10241280" y="868680"/>
            <a:ext cx="960120" cy="365760"/>
          </a:xfrm>
          <a:prstGeom prst="line">
            <a:avLst/>
          </a:prstGeom>
          <a:noFill/>
          <a:ln w="15875">
            <a:solidFill>
              <a:srgbClr val="0E6F66"/>
            </a:solidFill>
            <a:prstDash val="solid"/>
          </a:ln>
        </p:spPr>
        <p:txBody>
          <a:bodyPr/>
          <a:lstStyle/>
          <a:p>
            <a:endParaRPr lang="en-IN"/>
          </a:p>
        </p:txBody>
      </p:sp>
      <p:sp>
        <p:nvSpPr>
          <p:cNvPr id="3" name="Shape 1"/>
          <p:cNvSpPr/>
          <p:nvPr/>
        </p:nvSpPr>
        <p:spPr>
          <a:xfrm flipH="1">
            <a:off x="9646920" y="868680"/>
            <a:ext cx="594360" cy="914400"/>
          </a:xfrm>
          <a:prstGeom prst="line">
            <a:avLst/>
          </a:prstGeom>
          <a:noFill/>
          <a:ln w="15875">
            <a:solidFill>
              <a:srgbClr val="0E6F66"/>
            </a:solidFill>
            <a:prstDash val="solid"/>
          </a:ln>
        </p:spPr>
        <p:txBody>
          <a:bodyPr/>
          <a:lstStyle/>
          <a:p>
            <a:endParaRPr lang="en-IN"/>
          </a:p>
        </p:txBody>
      </p:sp>
      <p:sp>
        <p:nvSpPr>
          <p:cNvPr id="4" name="Shape 2"/>
          <p:cNvSpPr/>
          <p:nvPr/>
        </p:nvSpPr>
        <p:spPr>
          <a:xfrm flipH="1">
            <a:off x="10744200" y="1234440"/>
            <a:ext cx="457200" cy="822960"/>
          </a:xfrm>
          <a:prstGeom prst="line">
            <a:avLst/>
          </a:prstGeom>
          <a:noFill/>
          <a:ln w="15875">
            <a:solidFill>
              <a:srgbClr val="0E6F66"/>
            </a:solidFill>
            <a:prstDash val="solid"/>
          </a:ln>
        </p:spPr>
        <p:txBody>
          <a:bodyPr/>
          <a:lstStyle/>
          <a:p>
            <a:endParaRPr lang="en-IN"/>
          </a:p>
        </p:txBody>
      </p:sp>
      <p:sp>
        <p:nvSpPr>
          <p:cNvPr id="5" name="Shape 3"/>
          <p:cNvSpPr/>
          <p:nvPr/>
        </p:nvSpPr>
        <p:spPr>
          <a:xfrm>
            <a:off x="9646920" y="1783080"/>
            <a:ext cx="1097280" cy="274320"/>
          </a:xfrm>
          <a:prstGeom prst="line">
            <a:avLst/>
          </a:prstGeom>
          <a:noFill/>
          <a:ln w="15875">
            <a:solidFill>
              <a:srgbClr val="0E6F66"/>
            </a:solidFill>
            <a:prstDash val="solid"/>
          </a:ln>
        </p:spPr>
        <p:txBody>
          <a:bodyPr/>
          <a:lstStyle/>
          <a:p>
            <a:endParaRPr lang="en-IN"/>
          </a:p>
        </p:txBody>
      </p:sp>
      <p:sp>
        <p:nvSpPr>
          <p:cNvPr id="6" name="Shape 4"/>
          <p:cNvSpPr/>
          <p:nvPr/>
        </p:nvSpPr>
        <p:spPr>
          <a:xfrm>
            <a:off x="11201400" y="1234440"/>
            <a:ext cx="320040" cy="1051560"/>
          </a:xfrm>
          <a:prstGeom prst="line">
            <a:avLst/>
          </a:prstGeom>
          <a:noFill/>
          <a:ln w="15875">
            <a:solidFill>
              <a:srgbClr val="0E6F66"/>
            </a:solidFill>
            <a:prstDash val="solid"/>
          </a:ln>
        </p:spPr>
        <p:txBody>
          <a:bodyPr/>
          <a:lstStyle/>
          <a:p>
            <a:endParaRPr lang="en-IN"/>
          </a:p>
        </p:txBody>
      </p:sp>
      <p:sp>
        <p:nvSpPr>
          <p:cNvPr id="7" name="Shape 5"/>
          <p:cNvSpPr/>
          <p:nvPr/>
        </p:nvSpPr>
        <p:spPr>
          <a:xfrm>
            <a:off x="10744200" y="2057400"/>
            <a:ext cx="777240" cy="228600"/>
          </a:xfrm>
          <a:prstGeom prst="line">
            <a:avLst/>
          </a:prstGeom>
          <a:noFill/>
          <a:ln w="15875">
            <a:solidFill>
              <a:srgbClr val="0E6F66"/>
            </a:solidFill>
            <a:prstDash val="solid"/>
          </a:ln>
        </p:spPr>
        <p:txBody>
          <a:bodyPr/>
          <a:lstStyle/>
          <a:p>
            <a:endParaRPr lang="en-IN"/>
          </a:p>
        </p:txBody>
      </p:sp>
      <p:sp>
        <p:nvSpPr>
          <p:cNvPr id="8" name="Shape 6"/>
          <p:cNvSpPr/>
          <p:nvPr/>
        </p:nvSpPr>
        <p:spPr>
          <a:xfrm>
            <a:off x="9966960" y="457200"/>
            <a:ext cx="274320" cy="411480"/>
          </a:xfrm>
          <a:prstGeom prst="line">
            <a:avLst/>
          </a:prstGeom>
          <a:noFill/>
          <a:ln w="15875">
            <a:solidFill>
              <a:srgbClr val="0E6F66"/>
            </a:solidFill>
            <a:prstDash val="solid"/>
          </a:ln>
        </p:spPr>
        <p:txBody>
          <a:bodyPr/>
          <a:lstStyle/>
          <a:p>
            <a:endParaRPr lang="en-IN"/>
          </a:p>
        </p:txBody>
      </p:sp>
      <p:sp>
        <p:nvSpPr>
          <p:cNvPr id="9" name="Shape 7"/>
          <p:cNvSpPr/>
          <p:nvPr/>
        </p:nvSpPr>
        <p:spPr>
          <a:xfrm>
            <a:off x="10158984" y="786384"/>
            <a:ext cx="164592" cy="164592"/>
          </a:xfrm>
          <a:prstGeom prst="ellipse">
            <a:avLst/>
          </a:prstGeom>
          <a:solidFill>
            <a:srgbClr val="0E6F66"/>
          </a:solidFill>
          <a:ln w="12700">
            <a:solidFill>
              <a:srgbClr val="0E6F66"/>
            </a:solidFill>
            <a:prstDash val="solid"/>
          </a:ln>
        </p:spPr>
        <p:txBody>
          <a:bodyPr/>
          <a:lstStyle/>
          <a:p>
            <a:endParaRPr lang="en-IN"/>
          </a:p>
        </p:txBody>
      </p:sp>
      <p:sp>
        <p:nvSpPr>
          <p:cNvPr id="10" name="Shape 8"/>
          <p:cNvSpPr/>
          <p:nvPr/>
        </p:nvSpPr>
        <p:spPr>
          <a:xfrm>
            <a:off x="11119104" y="1152144"/>
            <a:ext cx="164592" cy="164592"/>
          </a:xfrm>
          <a:prstGeom prst="ellipse">
            <a:avLst/>
          </a:prstGeom>
          <a:solidFill>
            <a:srgbClr val="0E6F66"/>
          </a:solidFill>
          <a:ln w="12700">
            <a:solidFill>
              <a:srgbClr val="0E6F66"/>
            </a:solidFill>
            <a:prstDash val="solid"/>
          </a:ln>
        </p:spPr>
        <p:txBody>
          <a:bodyPr/>
          <a:lstStyle/>
          <a:p>
            <a:endParaRPr lang="en-IN"/>
          </a:p>
        </p:txBody>
      </p:sp>
      <p:sp>
        <p:nvSpPr>
          <p:cNvPr id="11" name="Shape 9"/>
          <p:cNvSpPr/>
          <p:nvPr/>
        </p:nvSpPr>
        <p:spPr>
          <a:xfrm>
            <a:off x="10661904" y="1975104"/>
            <a:ext cx="164592" cy="164592"/>
          </a:xfrm>
          <a:prstGeom prst="ellipse">
            <a:avLst/>
          </a:prstGeom>
          <a:solidFill>
            <a:srgbClr val="0E6F66"/>
          </a:solidFill>
          <a:ln w="12700">
            <a:solidFill>
              <a:srgbClr val="0E6F66"/>
            </a:solidFill>
            <a:prstDash val="solid"/>
          </a:ln>
        </p:spPr>
        <p:txBody>
          <a:bodyPr/>
          <a:lstStyle/>
          <a:p>
            <a:endParaRPr lang="en-IN"/>
          </a:p>
        </p:txBody>
      </p:sp>
      <p:sp>
        <p:nvSpPr>
          <p:cNvPr id="12" name="Shape 10"/>
          <p:cNvSpPr/>
          <p:nvPr/>
        </p:nvSpPr>
        <p:spPr>
          <a:xfrm>
            <a:off x="9564624" y="1700784"/>
            <a:ext cx="164592" cy="164592"/>
          </a:xfrm>
          <a:prstGeom prst="ellipse">
            <a:avLst/>
          </a:prstGeom>
          <a:solidFill>
            <a:srgbClr val="0E6F66"/>
          </a:solidFill>
          <a:ln w="12700">
            <a:solidFill>
              <a:srgbClr val="0E6F66"/>
            </a:solidFill>
            <a:prstDash val="solid"/>
          </a:ln>
        </p:spPr>
        <p:txBody>
          <a:bodyPr/>
          <a:lstStyle/>
          <a:p>
            <a:endParaRPr lang="en-IN"/>
          </a:p>
        </p:txBody>
      </p:sp>
      <p:sp>
        <p:nvSpPr>
          <p:cNvPr id="13" name="Shape 11"/>
          <p:cNvSpPr/>
          <p:nvPr/>
        </p:nvSpPr>
        <p:spPr>
          <a:xfrm>
            <a:off x="11439144" y="2203704"/>
            <a:ext cx="164592" cy="164592"/>
          </a:xfrm>
          <a:prstGeom prst="ellipse">
            <a:avLst/>
          </a:prstGeom>
          <a:solidFill>
            <a:srgbClr val="BFD3E6"/>
          </a:solidFill>
          <a:ln w="12700">
            <a:solidFill>
              <a:srgbClr val="BFD3E6"/>
            </a:solidFill>
            <a:prstDash val="solid"/>
          </a:ln>
        </p:spPr>
        <p:txBody>
          <a:bodyPr/>
          <a:lstStyle/>
          <a:p>
            <a:endParaRPr lang="en-IN"/>
          </a:p>
        </p:txBody>
      </p:sp>
      <p:sp>
        <p:nvSpPr>
          <p:cNvPr id="14" name="Shape 12"/>
          <p:cNvSpPr/>
          <p:nvPr/>
        </p:nvSpPr>
        <p:spPr>
          <a:xfrm>
            <a:off x="9884664" y="374904"/>
            <a:ext cx="164592" cy="164592"/>
          </a:xfrm>
          <a:prstGeom prst="ellipse">
            <a:avLst/>
          </a:prstGeom>
          <a:solidFill>
            <a:srgbClr val="BFD3E6"/>
          </a:solidFill>
          <a:ln w="12700">
            <a:solidFill>
              <a:srgbClr val="BFD3E6"/>
            </a:solidFill>
            <a:prstDash val="solid"/>
          </a:ln>
        </p:spPr>
        <p:txBody>
          <a:bodyPr/>
          <a:lstStyle/>
          <a:p>
            <a:endParaRPr lang="en-IN"/>
          </a:p>
        </p:txBody>
      </p:sp>
      <p:sp>
        <p:nvSpPr>
          <p:cNvPr id="15" name="Text 13"/>
          <p:cNvSpPr txBox="1"/>
          <p:nvPr/>
        </p:nvSpPr>
        <p:spPr>
          <a:xfrm>
            <a:off x="566928" y="1481328"/>
            <a:ext cx="7315200" cy="274320"/>
          </a:xfrm>
          <a:prstGeom prst="rect">
            <a:avLst/>
          </a:prstGeom>
          <a:noFill/>
          <a:ln/>
        </p:spPr>
        <p:txBody>
          <a:bodyPr wrap="square" lIns="0" tIns="0" rIns="0" bIns="0" rtlCol="0" anchor="ctr"/>
          <a:lstStyle/>
          <a:p>
            <a:pPr marL="0" indent="0">
              <a:buNone/>
            </a:pPr>
            <a:r>
              <a:rPr lang="en-US" sz="1200" b="1" kern="0" spc="240" dirty="0">
                <a:solidFill>
                  <a:srgbClr val="0E6F66"/>
                </a:solidFill>
                <a:latin typeface="Calibri" pitchFamily="34" charset="0"/>
                <a:ea typeface="Calibri" pitchFamily="34" charset="-122"/>
                <a:cs typeface="Calibri" pitchFamily="34" charset="-120"/>
              </a:rPr>
              <a:t>DPCN 2026 SESSION</a:t>
            </a:r>
            <a:endParaRPr lang="en-US" sz="1200" dirty="0"/>
          </a:p>
        </p:txBody>
      </p:sp>
      <p:sp>
        <p:nvSpPr>
          <p:cNvPr id="16" name="Text 14"/>
          <p:cNvSpPr txBox="1"/>
          <p:nvPr/>
        </p:nvSpPr>
        <p:spPr>
          <a:xfrm>
            <a:off x="566928" y="1883664"/>
            <a:ext cx="10607040" cy="1755648"/>
          </a:xfrm>
          <a:prstGeom prst="rect">
            <a:avLst/>
          </a:prstGeom>
          <a:noFill/>
          <a:ln/>
        </p:spPr>
        <p:txBody>
          <a:bodyPr wrap="square" lIns="0" tIns="0" rIns="0" bIns="0" rtlCol="0" anchor="ctr"/>
          <a:lstStyle/>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Analytical Properties of</a:t>
            </a:r>
            <a:endParaRPr lang="en-US" sz="4600" dirty="0"/>
          </a:p>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Erdős–Rényi Random Graphs</a:t>
            </a:r>
            <a:endParaRPr lang="en-US" sz="4600" dirty="0"/>
          </a:p>
        </p:txBody>
      </p:sp>
      <p:sp>
        <p:nvSpPr>
          <p:cNvPr id="17" name="Text 15"/>
          <p:cNvSpPr txBox="1"/>
          <p:nvPr/>
        </p:nvSpPr>
        <p:spPr>
          <a:xfrm>
            <a:off x="566928" y="3712464"/>
            <a:ext cx="10241280" cy="384048"/>
          </a:xfrm>
          <a:prstGeom prst="rect">
            <a:avLst/>
          </a:prstGeom>
          <a:noFill/>
          <a:ln/>
        </p:spPr>
        <p:txBody>
          <a:bodyPr wrap="square" lIns="0" tIns="0" rIns="0" bIns="0" rtlCol="0" anchor="ctr"/>
          <a:lstStyle/>
          <a:p>
            <a:pPr marL="0" indent="0">
              <a:buNone/>
            </a:pPr>
            <a:r>
              <a:rPr lang="en-US" sz="1700" dirty="0">
                <a:solidFill>
                  <a:srgbClr val="BFD3E6"/>
                </a:solidFill>
                <a:latin typeface="Calibri" pitchFamily="34" charset="0"/>
                <a:ea typeface="Calibri" pitchFamily="34" charset="-122"/>
                <a:cs typeface="Calibri" pitchFamily="34" charset="-120"/>
              </a:rPr>
              <a:t>Phase transitions, threshold functions, and the generating-function formalism</a:t>
            </a:r>
            <a:endParaRPr lang="en-US" sz="1700" dirty="0"/>
          </a:p>
        </p:txBody>
      </p:sp>
      <p:pic>
        <p:nvPicPr>
          <p:cNvPr id="18" name="Image 0" descr="/home/claude/eq/w_title_eq.png"/>
          <p:cNvPicPr>
            <a:picLocks noChangeAspect="1"/>
          </p:cNvPicPr>
          <p:nvPr/>
        </p:nvPicPr>
        <p:blipFill>
          <a:blip r:embed="rId3"/>
          <a:stretch>
            <a:fillRect/>
          </a:stretch>
        </p:blipFill>
        <p:spPr>
          <a:xfrm>
            <a:off x="566928" y="4370832"/>
            <a:ext cx="5316099" cy="749808"/>
          </a:xfrm>
          <a:prstGeom prst="rect">
            <a:avLst/>
          </a:prstGeom>
        </p:spPr>
      </p:pic>
      <p:sp>
        <p:nvSpPr>
          <p:cNvPr id="19" name="Text 16"/>
          <p:cNvSpPr txBox="1"/>
          <p:nvPr/>
        </p:nvSpPr>
        <p:spPr>
          <a:xfrm>
            <a:off x="566928" y="5705856"/>
            <a:ext cx="10607040" cy="292608"/>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Derived throughout from first principles  ·  Newman, The Structure and Function of Complex Networks (2003)</a:t>
            </a:r>
            <a:endParaRPr lang="en-US" sz="1150" dirty="0"/>
          </a:p>
        </p:txBody>
      </p:sp>
      <p:sp>
        <p:nvSpPr>
          <p:cNvPr id="20" name="Text 17"/>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ROADMAP</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Two transitions organise everything</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a:t>
            </a:r>
            <a:endParaRPr lang="en-US" sz="1050" dirty="0"/>
          </a:p>
        </p:txBody>
      </p:sp>
      <p:pic>
        <p:nvPicPr>
          <p:cNvPr id="5" name="Image 0" descr="/home/claude/figs/25_regime_summary.png"/>
          <p:cNvPicPr>
            <a:picLocks noChangeAspect="1"/>
          </p:cNvPicPr>
          <p:nvPr/>
        </p:nvPicPr>
        <p:blipFill>
          <a:blip r:embed="rId3"/>
          <a:stretch>
            <a:fillRect/>
          </a:stretch>
        </p:blipFill>
        <p:spPr>
          <a:xfrm>
            <a:off x="2671928" y="1152144"/>
            <a:ext cx="6854240" cy="2286000"/>
          </a:xfrm>
          <a:prstGeom prst="rect">
            <a:avLst/>
          </a:prstGeom>
        </p:spPr>
      </p:pic>
      <p:sp>
        <p:nvSpPr>
          <p:cNvPr id="6" name="Shape 3"/>
          <p:cNvSpPr/>
          <p:nvPr/>
        </p:nvSpPr>
        <p:spPr>
          <a:xfrm>
            <a:off x="566928" y="3749040"/>
            <a:ext cx="292608" cy="292608"/>
          </a:xfrm>
          <a:prstGeom prst="ellipse">
            <a:avLst/>
          </a:prstGeom>
          <a:solidFill>
            <a:srgbClr val="0E6F66"/>
          </a:solidFill>
          <a:ln w="12700">
            <a:solidFill>
              <a:srgbClr val="0E6F66"/>
            </a:solidFill>
            <a:prstDash val="solid"/>
          </a:ln>
        </p:spPr>
        <p:txBody>
          <a:bodyPr/>
          <a:lstStyle/>
          <a:p>
            <a:endParaRPr lang="en-IN"/>
          </a:p>
        </p:txBody>
      </p:sp>
      <p:sp>
        <p:nvSpPr>
          <p:cNvPr id="7" name="Text 4"/>
          <p:cNvSpPr txBox="1"/>
          <p:nvPr/>
        </p:nvSpPr>
        <p:spPr>
          <a:xfrm>
            <a:off x="566928" y="3753612"/>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8" name="Text 5"/>
          <p:cNvSpPr txBox="1"/>
          <p:nvPr/>
        </p:nvSpPr>
        <p:spPr>
          <a:xfrm>
            <a:off x="969264" y="3694176"/>
            <a:ext cx="3084576" cy="256032"/>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Degree distribution</a:t>
            </a:r>
            <a:endParaRPr lang="en-US" sz="1350" dirty="0"/>
          </a:p>
        </p:txBody>
      </p:sp>
      <p:sp>
        <p:nvSpPr>
          <p:cNvPr id="9" name="Text 6"/>
          <p:cNvSpPr txBox="1"/>
          <p:nvPr/>
        </p:nvSpPr>
        <p:spPr>
          <a:xfrm>
            <a:off x="969264" y="3950208"/>
            <a:ext cx="3084576" cy="457200"/>
          </a:xfrm>
          <a:prstGeom prst="rect">
            <a:avLst/>
          </a:prstGeom>
          <a:noFill/>
          <a:ln/>
        </p:spPr>
        <p:txBody>
          <a:bodyPr wrap="square" lIns="0" tIns="0" rIns="0" bIns="0" rtlCol="0" anchor="ctr"/>
          <a:lstStyle/>
          <a:p>
            <a:pPr marL="0" indent="0">
              <a:lnSpc>
                <a:spcPct val="95000"/>
              </a:lnSpc>
              <a:buNone/>
            </a:pPr>
            <a:r>
              <a:rPr lang="en-US" sz="1150" dirty="0">
                <a:solidFill>
                  <a:srgbClr val="6B7684"/>
                </a:solidFill>
                <a:latin typeface="Calibri" pitchFamily="34" charset="0"/>
                <a:ea typeface="Calibri" pitchFamily="34" charset="-122"/>
                <a:cs typeface="Calibri" pitchFamily="34" charset="-120"/>
              </a:rPr>
              <a:t>Binomial → Poisson; why ER has no hubs</a:t>
            </a:r>
            <a:endParaRPr lang="en-US" sz="1150" dirty="0"/>
          </a:p>
        </p:txBody>
      </p:sp>
      <p:sp>
        <p:nvSpPr>
          <p:cNvPr id="10" name="Shape 7"/>
          <p:cNvSpPr/>
          <p:nvPr/>
        </p:nvSpPr>
        <p:spPr>
          <a:xfrm>
            <a:off x="601140" y="4856816"/>
            <a:ext cx="292608" cy="292608"/>
          </a:xfrm>
          <a:prstGeom prst="ellipse">
            <a:avLst/>
          </a:prstGeom>
          <a:solidFill>
            <a:srgbClr val="0E6F66"/>
          </a:solidFill>
          <a:ln w="12700">
            <a:solidFill>
              <a:srgbClr val="0E6F66"/>
            </a:solidFill>
            <a:prstDash val="solid"/>
          </a:ln>
        </p:spPr>
        <p:txBody>
          <a:bodyPr/>
          <a:lstStyle/>
          <a:p>
            <a:endParaRPr lang="en-IN"/>
          </a:p>
        </p:txBody>
      </p:sp>
      <p:sp>
        <p:nvSpPr>
          <p:cNvPr id="12" name="Text 9"/>
          <p:cNvSpPr txBox="1"/>
          <p:nvPr/>
        </p:nvSpPr>
        <p:spPr>
          <a:xfrm>
            <a:off x="4895088" y="4547321"/>
            <a:ext cx="3084576" cy="256032"/>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Connectivity</a:t>
            </a:r>
            <a:endParaRPr lang="en-US" sz="1350" dirty="0"/>
          </a:p>
        </p:txBody>
      </p:sp>
      <p:sp>
        <p:nvSpPr>
          <p:cNvPr id="13" name="Text 10"/>
          <p:cNvSpPr txBox="1"/>
          <p:nvPr/>
        </p:nvSpPr>
        <p:spPr>
          <a:xfrm>
            <a:off x="4785360" y="4796868"/>
            <a:ext cx="3084576" cy="457200"/>
          </a:xfrm>
          <a:prstGeom prst="rect">
            <a:avLst/>
          </a:prstGeom>
          <a:noFill/>
          <a:ln/>
        </p:spPr>
        <p:txBody>
          <a:bodyPr wrap="square" lIns="0" tIns="0" rIns="0" bIns="0" rtlCol="0" anchor="ctr"/>
          <a:lstStyle/>
          <a:p>
            <a:pPr marL="0" indent="0">
              <a:lnSpc>
                <a:spcPct val="95000"/>
              </a:lnSpc>
              <a:buNone/>
            </a:pPr>
            <a:r>
              <a:rPr lang="en-US" sz="1150" dirty="0">
                <a:solidFill>
                  <a:srgbClr val="6B7684"/>
                </a:solidFill>
                <a:latin typeface="Calibri" pitchFamily="34" charset="0"/>
                <a:ea typeface="Calibri" pitchFamily="34" charset="-122"/>
                <a:cs typeface="Calibri" pitchFamily="34" charset="-120"/>
              </a:rPr>
              <a:t>The sharp ln n / n threshold; Chen–Stein</a:t>
            </a:r>
            <a:endParaRPr lang="en-US" sz="1150" dirty="0"/>
          </a:p>
        </p:txBody>
      </p:sp>
      <p:sp>
        <p:nvSpPr>
          <p:cNvPr id="14" name="Shape 11"/>
          <p:cNvSpPr/>
          <p:nvPr/>
        </p:nvSpPr>
        <p:spPr>
          <a:xfrm>
            <a:off x="4328160" y="3749040"/>
            <a:ext cx="292608" cy="292608"/>
          </a:xfrm>
          <a:prstGeom prst="ellipse">
            <a:avLst/>
          </a:prstGeom>
          <a:solidFill>
            <a:srgbClr val="C0392B"/>
          </a:solidFill>
          <a:ln w="12700">
            <a:solidFill>
              <a:srgbClr val="C0392B"/>
            </a:solidFill>
            <a:prstDash val="solid"/>
          </a:ln>
        </p:spPr>
        <p:txBody>
          <a:bodyPr/>
          <a:lstStyle/>
          <a:p>
            <a:endParaRPr lang="en-IN"/>
          </a:p>
        </p:txBody>
      </p:sp>
      <p:sp>
        <p:nvSpPr>
          <p:cNvPr id="15" name="Text 12"/>
          <p:cNvSpPr txBox="1"/>
          <p:nvPr/>
        </p:nvSpPr>
        <p:spPr>
          <a:xfrm>
            <a:off x="4328160" y="3753612"/>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II</a:t>
            </a:r>
            <a:endParaRPr lang="en-US" sz="1300" dirty="0"/>
          </a:p>
        </p:txBody>
      </p:sp>
      <p:sp>
        <p:nvSpPr>
          <p:cNvPr id="16" name="Text 13"/>
          <p:cNvSpPr txBox="1"/>
          <p:nvPr/>
        </p:nvSpPr>
        <p:spPr>
          <a:xfrm>
            <a:off x="4730496" y="3694176"/>
            <a:ext cx="3084576" cy="256032"/>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Giant component</a:t>
            </a:r>
            <a:endParaRPr lang="en-US" sz="1350" dirty="0"/>
          </a:p>
        </p:txBody>
      </p:sp>
      <p:sp>
        <p:nvSpPr>
          <p:cNvPr id="17" name="Text 14"/>
          <p:cNvSpPr txBox="1"/>
          <p:nvPr/>
        </p:nvSpPr>
        <p:spPr>
          <a:xfrm>
            <a:off x="4730496" y="3950208"/>
            <a:ext cx="3084576" cy="457200"/>
          </a:xfrm>
          <a:prstGeom prst="rect">
            <a:avLst/>
          </a:prstGeom>
          <a:noFill/>
          <a:ln/>
        </p:spPr>
        <p:txBody>
          <a:bodyPr wrap="square" lIns="0" tIns="0" rIns="0" bIns="0" rtlCol="0" anchor="ctr"/>
          <a:lstStyle/>
          <a:p>
            <a:pPr marL="0" indent="0">
              <a:lnSpc>
                <a:spcPct val="95000"/>
              </a:lnSpc>
              <a:buNone/>
            </a:pPr>
            <a:r>
              <a:rPr lang="en-US" sz="1150" dirty="0">
                <a:solidFill>
                  <a:srgbClr val="6B7684"/>
                </a:solidFill>
                <a:latin typeface="Calibri" pitchFamily="34" charset="0"/>
                <a:ea typeface="Calibri" pitchFamily="34" charset="-122"/>
                <a:cs typeface="Calibri" pitchFamily="34" charset="-120"/>
              </a:rPr>
              <a:t>S = 1 − e^(−⟨k⟩S); second-order transition</a:t>
            </a:r>
            <a:endParaRPr lang="en-US" sz="1150" dirty="0"/>
          </a:p>
        </p:txBody>
      </p:sp>
      <p:sp>
        <p:nvSpPr>
          <p:cNvPr id="18" name="Shape 15"/>
          <p:cNvSpPr/>
          <p:nvPr/>
        </p:nvSpPr>
        <p:spPr>
          <a:xfrm>
            <a:off x="4328160" y="4498848"/>
            <a:ext cx="292608" cy="292608"/>
          </a:xfrm>
          <a:prstGeom prst="ellipse">
            <a:avLst/>
          </a:prstGeom>
          <a:solidFill>
            <a:srgbClr val="0E6F66"/>
          </a:solidFill>
          <a:ln w="12700">
            <a:solidFill>
              <a:srgbClr val="0E6F66"/>
            </a:solidFill>
            <a:prstDash val="solid"/>
          </a:ln>
        </p:spPr>
        <p:txBody>
          <a:bodyPr/>
          <a:lstStyle/>
          <a:p>
            <a:endParaRPr lang="en-IN"/>
          </a:p>
        </p:txBody>
      </p:sp>
      <p:sp>
        <p:nvSpPr>
          <p:cNvPr id="19" name="Text 16"/>
          <p:cNvSpPr txBox="1"/>
          <p:nvPr/>
        </p:nvSpPr>
        <p:spPr>
          <a:xfrm>
            <a:off x="158496" y="5040863"/>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IV</a:t>
            </a:r>
            <a:endParaRPr lang="en-US" sz="1300" dirty="0"/>
          </a:p>
        </p:txBody>
      </p:sp>
      <p:sp>
        <p:nvSpPr>
          <p:cNvPr id="20" name="Text 17"/>
          <p:cNvSpPr txBox="1"/>
          <p:nvPr/>
        </p:nvSpPr>
        <p:spPr>
          <a:xfrm>
            <a:off x="1068666" y="4561504"/>
            <a:ext cx="3084576" cy="256032"/>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Distance &amp; clustering</a:t>
            </a:r>
            <a:endParaRPr lang="en-US" sz="1350" dirty="0"/>
          </a:p>
        </p:txBody>
      </p:sp>
      <p:sp>
        <p:nvSpPr>
          <p:cNvPr id="21" name="Text 18"/>
          <p:cNvSpPr txBox="1"/>
          <p:nvPr/>
        </p:nvSpPr>
        <p:spPr>
          <a:xfrm>
            <a:off x="969264" y="4864608"/>
            <a:ext cx="3084576" cy="457200"/>
          </a:xfrm>
          <a:prstGeom prst="rect">
            <a:avLst/>
          </a:prstGeom>
          <a:noFill/>
          <a:ln/>
        </p:spPr>
        <p:txBody>
          <a:bodyPr wrap="square" lIns="0" tIns="0" rIns="0" bIns="0" rtlCol="0" anchor="ctr"/>
          <a:lstStyle/>
          <a:p>
            <a:pPr marL="0" indent="0">
              <a:lnSpc>
                <a:spcPct val="95000"/>
              </a:lnSpc>
              <a:buNone/>
            </a:pPr>
            <a:r>
              <a:rPr lang="en-US" sz="1150" dirty="0">
                <a:solidFill>
                  <a:srgbClr val="6B7684"/>
                </a:solidFill>
                <a:latin typeface="Calibri" pitchFamily="34" charset="0"/>
                <a:ea typeface="Calibri" pitchFamily="34" charset="-122"/>
                <a:cs typeface="Calibri" pitchFamily="34" charset="-120"/>
              </a:rPr>
              <a:t>⟨ℓ⟩ ~ ln N / ln⟨k⟩; C = p → 0</a:t>
            </a:r>
            <a:endParaRPr lang="en-US" sz="1150" dirty="0"/>
          </a:p>
        </p:txBody>
      </p:sp>
      <p:sp>
        <p:nvSpPr>
          <p:cNvPr id="22" name="Shape 19"/>
          <p:cNvSpPr/>
          <p:nvPr/>
        </p:nvSpPr>
        <p:spPr>
          <a:xfrm>
            <a:off x="8089392" y="3749040"/>
            <a:ext cx="292608" cy="292608"/>
          </a:xfrm>
          <a:prstGeom prst="ellipse">
            <a:avLst/>
          </a:prstGeom>
          <a:solidFill>
            <a:srgbClr val="0E6F66"/>
          </a:solidFill>
          <a:ln w="12700">
            <a:solidFill>
              <a:srgbClr val="0E6F66"/>
            </a:solidFill>
            <a:prstDash val="solid"/>
          </a:ln>
        </p:spPr>
        <p:txBody>
          <a:bodyPr/>
          <a:lstStyle/>
          <a:p>
            <a:endParaRPr lang="en-IN"/>
          </a:p>
        </p:txBody>
      </p:sp>
      <p:sp>
        <p:nvSpPr>
          <p:cNvPr id="23" name="Text 20"/>
          <p:cNvSpPr txBox="1"/>
          <p:nvPr/>
        </p:nvSpPr>
        <p:spPr>
          <a:xfrm>
            <a:off x="8089392" y="3753612"/>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V</a:t>
            </a:r>
            <a:endParaRPr lang="en-US" sz="1300" dirty="0"/>
          </a:p>
        </p:txBody>
      </p:sp>
      <p:sp>
        <p:nvSpPr>
          <p:cNvPr id="24" name="Text 21"/>
          <p:cNvSpPr txBox="1"/>
          <p:nvPr/>
        </p:nvSpPr>
        <p:spPr>
          <a:xfrm>
            <a:off x="8491728" y="3694176"/>
            <a:ext cx="3084576" cy="256032"/>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Subgraph emergence</a:t>
            </a:r>
            <a:endParaRPr lang="en-US" sz="1350" dirty="0"/>
          </a:p>
        </p:txBody>
      </p:sp>
      <p:sp>
        <p:nvSpPr>
          <p:cNvPr id="25" name="Text 22"/>
          <p:cNvSpPr txBox="1"/>
          <p:nvPr/>
        </p:nvSpPr>
        <p:spPr>
          <a:xfrm>
            <a:off x="8491728" y="3950208"/>
            <a:ext cx="3084576" cy="457200"/>
          </a:xfrm>
          <a:prstGeom prst="rect">
            <a:avLst/>
          </a:prstGeom>
          <a:noFill/>
          <a:ln/>
        </p:spPr>
        <p:txBody>
          <a:bodyPr wrap="square" lIns="0" tIns="0" rIns="0" bIns="0" rtlCol="0" anchor="ctr"/>
          <a:lstStyle/>
          <a:p>
            <a:pPr marL="0" indent="0">
              <a:lnSpc>
                <a:spcPct val="95000"/>
              </a:lnSpc>
              <a:buNone/>
            </a:pPr>
            <a:r>
              <a:rPr lang="en-US" sz="1150" dirty="0">
                <a:solidFill>
                  <a:srgbClr val="6B7684"/>
                </a:solidFill>
                <a:latin typeface="Calibri" pitchFamily="34" charset="0"/>
                <a:ea typeface="Calibri" pitchFamily="34" charset="-122"/>
                <a:cs typeface="Calibri" pitchFamily="34" charset="-120"/>
              </a:rPr>
              <a:t>Trees before cycles; threshold ladder</a:t>
            </a:r>
            <a:endParaRPr lang="en-US" sz="1150" dirty="0"/>
          </a:p>
        </p:txBody>
      </p:sp>
      <p:sp>
        <p:nvSpPr>
          <p:cNvPr id="26" name="Shape 23"/>
          <p:cNvSpPr/>
          <p:nvPr/>
        </p:nvSpPr>
        <p:spPr>
          <a:xfrm>
            <a:off x="8089392" y="4498848"/>
            <a:ext cx="292608" cy="292608"/>
          </a:xfrm>
          <a:prstGeom prst="ellipse">
            <a:avLst/>
          </a:prstGeom>
          <a:solidFill>
            <a:srgbClr val="0E6F66"/>
          </a:solidFill>
          <a:ln w="12700">
            <a:solidFill>
              <a:srgbClr val="0E6F66"/>
            </a:solidFill>
            <a:prstDash val="solid"/>
          </a:ln>
        </p:spPr>
        <p:txBody>
          <a:bodyPr/>
          <a:lstStyle/>
          <a:p>
            <a:endParaRPr lang="en-IN"/>
          </a:p>
        </p:txBody>
      </p:sp>
      <p:sp>
        <p:nvSpPr>
          <p:cNvPr id="27" name="Text 24"/>
          <p:cNvSpPr txBox="1"/>
          <p:nvPr/>
        </p:nvSpPr>
        <p:spPr>
          <a:xfrm>
            <a:off x="8089392" y="450342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VI</a:t>
            </a:r>
            <a:endParaRPr lang="en-US" sz="1300" dirty="0"/>
          </a:p>
        </p:txBody>
      </p:sp>
      <p:sp>
        <p:nvSpPr>
          <p:cNvPr id="28" name="Text 25"/>
          <p:cNvSpPr txBox="1"/>
          <p:nvPr/>
        </p:nvSpPr>
        <p:spPr>
          <a:xfrm>
            <a:off x="8491728" y="4443984"/>
            <a:ext cx="3084576" cy="256032"/>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Configuration model</a:t>
            </a:r>
            <a:endParaRPr lang="en-US" sz="1350" dirty="0"/>
          </a:p>
        </p:txBody>
      </p:sp>
      <p:sp>
        <p:nvSpPr>
          <p:cNvPr id="29" name="Text 26"/>
          <p:cNvSpPr txBox="1"/>
          <p:nvPr/>
        </p:nvSpPr>
        <p:spPr>
          <a:xfrm>
            <a:off x="8491728" y="4700016"/>
            <a:ext cx="3084576" cy="457200"/>
          </a:xfrm>
          <a:prstGeom prst="rect">
            <a:avLst/>
          </a:prstGeom>
          <a:noFill/>
          <a:ln/>
        </p:spPr>
        <p:txBody>
          <a:bodyPr wrap="square" lIns="0" tIns="0" rIns="0" bIns="0" rtlCol="0" anchor="ctr"/>
          <a:lstStyle/>
          <a:p>
            <a:pPr marL="0" indent="0">
              <a:lnSpc>
                <a:spcPct val="95000"/>
              </a:lnSpc>
              <a:buNone/>
            </a:pPr>
            <a:r>
              <a:rPr lang="en-US" sz="1150" dirty="0">
                <a:solidFill>
                  <a:srgbClr val="6B7684"/>
                </a:solidFill>
                <a:latin typeface="Calibri" pitchFamily="34" charset="0"/>
                <a:ea typeface="Calibri" pitchFamily="34" charset="-122"/>
                <a:cs typeface="Calibri" pitchFamily="34" charset="-120"/>
              </a:rPr>
              <a:t>Molloy–Reed; scale-free epidemics</a:t>
            </a:r>
            <a:endParaRPr lang="en-US" sz="1150" dirty="0"/>
          </a:p>
        </p:txBody>
      </p:sp>
      <p:sp>
        <p:nvSpPr>
          <p:cNvPr id="30" name="Text 27"/>
          <p:cNvSpPr txBox="1"/>
          <p:nvPr/>
        </p:nvSpPr>
        <p:spPr>
          <a:xfrm>
            <a:off x="8089392" y="5248656"/>
            <a:ext cx="3541776" cy="274320"/>
          </a:xfrm>
          <a:prstGeom prst="rect">
            <a:avLst/>
          </a:prstGeom>
          <a:noFill/>
          <a:ln/>
        </p:spPr>
        <p:txBody>
          <a:bodyPr wrap="square" lIns="0" tIns="0" rIns="0" bIns="0" rtlCol="0" anchor="ctr"/>
          <a:lstStyle/>
          <a:p>
            <a:pPr marL="0" indent="0">
              <a:buNone/>
            </a:pPr>
            <a:r>
              <a:rPr lang="en-US" sz="1150" i="1" dirty="0">
                <a:solidFill>
                  <a:srgbClr val="C0392B"/>
                </a:solidFill>
                <a:latin typeface="Calibri" pitchFamily="34" charset="0"/>
                <a:ea typeface="Calibri" pitchFamily="34" charset="-122"/>
                <a:cs typeface="Calibri" pitchFamily="34" charset="-120"/>
              </a:rPr>
              <a:t>+ VII. Generating functions — the closing section</a:t>
            </a:r>
            <a:endParaRPr lang="en-US" sz="1150" dirty="0"/>
          </a:p>
        </p:txBody>
      </p:sp>
      <p:sp>
        <p:nvSpPr>
          <p:cNvPr id="31" name="Shape 28"/>
          <p:cNvSpPr/>
          <p:nvPr/>
        </p:nvSpPr>
        <p:spPr>
          <a:xfrm>
            <a:off x="566928" y="5779008"/>
            <a:ext cx="11064240" cy="566928"/>
          </a:xfrm>
          <a:prstGeom prst="roundRect">
            <a:avLst>
              <a:gd name="adj" fmla="val 9677"/>
            </a:avLst>
          </a:prstGeom>
          <a:solidFill>
            <a:srgbClr val="E4F0EE"/>
          </a:solidFill>
          <a:ln w="12700">
            <a:solidFill>
              <a:srgbClr val="333333"/>
            </a:solidFill>
            <a:prstDash val="solid"/>
          </a:ln>
        </p:spPr>
        <p:txBody>
          <a:bodyPr/>
          <a:lstStyle/>
          <a:p>
            <a:endParaRPr lang="en-IN"/>
          </a:p>
        </p:txBody>
      </p:sp>
      <p:sp>
        <p:nvSpPr>
          <p:cNvPr id="32" name="Text 29"/>
          <p:cNvSpPr txBox="1"/>
          <p:nvPr/>
        </p:nvSpPr>
        <p:spPr>
          <a:xfrm>
            <a:off x="768096" y="5779008"/>
            <a:ext cx="10661904" cy="566928"/>
          </a:xfrm>
          <a:prstGeom prst="rect">
            <a:avLst/>
          </a:prstGeom>
          <a:noFill/>
          <a:ln/>
        </p:spPr>
        <p:txBody>
          <a:bodyPr wrap="square" lIns="0" tIns="0" rIns="0" bIns="0" rtlCol="0" anchor="ctr"/>
          <a:lstStyle/>
          <a:p>
            <a:pPr marL="0" indent="0">
              <a:buNone/>
            </a:pPr>
            <a:r>
              <a:rPr lang="en-US" sz="1300" i="1" dirty="0">
                <a:solidFill>
                  <a:srgbClr val="0E1B33"/>
                </a:solidFill>
                <a:latin typeface="Calibri" pitchFamily="34" charset="0"/>
                <a:ea typeface="Calibri" pitchFamily="34" charset="-122"/>
                <a:cs typeface="Calibri" pitchFamily="34" charset="-120"/>
              </a:rPr>
              <a:t>Giant-component formation (⟨k⟩ = 1) and full connectivity (⟨k⟩ = ln n) are different transitions with different mechanisms — branching versus the disappearance of isolated vertices.</a:t>
            </a:r>
            <a:endParaRPr lang="en-US" sz="1300" dirty="0"/>
          </a:p>
        </p:txBody>
      </p:sp>
      <p:sp>
        <p:nvSpPr>
          <p:cNvPr id="11" name="Text 8"/>
          <p:cNvSpPr txBox="1"/>
          <p:nvPr/>
        </p:nvSpPr>
        <p:spPr>
          <a:xfrm>
            <a:off x="4328160" y="450426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IV</a:t>
            </a:r>
            <a:endParaRPr lang="en-US" sz="1300" dirty="0"/>
          </a:p>
        </p:txBody>
      </p:sp>
      <p:sp>
        <p:nvSpPr>
          <p:cNvPr id="34" name="Text 8">
            <a:extLst>
              <a:ext uri="{FF2B5EF4-FFF2-40B4-BE49-F238E27FC236}">
                <a16:creationId xmlns:a16="http://schemas.microsoft.com/office/drawing/2014/main" id="{D443233B-B7C9-3923-0FC1-0683B7A3EDB6}"/>
              </a:ext>
            </a:extLst>
          </p:cNvPr>
          <p:cNvSpPr txBox="1"/>
          <p:nvPr/>
        </p:nvSpPr>
        <p:spPr>
          <a:xfrm>
            <a:off x="601140" y="486138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III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566928" y="1773936"/>
            <a:ext cx="1225296" cy="1225296"/>
          </a:xfrm>
          <a:prstGeom prst="ellipse">
            <a:avLst/>
          </a:prstGeom>
          <a:solidFill>
            <a:srgbClr val="0E6F66"/>
          </a:solidFill>
          <a:ln w="12700">
            <a:solidFill>
              <a:srgbClr val="0E6F66"/>
            </a:solidFill>
            <a:prstDash val="solid"/>
          </a:ln>
        </p:spPr>
        <p:txBody>
          <a:bodyPr/>
          <a:lstStyle/>
          <a:p>
            <a:endParaRPr lang="en-IN"/>
          </a:p>
        </p:txBody>
      </p:sp>
      <p:sp>
        <p:nvSpPr>
          <p:cNvPr id="3" name="Text 1"/>
          <p:cNvSpPr txBox="1"/>
          <p:nvPr/>
        </p:nvSpPr>
        <p:spPr>
          <a:xfrm>
            <a:off x="566928" y="1778508"/>
            <a:ext cx="1225296" cy="1225296"/>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I</a:t>
            </a:r>
            <a:endParaRPr lang="en-US" sz="4400" dirty="0"/>
          </a:p>
        </p:txBody>
      </p:sp>
      <p:sp>
        <p:nvSpPr>
          <p:cNvPr id="4" name="Text 2"/>
          <p:cNvSpPr txBox="1"/>
          <p:nvPr/>
        </p:nvSpPr>
        <p:spPr>
          <a:xfrm>
            <a:off x="2139696" y="1481328"/>
            <a:ext cx="9692640" cy="1481328"/>
          </a:xfrm>
          <a:prstGeom prst="rect">
            <a:avLst/>
          </a:prstGeom>
          <a:noFill/>
          <a:ln/>
        </p:spPr>
        <p:txBody>
          <a:bodyPr wrap="square" lIns="0" tIns="0" rIns="0" bIns="0" rtlCol="0" anchor="ctr"/>
          <a:lstStyle/>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The Model and its</a:t>
            </a:r>
            <a:endParaRPr lang="en-US" sz="3600" dirty="0"/>
          </a:p>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Degree Distribution</a:t>
            </a:r>
            <a:endParaRPr lang="en-US" sz="3600" dirty="0"/>
          </a:p>
        </p:txBody>
      </p:sp>
      <p:sp>
        <p:nvSpPr>
          <p:cNvPr id="5" name="Text 3"/>
          <p:cNvSpPr txBox="1"/>
          <p:nvPr/>
        </p:nvSpPr>
        <p:spPr>
          <a:xfrm>
            <a:off x="2139696" y="3163824"/>
            <a:ext cx="9509760" cy="786384"/>
          </a:xfrm>
          <a:prstGeom prst="rect">
            <a:avLst/>
          </a:prstGeom>
          <a:noFill/>
          <a:ln/>
        </p:spPr>
        <p:txBody>
          <a:bodyPr wrap="square" lIns="0" tIns="0" rIns="0" bIns="0" rtlCol="0" anchor="t"/>
          <a:lstStyle/>
          <a:p>
            <a:pPr marL="0" indent="0">
              <a:lnSpc>
                <a:spcPct val="106000"/>
              </a:lnSpc>
              <a:buNone/>
            </a:pPr>
            <a:r>
              <a:rPr lang="en-US" sz="1500" dirty="0">
                <a:solidFill>
                  <a:srgbClr val="BFD3E6"/>
                </a:solidFill>
                <a:latin typeface="Calibri" pitchFamily="34" charset="0"/>
                <a:ea typeface="Calibri" pitchFamily="34" charset="-122"/>
                <a:cs typeface="Calibri" pitchFamily="34" charset="-120"/>
              </a:rPr>
              <a:t>Definition of G(n,p) · the exact Binomial degree law · the Poisson limit · why random graphs cannot have hubs</a:t>
            </a:r>
            <a:endParaRPr lang="en-US" sz="1500" dirty="0"/>
          </a:p>
        </p:txBody>
      </p:sp>
      <p:pic>
        <p:nvPicPr>
          <p:cNvPr id="6" name="Image 0" descr="/home/claude/eq/w_sec1.png"/>
          <p:cNvPicPr>
            <a:picLocks noChangeAspect="1"/>
          </p:cNvPicPr>
          <p:nvPr/>
        </p:nvPicPr>
        <p:blipFill>
          <a:blip r:embed="rId3"/>
          <a:stretch>
            <a:fillRect/>
          </a:stretch>
        </p:blipFill>
        <p:spPr>
          <a:xfrm>
            <a:off x="2139696" y="4169664"/>
            <a:ext cx="5040908" cy="804672"/>
          </a:xfrm>
          <a:prstGeom prst="rect">
            <a:avLst/>
          </a:prstGeom>
        </p:spPr>
      </p:pic>
      <p:sp>
        <p:nvSpPr>
          <p:cNvPr id="7" name="Text 4"/>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a:t>
            </a:r>
            <a:endParaRPr lang="en-US" sz="1050" dirty="0"/>
          </a:p>
        </p:txBody>
      </p:sp>
      <p:sp>
        <p:nvSpPr>
          <p:cNvPr id="8" name="Text 5"/>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  ·  The Model and its Degree Distribution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PRELIMINARIES</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Definition 1.1 — the G(n,p) model</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  ·  The Model and its Degree Distribution</a:t>
            </a:r>
            <a:endParaRPr lang="en-US" sz="1000" dirty="0"/>
          </a:p>
        </p:txBody>
      </p:sp>
      <p:sp>
        <p:nvSpPr>
          <p:cNvPr id="6" name="Shape 4"/>
          <p:cNvSpPr/>
          <p:nvPr/>
        </p:nvSpPr>
        <p:spPr>
          <a:xfrm>
            <a:off x="566928" y="1170432"/>
            <a:ext cx="11064240" cy="1060704"/>
          </a:xfrm>
          <a:prstGeom prst="roundRect">
            <a:avLst>
              <a:gd name="adj" fmla="val 5172"/>
            </a:avLst>
          </a:prstGeom>
          <a:solidFill>
            <a:srgbClr val="E4F0EE"/>
          </a:solidFill>
          <a:ln w="15875">
            <a:solidFill>
              <a:srgbClr val="0E6F66"/>
            </a:solidFill>
            <a:prstDash val="solid"/>
          </a:ln>
        </p:spPr>
        <p:txBody>
          <a:bodyPr/>
          <a:lstStyle/>
          <a:p>
            <a:endParaRPr lang="en-IN"/>
          </a:p>
        </p:txBody>
      </p:sp>
      <p:sp>
        <p:nvSpPr>
          <p:cNvPr id="7" name="Text 5"/>
          <p:cNvSpPr txBox="1"/>
          <p:nvPr/>
        </p:nvSpPr>
        <p:spPr>
          <a:xfrm>
            <a:off x="804672" y="1298448"/>
            <a:ext cx="7315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DEFINITION</a:t>
            </a:r>
            <a:endParaRPr lang="en-US" sz="1050" dirty="0"/>
          </a:p>
        </p:txBody>
      </p:sp>
      <p:pic>
        <p:nvPicPr>
          <p:cNvPr id="8" name="Image 0" descr="/home/claude/eq/def_gnp.png"/>
          <p:cNvPicPr>
            <a:picLocks noChangeAspect="1"/>
          </p:cNvPicPr>
          <p:nvPr/>
        </p:nvPicPr>
        <p:blipFill>
          <a:blip r:embed="rId3"/>
          <a:stretch>
            <a:fillRect/>
          </a:stretch>
        </p:blipFill>
        <p:spPr>
          <a:xfrm>
            <a:off x="1046181" y="1554480"/>
            <a:ext cx="10105734" cy="512064"/>
          </a:xfrm>
          <a:prstGeom prst="rect">
            <a:avLst/>
          </a:prstGeom>
        </p:spPr>
      </p:pic>
      <p:sp>
        <p:nvSpPr>
          <p:cNvPr id="9" name="Shape 6"/>
          <p:cNvSpPr/>
          <p:nvPr/>
        </p:nvSpPr>
        <p:spPr>
          <a:xfrm>
            <a:off x="566928" y="2414016"/>
            <a:ext cx="5422392" cy="960120"/>
          </a:xfrm>
          <a:prstGeom prst="roundRect">
            <a:avLst>
              <a:gd name="adj" fmla="val 5714"/>
            </a:avLst>
          </a:prstGeom>
          <a:solidFill>
            <a:srgbClr val="F4F6F9"/>
          </a:solidFill>
          <a:ln w="12700">
            <a:solidFill>
              <a:srgbClr val="333333"/>
            </a:solidFill>
            <a:prstDash val="solid"/>
          </a:ln>
        </p:spPr>
        <p:txBody>
          <a:bodyPr/>
          <a:lstStyle/>
          <a:p>
            <a:endParaRPr lang="en-IN"/>
          </a:p>
        </p:txBody>
      </p:sp>
      <p:sp>
        <p:nvSpPr>
          <p:cNvPr id="10" name="Text 7"/>
          <p:cNvSpPr txBox="1"/>
          <p:nvPr/>
        </p:nvSpPr>
        <p:spPr>
          <a:xfrm>
            <a:off x="786384" y="2542032"/>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EDGE COUNT AND MEAN DEGREE</a:t>
            </a:r>
            <a:endParaRPr lang="en-US" sz="1050" dirty="0"/>
          </a:p>
        </p:txBody>
      </p:sp>
      <p:pic>
        <p:nvPicPr>
          <p:cNvPr id="11" name="Image 1" descr="/home/claude/eq/exp_edges.png"/>
          <p:cNvPicPr>
            <a:picLocks noChangeAspect="1"/>
          </p:cNvPicPr>
          <p:nvPr/>
        </p:nvPicPr>
        <p:blipFill>
          <a:blip r:embed="rId4"/>
          <a:stretch>
            <a:fillRect/>
          </a:stretch>
        </p:blipFill>
        <p:spPr>
          <a:xfrm>
            <a:off x="1446097" y="2798064"/>
            <a:ext cx="3664055" cy="475488"/>
          </a:xfrm>
          <a:prstGeom prst="rect">
            <a:avLst/>
          </a:prstGeom>
        </p:spPr>
      </p:pic>
      <p:sp>
        <p:nvSpPr>
          <p:cNvPr id="12" name="Shape 8"/>
          <p:cNvSpPr/>
          <p:nvPr/>
        </p:nvSpPr>
        <p:spPr>
          <a:xfrm>
            <a:off x="6208776" y="2414016"/>
            <a:ext cx="5422392" cy="960120"/>
          </a:xfrm>
          <a:prstGeom prst="roundRect">
            <a:avLst>
              <a:gd name="adj" fmla="val 5714"/>
            </a:avLst>
          </a:prstGeom>
          <a:solidFill>
            <a:srgbClr val="F4F6F9"/>
          </a:solidFill>
          <a:ln w="12700">
            <a:solidFill>
              <a:srgbClr val="333333"/>
            </a:solidFill>
            <a:prstDash val="solid"/>
          </a:ln>
        </p:spPr>
        <p:txBody>
          <a:bodyPr/>
          <a:lstStyle/>
          <a:p>
            <a:endParaRPr lang="en-IN"/>
          </a:p>
        </p:txBody>
      </p:sp>
      <p:sp>
        <p:nvSpPr>
          <p:cNvPr id="13" name="Text 9"/>
          <p:cNvSpPr txBox="1"/>
          <p:nvPr/>
        </p:nvSpPr>
        <p:spPr>
          <a:xfrm>
            <a:off x="6428232" y="2542032"/>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NOTATION USED THROUGHOUT</a:t>
            </a:r>
            <a:endParaRPr lang="en-US" sz="1050" dirty="0"/>
          </a:p>
        </p:txBody>
      </p:sp>
      <p:pic>
        <p:nvPicPr>
          <p:cNvPr id="14" name="Image 2" descr="/home/claude/eq/notation.png"/>
          <p:cNvPicPr>
            <a:picLocks noChangeAspect="1"/>
          </p:cNvPicPr>
          <p:nvPr/>
        </p:nvPicPr>
        <p:blipFill>
          <a:blip r:embed="rId5"/>
          <a:stretch>
            <a:fillRect/>
          </a:stretch>
        </p:blipFill>
        <p:spPr>
          <a:xfrm>
            <a:off x="7269818" y="2798064"/>
            <a:ext cx="3300308" cy="475488"/>
          </a:xfrm>
          <a:prstGeom prst="rect">
            <a:avLst/>
          </a:prstGeom>
        </p:spPr>
      </p:pic>
      <p:sp>
        <p:nvSpPr>
          <p:cNvPr id="15" name="Text 10"/>
          <p:cNvSpPr txBox="1"/>
          <p:nvPr/>
        </p:nvSpPr>
        <p:spPr>
          <a:xfrm>
            <a:off x="566928" y="3584448"/>
            <a:ext cx="5394960" cy="292608"/>
          </a:xfrm>
          <a:prstGeom prst="rect">
            <a:avLst/>
          </a:prstGeom>
          <a:noFill/>
          <a:ln/>
        </p:spPr>
        <p:txBody>
          <a:bodyPr wrap="square" lIns="0" tIns="0" rIns="0" bIns="0" rtlCol="0" anchor="ctr"/>
          <a:lstStyle/>
          <a:p>
            <a:pPr marL="0" indent="0">
              <a:buNone/>
            </a:pPr>
            <a:r>
              <a:rPr lang="en-US" sz="1700" b="1" dirty="0">
                <a:solidFill>
                  <a:srgbClr val="0E1B33"/>
                </a:solidFill>
                <a:latin typeface="Cambria" pitchFamily="34" charset="0"/>
                <a:ea typeface="Cambria" pitchFamily="34" charset="-122"/>
                <a:cs typeface="Cambria" pitchFamily="34" charset="-120"/>
              </a:rPr>
              <a:t>Two conventions, one model</a:t>
            </a:r>
            <a:endParaRPr lang="en-US" sz="1700" dirty="0"/>
          </a:p>
        </p:txBody>
      </p:sp>
      <p:sp>
        <p:nvSpPr>
          <p:cNvPr id="16" name="Text 11"/>
          <p:cNvSpPr txBox="1"/>
          <p:nvPr/>
        </p:nvSpPr>
        <p:spPr>
          <a:xfrm>
            <a:off x="566928" y="3931920"/>
            <a:ext cx="5394960" cy="1700784"/>
          </a:xfrm>
          <a:prstGeom prst="rect">
            <a:avLst/>
          </a:prstGeom>
          <a:noFill/>
          <a:ln/>
        </p:spPr>
        <p:txBody>
          <a:bodyPr wrap="square" rtlCol="0" anchor="t"/>
          <a:lstStyle/>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G(n, p) — the binomial model. Each of the n(n−1)/2 pairs is joined independently with probability p. The edge count fluctuates.</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G(n, M) — the uniform model. One graph drawn uniformly from all graphs with exactly M edges.</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The two are asymptotically equivalent for M = p·n(n−1)/2 in the sparse regime. We use G(n,p) because independence makes every expectation factorise.</a:t>
            </a:r>
            <a:endParaRPr lang="en-US" sz="1300" dirty="0"/>
          </a:p>
        </p:txBody>
      </p:sp>
      <p:sp>
        <p:nvSpPr>
          <p:cNvPr id="17" name="Text 12"/>
          <p:cNvSpPr txBox="1"/>
          <p:nvPr/>
        </p:nvSpPr>
        <p:spPr>
          <a:xfrm>
            <a:off x="6208776" y="3584448"/>
            <a:ext cx="5394960" cy="292608"/>
          </a:xfrm>
          <a:prstGeom prst="rect">
            <a:avLst/>
          </a:prstGeom>
          <a:noFill/>
          <a:ln/>
        </p:spPr>
        <p:txBody>
          <a:bodyPr wrap="square" lIns="0" tIns="0" rIns="0" bIns="0" rtlCol="0" anchor="ctr"/>
          <a:lstStyle/>
          <a:p>
            <a:pPr marL="0" indent="0">
              <a:buNone/>
            </a:pPr>
            <a:r>
              <a:rPr lang="en-US" sz="1700" b="1" dirty="0">
                <a:solidFill>
                  <a:srgbClr val="0E1B33"/>
                </a:solidFill>
                <a:latin typeface="Cambria" pitchFamily="34" charset="0"/>
                <a:ea typeface="Cambria" pitchFamily="34" charset="-122"/>
                <a:cs typeface="Cambria" pitchFamily="34" charset="-120"/>
              </a:rPr>
              <a:t>Conventions</a:t>
            </a:r>
            <a:endParaRPr lang="en-US" sz="1700" dirty="0"/>
          </a:p>
        </p:txBody>
      </p:sp>
      <p:sp>
        <p:nvSpPr>
          <p:cNvPr id="18" name="Text 13"/>
          <p:cNvSpPr txBox="1"/>
          <p:nvPr/>
        </p:nvSpPr>
        <p:spPr>
          <a:xfrm>
            <a:off x="6208776" y="3931920"/>
            <a:ext cx="5394960" cy="1700784"/>
          </a:xfrm>
          <a:prstGeom prst="rect">
            <a:avLst/>
          </a:prstGeom>
          <a:noFill/>
          <a:ln/>
        </p:spPr>
        <p:txBody>
          <a:bodyPr wrap="square" rtlCol="0" anchor="t"/>
          <a:lstStyle/>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N and n are used interchangeably for the number of nodes.</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“w.h.p.” — with high probability, i.e. probability → 1 as n → ∞.</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Sparse regime: p = λ/(n−1) with λ = ⟨k⟩ held fixed as n → ∞. This is the only regime in which ER resembles a real network.</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Dense regime p = const is combinatorially interesting but physically irrelevant: ⟨k⟩ would grow like n.</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DEGREE DISTRIBUTION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exact degree law is Binomial</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5</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  ·  The Model and its Degree Distribution</a:t>
            </a:r>
            <a:endParaRPr lang="en-US" sz="1000" dirty="0"/>
          </a:p>
        </p:txBody>
      </p:sp>
      <p:sp>
        <p:nvSpPr>
          <p:cNvPr id="6" name="Text 4"/>
          <p:cNvSpPr txBox="1"/>
          <p:nvPr/>
        </p:nvSpPr>
        <p:spPr>
          <a:xfrm>
            <a:off x="566928" y="1243584"/>
            <a:ext cx="5486400" cy="1554480"/>
          </a:xfrm>
          <a:prstGeom prst="rect">
            <a:avLst/>
          </a:prstGeom>
          <a:noFill/>
          <a:ln/>
        </p:spPr>
        <p:txBody>
          <a:bodyPr wrap="square" rtlCol="0" anchor="t"/>
          <a:lstStyle/>
          <a:p>
            <a:pPr marL="342900" indent="-342900">
              <a:lnSpc>
                <a:spcPct val="106000"/>
              </a:lnSpc>
              <a:spcAft>
                <a:spcPts val="900"/>
              </a:spcAft>
              <a:buSzPct val="100000"/>
              <a:buChar char="•"/>
            </a:pPr>
            <a:r>
              <a:rPr lang="en-US" sz="1400" dirty="0">
                <a:solidFill>
                  <a:srgbClr val="12203A"/>
                </a:solidFill>
                <a:latin typeface="Calibri" pitchFamily="34" charset="0"/>
                <a:ea typeface="Calibri" pitchFamily="34" charset="-122"/>
                <a:cs typeface="Calibri" pitchFamily="34" charset="-120"/>
              </a:rPr>
              <a:t>Fix a node v. It has exactly n − 1 potential neighbours.</a:t>
            </a:r>
            <a:endParaRPr lang="en-US" sz="1400" dirty="0"/>
          </a:p>
          <a:p>
            <a:pPr marL="342900" indent="-342900">
              <a:lnSpc>
                <a:spcPct val="106000"/>
              </a:lnSpc>
              <a:spcAft>
                <a:spcPts val="900"/>
              </a:spcAft>
              <a:buSzPct val="100000"/>
              <a:buChar char="•"/>
            </a:pPr>
            <a:r>
              <a:rPr lang="en-US" sz="1400" dirty="0">
                <a:solidFill>
                  <a:srgbClr val="12203A"/>
                </a:solidFill>
                <a:latin typeface="Calibri" pitchFamily="34" charset="0"/>
                <a:ea typeface="Calibri" pitchFamily="34" charset="-122"/>
                <a:cs typeface="Calibri" pitchFamily="34" charset="-120"/>
              </a:rPr>
              <a:t>Each potential edge is an independent Bernoulli(p) trial.</a:t>
            </a:r>
            <a:endParaRPr lang="en-US" sz="1400" dirty="0"/>
          </a:p>
          <a:p>
            <a:pPr marL="342900" indent="-342900">
              <a:lnSpc>
                <a:spcPct val="106000"/>
              </a:lnSpc>
              <a:spcAft>
                <a:spcPts val="900"/>
              </a:spcAft>
              <a:buSzPct val="100000"/>
              <a:buChar char="•"/>
            </a:pPr>
            <a:r>
              <a:rPr lang="en-US" sz="1400" dirty="0">
                <a:solidFill>
                  <a:srgbClr val="12203A"/>
                </a:solidFill>
                <a:latin typeface="Calibri" pitchFamily="34" charset="0"/>
                <a:ea typeface="Calibri" pitchFamily="34" charset="-122"/>
                <a:cs typeface="Calibri" pitchFamily="34" charset="-120"/>
              </a:rPr>
              <a:t>Therefore deg(v) is a sum of n − 1 iid Bernoulli variables — a Binomial(n − 1, p) variable. No approximation yet: this is exact for every n and p.</a:t>
            </a:r>
            <a:endParaRPr lang="en-US" sz="1400" dirty="0"/>
          </a:p>
        </p:txBody>
      </p:sp>
      <p:sp>
        <p:nvSpPr>
          <p:cNvPr id="7" name="Shape 5"/>
          <p:cNvSpPr/>
          <p:nvPr/>
        </p:nvSpPr>
        <p:spPr>
          <a:xfrm>
            <a:off x="566928" y="2871216"/>
            <a:ext cx="5486400" cy="1051560"/>
          </a:xfrm>
          <a:prstGeom prst="roundRect">
            <a:avLst>
              <a:gd name="adj" fmla="val 5217"/>
            </a:avLst>
          </a:prstGeom>
          <a:solidFill>
            <a:srgbClr val="E4F0EE"/>
          </a:solidFill>
          <a:ln w="15875">
            <a:solidFill>
              <a:srgbClr val="0E6F66"/>
            </a:solidFill>
            <a:prstDash val="solid"/>
          </a:ln>
        </p:spPr>
        <p:txBody>
          <a:bodyPr/>
          <a:lstStyle/>
          <a:p>
            <a:endParaRPr lang="en-IN"/>
          </a:p>
        </p:txBody>
      </p:sp>
      <p:sp>
        <p:nvSpPr>
          <p:cNvPr id="8" name="Text 6"/>
          <p:cNvSpPr txBox="1"/>
          <p:nvPr/>
        </p:nvSpPr>
        <p:spPr>
          <a:xfrm>
            <a:off x="786384" y="2999232"/>
            <a:ext cx="5029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EXACT PROBABILITY MASS FUNCTION</a:t>
            </a:r>
            <a:endParaRPr lang="en-US" sz="1050" dirty="0"/>
          </a:p>
        </p:txBody>
      </p:sp>
      <p:pic>
        <p:nvPicPr>
          <p:cNvPr id="9" name="Image 0" descr="/home/claude/eq/binom_pmf.png"/>
          <p:cNvPicPr>
            <a:picLocks noChangeAspect="1"/>
          </p:cNvPicPr>
          <p:nvPr/>
        </p:nvPicPr>
        <p:blipFill>
          <a:blip r:embed="rId3"/>
          <a:stretch>
            <a:fillRect/>
          </a:stretch>
        </p:blipFill>
        <p:spPr>
          <a:xfrm>
            <a:off x="1894835" y="3255264"/>
            <a:ext cx="2812299" cy="530352"/>
          </a:xfrm>
          <a:prstGeom prst="rect">
            <a:avLst/>
          </a:prstGeom>
        </p:spPr>
      </p:pic>
      <p:sp>
        <p:nvSpPr>
          <p:cNvPr id="10" name="Text 7"/>
          <p:cNvSpPr txBox="1"/>
          <p:nvPr/>
        </p:nvSpPr>
        <p:spPr>
          <a:xfrm>
            <a:off x="566928" y="4133088"/>
            <a:ext cx="5486400" cy="274320"/>
          </a:xfrm>
          <a:prstGeom prst="rect">
            <a:avLst/>
          </a:prstGeom>
          <a:noFill/>
          <a:ln/>
        </p:spPr>
        <p:txBody>
          <a:bodyPr wrap="square" lIns="0" tIns="0" rIns="0" bIns="0" rtlCol="0" anchor="ctr"/>
          <a:lstStyle/>
          <a:p>
            <a:pPr marL="0" indent="0">
              <a:buNone/>
            </a:pPr>
            <a:r>
              <a:rPr lang="en-US" sz="1600" b="1" dirty="0">
                <a:solidFill>
                  <a:srgbClr val="0E1B33"/>
                </a:solidFill>
                <a:latin typeface="Cambria" pitchFamily="34" charset="0"/>
                <a:ea typeface="Cambria" pitchFamily="34" charset="-122"/>
                <a:cs typeface="Cambria" pitchFamily="34" charset="-120"/>
              </a:rPr>
              <a:t>Exact moments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4462272"/>
          <a:ext cx="5486400" cy="1333500"/>
        </p:xfrm>
        <a:graphic>
          <a:graphicData uri="http://schemas.openxmlformats.org/drawingml/2006/table">
            <a:tbl>
              <a:tblPr/>
              <a:tblGrid>
                <a:gridCol w="17373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265176">
                <a:tc>
                  <a:txBody>
                    <a:bodyPr/>
                    <a:lstStyle/>
                    <a:p>
                      <a:pPr marL="0" indent="0">
                        <a:buNone/>
                      </a:pPr>
                      <a:r>
                        <a:rPr lang="en-US" sz="1150" b="1" dirty="0">
                          <a:solidFill>
                            <a:srgbClr val="0E1B33"/>
                          </a:solidFill>
                          <a:latin typeface="Calibri" pitchFamily="34" charset="0"/>
                          <a:ea typeface="Calibri" pitchFamily="34" charset="-122"/>
                          <a:cs typeface="Calibri" pitchFamily="34" charset="-120"/>
                        </a:rPr>
                        <a:t>Quantity</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tc>
                  <a:txBody>
                    <a:bodyPr/>
                    <a:lstStyle/>
                    <a:p>
                      <a:pPr marL="0" indent="0">
                        <a:buNone/>
                      </a:pPr>
                      <a:r>
                        <a:rPr lang="en-US" sz="1150" b="1" dirty="0">
                          <a:solidFill>
                            <a:srgbClr val="0E1B33"/>
                          </a:solidFill>
                          <a:latin typeface="Calibri" pitchFamily="34" charset="0"/>
                          <a:ea typeface="Calibri" pitchFamily="34" charset="-122"/>
                          <a:cs typeface="Calibri" pitchFamily="34" charset="-120"/>
                        </a:rPr>
                        <a:t>Binomial(n−1, p)</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tc>
                  <a:txBody>
                    <a:bodyPr/>
                    <a:lstStyle/>
                    <a:p>
                      <a:pPr marL="0" indent="0">
                        <a:buNone/>
                      </a:pPr>
                      <a:r>
                        <a:rPr lang="en-US" sz="1150" b="1" dirty="0">
                          <a:solidFill>
                            <a:srgbClr val="0E1B33"/>
                          </a:solidFill>
                          <a:latin typeface="Calibri" pitchFamily="34" charset="0"/>
                          <a:ea typeface="Calibri" pitchFamily="34" charset="-122"/>
                          <a:cs typeface="Calibri" pitchFamily="34" charset="-120"/>
                        </a:rPr>
                        <a:t>Sparse limit</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extLst>
                  <a:ext uri="{0D108BD9-81ED-4DB2-BD59-A6C34878D82A}">
                    <a16:rowId xmlns:a16="http://schemas.microsoft.com/office/drawing/2014/main" val="10000"/>
                  </a:ext>
                </a:extLst>
              </a:tr>
              <a:tr h="265176">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mean  ⟨k⟩</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(n−1)p</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λ</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variance</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(n−1)p(1−p)</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λ</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⟨k²⟩</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λ² + λ(1−p)</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λ² + λ</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support</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0 … n−1</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50" dirty="0">
                          <a:solidFill>
                            <a:srgbClr val="12203A"/>
                          </a:solidFill>
                          <a:latin typeface="Calibri" pitchFamily="34" charset="0"/>
                          <a:ea typeface="Calibri" pitchFamily="34" charset="-122"/>
                          <a:cs typeface="Calibri" pitchFamily="34" charset="-120"/>
                        </a:rPr>
                        <a:t>0 … ∞</a:t>
                      </a:r>
                      <a:endParaRPr lang="en-US" sz="11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Shape 8"/>
          <p:cNvSpPr/>
          <p:nvPr/>
        </p:nvSpPr>
        <p:spPr>
          <a:xfrm>
            <a:off x="6364224" y="1243584"/>
            <a:ext cx="5266944" cy="3602736"/>
          </a:xfrm>
          <a:prstGeom prst="roundRect">
            <a:avLst>
              <a:gd name="adj" fmla="val 1523"/>
            </a:avLst>
          </a:prstGeom>
          <a:solidFill>
            <a:srgbClr val="F4F6F9"/>
          </a:solidFill>
          <a:ln w="12700">
            <a:solidFill>
              <a:srgbClr val="333333"/>
            </a:solidFill>
            <a:prstDash val="solid"/>
          </a:ln>
        </p:spPr>
        <p:txBody>
          <a:bodyPr/>
          <a:lstStyle/>
          <a:p>
            <a:endParaRPr lang="en-IN"/>
          </a:p>
        </p:txBody>
      </p:sp>
      <p:sp>
        <p:nvSpPr>
          <p:cNvPr id="13" name="Text 9"/>
          <p:cNvSpPr txBox="1"/>
          <p:nvPr/>
        </p:nvSpPr>
        <p:spPr>
          <a:xfrm>
            <a:off x="6583680" y="1408176"/>
            <a:ext cx="4846320" cy="292608"/>
          </a:xfrm>
          <a:prstGeom prst="rect">
            <a:avLst/>
          </a:prstGeom>
          <a:noFill/>
          <a:ln/>
        </p:spPr>
        <p:txBody>
          <a:bodyPr wrap="square" lIns="0" tIns="0" rIns="0" bIns="0" rtlCol="0" anchor="ctr"/>
          <a:lstStyle/>
          <a:p>
            <a:pPr marL="0" indent="0">
              <a:buNone/>
            </a:pPr>
            <a:r>
              <a:rPr lang="en-US" sz="1600" b="1" dirty="0">
                <a:solidFill>
                  <a:srgbClr val="0E1B33"/>
                </a:solidFill>
                <a:latin typeface="Cambria" pitchFamily="34" charset="0"/>
                <a:ea typeface="Cambria" pitchFamily="34" charset="-122"/>
                <a:cs typeface="Cambria" pitchFamily="34" charset="-120"/>
              </a:rPr>
              <a:t>Why the Binomial is not the end of the story</a:t>
            </a:r>
            <a:endParaRPr lang="en-US" sz="1600" dirty="0"/>
          </a:p>
        </p:txBody>
      </p:sp>
      <p:sp>
        <p:nvSpPr>
          <p:cNvPr id="14" name="Text 10"/>
          <p:cNvSpPr txBox="1"/>
          <p:nvPr/>
        </p:nvSpPr>
        <p:spPr>
          <a:xfrm>
            <a:off x="6583680" y="1810512"/>
            <a:ext cx="4846320" cy="2962656"/>
          </a:xfrm>
          <a:prstGeom prst="rect">
            <a:avLst/>
          </a:prstGeom>
          <a:noFill/>
          <a:ln/>
        </p:spPr>
        <p:txBody>
          <a:bodyPr wrap="square" rtlCol="0" anchor="t"/>
          <a:lstStyle/>
          <a:p>
            <a:pPr marL="342900" indent="-342900">
              <a:lnSpc>
                <a:spcPct val="106000"/>
              </a:lnSpc>
              <a:spcAft>
                <a:spcPts val="900"/>
              </a:spcAft>
              <a:buSzPct val="100000"/>
              <a:buChar char="•"/>
            </a:pPr>
            <a:r>
              <a:rPr lang="en-US" sz="1250" dirty="0">
                <a:solidFill>
                  <a:srgbClr val="12203A"/>
                </a:solidFill>
                <a:latin typeface="Calibri" pitchFamily="34" charset="0"/>
                <a:ea typeface="Calibri" pitchFamily="34" charset="-122"/>
                <a:cs typeface="Calibri" pitchFamily="34" charset="-120"/>
              </a:rPr>
              <a:t>The Binomial coefficient is analytically unwieldy: it does not survive differentiation, convolution, or generating-function manipulation cleanly.</a:t>
            </a:r>
            <a:endParaRPr lang="en-US" sz="1250" dirty="0"/>
          </a:p>
          <a:p>
            <a:pPr marL="342900" indent="-342900">
              <a:lnSpc>
                <a:spcPct val="106000"/>
              </a:lnSpc>
              <a:spcAft>
                <a:spcPts val="900"/>
              </a:spcAft>
              <a:buSzPct val="100000"/>
              <a:buChar char="•"/>
            </a:pPr>
            <a:r>
              <a:rPr lang="en-US" sz="1250" dirty="0">
                <a:solidFill>
                  <a:srgbClr val="12203A"/>
                </a:solidFill>
                <a:latin typeface="Calibri" pitchFamily="34" charset="0"/>
                <a:ea typeface="Calibri" pitchFamily="34" charset="-122"/>
                <a:cs typeface="Calibri" pitchFamily="34" charset="-120"/>
              </a:rPr>
              <a:t>It carries a hard cut-off at k = n − 1 that is an artefact of finite n, not of the physics.</a:t>
            </a:r>
            <a:endParaRPr lang="en-US" sz="1250" dirty="0"/>
          </a:p>
          <a:p>
            <a:pPr marL="342900" indent="-342900">
              <a:lnSpc>
                <a:spcPct val="106000"/>
              </a:lnSpc>
              <a:spcAft>
                <a:spcPts val="900"/>
              </a:spcAft>
              <a:buSzPct val="100000"/>
              <a:buChar char="•"/>
            </a:pPr>
            <a:r>
              <a:rPr lang="en-US" sz="1250" dirty="0">
                <a:solidFill>
                  <a:srgbClr val="FF0000"/>
                </a:solidFill>
                <a:latin typeface="Calibri" pitchFamily="34" charset="0"/>
                <a:ea typeface="Calibri" pitchFamily="34" charset="-122"/>
                <a:cs typeface="Calibri" pitchFamily="34" charset="-120"/>
              </a:rPr>
              <a:t>Real networks are sparse: p ~ 10⁻⁵ with n ~ 10⁶. The interesting limit is n → ∞ at fixed mean degree, and in that limit the Binomial collapses to a one-parameter law.</a:t>
            </a:r>
            <a:endParaRPr lang="en-US" sz="1250" dirty="0">
              <a:solidFill>
                <a:srgbClr val="FF0000"/>
              </a:solidFill>
            </a:endParaRPr>
          </a:p>
          <a:p>
            <a:pPr marL="342900" indent="-342900">
              <a:lnSpc>
                <a:spcPct val="106000"/>
              </a:lnSpc>
              <a:spcAft>
                <a:spcPts val="900"/>
              </a:spcAft>
              <a:buSzPct val="100000"/>
              <a:buChar char="•"/>
            </a:pPr>
            <a:r>
              <a:rPr lang="en-US" sz="1250" dirty="0">
                <a:solidFill>
                  <a:srgbClr val="FF0000"/>
                </a:solidFill>
                <a:latin typeface="Calibri" pitchFamily="34" charset="0"/>
                <a:ea typeface="Calibri" pitchFamily="34" charset="-122"/>
                <a:cs typeface="Calibri" pitchFamily="34" charset="-120"/>
              </a:rPr>
              <a:t>That one-parameter law is Poisson — and it is the reason every subsequent derivation in this deck closes in elementary form.</a:t>
            </a:r>
            <a:endParaRPr lang="en-US" sz="125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arn(inVertical)">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ppt_x"/>
                                          </p:val>
                                        </p:tav>
                                        <p:tav tm="100000">
                                          <p:val>
                                            <p:strVal val="#ppt_x"/>
                                          </p:val>
                                        </p:tav>
                                      </p:tavLst>
                                    </p:anim>
                                    <p:anim calcmode="lin" valueType="num">
                                      <p:cBhvr additive="base">
                                        <p:cTn id="3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THEOREM</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Derivation: the Poisson limit</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6</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  ·  The Model and its Degree Distribution</a:t>
            </a:r>
            <a:endParaRPr lang="en-US" sz="1000" dirty="0"/>
          </a:p>
        </p:txBody>
      </p:sp>
      <p:sp>
        <p:nvSpPr>
          <p:cNvPr id="6" name="Text 4"/>
          <p:cNvSpPr txBox="1"/>
          <p:nvPr/>
        </p:nvSpPr>
        <p:spPr>
          <a:xfrm>
            <a:off x="566928" y="1170432"/>
            <a:ext cx="11064240" cy="274320"/>
          </a:xfrm>
          <a:prstGeom prst="rect">
            <a:avLst/>
          </a:prstGeom>
          <a:noFill/>
          <a:ln/>
        </p:spPr>
        <p:txBody>
          <a:bodyPr wrap="square" lIns="0" tIns="0" rIns="0" bIns="0" rtlCol="0" anchor="ctr"/>
          <a:lstStyle/>
          <a:p>
            <a:pPr marL="0" indent="0">
              <a:buNone/>
            </a:pPr>
            <a:r>
              <a:rPr lang="en-US" sz="1400" dirty="0">
                <a:solidFill>
                  <a:srgbClr val="12203A"/>
                </a:solidFill>
                <a:latin typeface="Calibri" pitchFamily="34" charset="0"/>
                <a:ea typeface="Calibri" pitchFamily="34" charset="-122"/>
                <a:cs typeface="Calibri" pitchFamily="34" charset="-120"/>
              </a:rPr>
              <a:t>Take n → ∞ holding the mean degree λ = ⟨k⟩ = p(n−1) fixed, so p = λ/(n−1) → 0.</a:t>
            </a:r>
            <a:endParaRPr lang="en-US" sz="1400" dirty="0"/>
          </a:p>
        </p:txBody>
      </p:sp>
      <p:sp>
        <p:nvSpPr>
          <p:cNvPr id="7" name="Shape 5"/>
          <p:cNvSpPr/>
          <p:nvPr/>
        </p:nvSpPr>
        <p:spPr>
          <a:xfrm>
            <a:off x="585216" y="1591056"/>
            <a:ext cx="329184" cy="329184"/>
          </a:xfrm>
          <a:prstGeom prst="ellipse">
            <a:avLst/>
          </a:prstGeom>
          <a:solidFill>
            <a:srgbClr val="0E6F66"/>
          </a:solidFill>
          <a:ln w="12700">
            <a:solidFill>
              <a:srgbClr val="0E6F66"/>
            </a:solidFill>
            <a:prstDash val="solid"/>
          </a:ln>
        </p:spPr>
        <p:txBody>
          <a:bodyPr/>
          <a:lstStyle/>
          <a:p>
            <a:endParaRPr lang="en-IN"/>
          </a:p>
        </p:txBody>
      </p:sp>
      <p:sp>
        <p:nvSpPr>
          <p:cNvPr id="8" name="Text 6"/>
          <p:cNvSpPr txBox="1"/>
          <p:nvPr/>
        </p:nvSpPr>
        <p:spPr>
          <a:xfrm>
            <a:off x="585216" y="159562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060704" y="1563624"/>
            <a:ext cx="228600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Expand the coefficient</a:t>
            </a:r>
            <a:endParaRPr lang="en-US" sz="1350" dirty="0"/>
          </a:p>
        </p:txBody>
      </p:sp>
      <p:pic>
        <p:nvPicPr>
          <p:cNvPr id="10" name="Image 0" descr="/home/claude/eq/pois_step1.png"/>
          <p:cNvPicPr>
            <a:picLocks noChangeAspect="1"/>
          </p:cNvPicPr>
          <p:nvPr/>
        </p:nvPicPr>
        <p:blipFill>
          <a:blip r:embed="rId3"/>
          <a:stretch>
            <a:fillRect/>
          </a:stretch>
        </p:blipFill>
        <p:spPr>
          <a:xfrm>
            <a:off x="3483864" y="1517904"/>
            <a:ext cx="7370110" cy="777240"/>
          </a:xfrm>
          <a:prstGeom prst="rect">
            <a:avLst/>
          </a:prstGeom>
        </p:spPr>
      </p:pic>
      <p:sp>
        <p:nvSpPr>
          <p:cNvPr id="11" name="Text 8"/>
          <p:cNvSpPr txBox="1"/>
          <p:nvPr/>
        </p:nvSpPr>
        <p:spPr>
          <a:xfrm>
            <a:off x="1060704" y="2560320"/>
            <a:ext cx="10515600" cy="256032"/>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Three independent limits act on the three factors:</a:t>
            </a:r>
            <a:endParaRPr lang="en-US" sz="1350" dirty="0"/>
          </a:p>
        </p:txBody>
      </p:sp>
      <p:sp>
        <p:nvSpPr>
          <p:cNvPr id="12" name="Shape 9"/>
          <p:cNvSpPr/>
          <p:nvPr/>
        </p:nvSpPr>
        <p:spPr>
          <a:xfrm>
            <a:off x="566928" y="2889504"/>
            <a:ext cx="11064240" cy="548640"/>
          </a:xfrm>
          <a:prstGeom prst="roundRect">
            <a:avLst>
              <a:gd name="adj" fmla="val 10000"/>
            </a:avLst>
          </a:prstGeom>
          <a:solidFill>
            <a:srgbClr val="F4F6F9"/>
          </a:solidFill>
          <a:ln w="12700">
            <a:solidFill>
              <a:srgbClr val="333333"/>
            </a:solidFill>
            <a:prstDash val="solid"/>
          </a:ln>
        </p:spPr>
        <p:txBody>
          <a:bodyPr/>
          <a:lstStyle/>
          <a:p>
            <a:endParaRPr lang="en-IN"/>
          </a:p>
        </p:txBody>
      </p:sp>
      <p:pic>
        <p:nvPicPr>
          <p:cNvPr id="13" name="Image 1" descr="/home/claude/eq/pois_lim_i.png"/>
          <p:cNvPicPr>
            <a:picLocks noChangeAspect="1"/>
          </p:cNvPicPr>
          <p:nvPr/>
        </p:nvPicPr>
        <p:blipFill>
          <a:blip r:embed="rId4"/>
          <a:stretch>
            <a:fillRect/>
          </a:stretch>
        </p:blipFill>
        <p:spPr>
          <a:xfrm>
            <a:off x="822960" y="2926080"/>
            <a:ext cx="2990638" cy="475488"/>
          </a:xfrm>
          <a:prstGeom prst="rect">
            <a:avLst/>
          </a:prstGeom>
        </p:spPr>
      </p:pic>
      <p:sp>
        <p:nvSpPr>
          <p:cNvPr id="14" name="Text 10"/>
          <p:cNvSpPr txBox="1"/>
          <p:nvPr/>
        </p:nvSpPr>
        <p:spPr>
          <a:xfrm>
            <a:off x="6967728" y="2889504"/>
            <a:ext cx="4480560" cy="548640"/>
          </a:xfrm>
          <a:prstGeom prst="rect">
            <a:avLst/>
          </a:prstGeom>
          <a:noFill/>
          <a:ln/>
        </p:spPr>
        <p:txBody>
          <a:bodyPr wrap="square" lIns="0" tIns="0" rIns="0" bIns="0" rtlCol="0" anchor="ctr"/>
          <a:lstStyle/>
          <a:p>
            <a:pPr marL="0" indent="0">
              <a:buNone/>
            </a:pPr>
            <a:r>
              <a:rPr lang="en-US" sz="1200" i="1" dirty="0">
                <a:solidFill>
                  <a:srgbClr val="6B7684"/>
                </a:solidFill>
                <a:latin typeface="Calibri" pitchFamily="34" charset="0"/>
                <a:ea typeface="Calibri" pitchFamily="34" charset="-122"/>
                <a:cs typeface="Calibri" pitchFamily="34" charset="-120"/>
              </a:rPr>
              <a:t>each of the k factors → 1 as n → ∞ (k is fixed)</a:t>
            </a:r>
            <a:endParaRPr lang="en-US" sz="1200" dirty="0"/>
          </a:p>
        </p:txBody>
      </p:sp>
      <p:sp>
        <p:nvSpPr>
          <p:cNvPr id="15" name="Shape 11"/>
          <p:cNvSpPr/>
          <p:nvPr/>
        </p:nvSpPr>
        <p:spPr>
          <a:xfrm>
            <a:off x="566928" y="3529584"/>
            <a:ext cx="11064240" cy="548640"/>
          </a:xfrm>
          <a:prstGeom prst="roundRect">
            <a:avLst>
              <a:gd name="adj" fmla="val 10000"/>
            </a:avLst>
          </a:prstGeom>
          <a:solidFill>
            <a:srgbClr val="E4F0EE"/>
          </a:solidFill>
          <a:ln w="12700">
            <a:solidFill>
              <a:srgbClr val="333333"/>
            </a:solidFill>
            <a:prstDash val="solid"/>
          </a:ln>
        </p:spPr>
        <p:txBody>
          <a:bodyPr/>
          <a:lstStyle/>
          <a:p>
            <a:endParaRPr lang="en-IN"/>
          </a:p>
        </p:txBody>
      </p:sp>
      <p:pic>
        <p:nvPicPr>
          <p:cNvPr id="16" name="Image 2" descr="/home/claude/eq/pois_lim_ii.png"/>
          <p:cNvPicPr>
            <a:picLocks noChangeAspect="1"/>
          </p:cNvPicPr>
          <p:nvPr/>
        </p:nvPicPr>
        <p:blipFill>
          <a:blip r:embed="rId5"/>
          <a:stretch>
            <a:fillRect/>
          </a:stretch>
        </p:blipFill>
        <p:spPr>
          <a:xfrm>
            <a:off x="822960" y="3566160"/>
            <a:ext cx="2343649" cy="475488"/>
          </a:xfrm>
          <a:prstGeom prst="rect">
            <a:avLst/>
          </a:prstGeom>
        </p:spPr>
      </p:pic>
      <p:sp>
        <p:nvSpPr>
          <p:cNvPr id="17" name="Text 12"/>
          <p:cNvSpPr txBox="1"/>
          <p:nvPr/>
        </p:nvSpPr>
        <p:spPr>
          <a:xfrm>
            <a:off x="6967728" y="3529584"/>
            <a:ext cx="4480560" cy="548640"/>
          </a:xfrm>
          <a:prstGeom prst="rect">
            <a:avLst/>
          </a:prstGeom>
          <a:noFill/>
          <a:ln/>
        </p:spPr>
        <p:txBody>
          <a:bodyPr wrap="square" lIns="0" tIns="0" rIns="0" bIns="0" rtlCol="0" anchor="ctr"/>
          <a:lstStyle/>
          <a:p>
            <a:pPr marL="0" indent="0">
              <a:buNone/>
            </a:pPr>
            <a:r>
              <a:rPr lang="en-US" sz="1200" i="1" dirty="0">
                <a:solidFill>
                  <a:srgbClr val="6B7684"/>
                </a:solidFill>
                <a:latin typeface="Calibri" pitchFamily="34" charset="0"/>
                <a:ea typeface="Calibri" pitchFamily="34" charset="-122"/>
                <a:cs typeface="Calibri" pitchFamily="34" charset="-120"/>
              </a:rPr>
              <a:t>the standard limit definition of the exponential</a:t>
            </a:r>
            <a:endParaRPr lang="en-US" sz="1200" dirty="0"/>
          </a:p>
        </p:txBody>
      </p:sp>
      <p:sp>
        <p:nvSpPr>
          <p:cNvPr id="18" name="Shape 13"/>
          <p:cNvSpPr/>
          <p:nvPr/>
        </p:nvSpPr>
        <p:spPr>
          <a:xfrm>
            <a:off x="566928" y="4169664"/>
            <a:ext cx="11064240" cy="548640"/>
          </a:xfrm>
          <a:prstGeom prst="roundRect">
            <a:avLst>
              <a:gd name="adj" fmla="val 10000"/>
            </a:avLst>
          </a:prstGeom>
          <a:solidFill>
            <a:srgbClr val="F4F6F9"/>
          </a:solidFill>
          <a:ln w="12700">
            <a:solidFill>
              <a:srgbClr val="333333"/>
            </a:solidFill>
            <a:prstDash val="solid"/>
          </a:ln>
        </p:spPr>
        <p:txBody>
          <a:bodyPr/>
          <a:lstStyle/>
          <a:p>
            <a:endParaRPr lang="en-IN"/>
          </a:p>
        </p:txBody>
      </p:sp>
      <p:pic>
        <p:nvPicPr>
          <p:cNvPr id="19" name="Image 3" descr="/home/claude/eq/pois_lim_iii.png"/>
          <p:cNvPicPr>
            <a:picLocks noChangeAspect="1"/>
          </p:cNvPicPr>
          <p:nvPr/>
        </p:nvPicPr>
        <p:blipFill>
          <a:blip r:embed="rId6"/>
          <a:stretch>
            <a:fillRect/>
          </a:stretch>
        </p:blipFill>
        <p:spPr>
          <a:xfrm>
            <a:off x="822960" y="4206240"/>
            <a:ext cx="2138501" cy="475488"/>
          </a:xfrm>
          <a:prstGeom prst="rect">
            <a:avLst/>
          </a:prstGeom>
        </p:spPr>
      </p:pic>
      <p:sp>
        <p:nvSpPr>
          <p:cNvPr id="20" name="Text 14"/>
          <p:cNvSpPr txBox="1"/>
          <p:nvPr/>
        </p:nvSpPr>
        <p:spPr>
          <a:xfrm>
            <a:off x="6967728" y="4169664"/>
            <a:ext cx="4480560" cy="548640"/>
          </a:xfrm>
          <a:prstGeom prst="rect">
            <a:avLst/>
          </a:prstGeom>
          <a:noFill/>
          <a:ln/>
        </p:spPr>
        <p:txBody>
          <a:bodyPr wrap="square" lIns="0" tIns="0" rIns="0" bIns="0" rtlCol="0" anchor="ctr"/>
          <a:lstStyle/>
          <a:p>
            <a:pPr marL="0" indent="0">
              <a:buNone/>
            </a:pPr>
            <a:r>
              <a:rPr lang="en-US" sz="1200" i="1" dirty="0">
                <a:solidFill>
                  <a:srgbClr val="6B7684"/>
                </a:solidFill>
                <a:latin typeface="Calibri" pitchFamily="34" charset="0"/>
                <a:ea typeface="Calibri" pitchFamily="34" charset="-122"/>
                <a:cs typeface="Calibri" pitchFamily="34" charset="-120"/>
              </a:rPr>
              <a:t>bounded exponent, base → 1</a:t>
            </a:r>
            <a:endParaRPr lang="en-US" sz="1200" dirty="0"/>
          </a:p>
        </p:txBody>
      </p:sp>
      <p:sp>
        <p:nvSpPr>
          <p:cNvPr id="21" name="Shape 15"/>
          <p:cNvSpPr/>
          <p:nvPr/>
        </p:nvSpPr>
        <p:spPr>
          <a:xfrm>
            <a:off x="566928" y="4864608"/>
            <a:ext cx="6675120" cy="960120"/>
          </a:xfrm>
          <a:prstGeom prst="roundRect">
            <a:avLst>
              <a:gd name="adj" fmla="val 5714"/>
            </a:avLst>
          </a:prstGeom>
          <a:solidFill>
            <a:srgbClr val="FBEBE8"/>
          </a:solidFill>
          <a:ln w="15875">
            <a:solidFill>
              <a:srgbClr val="C0392B"/>
            </a:solidFill>
            <a:prstDash val="solid"/>
          </a:ln>
        </p:spPr>
        <p:txBody>
          <a:bodyPr/>
          <a:lstStyle/>
          <a:p>
            <a:endParaRPr lang="en-IN"/>
          </a:p>
        </p:txBody>
      </p:sp>
      <p:sp>
        <p:nvSpPr>
          <p:cNvPr id="22" name="Text 16"/>
          <p:cNvSpPr txBox="1"/>
          <p:nvPr/>
        </p:nvSpPr>
        <p:spPr>
          <a:xfrm>
            <a:off x="786384" y="4974336"/>
            <a:ext cx="6236208"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COMBINING THE THREE FACTORS</a:t>
            </a:r>
            <a:endParaRPr lang="en-US" sz="1050" dirty="0"/>
          </a:p>
        </p:txBody>
      </p:sp>
      <p:pic>
        <p:nvPicPr>
          <p:cNvPr id="23" name="Image 4" descr="/home/claude/eq/pois_result.png"/>
          <p:cNvPicPr>
            <a:picLocks noChangeAspect="1"/>
          </p:cNvPicPr>
          <p:nvPr/>
        </p:nvPicPr>
        <p:blipFill>
          <a:blip r:embed="rId7"/>
          <a:stretch>
            <a:fillRect/>
          </a:stretch>
        </p:blipFill>
        <p:spPr>
          <a:xfrm>
            <a:off x="2548529" y="5248656"/>
            <a:ext cx="2711918" cy="411480"/>
          </a:xfrm>
          <a:prstGeom prst="rect">
            <a:avLst/>
          </a:prstGeom>
        </p:spPr>
      </p:pic>
      <p:sp>
        <p:nvSpPr>
          <p:cNvPr id="24" name="Shape 17"/>
          <p:cNvSpPr/>
          <p:nvPr/>
        </p:nvSpPr>
        <p:spPr>
          <a:xfrm>
            <a:off x="7461504" y="4864608"/>
            <a:ext cx="4169664" cy="960120"/>
          </a:xfrm>
          <a:prstGeom prst="roundRect">
            <a:avLst>
              <a:gd name="adj" fmla="val 5714"/>
            </a:avLst>
          </a:prstGeom>
          <a:solidFill>
            <a:srgbClr val="F4F6F9"/>
          </a:solidFill>
          <a:ln w="12700">
            <a:solidFill>
              <a:srgbClr val="333333"/>
            </a:solidFill>
            <a:prstDash val="solid"/>
          </a:ln>
        </p:spPr>
        <p:txBody>
          <a:bodyPr/>
          <a:lstStyle/>
          <a:p>
            <a:endParaRPr lang="en-IN"/>
          </a:p>
        </p:txBody>
      </p:sp>
      <p:sp>
        <p:nvSpPr>
          <p:cNvPr id="25" name="Text 18"/>
          <p:cNvSpPr txBox="1"/>
          <p:nvPr/>
        </p:nvSpPr>
        <p:spPr>
          <a:xfrm>
            <a:off x="7680960" y="4974336"/>
            <a:ext cx="374904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CONSEQUENCE</a:t>
            </a:r>
            <a:endParaRPr lang="en-US" sz="1050" dirty="0"/>
          </a:p>
        </p:txBody>
      </p:sp>
      <p:pic>
        <p:nvPicPr>
          <p:cNvPr id="26" name="Image 5" descr="/home/claude/eq/pois_moments.png"/>
          <p:cNvPicPr>
            <a:picLocks noChangeAspect="1"/>
          </p:cNvPicPr>
          <p:nvPr/>
        </p:nvPicPr>
        <p:blipFill>
          <a:blip r:embed="rId8"/>
          <a:stretch>
            <a:fillRect/>
          </a:stretch>
        </p:blipFill>
        <p:spPr>
          <a:xfrm>
            <a:off x="7680960" y="5230368"/>
            <a:ext cx="3749040" cy="352532"/>
          </a:xfrm>
          <a:prstGeom prst="rect">
            <a:avLst/>
          </a:prstGeom>
        </p:spPr>
      </p:pic>
      <p:pic>
        <p:nvPicPr>
          <p:cNvPr id="27" name="Picture 8">
            <a:extLst>
              <a:ext uri="{FF2B5EF4-FFF2-40B4-BE49-F238E27FC236}">
                <a16:creationId xmlns:a16="http://schemas.microsoft.com/office/drawing/2014/main" id="{24E42F7C-AB03-C0F1-564E-013E5F5B9038}"/>
              </a:ext>
            </a:extLst>
          </p:cNvPr>
          <p:cNvPicPr>
            <a:picLocks noChangeAspect="1" noChangeArrowheads="1"/>
          </p:cNvPicPr>
          <p:nvPr/>
        </p:nvPicPr>
        <p:blipFill>
          <a:blip r:embed="rId9"/>
          <a:srcRect/>
          <a:stretch>
            <a:fillRect/>
          </a:stretch>
        </p:blipFill>
        <p:spPr bwMode="auto">
          <a:xfrm>
            <a:off x="4989384" y="5999036"/>
            <a:ext cx="5535547" cy="858964"/>
          </a:xfrm>
          <a:prstGeom prst="rect">
            <a:avLst/>
          </a:prstGeom>
          <a:noFill/>
          <a:ln w="9525">
            <a:noFill/>
            <a:miter lim="800000"/>
            <a:headEnd/>
            <a:tailEnd/>
          </a:ln>
          <a:effectLst/>
        </p:spPr>
      </p:pic>
      <p:pic>
        <p:nvPicPr>
          <p:cNvPr id="28" name="Picture 9">
            <a:extLst>
              <a:ext uri="{FF2B5EF4-FFF2-40B4-BE49-F238E27FC236}">
                <a16:creationId xmlns:a16="http://schemas.microsoft.com/office/drawing/2014/main" id="{963671C5-45EF-8C12-31F1-930F9D795254}"/>
              </a:ext>
            </a:extLst>
          </p:cNvPr>
          <p:cNvPicPr>
            <a:picLocks noChangeAspect="1" noChangeArrowheads="1"/>
          </p:cNvPicPr>
          <p:nvPr/>
        </p:nvPicPr>
        <p:blipFill>
          <a:blip r:embed="rId10"/>
          <a:srcRect/>
          <a:stretch>
            <a:fillRect/>
          </a:stretch>
        </p:blipFill>
        <p:spPr bwMode="auto">
          <a:xfrm>
            <a:off x="3483864" y="5971032"/>
            <a:ext cx="1457325" cy="390525"/>
          </a:xfrm>
          <a:prstGeom prst="rect">
            <a:avLst/>
          </a:prstGeom>
          <a:noFill/>
          <a:ln w="9525">
            <a:noFill/>
            <a:miter lim="800000"/>
            <a:headEnd/>
            <a:tailEnd/>
          </a:ln>
          <a:effec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ppt_x</p:attrName>
                                        </p:attrNameLst>
                                      </p:cBhvr>
                                      <p:tavLst>
                                        <p:tav tm="0">
                                          <p:val>
                                            <p:strVal val="#ppt_x"/>
                                          </p:val>
                                        </p:tav>
                                        <p:tav tm="100000">
                                          <p:val>
                                            <p:strVal val="#ppt_x"/>
                                          </p:val>
                                        </p:tav>
                                      </p:tavLst>
                                    </p:anim>
                                    <p:anim calcmode="lin" valueType="num">
                                      <p:cBhvr>
                                        <p:cTn id="43" dur="100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1000"/>
                                        <p:tgtEl>
                                          <p:spTgt spid="13"/>
                                        </p:tgtEl>
                                      </p:cBhvr>
                                    </p:animEffect>
                                    <p:anim calcmode="lin" valueType="num">
                                      <p:cBhvr>
                                        <p:cTn id="47" dur="1000" fill="hold"/>
                                        <p:tgtEl>
                                          <p:spTgt spid="13"/>
                                        </p:tgtEl>
                                        <p:attrNameLst>
                                          <p:attrName>ppt_x</p:attrName>
                                        </p:attrNameLst>
                                      </p:cBhvr>
                                      <p:tavLst>
                                        <p:tav tm="0">
                                          <p:val>
                                            <p:strVal val="#ppt_x"/>
                                          </p:val>
                                        </p:tav>
                                        <p:tav tm="100000">
                                          <p:val>
                                            <p:strVal val="#ppt_x"/>
                                          </p:val>
                                        </p:tav>
                                      </p:tavLst>
                                    </p:anim>
                                    <p:anim calcmode="lin" valueType="num">
                                      <p:cBhvr>
                                        <p:cTn id="48" dur="100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1000"/>
                                        <p:tgtEl>
                                          <p:spTgt spid="14"/>
                                        </p:tgtEl>
                                      </p:cBhvr>
                                    </p:animEffect>
                                    <p:anim calcmode="lin" valueType="num">
                                      <p:cBhvr>
                                        <p:cTn id="52" dur="1000" fill="hold"/>
                                        <p:tgtEl>
                                          <p:spTgt spid="14"/>
                                        </p:tgtEl>
                                        <p:attrNameLst>
                                          <p:attrName>ppt_x</p:attrName>
                                        </p:attrNameLst>
                                      </p:cBhvr>
                                      <p:tavLst>
                                        <p:tav tm="0">
                                          <p:val>
                                            <p:strVal val="#ppt_x"/>
                                          </p:val>
                                        </p:tav>
                                        <p:tav tm="100000">
                                          <p:val>
                                            <p:strVal val="#ppt_x"/>
                                          </p:val>
                                        </p:tav>
                                      </p:tavLst>
                                    </p:anim>
                                    <p:anim calcmode="lin" valueType="num">
                                      <p:cBhvr>
                                        <p:cTn id="5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ppt_x"/>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ppt_x</p:attrName>
                                        </p:attrNameLst>
                                      </p:cBhvr>
                                      <p:tavLst>
                                        <p:tav tm="0">
                                          <p:val>
                                            <p:strVal val="#ppt_x"/>
                                          </p:val>
                                        </p:tav>
                                        <p:tav tm="100000">
                                          <p:val>
                                            <p:strVal val="#ppt_x"/>
                                          </p:val>
                                        </p:tav>
                                      </p:tavLst>
                                    </p:anim>
                                    <p:anim calcmode="lin" valueType="num">
                                      <p:cBhvr additive="base">
                                        <p:cTn id="63" dur="500" fill="hold"/>
                                        <p:tgtEl>
                                          <p:spTgt spid="17"/>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1000"/>
                                        <p:tgtEl>
                                          <p:spTgt spid="18"/>
                                        </p:tgtEl>
                                      </p:cBhvr>
                                    </p:animEffect>
                                    <p:anim calcmode="lin" valueType="num">
                                      <p:cBhvr>
                                        <p:cTn id="73" dur="1000" fill="hold"/>
                                        <p:tgtEl>
                                          <p:spTgt spid="18"/>
                                        </p:tgtEl>
                                        <p:attrNameLst>
                                          <p:attrName>ppt_x</p:attrName>
                                        </p:attrNameLst>
                                      </p:cBhvr>
                                      <p:tavLst>
                                        <p:tav tm="0">
                                          <p:val>
                                            <p:strVal val="#ppt_x"/>
                                          </p:val>
                                        </p:tav>
                                        <p:tav tm="100000">
                                          <p:val>
                                            <p:strVal val="#ppt_x"/>
                                          </p:val>
                                        </p:tav>
                                      </p:tavLst>
                                    </p:anim>
                                    <p:anim calcmode="lin" valueType="num">
                                      <p:cBhvr>
                                        <p:cTn id="74" dur="10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1000"/>
                                        <p:tgtEl>
                                          <p:spTgt spid="19"/>
                                        </p:tgtEl>
                                      </p:cBhvr>
                                    </p:animEffect>
                                    <p:anim calcmode="lin" valueType="num">
                                      <p:cBhvr>
                                        <p:cTn id="78" dur="1000" fill="hold"/>
                                        <p:tgtEl>
                                          <p:spTgt spid="19"/>
                                        </p:tgtEl>
                                        <p:attrNameLst>
                                          <p:attrName>ppt_x</p:attrName>
                                        </p:attrNameLst>
                                      </p:cBhvr>
                                      <p:tavLst>
                                        <p:tav tm="0">
                                          <p:val>
                                            <p:strVal val="#ppt_x"/>
                                          </p:val>
                                        </p:tav>
                                        <p:tav tm="100000">
                                          <p:val>
                                            <p:strVal val="#ppt_x"/>
                                          </p:val>
                                        </p:tav>
                                      </p:tavLst>
                                    </p:anim>
                                    <p:anim calcmode="lin" valueType="num">
                                      <p:cBhvr>
                                        <p:cTn id="79" dur="10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1000"/>
                                        <p:tgtEl>
                                          <p:spTgt spid="20"/>
                                        </p:tgtEl>
                                      </p:cBhvr>
                                    </p:animEffect>
                                    <p:anim calcmode="lin" valueType="num">
                                      <p:cBhvr>
                                        <p:cTn id="83" dur="1000" fill="hold"/>
                                        <p:tgtEl>
                                          <p:spTgt spid="20"/>
                                        </p:tgtEl>
                                        <p:attrNameLst>
                                          <p:attrName>ppt_x</p:attrName>
                                        </p:attrNameLst>
                                      </p:cBhvr>
                                      <p:tavLst>
                                        <p:tav tm="0">
                                          <p:val>
                                            <p:strVal val="#ppt_x"/>
                                          </p:val>
                                        </p:tav>
                                        <p:tav tm="100000">
                                          <p:val>
                                            <p:strVal val="#ppt_x"/>
                                          </p:val>
                                        </p:tav>
                                      </p:tavLst>
                                    </p:anim>
                                    <p:anim calcmode="lin" valueType="num">
                                      <p:cBhvr>
                                        <p:cTn id="8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1000"/>
                                        <p:tgtEl>
                                          <p:spTgt spid="22"/>
                                        </p:tgtEl>
                                      </p:cBhvr>
                                    </p:animEffect>
                                    <p:anim calcmode="lin" valueType="num">
                                      <p:cBhvr>
                                        <p:cTn id="90" dur="1000" fill="hold"/>
                                        <p:tgtEl>
                                          <p:spTgt spid="22"/>
                                        </p:tgtEl>
                                        <p:attrNameLst>
                                          <p:attrName>ppt_x</p:attrName>
                                        </p:attrNameLst>
                                      </p:cBhvr>
                                      <p:tavLst>
                                        <p:tav tm="0">
                                          <p:val>
                                            <p:strVal val="#ppt_x"/>
                                          </p:val>
                                        </p:tav>
                                        <p:tav tm="100000">
                                          <p:val>
                                            <p:strVal val="#ppt_x"/>
                                          </p:val>
                                        </p:tav>
                                      </p:tavLst>
                                    </p:anim>
                                    <p:anim calcmode="lin" valueType="num">
                                      <p:cBhvr>
                                        <p:cTn id="91" dur="1000" fill="hold"/>
                                        <p:tgtEl>
                                          <p:spTgt spid="22"/>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1000"/>
                                        <p:tgtEl>
                                          <p:spTgt spid="23"/>
                                        </p:tgtEl>
                                      </p:cBhvr>
                                    </p:animEffect>
                                    <p:anim calcmode="lin" valueType="num">
                                      <p:cBhvr>
                                        <p:cTn id="95" dur="1000" fill="hold"/>
                                        <p:tgtEl>
                                          <p:spTgt spid="23"/>
                                        </p:tgtEl>
                                        <p:attrNameLst>
                                          <p:attrName>ppt_x</p:attrName>
                                        </p:attrNameLst>
                                      </p:cBhvr>
                                      <p:tavLst>
                                        <p:tav tm="0">
                                          <p:val>
                                            <p:strVal val="#ppt_x"/>
                                          </p:val>
                                        </p:tav>
                                        <p:tav tm="100000">
                                          <p:val>
                                            <p:strVal val="#ppt_x"/>
                                          </p:val>
                                        </p:tav>
                                      </p:tavLst>
                                    </p:anim>
                                    <p:anim calcmode="lin" valueType="num">
                                      <p:cBhvr>
                                        <p:cTn id="96" dur="1000" fill="hold"/>
                                        <p:tgtEl>
                                          <p:spTgt spid="23"/>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fade">
                                      <p:cBhvr>
                                        <p:cTn id="99" dur="1000"/>
                                        <p:tgtEl>
                                          <p:spTgt spid="21"/>
                                        </p:tgtEl>
                                      </p:cBhvr>
                                    </p:animEffect>
                                    <p:anim calcmode="lin" valueType="num">
                                      <p:cBhvr>
                                        <p:cTn id="100" dur="1000" fill="hold"/>
                                        <p:tgtEl>
                                          <p:spTgt spid="21"/>
                                        </p:tgtEl>
                                        <p:attrNameLst>
                                          <p:attrName>ppt_x</p:attrName>
                                        </p:attrNameLst>
                                      </p:cBhvr>
                                      <p:tavLst>
                                        <p:tav tm="0">
                                          <p:val>
                                            <p:strVal val="#ppt_x"/>
                                          </p:val>
                                        </p:tav>
                                        <p:tav tm="100000">
                                          <p:val>
                                            <p:strVal val="#ppt_x"/>
                                          </p:val>
                                        </p:tav>
                                      </p:tavLst>
                                    </p:anim>
                                    <p:anim calcmode="lin" valueType="num">
                                      <p:cBhvr>
                                        <p:cTn id="101" dur="1000" fill="hold"/>
                                        <p:tgtEl>
                                          <p:spTgt spid="21"/>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1000"/>
                                        <p:tgtEl>
                                          <p:spTgt spid="24"/>
                                        </p:tgtEl>
                                      </p:cBhvr>
                                    </p:animEffect>
                                    <p:anim calcmode="lin" valueType="num">
                                      <p:cBhvr>
                                        <p:cTn id="105" dur="1000" fill="hold"/>
                                        <p:tgtEl>
                                          <p:spTgt spid="24"/>
                                        </p:tgtEl>
                                        <p:attrNameLst>
                                          <p:attrName>ppt_x</p:attrName>
                                        </p:attrNameLst>
                                      </p:cBhvr>
                                      <p:tavLst>
                                        <p:tav tm="0">
                                          <p:val>
                                            <p:strVal val="#ppt_x"/>
                                          </p:val>
                                        </p:tav>
                                        <p:tav tm="100000">
                                          <p:val>
                                            <p:strVal val="#ppt_x"/>
                                          </p:val>
                                        </p:tav>
                                      </p:tavLst>
                                    </p:anim>
                                    <p:anim calcmode="lin" valueType="num">
                                      <p:cBhvr>
                                        <p:cTn id="106" dur="1000" fill="hold"/>
                                        <p:tgtEl>
                                          <p:spTgt spid="24"/>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1000"/>
                                        <p:tgtEl>
                                          <p:spTgt spid="26"/>
                                        </p:tgtEl>
                                      </p:cBhvr>
                                    </p:animEffect>
                                    <p:anim calcmode="lin" valueType="num">
                                      <p:cBhvr>
                                        <p:cTn id="110" dur="1000" fill="hold"/>
                                        <p:tgtEl>
                                          <p:spTgt spid="26"/>
                                        </p:tgtEl>
                                        <p:attrNameLst>
                                          <p:attrName>ppt_x</p:attrName>
                                        </p:attrNameLst>
                                      </p:cBhvr>
                                      <p:tavLst>
                                        <p:tav tm="0">
                                          <p:val>
                                            <p:strVal val="#ppt_x"/>
                                          </p:val>
                                        </p:tav>
                                        <p:tav tm="100000">
                                          <p:val>
                                            <p:strVal val="#ppt_x"/>
                                          </p:val>
                                        </p:tav>
                                      </p:tavLst>
                                    </p:anim>
                                    <p:anim calcmode="lin" valueType="num">
                                      <p:cBhvr>
                                        <p:cTn id="111" dur="1000" fill="hold"/>
                                        <p:tgtEl>
                                          <p:spTgt spid="26"/>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1000"/>
                                        <p:tgtEl>
                                          <p:spTgt spid="25"/>
                                        </p:tgtEl>
                                      </p:cBhvr>
                                    </p:animEffect>
                                    <p:anim calcmode="lin" valueType="num">
                                      <p:cBhvr>
                                        <p:cTn id="115" dur="1000" fill="hold"/>
                                        <p:tgtEl>
                                          <p:spTgt spid="25"/>
                                        </p:tgtEl>
                                        <p:attrNameLst>
                                          <p:attrName>ppt_x</p:attrName>
                                        </p:attrNameLst>
                                      </p:cBhvr>
                                      <p:tavLst>
                                        <p:tav tm="0">
                                          <p:val>
                                            <p:strVal val="#ppt_x"/>
                                          </p:val>
                                        </p:tav>
                                        <p:tav tm="100000">
                                          <p:val>
                                            <p:strVal val="#ppt_x"/>
                                          </p:val>
                                        </p:tav>
                                      </p:tavLst>
                                    </p:anim>
                                    <p:anim calcmode="lin" valueType="num">
                                      <p:cBhvr>
                                        <p:cTn id="1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nodeType="click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1000"/>
                                        <p:tgtEl>
                                          <p:spTgt spid="27"/>
                                        </p:tgtEl>
                                      </p:cBhvr>
                                    </p:animEffect>
                                    <p:anim calcmode="lin" valueType="num">
                                      <p:cBhvr>
                                        <p:cTn id="122" dur="1000" fill="hold"/>
                                        <p:tgtEl>
                                          <p:spTgt spid="27"/>
                                        </p:tgtEl>
                                        <p:attrNameLst>
                                          <p:attrName>ppt_x</p:attrName>
                                        </p:attrNameLst>
                                      </p:cBhvr>
                                      <p:tavLst>
                                        <p:tav tm="0">
                                          <p:val>
                                            <p:strVal val="#ppt_x"/>
                                          </p:val>
                                        </p:tav>
                                        <p:tav tm="100000">
                                          <p:val>
                                            <p:strVal val="#ppt_x"/>
                                          </p:val>
                                        </p:tav>
                                      </p:tavLst>
                                    </p:anim>
                                    <p:anim calcmode="lin" valueType="num">
                                      <p:cBhvr>
                                        <p:cTn id="123" dur="1000" fill="hold"/>
                                        <p:tgtEl>
                                          <p:spTgt spid="27"/>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0"/>
                                  </p:stCondLst>
                                  <p:childTnLst>
                                    <p:set>
                                      <p:cBhvr>
                                        <p:cTn id="125" dur="1" fill="hold">
                                          <p:stCondLst>
                                            <p:cond delay="0"/>
                                          </p:stCondLst>
                                        </p:cTn>
                                        <p:tgtEl>
                                          <p:spTgt spid="28"/>
                                        </p:tgtEl>
                                        <p:attrNameLst>
                                          <p:attrName>style.visibility</p:attrName>
                                        </p:attrNameLst>
                                      </p:cBhvr>
                                      <p:to>
                                        <p:strVal val="visible"/>
                                      </p:to>
                                    </p:set>
                                    <p:animEffect transition="in" filter="fade">
                                      <p:cBhvr>
                                        <p:cTn id="126" dur="1000"/>
                                        <p:tgtEl>
                                          <p:spTgt spid="28"/>
                                        </p:tgtEl>
                                      </p:cBhvr>
                                    </p:animEffect>
                                    <p:anim calcmode="lin" valueType="num">
                                      <p:cBhvr>
                                        <p:cTn id="127" dur="1000" fill="hold"/>
                                        <p:tgtEl>
                                          <p:spTgt spid="28"/>
                                        </p:tgtEl>
                                        <p:attrNameLst>
                                          <p:attrName>ppt_x</p:attrName>
                                        </p:attrNameLst>
                                      </p:cBhvr>
                                      <p:tavLst>
                                        <p:tav tm="0">
                                          <p:val>
                                            <p:strVal val="#ppt_x"/>
                                          </p:val>
                                        </p:tav>
                                        <p:tav tm="100000">
                                          <p:val>
                                            <p:strVal val="#ppt_x"/>
                                          </p:val>
                                        </p:tav>
                                      </p:tavLst>
                                    </p:anim>
                                    <p:anim calcmode="lin" valueType="num">
                                      <p:cBhvr>
                                        <p:cTn id="12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2"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CONVERGENCE</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How fast does the Binomial become Poisson?</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7</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  ·  The Model and its Degree Distribution</a:t>
            </a:r>
            <a:endParaRPr lang="en-US" sz="1000" dirty="0"/>
          </a:p>
        </p:txBody>
      </p:sp>
      <p:pic>
        <p:nvPicPr>
          <p:cNvPr id="6" name="Image 0" descr="/home/claude/figs/01_binomial_poisson.png"/>
          <p:cNvPicPr>
            <a:picLocks noChangeAspect="1"/>
          </p:cNvPicPr>
          <p:nvPr/>
        </p:nvPicPr>
        <p:blipFill>
          <a:blip r:embed="rId3"/>
          <a:stretch>
            <a:fillRect/>
          </a:stretch>
        </p:blipFill>
        <p:spPr>
          <a:xfrm>
            <a:off x="566928" y="1152144"/>
            <a:ext cx="6903720" cy="4349242"/>
          </a:xfrm>
          <a:prstGeom prst="rect">
            <a:avLst/>
          </a:prstGeom>
        </p:spPr>
      </p:pic>
      <p:sp>
        <p:nvSpPr>
          <p:cNvPr id="7" name="Shape 4"/>
          <p:cNvSpPr/>
          <p:nvPr/>
        </p:nvSpPr>
        <p:spPr>
          <a:xfrm>
            <a:off x="7744968" y="1152144"/>
            <a:ext cx="3886200" cy="3803904"/>
          </a:xfrm>
          <a:prstGeom prst="roundRect">
            <a:avLst>
              <a:gd name="adj" fmla="val 1442"/>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964424" y="1316736"/>
            <a:ext cx="3474720" cy="292608"/>
          </a:xfrm>
          <a:prstGeom prst="rect">
            <a:avLst/>
          </a:prstGeom>
          <a:noFill/>
          <a:ln/>
        </p:spPr>
        <p:txBody>
          <a:bodyPr wrap="square" lIns="0" tIns="0" rIns="0" bIns="0" rtlCol="0" anchor="ctr"/>
          <a:lstStyle/>
          <a:p>
            <a:pPr marL="0" indent="0">
              <a:buNone/>
            </a:pPr>
            <a:r>
              <a:rPr lang="en-US" sz="1600" b="1" dirty="0">
                <a:solidFill>
                  <a:srgbClr val="0E1B33"/>
                </a:solidFill>
                <a:latin typeface="Cambria" pitchFamily="34" charset="0"/>
                <a:ea typeface="Cambria" pitchFamily="34" charset="-122"/>
                <a:cs typeface="Cambria" pitchFamily="34" charset="-120"/>
              </a:rPr>
              <a:t>Reading the figure</a:t>
            </a:r>
            <a:endParaRPr lang="en-US" sz="1600" dirty="0"/>
          </a:p>
        </p:txBody>
      </p:sp>
      <p:sp>
        <p:nvSpPr>
          <p:cNvPr id="9" name="Text 6"/>
          <p:cNvSpPr txBox="1"/>
          <p:nvPr/>
        </p:nvSpPr>
        <p:spPr>
          <a:xfrm>
            <a:off x="7964424" y="1719072"/>
            <a:ext cx="3474720" cy="3145536"/>
          </a:xfrm>
          <a:prstGeom prst="rect">
            <a:avLst/>
          </a:prstGeom>
          <a:noFill/>
          <a:ln/>
        </p:spPr>
        <p:txBody>
          <a:bodyPr wrap="square" rtlCol="0" anchor="t"/>
          <a:lstStyle/>
          <a:p>
            <a:pPr marL="342900" indent="-342900">
              <a:lnSpc>
                <a:spcPct val="106000"/>
              </a:lnSpc>
              <a:spcAft>
                <a:spcPts val="800"/>
              </a:spcAft>
              <a:buSzPct val="100000"/>
              <a:buChar char="•"/>
            </a:pPr>
            <a:r>
              <a:rPr lang="en-US" sz="1200" dirty="0">
                <a:solidFill>
                  <a:srgbClr val="12203A"/>
                </a:solidFill>
                <a:latin typeface="Calibri" pitchFamily="34" charset="0"/>
                <a:ea typeface="Calibri" pitchFamily="34" charset="-122"/>
                <a:cs typeface="Calibri" pitchFamily="34" charset="-120"/>
              </a:rPr>
              <a:t>All four distributions have the same mean, λ = 3. Only n changes.</a:t>
            </a:r>
            <a:endParaRPr lang="en-US" sz="1200" dirty="0"/>
          </a:p>
          <a:p>
            <a:pPr marL="342900" indent="-342900">
              <a:lnSpc>
                <a:spcPct val="106000"/>
              </a:lnSpc>
              <a:spcAft>
                <a:spcPts val="800"/>
              </a:spcAft>
              <a:buSzPct val="100000"/>
              <a:buChar char="•"/>
            </a:pPr>
            <a:r>
              <a:rPr lang="en-US" sz="1200" dirty="0">
                <a:solidFill>
                  <a:srgbClr val="12203A"/>
                </a:solidFill>
                <a:latin typeface="Calibri" pitchFamily="34" charset="0"/>
                <a:ea typeface="Calibri" pitchFamily="34" charset="-122"/>
                <a:cs typeface="Calibri" pitchFamily="34" charset="-120"/>
              </a:rPr>
              <a:t>At n = 8 the Binomial is visibly compressed — the hard cut-off at k = n − 1 = 7 bites.</a:t>
            </a:r>
            <a:endParaRPr lang="en-US" sz="1200" dirty="0"/>
          </a:p>
          <a:p>
            <a:pPr marL="342900" indent="-342900">
              <a:lnSpc>
                <a:spcPct val="106000"/>
              </a:lnSpc>
              <a:spcAft>
                <a:spcPts val="800"/>
              </a:spcAft>
              <a:buSzPct val="100000"/>
              <a:buChar char="•"/>
            </a:pPr>
            <a:r>
              <a:rPr lang="en-US" sz="1200" dirty="0">
                <a:solidFill>
                  <a:srgbClr val="12203A"/>
                </a:solidFill>
                <a:latin typeface="Calibri" pitchFamily="34" charset="0"/>
                <a:ea typeface="Calibri" pitchFamily="34" charset="-122"/>
                <a:cs typeface="Calibri" pitchFamily="34" charset="-120"/>
              </a:rPr>
              <a:t>At n = 20 the shape is already close.</a:t>
            </a:r>
            <a:endParaRPr lang="en-US" sz="1200" dirty="0"/>
          </a:p>
          <a:p>
            <a:pPr marL="342900" indent="-342900">
              <a:lnSpc>
                <a:spcPct val="106000"/>
              </a:lnSpc>
              <a:spcAft>
                <a:spcPts val="800"/>
              </a:spcAft>
              <a:buSzPct val="100000"/>
              <a:buChar char="•"/>
            </a:pPr>
            <a:r>
              <a:rPr lang="en-US" sz="1200" dirty="0">
                <a:solidFill>
                  <a:srgbClr val="12203A"/>
                </a:solidFill>
                <a:latin typeface="Calibri" pitchFamily="34" charset="0"/>
                <a:ea typeface="Calibri" pitchFamily="34" charset="-122"/>
                <a:cs typeface="Calibri" pitchFamily="34" charset="-120"/>
              </a:rPr>
              <a:t>At n = 100 the largest pointwise discrepancy is 3.5 × 10⁻³ — indistinguishable at the resolution of any real measurement.</a:t>
            </a:r>
            <a:endParaRPr lang="en-US" sz="1200" dirty="0"/>
          </a:p>
          <a:p>
            <a:pPr marL="342900" indent="-342900">
              <a:lnSpc>
                <a:spcPct val="106000"/>
              </a:lnSpc>
              <a:spcAft>
                <a:spcPts val="800"/>
              </a:spcAft>
              <a:buSzPct val="100000"/>
              <a:buChar char="•"/>
            </a:pPr>
            <a:r>
              <a:rPr lang="en-US" sz="1200" dirty="0">
                <a:solidFill>
                  <a:srgbClr val="12203A"/>
                </a:solidFill>
                <a:latin typeface="Calibri" pitchFamily="34" charset="0"/>
                <a:ea typeface="Calibri" pitchFamily="34" charset="-122"/>
                <a:cs typeface="Calibri" pitchFamily="34" charset="-120"/>
              </a:rPr>
              <a:t>Convergence is O(1/n): the Poisson form is safe for any network of realistic size.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STRUCTURE</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Anatomy of the Poisson degree distribution</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8</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  ·  The Model and its Degree Distribution</a:t>
            </a:r>
            <a:endParaRPr lang="en-US" sz="1000" dirty="0"/>
          </a:p>
        </p:txBody>
      </p:sp>
      <p:pic>
        <p:nvPicPr>
          <p:cNvPr id="6" name="Image 0" descr="/home/claude/figs/02_poisson_family.png"/>
          <p:cNvPicPr>
            <a:picLocks noChangeAspect="1"/>
          </p:cNvPicPr>
          <p:nvPr/>
        </p:nvPicPr>
        <p:blipFill>
          <a:blip r:embed="rId3"/>
          <a:stretch>
            <a:fillRect/>
          </a:stretch>
        </p:blipFill>
        <p:spPr>
          <a:xfrm>
            <a:off x="2437502" y="1170432"/>
            <a:ext cx="7323092" cy="3246120"/>
          </a:xfrm>
          <a:prstGeom prst="rect">
            <a:avLst/>
          </a:prstGeom>
        </p:spPr>
      </p:pic>
      <p:sp>
        <p:nvSpPr>
          <p:cNvPr id="7" name="Shape 4"/>
          <p:cNvSpPr/>
          <p:nvPr/>
        </p:nvSpPr>
        <p:spPr>
          <a:xfrm>
            <a:off x="566928" y="4626864"/>
            <a:ext cx="3529584" cy="1060704"/>
          </a:xfrm>
          <a:prstGeom prst="roundRect">
            <a:avLst>
              <a:gd name="adj" fmla="val 5172"/>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49808" y="4736592"/>
            <a:ext cx="3163824" cy="256032"/>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Mean = variance</a:t>
            </a:r>
            <a:endParaRPr lang="en-US" sz="1350" dirty="0"/>
          </a:p>
        </p:txBody>
      </p:sp>
      <p:sp>
        <p:nvSpPr>
          <p:cNvPr id="9" name="Text 6"/>
          <p:cNvSpPr txBox="1"/>
          <p:nvPr/>
        </p:nvSpPr>
        <p:spPr>
          <a:xfrm>
            <a:off x="749808" y="4992624"/>
            <a:ext cx="3163824" cy="621792"/>
          </a:xfrm>
          <a:prstGeom prst="rect">
            <a:avLst/>
          </a:prstGeom>
          <a:noFill/>
          <a:ln/>
        </p:spPr>
        <p:txBody>
          <a:bodyPr wrap="square" lIns="0" tIns="0" rIns="0" bIns="0" rtlCol="0" anchor="ctr"/>
          <a:lstStyle/>
          <a:p>
            <a:pPr marL="0" indent="0">
              <a:lnSpc>
                <a:spcPct val="98000"/>
              </a:lnSpc>
              <a:buNone/>
            </a:pPr>
            <a:r>
              <a:rPr lang="en-US" sz="1150" dirty="0">
                <a:solidFill>
                  <a:srgbClr val="12203A"/>
                </a:solidFill>
                <a:latin typeface="Calibri" pitchFamily="34" charset="0"/>
                <a:ea typeface="Calibri" pitchFamily="34" charset="-122"/>
                <a:cs typeface="Calibri" pitchFamily="34" charset="-120"/>
              </a:rPr>
              <a:t>σ_k = √λ, so relative fluctuations √λ/λ = λ^(−1/2) shrink as the graph gets denser. Every node is statistically alike.</a:t>
            </a:r>
            <a:endParaRPr lang="en-US" sz="1150" dirty="0"/>
          </a:p>
        </p:txBody>
      </p:sp>
      <p:sp>
        <p:nvSpPr>
          <p:cNvPr id="10" name="Shape 7"/>
          <p:cNvSpPr/>
          <p:nvPr/>
        </p:nvSpPr>
        <p:spPr>
          <a:xfrm>
            <a:off x="4334256" y="4626864"/>
            <a:ext cx="3529584" cy="1060704"/>
          </a:xfrm>
          <a:prstGeom prst="roundRect">
            <a:avLst>
              <a:gd name="adj" fmla="val 5172"/>
            </a:avLst>
          </a:prstGeom>
          <a:solidFill>
            <a:srgbClr val="F4F6F9"/>
          </a:solidFill>
          <a:ln w="12700">
            <a:solidFill>
              <a:srgbClr val="333333"/>
            </a:solidFill>
            <a:prstDash val="solid"/>
          </a:ln>
        </p:spPr>
        <p:txBody>
          <a:bodyPr/>
          <a:lstStyle/>
          <a:p>
            <a:endParaRPr lang="en-IN"/>
          </a:p>
        </p:txBody>
      </p:sp>
      <p:sp>
        <p:nvSpPr>
          <p:cNvPr id="11" name="Text 8"/>
          <p:cNvSpPr txBox="1"/>
          <p:nvPr/>
        </p:nvSpPr>
        <p:spPr>
          <a:xfrm>
            <a:off x="4517136" y="4736592"/>
            <a:ext cx="3163824" cy="256032"/>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Single peak at k ≈ λ</a:t>
            </a:r>
            <a:endParaRPr lang="en-US" sz="1350" dirty="0"/>
          </a:p>
        </p:txBody>
      </p:sp>
      <p:sp>
        <p:nvSpPr>
          <p:cNvPr id="12" name="Text 9"/>
          <p:cNvSpPr txBox="1"/>
          <p:nvPr/>
        </p:nvSpPr>
        <p:spPr>
          <a:xfrm>
            <a:off x="4517136" y="4992624"/>
            <a:ext cx="3163824" cy="621792"/>
          </a:xfrm>
          <a:prstGeom prst="rect">
            <a:avLst/>
          </a:prstGeom>
          <a:noFill/>
          <a:ln/>
        </p:spPr>
        <p:txBody>
          <a:bodyPr wrap="square" lIns="0" tIns="0" rIns="0" bIns="0" rtlCol="0" anchor="ctr"/>
          <a:lstStyle/>
          <a:p>
            <a:pPr marL="0" indent="0">
              <a:lnSpc>
                <a:spcPct val="98000"/>
              </a:lnSpc>
              <a:buNone/>
            </a:pPr>
            <a:r>
              <a:rPr lang="en-US" sz="1150" dirty="0">
                <a:solidFill>
                  <a:srgbClr val="12203A"/>
                </a:solidFill>
                <a:latin typeface="Calibri" pitchFamily="34" charset="0"/>
                <a:ea typeface="Calibri" pitchFamily="34" charset="-122"/>
                <a:cs typeface="Calibri" pitchFamily="34" charset="-120"/>
              </a:rPr>
              <a:t>The mode is ⌊λ⌋. There is a characteristic degree — the very property that scale-free networks lack.</a:t>
            </a:r>
            <a:endParaRPr lang="en-US" sz="1150" dirty="0"/>
          </a:p>
        </p:txBody>
      </p:sp>
      <p:sp>
        <p:nvSpPr>
          <p:cNvPr id="13" name="Shape 10"/>
          <p:cNvSpPr/>
          <p:nvPr/>
        </p:nvSpPr>
        <p:spPr>
          <a:xfrm>
            <a:off x="8101584" y="4626864"/>
            <a:ext cx="3529584" cy="1060704"/>
          </a:xfrm>
          <a:prstGeom prst="roundRect">
            <a:avLst>
              <a:gd name="adj" fmla="val 5172"/>
            </a:avLst>
          </a:prstGeom>
          <a:solidFill>
            <a:srgbClr val="FBEBE8"/>
          </a:solidFill>
          <a:ln w="15875">
            <a:solidFill>
              <a:srgbClr val="C0392B"/>
            </a:solidFill>
            <a:prstDash val="solid"/>
          </a:ln>
        </p:spPr>
        <p:txBody>
          <a:bodyPr/>
          <a:lstStyle/>
          <a:p>
            <a:endParaRPr lang="en-IN"/>
          </a:p>
        </p:txBody>
      </p:sp>
      <p:sp>
        <p:nvSpPr>
          <p:cNvPr id="14" name="Text 11"/>
          <p:cNvSpPr txBox="1"/>
          <p:nvPr/>
        </p:nvSpPr>
        <p:spPr>
          <a:xfrm>
            <a:off x="8284464" y="4736592"/>
            <a:ext cx="3163824" cy="256032"/>
          </a:xfrm>
          <a:prstGeom prst="rect">
            <a:avLst/>
          </a:prstGeom>
          <a:noFill/>
          <a:ln/>
        </p:spPr>
        <p:txBody>
          <a:bodyPr wrap="square" lIns="0" tIns="0" rIns="0" bIns="0" rtlCol="0" anchor="ctr"/>
          <a:lstStyle/>
          <a:p>
            <a:pPr marL="0" indent="0">
              <a:buNone/>
            </a:pPr>
            <a:r>
              <a:rPr lang="en-US" sz="1350" b="1" dirty="0">
                <a:solidFill>
                  <a:srgbClr val="C0392B"/>
                </a:solidFill>
                <a:latin typeface="Calibri" pitchFamily="34" charset="0"/>
                <a:ea typeface="Calibri" pitchFamily="34" charset="-122"/>
                <a:cs typeface="Calibri" pitchFamily="34" charset="-120"/>
              </a:rPr>
              <a:t>Super-exponential tail</a:t>
            </a:r>
            <a:endParaRPr lang="en-US" sz="1350" dirty="0"/>
          </a:p>
        </p:txBody>
      </p:sp>
      <p:sp>
        <p:nvSpPr>
          <p:cNvPr id="15" name="Text 12"/>
          <p:cNvSpPr txBox="1"/>
          <p:nvPr/>
        </p:nvSpPr>
        <p:spPr>
          <a:xfrm>
            <a:off x="8284464" y="4992624"/>
            <a:ext cx="3163824" cy="621792"/>
          </a:xfrm>
          <a:prstGeom prst="rect">
            <a:avLst/>
          </a:prstGeom>
          <a:noFill/>
          <a:ln/>
        </p:spPr>
        <p:txBody>
          <a:bodyPr wrap="square" lIns="0" tIns="0" rIns="0" bIns="0" rtlCol="0" anchor="ctr"/>
          <a:lstStyle/>
          <a:p>
            <a:pPr marL="0" indent="0">
              <a:lnSpc>
                <a:spcPct val="98000"/>
              </a:lnSpc>
              <a:buNone/>
            </a:pPr>
            <a:r>
              <a:rPr lang="en-US" sz="1150" b="1" dirty="0">
                <a:solidFill>
                  <a:srgbClr val="FF0000"/>
                </a:solidFill>
                <a:latin typeface="Calibri" pitchFamily="34" charset="0"/>
                <a:ea typeface="Calibri" pitchFamily="34" charset="-122"/>
                <a:cs typeface="Calibri" pitchFamily="34" charset="-120"/>
              </a:rPr>
              <a:t>P(k) ~ λᵏ/k! decays faster than any exponential. Hubs are not merely rare; they are effectively forbidden.</a:t>
            </a:r>
            <a:endParaRPr lang="en-US" sz="115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VERIFICATION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Simulation check: 20,000 nodes at ⟨k⟩ = 6</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9</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  ·  The Model and its Degree Distribution</a:t>
            </a:r>
            <a:endParaRPr lang="en-US" sz="1000" dirty="0"/>
          </a:p>
        </p:txBody>
      </p:sp>
      <p:pic>
        <p:nvPicPr>
          <p:cNvPr id="6" name="Image 0" descr="/home/claude/figs/21_degree_sim.png"/>
          <p:cNvPicPr>
            <a:picLocks noChangeAspect="1"/>
          </p:cNvPicPr>
          <p:nvPr/>
        </p:nvPicPr>
        <p:blipFill>
          <a:blip r:embed="rId3"/>
          <a:stretch>
            <a:fillRect/>
          </a:stretch>
        </p:blipFill>
        <p:spPr>
          <a:xfrm>
            <a:off x="566928" y="1152144"/>
            <a:ext cx="6903720" cy="4379452"/>
          </a:xfrm>
          <a:prstGeom prst="rect">
            <a:avLst/>
          </a:prstGeom>
        </p:spPr>
      </p:pic>
      <p:sp>
        <p:nvSpPr>
          <p:cNvPr id="7" name="Shape 4"/>
          <p:cNvSpPr/>
          <p:nvPr/>
        </p:nvSpPr>
        <p:spPr>
          <a:xfrm>
            <a:off x="7790688" y="1152144"/>
            <a:ext cx="1783080"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900416" y="1280160"/>
            <a:ext cx="1563624" cy="566928"/>
          </a:xfrm>
          <a:prstGeom prst="rect">
            <a:avLst/>
          </a:prstGeom>
          <a:noFill/>
          <a:ln/>
        </p:spPr>
        <p:txBody>
          <a:bodyPr wrap="square" lIns="0" tIns="0" rIns="0" bIns="0" rtlCol="0" anchor="ctr"/>
          <a:lstStyle/>
          <a:p>
            <a:pPr marL="0" indent="0" algn="ctr">
              <a:buNone/>
            </a:pPr>
            <a:r>
              <a:rPr lang="en-US" sz="3000" b="1" dirty="0">
                <a:solidFill>
                  <a:srgbClr val="0E1B33"/>
                </a:solidFill>
                <a:latin typeface="Cambria" pitchFamily="34" charset="0"/>
                <a:ea typeface="Cambria" pitchFamily="34" charset="-122"/>
                <a:cs typeface="Cambria" pitchFamily="34" charset="-120"/>
              </a:rPr>
              <a:t>6.015</a:t>
            </a:r>
            <a:endParaRPr lang="en-US" sz="3000" dirty="0"/>
          </a:p>
        </p:txBody>
      </p:sp>
      <p:sp>
        <p:nvSpPr>
          <p:cNvPr id="9" name="Text 6"/>
          <p:cNvSpPr txBox="1"/>
          <p:nvPr/>
        </p:nvSpPr>
        <p:spPr>
          <a:xfrm>
            <a:off x="7900416" y="1847088"/>
            <a:ext cx="1563624" cy="347472"/>
          </a:xfrm>
          <a:prstGeom prst="rect">
            <a:avLst/>
          </a:prstGeom>
          <a:noFill/>
          <a:ln/>
        </p:spPr>
        <p:txBody>
          <a:bodyPr wrap="square" lIns="0" tIns="0" rIns="0" bIns="0" rtlCol="0" anchor="t"/>
          <a:lstStyle/>
          <a:p>
            <a:pPr marL="0" indent="0" algn="ctr">
              <a:buNone/>
            </a:pPr>
            <a:r>
              <a:rPr lang="en-US" sz="1150" dirty="0">
                <a:solidFill>
                  <a:srgbClr val="6B7684"/>
                </a:solidFill>
                <a:latin typeface="Calibri" pitchFamily="34" charset="0"/>
                <a:ea typeface="Calibri" pitchFamily="34" charset="-122"/>
                <a:cs typeface="Calibri" pitchFamily="34" charset="-120"/>
              </a:rPr>
              <a:t>measured ⟨k⟩</a:t>
            </a:r>
            <a:endParaRPr lang="en-US" sz="1150" dirty="0"/>
          </a:p>
        </p:txBody>
      </p:sp>
      <p:sp>
        <p:nvSpPr>
          <p:cNvPr id="10" name="Shape 7"/>
          <p:cNvSpPr/>
          <p:nvPr/>
        </p:nvSpPr>
        <p:spPr>
          <a:xfrm>
            <a:off x="9756648" y="1152144"/>
            <a:ext cx="1874520"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11" name="Text 8"/>
          <p:cNvSpPr txBox="1"/>
          <p:nvPr/>
        </p:nvSpPr>
        <p:spPr>
          <a:xfrm>
            <a:off x="9866376" y="1280160"/>
            <a:ext cx="1655064" cy="566928"/>
          </a:xfrm>
          <a:prstGeom prst="rect">
            <a:avLst/>
          </a:prstGeom>
          <a:noFill/>
          <a:ln/>
        </p:spPr>
        <p:txBody>
          <a:bodyPr wrap="square" lIns="0" tIns="0" rIns="0" bIns="0" rtlCol="0" anchor="ctr"/>
          <a:lstStyle/>
          <a:p>
            <a:pPr marL="0" indent="0" algn="ctr">
              <a:buNone/>
            </a:pPr>
            <a:r>
              <a:rPr lang="en-US" sz="3000" b="1" dirty="0">
                <a:solidFill>
                  <a:srgbClr val="C0392B"/>
                </a:solidFill>
                <a:latin typeface="Cambria" pitchFamily="34" charset="0"/>
                <a:ea typeface="Cambria" pitchFamily="34" charset="-122"/>
                <a:cs typeface="Cambria" pitchFamily="34" charset="-120"/>
              </a:rPr>
              <a:t>6.047</a:t>
            </a:r>
            <a:endParaRPr lang="en-US" sz="3000" dirty="0"/>
          </a:p>
        </p:txBody>
      </p:sp>
      <p:sp>
        <p:nvSpPr>
          <p:cNvPr id="12" name="Text 9"/>
          <p:cNvSpPr txBox="1"/>
          <p:nvPr/>
        </p:nvSpPr>
        <p:spPr>
          <a:xfrm>
            <a:off x="9866376" y="1847088"/>
            <a:ext cx="1655064" cy="347472"/>
          </a:xfrm>
          <a:prstGeom prst="rect">
            <a:avLst/>
          </a:prstGeom>
          <a:noFill/>
          <a:ln/>
        </p:spPr>
        <p:txBody>
          <a:bodyPr wrap="square" lIns="0" tIns="0" rIns="0" bIns="0" rtlCol="0" anchor="t"/>
          <a:lstStyle/>
          <a:p>
            <a:pPr marL="0" indent="0" algn="ctr">
              <a:buNone/>
            </a:pPr>
            <a:r>
              <a:rPr lang="en-US" sz="1150" dirty="0">
                <a:solidFill>
                  <a:srgbClr val="6B7684"/>
                </a:solidFill>
                <a:latin typeface="Calibri" pitchFamily="34" charset="0"/>
                <a:ea typeface="Calibri" pitchFamily="34" charset="-122"/>
                <a:cs typeface="Calibri" pitchFamily="34" charset="-120"/>
              </a:rPr>
              <a:t>measured Var(k)</a:t>
            </a:r>
            <a:endParaRPr lang="en-US" sz="1150" dirty="0"/>
          </a:p>
        </p:txBody>
      </p:sp>
      <p:sp>
        <p:nvSpPr>
          <p:cNvPr id="13" name="Shape 10"/>
          <p:cNvSpPr/>
          <p:nvPr/>
        </p:nvSpPr>
        <p:spPr>
          <a:xfrm>
            <a:off x="7790688" y="2450592"/>
            <a:ext cx="3840480" cy="3090672"/>
          </a:xfrm>
          <a:prstGeom prst="roundRect">
            <a:avLst>
              <a:gd name="adj" fmla="val 1775"/>
            </a:avLst>
          </a:prstGeom>
          <a:solidFill>
            <a:srgbClr val="F4F6F9"/>
          </a:solidFill>
          <a:ln w="12700">
            <a:solidFill>
              <a:srgbClr val="333333"/>
            </a:solidFill>
            <a:prstDash val="solid"/>
          </a:ln>
        </p:spPr>
        <p:txBody>
          <a:bodyPr/>
          <a:lstStyle/>
          <a:p>
            <a:endParaRPr lang="en-IN"/>
          </a:p>
        </p:txBody>
      </p:sp>
      <p:sp>
        <p:nvSpPr>
          <p:cNvPr id="14" name="Text 11"/>
          <p:cNvSpPr txBox="1"/>
          <p:nvPr/>
        </p:nvSpPr>
        <p:spPr>
          <a:xfrm>
            <a:off x="8010144" y="2615184"/>
            <a:ext cx="3429000" cy="274320"/>
          </a:xfrm>
          <a:prstGeom prst="rect">
            <a:avLst/>
          </a:prstGeom>
          <a:noFill/>
          <a:ln/>
        </p:spPr>
        <p:txBody>
          <a:bodyPr wrap="square" lIns="0" tIns="0" rIns="0" bIns="0" rtlCol="0" anchor="ctr"/>
          <a:lstStyle/>
          <a:p>
            <a:pPr marL="0" indent="0">
              <a:buNone/>
            </a:pPr>
            <a:r>
              <a:rPr lang="en-US" sz="1600" b="1" dirty="0">
                <a:solidFill>
                  <a:srgbClr val="0E1B33"/>
                </a:solidFill>
                <a:latin typeface="Cambria" pitchFamily="34" charset="0"/>
                <a:ea typeface="Cambria" pitchFamily="34" charset="-122"/>
                <a:cs typeface="Cambria" pitchFamily="34" charset="-120"/>
              </a:rPr>
              <a:t>Why this test matters</a:t>
            </a:r>
            <a:endParaRPr lang="en-US" sz="1600" dirty="0"/>
          </a:p>
        </p:txBody>
      </p:sp>
      <p:sp>
        <p:nvSpPr>
          <p:cNvPr id="15" name="Text 12"/>
          <p:cNvSpPr txBox="1"/>
          <p:nvPr/>
        </p:nvSpPr>
        <p:spPr>
          <a:xfrm>
            <a:off x="8010144" y="2999232"/>
            <a:ext cx="3429000" cy="2377440"/>
          </a:xfrm>
          <a:prstGeom prst="rect">
            <a:avLst/>
          </a:prstGeom>
          <a:noFill/>
          <a:ln/>
        </p:spPr>
        <p:txBody>
          <a:bodyPr wrap="square" rtlCol="0" anchor="t"/>
          <a:lstStyle/>
          <a:p>
            <a:pPr marL="342900" indent="-342900">
              <a:lnSpc>
                <a:spcPct val="106000"/>
              </a:lnSpc>
              <a:spcAft>
                <a:spcPts val="900"/>
              </a:spcAft>
              <a:buSzPct val="100000"/>
              <a:buChar char="•"/>
            </a:pPr>
            <a:r>
              <a:rPr lang="en-US" sz="1250" dirty="0">
                <a:solidFill>
                  <a:srgbClr val="12203A"/>
                </a:solidFill>
                <a:latin typeface="Calibri" pitchFamily="34" charset="0"/>
                <a:ea typeface="Calibri" pitchFamily="34" charset="-122"/>
                <a:cs typeface="Calibri" pitchFamily="34" charset="-120"/>
              </a:rPr>
              <a:t>Mean = variance is the Poisson signature, and it holds to 0.5% on a single realisation.</a:t>
            </a:r>
            <a:endParaRPr lang="en-US" sz="1250" dirty="0"/>
          </a:p>
          <a:p>
            <a:pPr marL="342900" indent="-342900">
              <a:lnSpc>
                <a:spcPct val="106000"/>
              </a:lnSpc>
              <a:spcAft>
                <a:spcPts val="900"/>
              </a:spcAft>
              <a:buSzPct val="100000"/>
              <a:buChar char="•"/>
            </a:pPr>
            <a:r>
              <a:rPr lang="en-US" sz="1250" dirty="0">
                <a:solidFill>
                  <a:srgbClr val="12203A"/>
                </a:solidFill>
                <a:latin typeface="Calibri" pitchFamily="34" charset="0"/>
                <a:ea typeface="Calibri" pitchFamily="34" charset="-122"/>
                <a:cs typeface="Calibri" pitchFamily="34" charset="-120"/>
              </a:rPr>
              <a:t>This is a falsifiable prediction: measure ⟨k⟩ and Var(k) on any empirical network. If the ratio is far from 1, ER is the wrong null model.</a:t>
            </a:r>
            <a:endParaRPr lang="en-US" sz="1250" dirty="0"/>
          </a:p>
          <a:p>
            <a:pPr marL="342900" indent="-342900">
              <a:lnSpc>
                <a:spcPct val="106000"/>
              </a:lnSpc>
              <a:spcAft>
                <a:spcPts val="900"/>
              </a:spcAft>
              <a:buSzPct val="100000"/>
              <a:buChar char="•"/>
            </a:pPr>
            <a:r>
              <a:rPr lang="en-US" sz="1250" dirty="0">
                <a:solidFill>
                  <a:srgbClr val="12203A"/>
                </a:solidFill>
                <a:latin typeface="Calibri" pitchFamily="34" charset="0"/>
                <a:ea typeface="Calibri" pitchFamily="34" charset="-122"/>
                <a:cs typeface="Calibri" pitchFamily="34" charset="-120"/>
              </a:rPr>
              <a:t>For the Internet AS graph the ratio exceeds 100 — the first quantitative sign that a fat-tailed model is needed.</a:t>
            </a:r>
            <a:endParaRPr lang="en-US" sz="1250" dirty="0"/>
          </a:p>
        </p:txBody>
      </p:sp>
      <p:sp>
        <p:nvSpPr>
          <p:cNvPr id="16" name="Shape 13"/>
          <p:cNvSpPr/>
          <p:nvPr/>
        </p:nvSpPr>
        <p:spPr>
          <a:xfrm>
            <a:off x="566928" y="5779008"/>
            <a:ext cx="11064240" cy="566928"/>
          </a:xfrm>
          <a:prstGeom prst="roundRect">
            <a:avLst>
              <a:gd name="adj" fmla="val 9677"/>
            </a:avLst>
          </a:prstGeom>
          <a:solidFill>
            <a:srgbClr val="E4F0EE"/>
          </a:solidFill>
          <a:ln w="12700">
            <a:solidFill>
              <a:srgbClr val="333333"/>
            </a:solidFill>
            <a:prstDash val="solid"/>
          </a:ln>
        </p:spPr>
        <p:txBody>
          <a:bodyPr/>
          <a:lstStyle/>
          <a:p>
            <a:endParaRPr lang="en-IN"/>
          </a:p>
        </p:txBody>
      </p:sp>
      <p:sp>
        <p:nvSpPr>
          <p:cNvPr id="17" name="Text 14"/>
          <p:cNvSpPr txBox="1"/>
          <p:nvPr/>
        </p:nvSpPr>
        <p:spPr>
          <a:xfrm>
            <a:off x="768096" y="5779008"/>
            <a:ext cx="10661904" cy="566928"/>
          </a:xfrm>
          <a:prstGeom prst="rect">
            <a:avLst/>
          </a:prstGeom>
          <a:noFill/>
          <a:ln/>
        </p:spPr>
        <p:txBody>
          <a:bodyPr wrap="square" lIns="0" tIns="0" rIns="0" bIns="0" rtlCol="0" anchor="ctr"/>
          <a:lstStyle/>
          <a:p>
            <a:pPr marL="0" indent="0">
              <a:buNone/>
            </a:pPr>
            <a:r>
              <a:rPr lang="en-US" sz="1300" b="1" i="1" dirty="0">
                <a:solidFill>
                  <a:srgbClr val="FF0000"/>
                </a:solidFill>
                <a:latin typeface="Calibri" pitchFamily="34" charset="0"/>
                <a:ea typeface="Calibri" pitchFamily="34" charset="-122"/>
                <a:cs typeface="Calibri" pitchFamily="34" charset="-120"/>
              </a:rPr>
              <a:t>Var(k)/⟨k⟩ ≈ 1 is the cheapest one-number test of whether a network is Erdős–Rényi-like.</a:t>
            </a:r>
            <a:endParaRPr lang="en-US" sz="13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0"/>
                                        <p:tgtEl>
                                          <p:spTgt spid="12"/>
                                        </p:tgtEl>
                                      </p:cBhvr>
                                    </p:animEffect>
                                    <p:anim calcmode="lin" valueType="num">
                                      <p:cBhvr>
                                        <p:cTn id="38" dur="1000" fill="hold"/>
                                        <p:tgtEl>
                                          <p:spTgt spid="12"/>
                                        </p:tgtEl>
                                        <p:attrNameLst>
                                          <p:attrName>ppt_x</p:attrName>
                                        </p:attrNameLst>
                                      </p:cBhvr>
                                      <p:tavLst>
                                        <p:tav tm="0">
                                          <p:val>
                                            <p:strVal val="#ppt_x"/>
                                          </p:val>
                                        </p:tav>
                                        <p:tav tm="100000">
                                          <p:val>
                                            <p:strVal val="#ppt_x"/>
                                          </p:val>
                                        </p:tav>
                                      </p:tavLst>
                                    </p:anim>
                                    <p:anim calcmode="lin" valueType="num">
                                      <p:cBhvr>
                                        <p:cTn id="39" dur="100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anim calcmode="lin" valueType="num">
                                      <p:cBhvr>
                                        <p:cTn id="53" dur="1000" fill="hold"/>
                                        <p:tgtEl>
                                          <p:spTgt spid="13"/>
                                        </p:tgtEl>
                                        <p:attrNameLst>
                                          <p:attrName>ppt_x</p:attrName>
                                        </p:attrNameLst>
                                      </p:cBhvr>
                                      <p:tavLst>
                                        <p:tav tm="0">
                                          <p:val>
                                            <p:strVal val="#ppt_x"/>
                                          </p:val>
                                        </p:tav>
                                        <p:tav tm="100000">
                                          <p:val>
                                            <p:strVal val="#ppt_x"/>
                                          </p:val>
                                        </p:tav>
                                      </p:tavLst>
                                    </p:anim>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barn(inVertical)">
                                      <p:cBhvr>
                                        <p:cTn id="59" dur="500"/>
                                        <p:tgtEl>
                                          <p:spTgt spid="17"/>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barn(inVertical)">
                                      <p:cBhvr>
                                        <p:cTn id="6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LIMITATION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Why G(n,p) cannot have hubs</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10</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  ·  The Model and its Degree Distribution</a:t>
            </a:r>
            <a:endParaRPr lang="en-US" sz="1000" dirty="0"/>
          </a:p>
        </p:txBody>
      </p:sp>
      <p:pic>
        <p:nvPicPr>
          <p:cNvPr id="6" name="Image 0" descr="/home/claude/figs/03_poisson_vs_powerlaw.png"/>
          <p:cNvPicPr>
            <a:picLocks noChangeAspect="1"/>
          </p:cNvPicPr>
          <p:nvPr/>
        </p:nvPicPr>
        <p:blipFill>
          <a:blip r:embed="rId3"/>
          <a:stretch>
            <a:fillRect/>
          </a:stretch>
        </p:blipFill>
        <p:spPr>
          <a:xfrm>
            <a:off x="566928" y="1152144"/>
            <a:ext cx="6315793" cy="4023360"/>
          </a:xfrm>
          <a:prstGeom prst="rect">
            <a:avLst/>
          </a:prstGeom>
        </p:spPr>
      </p:pic>
      <p:pic>
        <p:nvPicPr>
          <p:cNvPr id="7" name="Image 1" descr="/home/claude/eq/pois_tail.png"/>
          <p:cNvPicPr>
            <a:picLocks noChangeAspect="1"/>
          </p:cNvPicPr>
          <p:nvPr/>
        </p:nvPicPr>
        <p:blipFill>
          <a:blip r:embed="rId4"/>
          <a:stretch>
            <a:fillRect/>
          </a:stretch>
        </p:blipFill>
        <p:spPr>
          <a:xfrm>
            <a:off x="2190104" y="5285232"/>
            <a:ext cx="3337327" cy="658368"/>
          </a:xfrm>
          <a:prstGeom prst="rect">
            <a:avLst/>
          </a:prstGeom>
        </p:spPr>
      </p:pic>
      <p:sp>
        <p:nvSpPr>
          <p:cNvPr id="8" name="Shape 4"/>
          <p:cNvSpPr/>
          <p:nvPr/>
        </p:nvSpPr>
        <p:spPr>
          <a:xfrm>
            <a:off x="7470648" y="1152144"/>
            <a:ext cx="4160520" cy="2395728"/>
          </a:xfrm>
          <a:prstGeom prst="roundRect">
            <a:avLst>
              <a:gd name="adj" fmla="val 2290"/>
            </a:avLst>
          </a:prstGeom>
          <a:solidFill>
            <a:srgbClr val="FBEBE8"/>
          </a:solidFill>
          <a:ln w="15875">
            <a:solidFill>
              <a:srgbClr val="C0392B"/>
            </a:solidFill>
            <a:prstDash val="solid"/>
          </a:ln>
        </p:spPr>
        <p:txBody>
          <a:bodyPr/>
          <a:lstStyle/>
          <a:p>
            <a:endParaRPr lang="en-IN"/>
          </a:p>
        </p:txBody>
      </p:sp>
      <p:sp>
        <p:nvSpPr>
          <p:cNvPr id="9" name="Text 5"/>
          <p:cNvSpPr txBox="1"/>
          <p:nvPr/>
        </p:nvSpPr>
        <p:spPr>
          <a:xfrm>
            <a:off x="7690104" y="1261872"/>
            <a:ext cx="374904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REMARK — POISSON VS. REAL NETWORKS</a:t>
            </a:r>
            <a:endParaRPr lang="en-US" sz="1050" dirty="0"/>
          </a:p>
        </p:txBody>
      </p:sp>
      <p:sp>
        <p:nvSpPr>
          <p:cNvPr id="10" name="Text 6"/>
          <p:cNvSpPr txBox="1"/>
          <p:nvPr/>
        </p:nvSpPr>
        <p:spPr>
          <a:xfrm>
            <a:off x="7690104" y="1554480"/>
            <a:ext cx="3749040" cy="1883664"/>
          </a:xfrm>
          <a:prstGeom prst="rect">
            <a:avLst/>
          </a:prstGeom>
          <a:noFill/>
          <a:ln/>
        </p:spPr>
        <p:txBody>
          <a:bodyPr wrap="square" rtlCol="0" anchor="t"/>
          <a:lstStyle/>
          <a:p>
            <a:pPr marL="342900" indent="-342900">
              <a:lnSpc>
                <a:spcPct val="106000"/>
              </a:lnSpc>
              <a:spcAft>
                <a:spcPts val="600"/>
              </a:spcAft>
              <a:buSzPct val="100000"/>
              <a:buChar char="•"/>
            </a:pPr>
            <a:r>
              <a:rPr lang="en-US" sz="1150" dirty="0">
                <a:solidFill>
                  <a:srgbClr val="12203A"/>
                </a:solidFill>
                <a:latin typeface="Calibri" pitchFamily="34" charset="0"/>
                <a:ea typeface="Calibri" pitchFamily="34" charset="-122"/>
                <a:cs typeface="Calibri" pitchFamily="34" charset="-120"/>
              </a:rPr>
              <a:t>The Internet router graph, protein-interaction networks and citation graphs all show P(k) ∝ k^(−γ) with 2 &lt; γ &lt; 3.</a:t>
            </a:r>
            <a:endParaRPr lang="en-US" sz="1150" dirty="0"/>
          </a:p>
          <a:p>
            <a:pPr marL="342900" indent="-342900">
              <a:lnSpc>
                <a:spcPct val="106000"/>
              </a:lnSpc>
              <a:spcAft>
                <a:spcPts val="600"/>
              </a:spcAft>
              <a:buSzPct val="100000"/>
              <a:buChar char="•"/>
            </a:pPr>
            <a:r>
              <a:rPr lang="en-US" sz="1150" dirty="0">
                <a:solidFill>
                  <a:srgbClr val="12203A"/>
                </a:solidFill>
                <a:latin typeface="Calibri" pitchFamily="34" charset="0"/>
                <a:ea typeface="Calibri" pitchFamily="34" charset="-122"/>
                <a:cs typeface="Calibri" pitchFamily="34" charset="-120"/>
              </a:rPr>
              <a:t>A Poisson law cannot reproduce this at any λ. The discrepancy is not a matter of fitting — it is structural.</a:t>
            </a:r>
            <a:endParaRPr lang="en-US" sz="1150" dirty="0"/>
          </a:p>
          <a:p>
            <a:pPr marL="342900" indent="-342900">
              <a:lnSpc>
                <a:spcPct val="106000"/>
              </a:lnSpc>
              <a:spcAft>
                <a:spcPts val="600"/>
              </a:spcAft>
              <a:buSzPct val="100000"/>
              <a:buChar char="•"/>
            </a:pPr>
            <a:r>
              <a:rPr lang="en-US" sz="1150" dirty="0">
                <a:solidFill>
                  <a:srgbClr val="12203A"/>
                </a:solidFill>
                <a:latin typeface="Calibri" pitchFamily="34" charset="0"/>
                <a:ea typeface="Calibri" pitchFamily="34" charset="-122"/>
                <a:cs typeface="Calibri" pitchFamily="34" charset="-120"/>
              </a:rPr>
              <a:t>The Configuration Model (Section VI) repairs exactly this defect.</a:t>
            </a:r>
            <a:endParaRPr lang="en-US" sz="1150" dirty="0"/>
          </a:p>
        </p:txBody>
      </p:sp>
      <p:sp>
        <p:nvSpPr>
          <p:cNvPr id="11" name="Shape 7"/>
          <p:cNvSpPr/>
          <p:nvPr/>
        </p:nvSpPr>
        <p:spPr>
          <a:xfrm>
            <a:off x="7470648" y="3675888"/>
            <a:ext cx="4160520" cy="2267712"/>
          </a:xfrm>
          <a:prstGeom prst="roundRect">
            <a:avLst>
              <a:gd name="adj" fmla="val 2419"/>
            </a:avLst>
          </a:prstGeom>
          <a:solidFill>
            <a:srgbClr val="F4F6F9"/>
          </a:solidFill>
          <a:ln w="12700">
            <a:solidFill>
              <a:srgbClr val="333333"/>
            </a:solidFill>
            <a:prstDash val="solid"/>
          </a:ln>
        </p:spPr>
        <p:txBody>
          <a:bodyPr/>
          <a:lstStyle/>
          <a:p>
            <a:endParaRPr lang="en-IN"/>
          </a:p>
        </p:txBody>
      </p:sp>
      <p:sp>
        <p:nvSpPr>
          <p:cNvPr id="12" name="Text 8"/>
          <p:cNvSpPr txBox="1"/>
          <p:nvPr/>
        </p:nvSpPr>
        <p:spPr>
          <a:xfrm>
            <a:off x="7690104" y="3803904"/>
            <a:ext cx="374904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The magnitude of the failure</a:t>
            </a:r>
            <a:endParaRPr lang="en-US" sz="15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690104" y="4151376"/>
          <a:ext cx="3749040" cy="1133856"/>
        </p:xfrm>
        <a:graphic>
          <a:graphicData uri="http://schemas.openxmlformats.org/drawingml/2006/table">
            <a:tbl>
              <a:tblPr/>
              <a:tblGrid>
                <a:gridCol w="8229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83464">
                <a:tc>
                  <a:txBody>
                    <a:bodyPr/>
                    <a:lstStyle/>
                    <a:p>
                      <a:pPr marL="0" indent="0">
                        <a:buNone/>
                      </a:pPr>
                      <a:r>
                        <a:rPr lang="en-US" sz="1050" b="1" dirty="0">
                          <a:solidFill>
                            <a:srgbClr val="0E1B33"/>
                          </a:solidFill>
                          <a:latin typeface="Calibri" pitchFamily="34" charset="0"/>
                          <a:ea typeface="Calibri" pitchFamily="34" charset="-122"/>
                          <a:cs typeface="Calibri" pitchFamily="34" charset="-120"/>
                        </a:rPr>
                        <a:t>k</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050" b="1" dirty="0">
                          <a:solidFill>
                            <a:srgbClr val="0E1B33"/>
                          </a:solidFill>
                          <a:latin typeface="Calibri" pitchFamily="34" charset="0"/>
                          <a:ea typeface="Calibri" pitchFamily="34" charset="-122"/>
                          <a:cs typeface="Calibri" pitchFamily="34" charset="-120"/>
                        </a:rPr>
                        <a:t>Poisson(10)</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050" b="1" dirty="0">
                          <a:solidFill>
                            <a:srgbClr val="0E1B33"/>
                          </a:solidFill>
                          <a:latin typeface="Calibri" pitchFamily="34" charset="0"/>
                          <a:ea typeface="Calibri" pitchFamily="34" charset="-122"/>
                          <a:cs typeface="Calibri" pitchFamily="34" charset="-120"/>
                        </a:rPr>
                        <a:t>k^(−2.5)</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83464">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1.7 × 10⁻¹⁴</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1.5 × 10⁻⁴</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5.8 × 10⁻³⁵</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2.6 × 10⁻⁵</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 10⁻⁵⁷⁵</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8.3 × 10⁻⁸</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4" name="Text 9"/>
          <p:cNvSpPr txBox="1"/>
          <p:nvPr/>
        </p:nvSpPr>
        <p:spPr>
          <a:xfrm>
            <a:off x="7690104" y="5413248"/>
            <a:ext cx="3749040" cy="475488"/>
          </a:xfrm>
          <a:prstGeom prst="rect">
            <a:avLst/>
          </a:prstGeom>
          <a:noFill/>
          <a:ln/>
        </p:spPr>
        <p:txBody>
          <a:bodyPr wrap="square" lIns="0" tIns="0" rIns="0" bIns="0" rtlCol="0" anchor="ctr"/>
          <a:lstStyle/>
          <a:p>
            <a:pPr marL="0" indent="0">
              <a:lnSpc>
                <a:spcPct val="96000"/>
              </a:lnSpc>
              <a:buNone/>
            </a:pPr>
            <a:r>
              <a:rPr lang="en-US" sz="1100" i="1" dirty="0">
                <a:solidFill>
                  <a:srgbClr val="C0392B"/>
                </a:solidFill>
                <a:latin typeface="Calibri" pitchFamily="34" charset="0"/>
                <a:ea typeface="Calibri" pitchFamily="34" charset="-122"/>
                <a:cs typeface="Calibri" pitchFamily="34" charset="-120"/>
              </a:rPr>
              <a:t>A degree-1000 hub is a 10⁻⁵⁷⁵ event under ER and a routine one under a power law.</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arn(inVertical)">
                                      <p:cBhvr>
                                        <p:cTn id="21" dur="500"/>
                                        <p:tgtEl>
                                          <p:spTgt spid="10"/>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16" presetClass="entr" presetSubtype="21"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arn(inVertical)">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inVertical)">
                                      <p:cBhvr>
                                        <p:cTn id="34" dur="500"/>
                                        <p:tgtEl>
                                          <p:spTgt spid="13"/>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barn(inVertical)">
                                      <p:cBhvr>
                                        <p:cTn id="40" dur="500"/>
                                        <p:tgtEl>
                                          <p:spTgt spid="12"/>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barn(inVertical)">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P spid="11" grpId="0" animBg="1"/>
      <p:bldP spid="12"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566928" y="1773936"/>
            <a:ext cx="1225296" cy="1225296"/>
          </a:xfrm>
          <a:prstGeom prst="ellipse">
            <a:avLst/>
          </a:prstGeom>
          <a:solidFill>
            <a:srgbClr val="0E6F66"/>
          </a:solidFill>
          <a:ln w="12700">
            <a:solidFill>
              <a:srgbClr val="0E6F66"/>
            </a:solidFill>
            <a:prstDash val="solid"/>
          </a:ln>
        </p:spPr>
        <p:txBody>
          <a:bodyPr/>
          <a:lstStyle/>
          <a:p>
            <a:endParaRPr lang="en-IN"/>
          </a:p>
        </p:txBody>
      </p:sp>
      <p:sp>
        <p:nvSpPr>
          <p:cNvPr id="3" name="Text 1"/>
          <p:cNvSpPr txBox="1"/>
          <p:nvPr/>
        </p:nvSpPr>
        <p:spPr>
          <a:xfrm>
            <a:off x="566928" y="1778508"/>
            <a:ext cx="1225296" cy="1225296"/>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II</a:t>
            </a:r>
            <a:endParaRPr lang="en-US" sz="4400" dirty="0"/>
          </a:p>
        </p:txBody>
      </p:sp>
      <p:sp>
        <p:nvSpPr>
          <p:cNvPr id="4" name="Text 2"/>
          <p:cNvSpPr txBox="1"/>
          <p:nvPr/>
        </p:nvSpPr>
        <p:spPr>
          <a:xfrm>
            <a:off x="2139696" y="1481328"/>
            <a:ext cx="9692640" cy="1481328"/>
          </a:xfrm>
          <a:prstGeom prst="rect">
            <a:avLst/>
          </a:prstGeom>
          <a:noFill/>
          <a:ln/>
        </p:spPr>
        <p:txBody>
          <a:bodyPr wrap="square" lIns="0" tIns="0" rIns="0" bIns="0" rtlCol="0" anchor="ctr"/>
          <a:lstStyle/>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The Giant Component</a:t>
            </a:r>
            <a:endParaRPr lang="en-US" sz="3600" dirty="0"/>
          </a:p>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and Percolation</a:t>
            </a:r>
            <a:endParaRPr lang="en-US" sz="3600" dirty="0"/>
          </a:p>
        </p:txBody>
      </p:sp>
      <p:sp>
        <p:nvSpPr>
          <p:cNvPr id="5" name="Text 3"/>
          <p:cNvSpPr txBox="1"/>
          <p:nvPr/>
        </p:nvSpPr>
        <p:spPr>
          <a:xfrm>
            <a:off x="2139696" y="3163824"/>
            <a:ext cx="9509760" cy="786384"/>
          </a:xfrm>
          <a:prstGeom prst="rect">
            <a:avLst/>
          </a:prstGeom>
          <a:noFill/>
          <a:ln/>
        </p:spPr>
        <p:txBody>
          <a:bodyPr wrap="square" lIns="0" tIns="0" rIns="0" bIns="0" rtlCol="0" anchor="t"/>
          <a:lstStyle/>
          <a:p>
            <a:pPr marL="0" indent="0">
              <a:lnSpc>
                <a:spcPct val="106000"/>
              </a:lnSpc>
              <a:buNone/>
            </a:pPr>
            <a:r>
              <a:rPr lang="en-US" sz="1500" dirty="0">
                <a:solidFill>
                  <a:srgbClr val="BFD3E6"/>
                </a:solidFill>
                <a:latin typeface="Calibri" pitchFamily="34" charset="0"/>
                <a:ea typeface="Calibri" pitchFamily="34" charset="-122"/>
                <a:cs typeface="Calibri" pitchFamily="34" charset="-120"/>
              </a:rPr>
              <a:t>The self-consistency equation · the graphical solution · critical exponent β = 1 · susceptibility divergence</a:t>
            </a:r>
            <a:endParaRPr lang="en-US" sz="1500" dirty="0"/>
          </a:p>
        </p:txBody>
      </p:sp>
      <p:pic>
        <p:nvPicPr>
          <p:cNvPr id="6" name="Image 0" descr="/home/claude/eq/w_sec3.png"/>
          <p:cNvPicPr>
            <a:picLocks noChangeAspect="1"/>
          </p:cNvPicPr>
          <p:nvPr/>
        </p:nvPicPr>
        <p:blipFill>
          <a:blip r:embed="rId3"/>
          <a:stretch>
            <a:fillRect/>
          </a:stretch>
        </p:blipFill>
        <p:spPr>
          <a:xfrm>
            <a:off x="2139696" y="4169664"/>
            <a:ext cx="4125100" cy="804672"/>
          </a:xfrm>
          <a:prstGeom prst="rect">
            <a:avLst/>
          </a:prstGeom>
        </p:spPr>
      </p:pic>
      <p:sp>
        <p:nvSpPr>
          <p:cNvPr id="7" name="Text 4"/>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19</a:t>
            </a:r>
            <a:endParaRPr lang="en-US" sz="1050" dirty="0"/>
          </a:p>
        </p:txBody>
      </p:sp>
      <p:sp>
        <p:nvSpPr>
          <p:cNvPr id="8" name="Text 5"/>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Deriving the giant component — setup and Step 1</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20</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sp>
        <p:nvSpPr>
          <p:cNvPr id="6" name="Shape 4"/>
          <p:cNvSpPr/>
          <p:nvPr/>
        </p:nvSpPr>
        <p:spPr>
          <a:xfrm>
            <a:off x="566928" y="1170432"/>
            <a:ext cx="11064240" cy="841248"/>
          </a:xfrm>
          <a:prstGeom prst="roundRect">
            <a:avLst>
              <a:gd name="adj" fmla="val 6522"/>
            </a:avLst>
          </a:prstGeom>
          <a:solidFill>
            <a:srgbClr val="E4F0EE"/>
          </a:solidFill>
          <a:ln w="15875">
            <a:solidFill>
              <a:srgbClr val="0E6F66"/>
            </a:solidFill>
            <a:prstDash val="solid"/>
          </a:ln>
        </p:spPr>
        <p:txBody>
          <a:bodyPr/>
          <a:lstStyle/>
          <a:p>
            <a:endParaRPr lang="en-IN"/>
          </a:p>
        </p:txBody>
      </p:sp>
      <p:sp>
        <p:nvSpPr>
          <p:cNvPr id="7" name="Text 5"/>
          <p:cNvSpPr txBox="1"/>
          <p:nvPr/>
        </p:nvSpPr>
        <p:spPr>
          <a:xfrm>
            <a:off x="804672" y="1280160"/>
            <a:ext cx="7315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THE QUANTITY WE TRACK</a:t>
            </a:r>
            <a:endParaRPr lang="en-US" sz="1050" dirty="0"/>
          </a:p>
        </p:txBody>
      </p:sp>
      <p:pic>
        <p:nvPicPr>
          <p:cNvPr id="8" name="Image 0" descr="/home/claude/eq/giant_u.png"/>
          <p:cNvPicPr>
            <a:picLocks noChangeAspect="1"/>
          </p:cNvPicPr>
          <p:nvPr/>
        </p:nvPicPr>
        <p:blipFill>
          <a:blip r:embed="rId3"/>
          <a:stretch>
            <a:fillRect/>
          </a:stretch>
        </p:blipFill>
        <p:spPr>
          <a:xfrm>
            <a:off x="2121677" y="1517904"/>
            <a:ext cx="7954742" cy="420624"/>
          </a:xfrm>
          <a:prstGeom prst="rect">
            <a:avLst/>
          </a:prstGeom>
        </p:spPr>
      </p:pic>
      <p:sp>
        <p:nvSpPr>
          <p:cNvPr id="9" name="Text 6"/>
          <p:cNvSpPr txBox="1"/>
          <p:nvPr/>
        </p:nvSpPr>
        <p:spPr>
          <a:xfrm>
            <a:off x="566928" y="2157984"/>
            <a:ext cx="11064240" cy="292608"/>
          </a:xfrm>
          <a:prstGeom prst="rect">
            <a:avLst/>
          </a:prstGeom>
          <a:noFill/>
          <a:ln/>
        </p:spPr>
        <p:txBody>
          <a:bodyPr wrap="square" lIns="0" tIns="0" rIns="0" bIns="0" rtlCol="0" anchor="ctr"/>
          <a:lstStyle/>
          <a:p>
            <a:pPr marL="0" indent="0">
              <a:buNone/>
            </a:pPr>
            <a:r>
              <a:rPr lang="en-US" sz="1800" b="1" dirty="0">
                <a:solidFill>
                  <a:srgbClr val="0E1B33"/>
                </a:solidFill>
                <a:latin typeface="Cambria" pitchFamily="34" charset="0"/>
                <a:ea typeface="Cambria" pitchFamily="34" charset="-122"/>
                <a:cs typeface="Cambria" pitchFamily="34" charset="-120"/>
              </a:rPr>
              <a:t>The self-consistency idea</a:t>
            </a:r>
            <a:endParaRPr lang="en-US" sz="1800" dirty="0"/>
          </a:p>
        </p:txBody>
      </p:sp>
      <mc:AlternateContent xmlns:mc="http://schemas.openxmlformats.org/markup-compatibility/2006" xmlns:a14="http://schemas.microsoft.com/office/drawing/2010/main">
        <mc:Choice Requires="a14">
          <p:sp>
            <p:nvSpPr>
              <p:cNvPr id="10" name="Text 7"/>
              <p:cNvSpPr txBox="1"/>
              <p:nvPr/>
            </p:nvSpPr>
            <p:spPr>
              <a:xfrm>
                <a:off x="566928" y="2505456"/>
                <a:ext cx="11064240" cy="512064"/>
              </a:xfrm>
              <a:prstGeom prst="rect">
                <a:avLst/>
              </a:prstGeom>
              <a:noFill/>
              <a:ln/>
            </p:spPr>
            <p:txBody>
              <a:bodyPr wrap="square" lIns="0" tIns="0" rIns="0" bIns="0" rtlCol="0" anchor="ctr"/>
              <a:lstStyle/>
              <a:p>
                <a:pPr marL="0" indent="0">
                  <a:lnSpc>
                    <a:spcPct val="100000"/>
                  </a:lnSpc>
                  <a:buNone/>
                </a:pPr>
                <a:r>
                  <a:rPr lang="en-US" sz="1400" dirty="0">
                    <a:solidFill>
                      <a:srgbClr val="12203A"/>
                    </a:solidFill>
                    <a:latin typeface="Calibri" pitchFamily="34" charset="0"/>
                    <a:ea typeface="Calibri" pitchFamily="34" charset="-122"/>
                    <a:cs typeface="Calibri" pitchFamily="34" charset="-120"/>
                  </a:rPr>
                  <a:t>A node </a:t>
                </a:r>
                <a14:m>
                  <m:oMath xmlns:m="http://schemas.openxmlformats.org/officeDocument/2006/math">
                    <m:r>
                      <a:rPr lang="en-US" sz="1400" i="1" dirty="0" smtClean="0">
                        <a:solidFill>
                          <a:srgbClr val="0000FF"/>
                        </a:solidFill>
                        <a:latin typeface="Cambria Math" panose="02040503050406030204" pitchFamily="18" charset="0"/>
                        <a:ea typeface="Calibri" pitchFamily="34" charset="-122"/>
                        <a:cs typeface="Calibri" pitchFamily="34" charset="-120"/>
                      </a:rPr>
                      <m:t>𝑣</m:t>
                    </m:r>
                  </m:oMath>
                </a14:m>
                <a:r>
                  <a:rPr lang="en-US" sz="1400" dirty="0">
                    <a:solidFill>
                      <a:srgbClr val="12203A"/>
                    </a:solidFill>
                    <a:latin typeface="Calibri" pitchFamily="34" charset="0"/>
                    <a:ea typeface="Calibri" pitchFamily="34" charset="-122"/>
                    <a:cs typeface="Calibri" pitchFamily="34" charset="-120"/>
                  </a:rPr>
                  <a:t> avoids the giant component if and only if every one of its neighbours also avoids it. That “if and only if” is what makes </a:t>
                </a:r>
                <a14:m>
                  <m:oMath xmlns:m="http://schemas.openxmlformats.org/officeDocument/2006/math">
                    <m:r>
                      <a:rPr lang="en-US" sz="1400" i="1" dirty="0" smtClean="0">
                        <a:solidFill>
                          <a:srgbClr val="0000FF"/>
                        </a:solidFill>
                        <a:latin typeface="Cambria Math" panose="02040503050406030204" pitchFamily="18" charset="0"/>
                        <a:ea typeface="Calibri" pitchFamily="34" charset="-122"/>
                        <a:cs typeface="Calibri" pitchFamily="34" charset="-120"/>
                      </a:rPr>
                      <m:t>𝑢</m:t>
                    </m:r>
                  </m:oMath>
                </a14:m>
                <a:r>
                  <a:rPr lang="en-US" sz="1400" dirty="0">
                    <a:solidFill>
                      <a:srgbClr val="12203A"/>
                    </a:solidFill>
                    <a:latin typeface="Calibri" pitchFamily="34" charset="0"/>
                    <a:ea typeface="Calibri" pitchFamily="34" charset="-122"/>
                    <a:cs typeface="Calibri" pitchFamily="34" charset="-120"/>
                  </a:rPr>
                  <a:t> appear on both sides of an equation — and a self-referential equation in a single unknown is something we can solve.</a:t>
                </a:r>
                <a:endParaRPr lang="en-US" sz="1400" dirty="0"/>
              </a:p>
            </p:txBody>
          </p:sp>
        </mc:Choice>
        <mc:Fallback xmlns="">
          <p:sp>
            <p:nvSpPr>
              <p:cNvPr id="10" name="Text 7"/>
              <p:cNvSpPr txBox="1">
                <a:spLocks noRot="1" noChangeAspect="1" noMove="1" noResize="1" noEditPoints="1" noAdjustHandles="1" noChangeArrowheads="1" noChangeShapeType="1" noTextEdit="1"/>
              </p:cNvSpPr>
              <p:nvPr/>
            </p:nvSpPr>
            <p:spPr>
              <a:xfrm>
                <a:off x="566928" y="2505456"/>
                <a:ext cx="11064240" cy="512064"/>
              </a:xfrm>
              <a:prstGeom prst="rect">
                <a:avLst/>
              </a:prstGeom>
              <a:blipFill>
                <a:blip r:embed="rId4"/>
                <a:stretch>
                  <a:fillRect l="-992" t="-2381" b="-13095"/>
                </a:stretch>
              </a:blipFill>
              <a:ln/>
            </p:spPr>
            <p:txBody>
              <a:bodyPr/>
              <a:lstStyle/>
              <a:p>
                <a:r>
                  <a:rPr lang="en-IN">
                    <a:noFill/>
                  </a:rPr>
                  <a:t> </a:t>
                </a:r>
              </a:p>
            </p:txBody>
          </p:sp>
        </mc:Fallback>
      </mc:AlternateContent>
      <p:sp>
        <p:nvSpPr>
          <p:cNvPr id="11" name="Shape 8"/>
          <p:cNvSpPr/>
          <p:nvPr/>
        </p:nvSpPr>
        <p:spPr>
          <a:xfrm>
            <a:off x="585216" y="3200400"/>
            <a:ext cx="329184" cy="329184"/>
          </a:xfrm>
          <a:prstGeom prst="ellipse">
            <a:avLst/>
          </a:prstGeom>
          <a:solidFill>
            <a:srgbClr val="0E6F66"/>
          </a:solidFill>
          <a:ln w="12700">
            <a:solidFill>
              <a:srgbClr val="0E6F66"/>
            </a:solidFill>
            <a:prstDash val="solid"/>
          </a:ln>
        </p:spPr>
        <p:txBody>
          <a:bodyPr/>
          <a:lstStyle/>
          <a:p>
            <a:endParaRPr lang="en-IN"/>
          </a:p>
        </p:txBody>
      </p:sp>
      <p:sp>
        <p:nvSpPr>
          <p:cNvPr id="12" name="Text 9"/>
          <p:cNvSpPr txBox="1"/>
          <p:nvPr/>
        </p:nvSpPr>
        <p:spPr>
          <a:xfrm>
            <a:off x="615447" y="320040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3" name="Text 10"/>
          <p:cNvSpPr txBox="1"/>
          <p:nvPr/>
        </p:nvSpPr>
        <p:spPr>
          <a:xfrm>
            <a:off x="1060704" y="3172968"/>
            <a:ext cx="457200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Contribution of one potential neighbour j</a:t>
            </a:r>
            <a:endParaRPr lang="en-US" sz="1350" dirty="0"/>
          </a:p>
        </p:txBody>
      </p:sp>
      <p:sp>
        <p:nvSpPr>
          <p:cNvPr id="14" name="Shape 11"/>
          <p:cNvSpPr/>
          <p:nvPr/>
        </p:nvSpPr>
        <p:spPr>
          <a:xfrm>
            <a:off x="566928" y="3675888"/>
            <a:ext cx="6675120" cy="1188720"/>
          </a:xfrm>
          <a:prstGeom prst="roundRect">
            <a:avLst>
              <a:gd name="adj" fmla="val 4615"/>
            </a:avLst>
          </a:prstGeom>
          <a:solidFill>
            <a:srgbClr val="F4F6F9"/>
          </a:solidFill>
          <a:ln w="12700">
            <a:solidFill>
              <a:srgbClr val="333333"/>
            </a:solidFill>
            <a:prstDash val="solid"/>
          </a:ln>
        </p:spPr>
        <p:txBody>
          <a:bodyPr/>
          <a:lstStyle/>
          <a:p>
            <a:endParaRPr lang="en-IN"/>
          </a:p>
        </p:txBody>
      </p:sp>
      <p:pic>
        <p:nvPicPr>
          <p:cNvPr id="15" name="Image 1" descr="/home/claude/eq/giant_step1.png"/>
          <p:cNvPicPr>
            <a:picLocks noChangeAspect="1"/>
          </p:cNvPicPr>
          <p:nvPr/>
        </p:nvPicPr>
        <p:blipFill>
          <a:blip r:embed="rId5"/>
          <a:stretch>
            <a:fillRect/>
          </a:stretch>
        </p:blipFill>
        <p:spPr>
          <a:xfrm>
            <a:off x="841248" y="3767328"/>
            <a:ext cx="6126480" cy="924025"/>
          </a:xfrm>
          <a:prstGeom prst="rect">
            <a:avLst/>
          </a:prstGeom>
        </p:spPr>
      </p:pic>
      <p:sp>
        <p:nvSpPr>
          <p:cNvPr id="16" name="Shape 12"/>
          <p:cNvSpPr/>
          <p:nvPr/>
        </p:nvSpPr>
        <p:spPr>
          <a:xfrm>
            <a:off x="7461504" y="3675888"/>
            <a:ext cx="4169664" cy="1188720"/>
          </a:xfrm>
          <a:prstGeom prst="roundRect">
            <a:avLst>
              <a:gd name="adj" fmla="val 4615"/>
            </a:avLst>
          </a:prstGeom>
          <a:solidFill>
            <a:srgbClr val="F4F6F9"/>
          </a:solidFill>
          <a:ln w="12700">
            <a:solidFill>
              <a:srgbClr val="333333"/>
            </a:solidFill>
            <a:prstDash val="solid"/>
          </a:ln>
        </p:spPr>
        <p:txBody>
          <a:bodyPr/>
          <a:lstStyle/>
          <a:p>
            <a:endParaRPr lang="en-IN"/>
          </a:p>
        </p:txBody>
      </p:sp>
      <p:sp>
        <p:nvSpPr>
          <p:cNvPr id="17" name="Text 13"/>
          <p:cNvSpPr txBox="1"/>
          <p:nvPr/>
        </p:nvSpPr>
        <p:spPr>
          <a:xfrm>
            <a:off x="7680960" y="3767328"/>
            <a:ext cx="3749040"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Two disjoint ways for j to fail to connect v</a:t>
            </a:r>
            <a:endParaRPr lang="en-US" sz="1250" dirty="0"/>
          </a:p>
        </p:txBody>
      </p:sp>
      <mc:AlternateContent xmlns:mc="http://schemas.openxmlformats.org/markup-compatibility/2006" xmlns:a14="http://schemas.microsoft.com/office/drawing/2010/main">
        <mc:Choice Requires="a14">
          <p:sp>
            <p:nvSpPr>
              <p:cNvPr id="18" name="Text 14"/>
              <p:cNvSpPr txBox="1"/>
              <p:nvPr/>
            </p:nvSpPr>
            <p:spPr>
              <a:xfrm>
                <a:off x="7680960" y="4041648"/>
                <a:ext cx="3749040" cy="749808"/>
              </a:xfrm>
              <a:prstGeom prst="rect">
                <a:avLst/>
              </a:prstGeom>
              <a:noFill/>
              <a:ln/>
            </p:spPr>
            <p:txBody>
              <a:bodyPr wrap="square" rtlCol="0" anchor="t"/>
              <a:lstStyle/>
              <a:p>
                <a:pPr marL="342900" indent="-342900">
                  <a:lnSpc>
                    <a:spcPct val="106000"/>
                  </a:lnSpc>
                  <a:spcAft>
                    <a:spcPts val="500"/>
                  </a:spcAft>
                  <a:buSzPct val="100000"/>
                  <a:buChar char="•"/>
                </a:pPr>
                <a:r>
                  <a:rPr lang="en-US" sz="1150" dirty="0">
                    <a:solidFill>
                      <a:srgbClr val="12203A"/>
                    </a:solidFill>
                    <a:latin typeface="Calibri" pitchFamily="34" charset="0"/>
                    <a:ea typeface="Calibri" pitchFamily="34" charset="-122"/>
                    <a:cs typeface="Calibri" pitchFamily="34" charset="-120"/>
                  </a:rPr>
                  <a:t>The edge </a:t>
                </a:r>
                <a14:m>
                  <m:oMath xmlns:m="http://schemas.openxmlformats.org/officeDocument/2006/math">
                    <m:r>
                      <a:rPr lang="en-US" sz="1150" i="1" dirty="0" smtClean="0">
                        <a:solidFill>
                          <a:srgbClr val="0000FF"/>
                        </a:solidFill>
                        <a:latin typeface="Cambria Math" panose="02040503050406030204" pitchFamily="18" charset="0"/>
                        <a:ea typeface="Calibri" pitchFamily="34" charset="-122"/>
                        <a:cs typeface="Calibri" pitchFamily="34" charset="-120"/>
                      </a:rPr>
                      <m:t>(</m:t>
                    </m:r>
                    <m:r>
                      <a:rPr lang="en-US" sz="1150" i="1" dirty="0" smtClean="0">
                        <a:solidFill>
                          <a:srgbClr val="0000FF"/>
                        </a:solidFill>
                        <a:latin typeface="Cambria Math" panose="02040503050406030204" pitchFamily="18" charset="0"/>
                        <a:ea typeface="Calibri" pitchFamily="34" charset="-122"/>
                        <a:cs typeface="Calibri" pitchFamily="34" charset="-120"/>
                      </a:rPr>
                      <m:t>𝑣</m:t>
                    </m:r>
                    <m:r>
                      <a:rPr lang="en-US" sz="1150" i="1" dirty="0" smtClean="0">
                        <a:solidFill>
                          <a:srgbClr val="0000FF"/>
                        </a:solidFill>
                        <a:latin typeface="Cambria Math" panose="02040503050406030204" pitchFamily="18" charset="0"/>
                        <a:ea typeface="Calibri" pitchFamily="34" charset="-122"/>
                        <a:cs typeface="Calibri" pitchFamily="34" charset="-120"/>
                      </a:rPr>
                      <m:t>, </m:t>
                    </m:r>
                    <m:r>
                      <a:rPr lang="en-US" sz="1150" i="1" dirty="0" smtClean="0">
                        <a:solidFill>
                          <a:srgbClr val="0000FF"/>
                        </a:solidFill>
                        <a:latin typeface="Cambria Math" panose="02040503050406030204" pitchFamily="18" charset="0"/>
                        <a:ea typeface="Calibri" pitchFamily="34" charset="-122"/>
                        <a:cs typeface="Calibri" pitchFamily="34" charset="-120"/>
                      </a:rPr>
                      <m:t>𝑗</m:t>
                    </m:r>
                    <m:r>
                      <a:rPr lang="en-US" sz="1150" i="1" dirty="0" smtClean="0">
                        <a:solidFill>
                          <a:srgbClr val="0000FF"/>
                        </a:solidFill>
                        <a:latin typeface="Cambria Math" panose="02040503050406030204" pitchFamily="18" charset="0"/>
                        <a:ea typeface="Calibri" pitchFamily="34" charset="-122"/>
                        <a:cs typeface="Calibri" pitchFamily="34" charset="-120"/>
                      </a:rPr>
                      <m:t>) </m:t>
                    </m:r>
                  </m:oMath>
                </a14:m>
                <a:r>
                  <a:rPr lang="en-US" sz="1150" dirty="0">
                    <a:solidFill>
                      <a:srgbClr val="12203A"/>
                    </a:solidFill>
                    <a:latin typeface="Calibri" pitchFamily="34" charset="0"/>
                    <a:ea typeface="Calibri" pitchFamily="34" charset="-122"/>
                    <a:cs typeface="Calibri" pitchFamily="34" charset="-120"/>
                  </a:rPr>
                  <a:t>is simply absent — probability </a:t>
                </a:r>
                <a14:m>
                  <m:oMath xmlns:m="http://schemas.openxmlformats.org/officeDocument/2006/math">
                    <m:r>
                      <a:rPr lang="en-US" sz="1150" i="1" dirty="0" smtClean="0">
                        <a:solidFill>
                          <a:srgbClr val="0000FF"/>
                        </a:solidFill>
                        <a:latin typeface="Cambria Math" panose="02040503050406030204" pitchFamily="18" charset="0"/>
                        <a:ea typeface="Calibri" pitchFamily="34" charset="-122"/>
                        <a:cs typeface="Calibri" pitchFamily="34" charset="-120"/>
                      </a:rPr>
                      <m:t>1 − </m:t>
                    </m:r>
                    <m:r>
                      <a:rPr lang="en-US" sz="1150" i="1" dirty="0" smtClean="0">
                        <a:solidFill>
                          <a:srgbClr val="0000FF"/>
                        </a:solidFill>
                        <a:latin typeface="Cambria Math" panose="02040503050406030204" pitchFamily="18" charset="0"/>
                        <a:ea typeface="Calibri" pitchFamily="34" charset="-122"/>
                        <a:cs typeface="Calibri" pitchFamily="34" charset="-120"/>
                      </a:rPr>
                      <m:t>𝑝</m:t>
                    </m:r>
                    <m:r>
                      <a:rPr lang="en-US" sz="1150" i="1" dirty="0" smtClean="0">
                        <a:solidFill>
                          <a:srgbClr val="0000FF"/>
                        </a:solidFill>
                        <a:latin typeface="Cambria Math" panose="02040503050406030204" pitchFamily="18" charset="0"/>
                        <a:ea typeface="Calibri" pitchFamily="34" charset="-122"/>
                        <a:cs typeface="Calibri" pitchFamily="34" charset="-120"/>
                      </a:rPr>
                      <m:t>.</m:t>
                    </m:r>
                  </m:oMath>
                </a14:m>
                <a:endParaRPr lang="en-US" sz="1150" dirty="0">
                  <a:solidFill>
                    <a:srgbClr val="0000FF"/>
                  </a:solidFill>
                </a:endParaRPr>
              </a:p>
              <a:p>
                <a:pPr marL="342900" indent="-342900">
                  <a:lnSpc>
                    <a:spcPct val="106000"/>
                  </a:lnSpc>
                  <a:spcAft>
                    <a:spcPts val="500"/>
                  </a:spcAft>
                  <a:buSzPct val="100000"/>
                  <a:buChar char="•"/>
                </a:pPr>
                <a:r>
                  <a:rPr lang="en-US" sz="1150" dirty="0">
                    <a:solidFill>
                      <a:srgbClr val="12203A"/>
                    </a:solidFill>
                    <a:latin typeface="Calibri" pitchFamily="34" charset="0"/>
                    <a:ea typeface="Calibri" pitchFamily="34" charset="-122"/>
                    <a:cs typeface="Calibri" pitchFamily="34" charset="-120"/>
                  </a:rPr>
                  <a:t>The edge exists, but </a:t>
                </a:r>
                <a14:m>
                  <m:oMath xmlns:m="http://schemas.openxmlformats.org/officeDocument/2006/math">
                    <m:r>
                      <a:rPr lang="en-US" sz="1150" i="1" dirty="0" smtClean="0">
                        <a:solidFill>
                          <a:srgbClr val="0000FF"/>
                        </a:solidFill>
                        <a:latin typeface="Cambria Math" panose="02040503050406030204" pitchFamily="18" charset="0"/>
                        <a:ea typeface="Calibri" pitchFamily="34" charset="-122"/>
                        <a:cs typeface="Calibri" pitchFamily="34" charset="-120"/>
                      </a:rPr>
                      <m:t>𝑗</m:t>
                    </m:r>
                  </m:oMath>
                </a14:m>
                <a:r>
                  <a:rPr lang="en-US" sz="1150" dirty="0">
                    <a:solidFill>
                      <a:srgbClr val="12203A"/>
                    </a:solidFill>
                    <a:latin typeface="Calibri" pitchFamily="34" charset="0"/>
                    <a:ea typeface="Calibri" pitchFamily="34" charset="-122"/>
                    <a:cs typeface="Calibri" pitchFamily="34" charset="-120"/>
                  </a:rPr>
                  <a:t> is itself outside the giant — probability </a:t>
                </a:r>
                <a14:m>
                  <m:oMath xmlns:m="http://schemas.openxmlformats.org/officeDocument/2006/math">
                    <m:r>
                      <a:rPr lang="en-US" sz="1150" i="1" dirty="0" smtClean="0">
                        <a:solidFill>
                          <a:srgbClr val="0000FF"/>
                        </a:solidFill>
                        <a:latin typeface="Cambria Math" panose="02040503050406030204" pitchFamily="18" charset="0"/>
                        <a:ea typeface="Calibri" pitchFamily="34" charset="-122"/>
                        <a:cs typeface="Calibri" pitchFamily="34" charset="-120"/>
                      </a:rPr>
                      <m:t>𝑝</m:t>
                    </m:r>
                    <m:r>
                      <a:rPr lang="en-US" sz="1150" i="1" dirty="0" smtClean="0">
                        <a:solidFill>
                          <a:srgbClr val="0000FF"/>
                        </a:solidFill>
                        <a:latin typeface="Cambria Math" panose="02040503050406030204" pitchFamily="18" charset="0"/>
                        <a:ea typeface="Calibri" pitchFamily="34" charset="-122"/>
                        <a:cs typeface="Calibri" pitchFamily="34" charset="-120"/>
                      </a:rPr>
                      <m:t>·</m:t>
                    </m:r>
                    <m:r>
                      <a:rPr lang="en-US" sz="1150" i="1" dirty="0" smtClean="0">
                        <a:solidFill>
                          <a:srgbClr val="0000FF"/>
                        </a:solidFill>
                        <a:latin typeface="Cambria Math" panose="02040503050406030204" pitchFamily="18" charset="0"/>
                        <a:ea typeface="Calibri" pitchFamily="34" charset="-122"/>
                        <a:cs typeface="Calibri" pitchFamily="34" charset="-120"/>
                      </a:rPr>
                      <m:t>𝑢</m:t>
                    </m:r>
                    <m:r>
                      <a:rPr lang="en-US" sz="1150" i="1" dirty="0" smtClean="0">
                        <a:solidFill>
                          <a:srgbClr val="0000FF"/>
                        </a:solidFill>
                        <a:latin typeface="Cambria Math" panose="02040503050406030204" pitchFamily="18" charset="0"/>
                        <a:ea typeface="Calibri" pitchFamily="34" charset="-122"/>
                        <a:cs typeface="Calibri" pitchFamily="34" charset="-120"/>
                      </a:rPr>
                      <m:t>.</m:t>
                    </m:r>
                  </m:oMath>
                </a14:m>
                <a:endParaRPr lang="en-US" sz="1150" dirty="0">
                  <a:solidFill>
                    <a:srgbClr val="0000FF"/>
                  </a:solidFill>
                </a:endParaRPr>
              </a:p>
            </p:txBody>
          </p:sp>
        </mc:Choice>
        <mc:Fallback xmlns="">
          <p:sp>
            <p:nvSpPr>
              <p:cNvPr id="18" name="Text 14"/>
              <p:cNvSpPr txBox="1">
                <a:spLocks noRot="1" noChangeAspect="1" noMove="1" noResize="1" noEditPoints="1" noAdjustHandles="1" noChangeArrowheads="1" noChangeShapeType="1" noTextEdit="1"/>
              </p:cNvSpPr>
              <p:nvPr/>
            </p:nvSpPr>
            <p:spPr>
              <a:xfrm>
                <a:off x="7680960" y="4041648"/>
                <a:ext cx="3749040" cy="749808"/>
              </a:xfrm>
              <a:prstGeom prst="rect">
                <a:avLst/>
              </a:prstGeom>
              <a:blipFill>
                <a:blip r:embed="rId6"/>
                <a:stretch>
                  <a:fillRect/>
                </a:stretch>
              </a:blipFill>
              <a:ln/>
            </p:spPr>
            <p:txBody>
              <a:bodyPr/>
              <a:lstStyle/>
              <a:p>
                <a:r>
                  <a:rPr lang="en-IN">
                    <a:noFill/>
                  </a:rPr>
                  <a:t> </a:t>
                </a:r>
              </a:p>
            </p:txBody>
          </p:sp>
        </mc:Fallback>
      </mc:AlternateContent>
      <p:sp>
        <p:nvSpPr>
          <p:cNvPr id="19" name="Shape 15"/>
          <p:cNvSpPr/>
          <p:nvPr/>
        </p:nvSpPr>
        <p:spPr>
          <a:xfrm>
            <a:off x="566928" y="5010912"/>
            <a:ext cx="11064240" cy="658368"/>
          </a:xfrm>
          <a:prstGeom prst="roundRect">
            <a:avLst>
              <a:gd name="adj" fmla="val 8333"/>
            </a:avLst>
          </a:prstGeom>
          <a:solidFill>
            <a:srgbClr val="FBEBE8"/>
          </a:solidFill>
          <a:ln w="15875">
            <a:solidFill>
              <a:srgbClr val="C0392B"/>
            </a:solidFill>
            <a:prstDash val="solid"/>
          </a:ln>
        </p:spPr>
        <p:txBody>
          <a:bodyPr/>
          <a:lstStyle/>
          <a:p>
            <a:endParaRPr lang="en-IN"/>
          </a:p>
        </p:txBody>
      </p:sp>
      <p:sp>
        <p:nvSpPr>
          <p:cNvPr id="20" name="Text 16"/>
          <p:cNvSpPr txBox="1"/>
          <p:nvPr/>
        </p:nvSpPr>
        <p:spPr>
          <a:xfrm>
            <a:off x="804672" y="5010912"/>
            <a:ext cx="10588752" cy="658368"/>
          </a:xfrm>
          <a:prstGeom prst="rect">
            <a:avLst/>
          </a:prstGeom>
          <a:noFill/>
          <a:ln/>
        </p:spPr>
        <p:txBody>
          <a:bodyPr wrap="square" lIns="0" tIns="0" rIns="0" bIns="0" rtlCol="0" anchor="ctr"/>
          <a:lstStyle/>
          <a:p>
            <a:pPr marL="0" indent="0">
              <a:buNone/>
            </a:pPr>
            <a:r>
              <a:rPr lang="en-US" sz="1250" dirty="0">
                <a:solidFill>
                  <a:srgbClr val="0E1B33"/>
                </a:solidFill>
                <a:latin typeface="Calibri" pitchFamily="34" charset="0"/>
                <a:ea typeface="Calibri" pitchFamily="34" charset="-122"/>
                <a:cs typeface="Calibri" pitchFamily="34" charset="-120"/>
              </a:rPr>
              <a:t>The tree assumption is hiding here: we treat j's fate as independent of v's. In a sparse graph, short cycles through v and j are rare — probability O(⟨k⟩²/n) — so the local neighbourhood is a tree with probability → 1. This is the one approximation in the derivation, and it is asymptotically exact.</a:t>
            </a:r>
            <a:endParaRPr lang="en-US" sz="12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ppt_x"/>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ppt_x"/>
                                          </p:val>
                                        </p:tav>
                                        <p:tav tm="100000">
                                          <p:val>
                                            <p:strVal val="#ppt_x"/>
                                          </p:val>
                                        </p:tav>
                                      </p:tavLst>
                                    </p:anim>
                                    <p:anim calcmode="lin" valueType="num">
                                      <p:cBhvr additive="base">
                                        <p:cTn id="4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1000"/>
                                        <p:tgtEl>
                                          <p:spTgt spid="17"/>
                                        </p:tgtEl>
                                      </p:cBhvr>
                                    </p:animEffect>
                                    <p:anim calcmode="lin" valueType="num">
                                      <p:cBhvr>
                                        <p:cTn id="57" dur="1000" fill="hold"/>
                                        <p:tgtEl>
                                          <p:spTgt spid="17"/>
                                        </p:tgtEl>
                                        <p:attrNameLst>
                                          <p:attrName>ppt_x</p:attrName>
                                        </p:attrNameLst>
                                      </p:cBhvr>
                                      <p:tavLst>
                                        <p:tav tm="0">
                                          <p:val>
                                            <p:strVal val="#ppt_x"/>
                                          </p:val>
                                        </p:tav>
                                        <p:tav tm="100000">
                                          <p:val>
                                            <p:strVal val="#ppt_x"/>
                                          </p:val>
                                        </p:tav>
                                      </p:tavLst>
                                    </p:anim>
                                    <p:anim calcmode="lin" valueType="num">
                                      <p:cBhvr>
                                        <p:cTn id="5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Steps 2 and 3 — all neighbours, then the limit</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21</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sp>
        <p:nvSpPr>
          <p:cNvPr id="6" name="Shape 4"/>
          <p:cNvSpPr/>
          <p:nvPr/>
        </p:nvSpPr>
        <p:spPr>
          <a:xfrm>
            <a:off x="585216" y="1225296"/>
            <a:ext cx="329184" cy="329184"/>
          </a:xfrm>
          <a:prstGeom prst="ellipse">
            <a:avLst/>
          </a:prstGeom>
          <a:solidFill>
            <a:srgbClr val="0E6F66"/>
          </a:solidFill>
          <a:ln w="12700">
            <a:solidFill>
              <a:srgbClr val="0E6F66"/>
            </a:solidFill>
            <a:prstDash val="solid"/>
          </a:ln>
        </p:spPr>
        <p:txBody>
          <a:bodyPr/>
          <a:lstStyle/>
          <a:p>
            <a:endParaRPr lang="en-IN"/>
          </a:p>
        </p:txBody>
      </p:sp>
      <p:sp>
        <p:nvSpPr>
          <p:cNvPr id="7" name="Text 5"/>
          <p:cNvSpPr txBox="1"/>
          <p:nvPr/>
        </p:nvSpPr>
        <p:spPr>
          <a:xfrm>
            <a:off x="607609" y="125272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8" name="Text 6"/>
          <p:cNvSpPr txBox="1"/>
          <p:nvPr/>
        </p:nvSpPr>
        <p:spPr>
          <a:xfrm>
            <a:off x="1060704" y="1197864"/>
            <a:ext cx="694944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All n − 1 potential neighbours must fail, independently</a:t>
            </a:r>
            <a:endParaRPr lang="en-US" sz="1350" dirty="0"/>
          </a:p>
        </p:txBody>
      </p:sp>
      <p:sp>
        <p:nvSpPr>
          <p:cNvPr id="9" name="Shape 7"/>
          <p:cNvSpPr/>
          <p:nvPr/>
        </p:nvSpPr>
        <p:spPr>
          <a:xfrm>
            <a:off x="566928" y="1700784"/>
            <a:ext cx="11064240" cy="1042416"/>
          </a:xfrm>
          <a:prstGeom prst="roundRect">
            <a:avLst>
              <a:gd name="adj" fmla="val 5263"/>
            </a:avLst>
          </a:prstGeom>
          <a:solidFill>
            <a:srgbClr val="F4F6F9"/>
          </a:solidFill>
          <a:ln w="12700">
            <a:solidFill>
              <a:srgbClr val="333333"/>
            </a:solidFill>
            <a:prstDash val="solid"/>
          </a:ln>
        </p:spPr>
        <p:txBody>
          <a:bodyPr/>
          <a:lstStyle/>
          <a:p>
            <a:endParaRPr lang="en-IN"/>
          </a:p>
        </p:txBody>
      </p:sp>
      <p:pic>
        <p:nvPicPr>
          <p:cNvPr id="10" name="Image 0" descr="/home/claude/eq/giant_step2.png"/>
          <p:cNvPicPr>
            <a:picLocks noChangeAspect="1"/>
          </p:cNvPicPr>
          <p:nvPr/>
        </p:nvPicPr>
        <p:blipFill>
          <a:blip r:embed="rId3"/>
          <a:stretch>
            <a:fillRect/>
          </a:stretch>
        </p:blipFill>
        <p:spPr>
          <a:xfrm>
            <a:off x="3120518" y="1810512"/>
            <a:ext cx="5957061" cy="841248"/>
          </a:xfrm>
          <a:prstGeom prst="rect">
            <a:avLst/>
          </a:prstGeom>
        </p:spPr>
      </p:pic>
      <p:sp>
        <p:nvSpPr>
          <p:cNvPr id="11" name="Text 8"/>
          <p:cNvSpPr txBox="1"/>
          <p:nvPr/>
        </p:nvSpPr>
        <p:spPr>
          <a:xfrm>
            <a:off x="566928" y="2798064"/>
            <a:ext cx="11064240" cy="256032"/>
          </a:xfrm>
          <a:prstGeom prst="rect">
            <a:avLst/>
          </a:prstGeom>
          <a:noFill/>
          <a:ln/>
        </p:spPr>
        <p:txBody>
          <a:bodyPr wrap="square" lIns="0" tIns="0" rIns="0" bIns="0" rtlCol="0" anchor="ctr"/>
          <a:lstStyle/>
          <a:p>
            <a:pPr marL="0" indent="0">
              <a:buNone/>
            </a:pPr>
            <a:r>
              <a:rPr lang="en-US" sz="1250" i="1" dirty="0">
                <a:solidFill>
                  <a:srgbClr val="0000FF"/>
                </a:solidFill>
                <a:latin typeface="Calibri" pitchFamily="34" charset="0"/>
                <a:ea typeface="Calibri" pitchFamily="34" charset="-122"/>
                <a:cs typeface="Calibri" pitchFamily="34" charset="-120"/>
              </a:rPr>
              <a:t>Substituting p = ⟨k⟩/(n−1) puts the expression in the canonical form (1 − x/m)^m.</a:t>
            </a:r>
            <a:endParaRPr lang="en-US" sz="1250" dirty="0">
              <a:solidFill>
                <a:srgbClr val="0000FF"/>
              </a:solidFill>
            </a:endParaRPr>
          </a:p>
        </p:txBody>
      </p:sp>
      <p:sp>
        <p:nvSpPr>
          <p:cNvPr id="12" name="Shape 9"/>
          <p:cNvSpPr/>
          <p:nvPr/>
        </p:nvSpPr>
        <p:spPr>
          <a:xfrm>
            <a:off x="585216" y="3218688"/>
            <a:ext cx="329184" cy="329184"/>
          </a:xfrm>
          <a:prstGeom prst="ellipse">
            <a:avLst/>
          </a:prstGeom>
          <a:solidFill>
            <a:srgbClr val="C0392B"/>
          </a:solidFill>
          <a:ln w="12700">
            <a:solidFill>
              <a:srgbClr val="C0392B"/>
            </a:solidFill>
            <a:prstDash val="solid"/>
          </a:ln>
        </p:spPr>
        <p:txBody>
          <a:bodyPr/>
          <a:lstStyle/>
          <a:p>
            <a:endParaRPr lang="en-IN"/>
          </a:p>
        </p:txBody>
      </p:sp>
      <p:sp>
        <p:nvSpPr>
          <p:cNvPr id="13" name="Text 10"/>
          <p:cNvSpPr txBox="1"/>
          <p:nvPr/>
        </p:nvSpPr>
        <p:spPr>
          <a:xfrm>
            <a:off x="610968" y="321756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1"/>
          <p:cNvSpPr txBox="1"/>
          <p:nvPr/>
        </p:nvSpPr>
        <p:spPr>
          <a:xfrm>
            <a:off x="1060704" y="3191256"/>
            <a:ext cx="694944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Thermodynamic limit n → ∞</a:t>
            </a:r>
            <a:endParaRPr lang="en-US" sz="1350" dirty="0"/>
          </a:p>
        </p:txBody>
      </p:sp>
      <p:sp>
        <p:nvSpPr>
          <p:cNvPr id="15" name="Shape 12"/>
          <p:cNvSpPr/>
          <p:nvPr/>
        </p:nvSpPr>
        <p:spPr>
          <a:xfrm>
            <a:off x="566928" y="3694176"/>
            <a:ext cx="11064240" cy="969264"/>
          </a:xfrm>
          <a:prstGeom prst="roundRect">
            <a:avLst>
              <a:gd name="adj" fmla="val 5660"/>
            </a:avLst>
          </a:prstGeom>
          <a:solidFill>
            <a:srgbClr val="E4F0EE"/>
          </a:solidFill>
          <a:ln w="15875">
            <a:solidFill>
              <a:srgbClr val="0E6F66"/>
            </a:solidFill>
            <a:prstDash val="solid"/>
          </a:ln>
        </p:spPr>
        <p:txBody>
          <a:bodyPr/>
          <a:lstStyle/>
          <a:p>
            <a:endParaRPr lang="en-IN"/>
          </a:p>
        </p:txBody>
      </p:sp>
      <p:pic>
        <p:nvPicPr>
          <p:cNvPr id="16" name="Image 1" descr="/home/claude/eq/giant_step3.png"/>
          <p:cNvPicPr>
            <a:picLocks noChangeAspect="1"/>
          </p:cNvPicPr>
          <p:nvPr/>
        </p:nvPicPr>
        <p:blipFill>
          <a:blip r:embed="rId4"/>
          <a:stretch>
            <a:fillRect/>
          </a:stretch>
        </p:blipFill>
        <p:spPr>
          <a:xfrm>
            <a:off x="2564768" y="3803904"/>
            <a:ext cx="7068559" cy="768096"/>
          </a:xfrm>
          <a:prstGeom prst="rect">
            <a:avLst/>
          </a:prstGeom>
        </p:spPr>
      </p:pic>
      <p:sp>
        <p:nvSpPr>
          <p:cNvPr id="17" name="Text 13"/>
          <p:cNvSpPr txBox="1"/>
          <p:nvPr/>
        </p:nvSpPr>
        <p:spPr>
          <a:xfrm>
            <a:off x="566928" y="4791456"/>
            <a:ext cx="11064240" cy="292608"/>
          </a:xfrm>
          <a:prstGeom prst="rect">
            <a:avLst/>
          </a:prstGeom>
          <a:noFill/>
          <a:ln/>
        </p:spPr>
        <p:txBody>
          <a:bodyPr wrap="square" lIns="0" tIns="0" rIns="0" bIns="0" rtlCol="0" anchor="ctr"/>
          <a:lstStyle/>
          <a:p>
            <a:pPr marL="0" indent="0">
              <a:buNone/>
            </a:pPr>
            <a:r>
              <a:rPr lang="en-US" sz="1700" b="1" dirty="0">
                <a:solidFill>
                  <a:srgbClr val="0E1B33"/>
                </a:solidFill>
                <a:latin typeface="Cambria" pitchFamily="34" charset="0"/>
                <a:ea typeface="Cambria" pitchFamily="34" charset="-122"/>
                <a:cs typeface="Cambria" pitchFamily="34" charset="-120"/>
              </a:rPr>
              <a:t>Note what survived the limit</a:t>
            </a:r>
            <a:endParaRPr lang="en-US" sz="1700" dirty="0"/>
          </a:p>
        </p:txBody>
      </p:sp>
      <p:sp>
        <p:nvSpPr>
          <p:cNvPr id="18" name="Shape 14"/>
          <p:cNvSpPr/>
          <p:nvPr/>
        </p:nvSpPr>
        <p:spPr>
          <a:xfrm>
            <a:off x="566928" y="5138928"/>
            <a:ext cx="3529584"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19" name="Text 15"/>
          <p:cNvSpPr txBox="1"/>
          <p:nvPr/>
        </p:nvSpPr>
        <p:spPr>
          <a:xfrm>
            <a:off x="749808" y="5230368"/>
            <a:ext cx="3163824"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and p vanished</a:t>
            </a:r>
            <a:endParaRPr lang="en-US" sz="1300" dirty="0"/>
          </a:p>
        </p:txBody>
      </p:sp>
      <p:sp>
        <p:nvSpPr>
          <p:cNvPr id="20" name="Text 16"/>
          <p:cNvSpPr txBox="1"/>
          <p:nvPr/>
        </p:nvSpPr>
        <p:spPr>
          <a:xfrm>
            <a:off x="749808" y="5477256"/>
            <a:ext cx="3163824" cy="731520"/>
          </a:xfrm>
          <a:prstGeom prst="rect">
            <a:avLst/>
          </a:prstGeom>
          <a:noFill/>
          <a:ln/>
        </p:spPr>
        <p:txBody>
          <a:bodyPr wrap="square" lIns="0" tIns="0" rIns="0" bIns="0" rtlCol="0" anchor="ctr"/>
          <a:lstStyle/>
          <a:p>
            <a:pPr marL="0" indent="0">
              <a:lnSpc>
                <a:spcPct val="96000"/>
              </a:lnSpc>
              <a:buNone/>
            </a:pPr>
            <a:r>
              <a:rPr lang="en-US" sz="1150" dirty="0">
                <a:solidFill>
                  <a:srgbClr val="0000FF"/>
                </a:solidFill>
                <a:latin typeface="Calibri" pitchFamily="34" charset="0"/>
                <a:ea typeface="Calibri" pitchFamily="34" charset="-122"/>
                <a:cs typeface="Calibri" pitchFamily="34" charset="-120"/>
              </a:rPr>
              <a:t>Only the product ⟨k⟩ = pn appears. The mean degree is the sole control parameter — a graph of 10³ and one of 10⁹ nodes behave identically at the same ⟨k⟩.</a:t>
            </a:r>
            <a:endParaRPr lang="en-US" sz="1150" dirty="0">
              <a:solidFill>
                <a:srgbClr val="0000FF"/>
              </a:solidFill>
            </a:endParaRPr>
          </a:p>
        </p:txBody>
      </p:sp>
      <p:sp>
        <p:nvSpPr>
          <p:cNvPr id="21" name="Shape 17"/>
          <p:cNvSpPr/>
          <p:nvPr/>
        </p:nvSpPr>
        <p:spPr>
          <a:xfrm>
            <a:off x="4334256" y="5138928"/>
            <a:ext cx="3529584"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22" name="Text 18"/>
          <p:cNvSpPr txBox="1"/>
          <p:nvPr/>
        </p:nvSpPr>
        <p:spPr>
          <a:xfrm>
            <a:off x="4517136" y="5230368"/>
            <a:ext cx="3163824"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u is now implicit</a:t>
            </a:r>
            <a:endParaRPr lang="en-US" sz="1300" dirty="0"/>
          </a:p>
        </p:txBody>
      </p:sp>
      <p:sp>
        <p:nvSpPr>
          <p:cNvPr id="23" name="Text 19"/>
          <p:cNvSpPr txBox="1"/>
          <p:nvPr/>
        </p:nvSpPr>
        <p:spPr>
          <a:xfrm>
            <a:off x="4517136" y="5477256"/>
            <a:ext cx="3163824" cy="731520"/>
          </a:xfrm>
          <a:prstGeom prst="rect">
            <a:avLst/>
          </a:prstGeom>
          <a:noFill/>
          <a:ln/>
        </p:spPr>
        <p:txBody>
          <a:bodyPr wrap="square" lIns="0" tIns="0" rIns="0" bIns="0" rtlCol="0" anchor="ctr"/>
          <a:lstStyle/>
          <a:p>
            <a:pPr marL="0" indent="0">
              <a:lnSpc>
                <a:spcPct val="96000"/>
              </a:lnSpc>
              <a:buNone/>
            </a:pPr>
            <a:r>
              <a:rPr lang="en-US" sz="1150" dirty="0">
                <a:solidFill>
                  <a:srgbClr val="12203A"/>
                </a:solidFill>
                <a:latin typeface="Calibri" pitchFamily="34" charset="0"/>
                <a:ea typeface="Calibri" pitchFamily="34" charset="-122"/>
                <a:cs typeface="Calibri" pitchFamily="34" charset="-120"/>
              </a:rPr>
              <a:t>u = e^(−⟨k⟩(1−u)) is transcendental: no closed form in elementary functions. We solve it graphically and numerically.</a:t>
            </a:r>
            <a:endParaRPr lang="en-US" sz="1150" dirty="0"/>
          </a:p>
        </p:txBody>
      </p:sp>
      <p:sp>
        <p:nvSpPr>
          <p:cNvPr id="24" name="Shape 20"/>
          <p:cNvSpPr/>
          <p:nvPr/>
        </p:nvSpPr>
        <p:spPr>
          <a:xfrm>
            <a:off x="8101584" y="5138928"/>
            <a:ext cx="3529584"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25" name="Text 21"/>
          <p:cNvSpPr txBox="1"/>
          <p:nvPr/>
        </p:nvSpPr>
        <p:spPr>
          <a:xfrm>
            <a:off x="8284464" y="5230368"/>
            <a:ext cx="3163824"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Exactness</a:t>
            </a:r>
            <a:endParaRPr lang="en-US" sz="1300" dirty="0"/>
          </a:p>
        </p:txBody>
      </p:sp>
      <p:sp>
        <p:nvSpPr>
          <p:cNvPr id="26" name="Text 22"/>
          <p:cNvSpPr txBox="1"/>
          <p:nvPr/>
        </p:nvSpPr>
        <p:spPr>
          <a:xfrm>
            <a:off x="8284464" y="5477256"/>
            <a:ext cx="3163824" cy="731520"/>
          </a:xfrm>
          <a:prstGeom prst="rect">
            <a:avLst/>
          </a:prstGeom>
          <a:noFill/>
          <a:ln/>
        </p:spPr>
        <p:txBody>
          <a:bodyPr wrap="square" lIns="0" tIns="0" rIns="0" bIns="0" rtlCol="0" anchor="ctr"/>
          <a:lstStyle/>
          <a:p>
            <a:pPr marL="0" indent="0">
              <a:lnSpc>
                <a:spcPct val="96000"/>
              </a:lnSpc>
              <a:buNone/>
            </a:pPr>
            <a:r>
              <a:rPr lang="en-US" sz="1150" dirty="0">
                <a:solidFill>
                  <a:srgbClr val="12203A"/>
                </a:solidFill>
                <a:latin typeface="Calibri" pitchFamily="34" charset="0"/>
                <a:ea typeface="Calibri" pitchFamily="34" charset="-122"/>
                <a:cs typeface="Calibri" pitchFamily="34" charset="-120"/>
              </a:rPr>
              <a:t>The only approximations used were (1 − x/m)^m → e^(−x) and local tree-likeness. Both are exact as n → ∞ at fixed ⟨k⟩.</a:t>
            </a:r>
            <a:endParaRPr lang="en-US" sz="11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barn(inVertical)">
                                      <p:cBhvr>
                                        <p:cTn id="69" dur="5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00" fill="hold"/>
                                        <p:tgtEl>
                                          <p:spTgt spid="24"/>
                                        </p:tgtEl>
                                        <p:attrNameLst>
                                          <p:attrName>ppt_x</p:attrName>
                                        </p:attrNameLst>
                                      </p:cBhvr>
                                      <p:tavLst>
                                        <p:tav tm="0">
                                          <p:val>
                                            <p:strVal val="#ppt_x"/>
                                          </p:val>
                                        </p:tav>
                                        <p:tav tm="100000">
                                          <p:val>
                                            <p:strVal val="#ppt_x"/>
                                          </p:val>
                                        </p:tav>
                                      </p:tavLst>
                                    </p:anim>
                                    <p:anim calcmode="lin" valueType="num">
                                      <p:cBhvr additive="base">
                                        <p:cTn id="8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RESULT</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Step 4 — the order parameter equation</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22</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sp>
        <p:nvSpPr>
          <p:cNvPr id="6" name="Shape 4"/>
          <p:cNvSpPr/>
          <p:nvPr/>
        </p:nvSpPr>
        <p:spPr>
          <a:xfrm>
            <a:off x="585216" y="1207008"/>
            <a:ext cx="329184" cy="329184"/>
          </a:xfrm>
          <a:prstGeom prst="ellipse">
            <a:avLst/>
          </a:prstGeom>
          <a:solidFill>
            <a:srgbClr val="C0392B"/>
          </a:solidFill>
          <a:ln w="12700">
            <a:solidFill>
              <a:srgbClr val="C0392B"/>
            </a:solidFill>
            <a:prstDash val="solid"/>
          </a:ln>
        </p:spPr>
        <p:txBody>
          <a:bodyPr/>
          <a:lstStyle/>
          <a:p>
            <a:endParaRPr lang="en-IN"/>
          </a:p>
        </p:txBody>
      </p:sp>
      <p:sp>
        <p:nvSpPr>
          <p:cNvPr id="7" name="Text 5"/>
          <p:cNvSpPr txBox="1"/>
          <p:nvPr/>
        </p:nvSpPr>
        <p:spPr>
          <a:xfrm>
            <a:off x="606863" y="1175004"/>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8" name="Text 6"/>
          <p:cNvSpPr txBox="1"/>
          <p:nvPr/>
        </p:nvSpPr>
        <p:spPr>
          <a:xfrm>
            <a:off x="1082351" y="1143000"/>
            <a:ext cx="694944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Define the giant-component fraction S = 1 − u</a:t>
            </a:r>
            <a:endParaRPr lang="en-US" sz="1350" dirty="0"/>
          </a:p>
        </p:txBody>
      </p:sp>
      <p:sp>
        <p:nvSpPr>
          <p:cNvPr id="9" name="Shape 7"/>
          <p:cNvSpPr/>
          <p:nvPr/>
        </p:nvSpPr>
        <p:spPr>
          <a:xfrm>
            <a:off x="566928" y="1664208"/>
            <a:ext cx="11064240" cy="1170432"/>
          </a:xfrm>
          <a:prstGeom prst="roundRect">
            <a:avLst>
              <a:gd name="adj" fmla="val 4688"/>
            </a:avLst>
          </a:prstGeom>
          <a:solidFill>
            <a:srgbClr val="FBEBE8"/>
          </a:solidFill>
          <a:ln w="15875">
            <a:solidFill>
              <a:srgbClr val="C0392B"/>
            </a:solidFill>
            <a:prstDash val="solid"/>
          </a:ln>
        </p:spPr>
        <p:txBody>
          <a:bodyPr/>
          <a:lstStyle/>
          <a:p>
            <a:endParaRPr lang="en-IN"/>
          </a:p>
        </p:txBody>
      </p:sp>
      <p:sp>
        <p:nvSpPr>
          <p:cNvPr id="10" name="Text 8"/>
          <p:cNvSpPr txBox="1"/>
          <p:nvPr/>
        </p:nvSpPr>
        <p:spPr>
          <a:xfrm>
            <a:off x="808031" y="1737360"/>
            <a:ext cx="10625328"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SELF-CONSISTENCY EQUATION FOR THE ORDER PARAMETER</a:t>
            </a:r>
            <a:endParaRPr lang="en-US" sz="1050" dirty="0"/>
          </a:p>
        </p:txBody>
      </p:sp>
      <p:pic>
        <p:nvPicPr>
          <p:cNvPr id="11" name="Image 0" descr="/home/claude/eq/giant_result.png"/>
          <p:cNvPicPr>
            <a:picLocks noChangeAspect="1"/>
          </p:cNvPicPr>
          <p:nvPr/>
        </p:nvPicPr>
        <p:blipFill>
          <a:blip r:embed="rId3"/>
          <a:stretch>
            <a:fillRect/>
          </a:stretch>
        </p:blipFill>
        <p:spPr>
          <a:xfrm>
            <a:off x="2768736" y="2011680"/>
            <a:ext cx="6703918" cy="621792"/>
          </a:xfrm>
          <a:prstGeom prst="rect">
            <a:avLst/>
          </a:prstGeom>
        </p:spPr>
      </p:pic>
      <p:sp>
        <p:nvSpPr>
          <p:cNvPr id="12" name="Text 9"/>
          <p:cNvSpPr txBox="1"/>
          <p:nvPr/>
        </p:nvSpPr>
        <p:spPr>
          <a:xfrm>
            <a:off x="566928" y="2980944"/>
            <a:ext cx="5394960" cy="292608"/>
          </a:xfrm>
          <a:prstGeom prst="rect">
            <a:avLst/>
          </a:prstGeom>
          <a:noFill/>
          <a:ln/>
        </p:spPr>
        <p:txBody>
          <a:bodyPr wrap="square" lIns="0" tIns="0" rIns="0" bIns="0" rtlCol="0" anchor="ctr"/>
          <a:lstStyle/>
          <a:p>
            <a:pPr marL="0" indent="0">
              <a:buNone/>
            </a:pPr>
            <a:r>
              <a:rPr lang="en-US" sz="1700" b="1" dirty="0">
                <a:solidFill>
                  <a:srgbClr val="0E1B33"/>
                </a:solidFill>
                <a:latin typeface="Cambria" pitchFamily="34" charset="0"/>
                <a:ea typeface="Cambria" pitchFamily="34" charset="-122"/>
                <a:cs typeface="Cambria" pitchFamily="34" charset="-120"/>
              </a:rPr>
              <a:t>Solving it</a:t>
            </a:r>
            <a:endParaRPr lang="en-US" sz="1700" dirty="0"/>
          </a:p>
        </p:txBody>
      </p:sp>
      <p:sp>
        <p:nvSpPr>
          <p:cNvPr id="13" name="Shape 10"/>
          <p:cNvSpPr/>
          <p:nvPr/>
        </p:nvSpPr>
        <p:spPr>
          <a:xfrm>
            <a:off x="566928" y="3328416"/>
            <a:ext cx="5422392" cy="786384"/>
          </a:xfrm>
          <a:prstGeom prst="roundRect">
            <a:avLst>
              <a:gd name="adj" fmla="val 6977"/>
            </a:avLst>
          </a:prstGeom>
          <a:solidFill>
            <a:srgbClr val="F4F6F9"/>
          </a:solidFill>
          <a:ln w="12700">
            <a:solidFill>
              <a:srgbClr val="333333"/>
            </a:solidFill>
            <a:prstDash val="solid"/>
          </a:ln>
        </p:spPr>
        <p:txBody>
          <a:bodyPr/>
          <a:lstStyle/>
          <a:p>
            <a:endParaRPr lang="en-IN"/>
          </a:p>
        </p:txBody>
      </p:sp>
      <p:pic>
        <p:nvPicPr>
          <p:cNvPr id="14" name="Image 1" descr="/home/claude/eq/giant_slope.png"/>
          <p:cNvPicPr>
            <a:picLocks noChangeAspect="1"/>
          </p:cNvPicPr>
          <p:nvPr/>
        </p:nvPicPr>
        <p:blipFill>
          <a:blip r:embed="rId4"/>
          <a:stretch>
            <a:fillRect/>
          </a:stretch>
        </p:blipFill>
        <p:spPr>
          <a:xfrm>
            <a:off x="786384" y="3419856"/>
            <a:ext cx="4983480" cy="549176"/>
          </a:xfrm>
          <a:prstGeom prst="rect">
            <a:avLst/>
          </a:prstGeom>
        </p:spPr>
      </p:pic>
      <p:sp>
        <p:nvSpPr>
          <p:cNvPr id="15" name="Text 11"/>
          <p:cNvSpPr txBox="1"/>
          <p:nvPr/>
        </p:nvSpPr>
        <p:spPr>
          <a:xfrm>
            <a:off x="566928" y="4206240"/>
            <a:ext cx="5422392" cy="1554480"/>
          </a:xfrm>
          <a:prstGeom prst="rect">
            <a:avLst/>
          </a:prstGeom>
          <a:noFill/>
          <a:ln/>
        </p:spPr>
        <p:txBody>
          <a:bodyPr wrap="square" rtlCol="0" anchor="t"/>
          <a:lstStyle/>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S = 0 is always a solution. The question is whether a second, positive solution exists.</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The curve 1 − e^(−⟨k⟩S) starts at the origin with slope ⟨k⟩ and is concave. It crosses the line y = S a second time precisely when its initial slope exceeds 1.</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Hence ⟨k⟩ = 1 is the critical point — and the branching interpretation is immediate: ⟨k⟩ is the expected number of offspring per node.</a:t>
            </a:r>
            <a:endParaRPr lang="en-US" sz="1300" dirty="0"/>
          </a:p>
        </p:txBody>
      </p:sp>
      <p:sp>
        <p:nvSpPr>
          <p:cNvPr id="16" name="Text 12"/>
          <p:cNvSpPr txBox="1"/>
          <p:nvPr/>
        </p:nvSpPr>
        <p:spPr>
          <a:xfrm>
            <a:off x="6208776" y="2980944"/>
            <a:ext cx="5394960" cy="292608"/>
          </a:xfrm>
          <a:prstGeom prst="rect">
            <a:avLst/>
          </a:prstGeom>
          <a:noFill/>
          <a:ln/>
        </p:spPr>
        <p:txBody>
          <a:bodyPr wrap="square" lIns="0" tIns="0" rIns="0" bIns="0" rtlCol="0" anchor="ctr"/>
          <a:lstStyle/>
          <a:p>
            <a:pPr marL="0" indent="0">
              <a:buNone/>
            </a:pPr>
            <a:r>
              <a:rPr lang="en-US" sz="1700" b="1" dirty="0">
                <a:solidFill>
                  <a:srgbClr val="0E1B33"/>
                </a:solidFill>
                <a:latin typeface="Cambria" pitchFamily="34" charset="0"/>
                <a:ea typeface="Cambria" pitchFamily="34" charset="-122"/>
                <a:cs typeface="Cambria" pitchFamily="34" charset="-120"/>
              </a:rPr>
              <a:t>Numerical solutions</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208776" y="3328416"/>
          <a:ext cx="5422392" cy="2112264"/>
        </p:xfrm>
        <a:graphic>
          <a:graphicData uri="http://schemas.openxmlformats.org/drawingml/2006/table">
            <a:tbl>
              <a:tblPr/>
              <a:tblGrid>
                <a:gridCol w="7772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tblGrid>
              <a:tr h="301752">
                <a:tc>
                  <a:txBody>
                    <a:bodyPr/>
                    <a:lstStyle/>
                    <a:p>
                      <a:pPr marL="0" indent="0">
                        <a:buNone/>
                      </a:pPr>
                      <a:r>
                        <a:rPr lang="en-US" sz="1200" b="1" dirty="0">
                          <a:solidFill>
                            <a:srgbClr val="0E1B33"/>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tc>
                  <a:txBody>
                    <a:bodyPr/>
                    <a:lstStyle/>
                    <a:p>
                      <a:pPr marL="0" indent="0">
                        <a:buNone/>
                      </a:pPr>
                      <a:r>
                        <a:rPr lang="en-US" sz="1200" b="1" dirty="0">
                          <a:solidFill>
                            <a:srgbClr val="0E1B33"/>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tc>
                  <a:txBody>
                    <a:bodyPr/>
                    <a:lstStyle/>
                    <a:p>
                      <a:pPr marL="0" indent="0">
                        <a:buNone/>
                      </a:pPr>
                      <a:r>
                        <a:rPr lang="en-US" sz="1200" b="1" dirty="0">
                          <a:solidFill>
                            <a:srgbClr val="0E1B33"/>
                          </a:solidFill>
                          <a:latin typeface="Calibri" pitchFamily="34" charset="0"/>
                          <a:ea typeface="Calibri" pitchFamily="34" charset="-122"/>
                          <a:cs typeface="Calibri" pitchFamily="34" charset="-120"/>
                        </a:rPr>
                        <a:t>interpretation</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extLst>
                  <a:ext uri="{0D108BD9-81ED-4DB2-BD59-A6C34878D82A}">
                    <a16:rowId xmlns:a16="http://schemas.microsoft.com/office/drawing/2014/main" val="10000"/>
                  </a:ext>
                </a:extLst>
              </a:tr>
              <a:tr h="301752">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subcritical — no giant</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critical — still zero, but marginally</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0.5828</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58% of nodes in one component</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0.7968</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0.9405</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0.9930</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200" dirty="0">
                          <a:solidFill>
                            <a:srgbClr val="12203A"/>
                          </a:solidFill>
                          <a:latin typeface="Calibri" pitchFamily="34" charset="0"/>
                          <a:ea typeface="Calibri" pitchFamily="34" charset="-122"/>
                          <a:cs typeface="Calibri" pitchFamily="34" charset="-120"/>
                        </a:rPr>
                        <a:t>99.3% — but not yet connected</a:t>
                      </a:r>
                      <a:endParaRPr lang="en-US" sz="12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8" name="Text 13"/>
          <p:cNvSpPr txBox="1"/>
          <p:nvPr/>
        </p:nvSpPr>
        <p:spPr>
          <a:xfrm>
            <a:off x="6208776" y="5468112"/>
            <a:ext cx="5422392" cy="256032"/>
          </a:xfrm>
          <a:prstGeom prst="rect">
            <a:avLst/>
          </a:prstGeom>
          <a:noFill/>
          <a:ln/>
        </p:spPr>
        <p:txBody>
          <a:bodyPr wrap="square" lIns="0" tIns="0" rIns="0" bIns="0" rtlCol="0" anchor="ctr"/>
          <a:lstStyle/>
          <a:p>
            <a:pPr marL="0" indent="0">
              <a:buNone/>
            </a:pPr>
            <a:r>
              <a:rPr lang="en-US" sz="1100" i="1" dirty="0">
                <a:solidFill>
                  <a:srgbClr val="6B7684"/>
                </a:solidFill>
                <a:latin typeface="Calibri" pitchFamily="34" charset="0"/>
                <a:ea typeface="Calibri" pitchFamily="34" charset="-122"/>
                <a:cs typeface="Calibri" pitchFamily="34" charset="-120"/>
              </a:rPr>
              <a:t>Solutions computed by Brent root-finding on S − 1 + e^(−⟨k⟩S) = 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12" grpId="0" animBg="1"/>
      <p:bldP spid="15" grpId="0" animBg="1"/>
      <p:bldP spid="16"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GEOMETRY</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graphical solution: a tangency at ⟨k⟩ = 1</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23</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pic>
        <p:nvPicPr>
          <p:cNvPr id="6" name="Image 0" descr="/home/claude/figs/05_giant_fixedpoint.png"/>
          <p:cNvPicPr>
            <a:picLocks noChangeAspect="1"/>
          </p:cNvPicPr>
          <p:nvPr/>
        </p:nvPicPr>
        <p:blipFill>
          <a:blip r:embed="rId3"/>
          <a:stretch>
            <a:fillRect/>
          </a:stretch>
        </p:blipFill>
        <p:spPr>
          <a:xfrm>
            <a:off x="1612253" y="1298448"/>
            <a:ext cx="8973589" cy="3108960"/>
          </a:xfrm>
          <a:prstGeom prst="rect">
            <a:avLst/>
          </a:prstGeom>
        </p:spPr>
      </p:pic>
      <p:sp>
        <p:nvSpPr>
          <p:cNvPr id="7" name="Shape 4"/>
          <p:cNvSpPr/>
          <p:nvPr/>
        </p:nvSpPr>
        <p:spPr>
          <a:xfrm>
            <a:off x="566928" y="4626864"/>
            <a:ext cx="2601468" cy="1097280"/>
          </a:xfrm>
          <a:prstGeom prst="roundRect">
            <a:avLst>
              <a:gd name="adj" fmla="val 5000"/>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31520" y="4718304"/>
            <a:ext cx="2272284"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⟨k⟩ = 0.7</a:t>
            </a:r>
            <a:endParaRPr lang="en-US" sz="1250" dirty="0"/>
          </a:p>
        </p:txBody>
      </p:sp>
      <p:sp>
        <p:nvSpPr>
          <p:cNvPr id="9" name="Text 6"/>
          <p:cNvSpPr txBox="1"/>
          <p:nvPr/>
        </p:nvSpPr>
        <p:spPr>
          <a:xfrm>
            <a:off x="731520" y="4965192"/>
            <a:ext cx="2272284" cy="694944"/>
          </a:xfrm>
          <a:prstGeom prst="rect">
            <a:avLst/>
          </a:prstGeom>
          <a:noFill/>
          <a:ln/>
        </p:spPr>
        <p:txBody>
          <a:bodyPr wrap="square" lIns="0" tIns="0" rIns="0" bIns="0" rtlCol="0" anchor="ctr"/>
          <a:lstStyle/>
          <a:p>
            <a:pPr marL="0" indent="0">
              <a:lnSpc>
                <a:spcPct val="96000"/>
              </a:lnSpc>
              <a:buNone/>
            </a:pPr>
            <a:r>
              <a:rPr lang="en-US" sz="1100" dirty="0">
                <a:solidFill>
                  <a:srgbClr val="12203A"/>
                </a:solidFill>
                <a:latin typeface="Calibri" pitchFamily="34" charset="0"/>
                <a:ea typeface="Calibri" pitchFamily="34" charset="-122"/>
                <a:cs typeface="Calibri" pitchFamily="34" charset="-120"/>
              </a:rPr>
              <a:t>Slope at the origin &lt; 1. The concave curve stays below the diagonal — S = 0 is the only fixed point.</a:t>
            </a:r>
            <a:endParaRPr lang="en-US" sz="1100" dirty="0"/>
          </a:p>
        </p:txBody>
      </p:sp>
      <p:sp>
        <p:nvSpPr>
          <p:cNvPr id="10" name="Shape 7"/>
          <p:cNvSpPr/>
          <p:nvPr/>
        </p:nvSpPr>
        <p:spPr>
          <a:xfrm>
            <a:off x="3387852" y="4626864"/>
            <a:ext cx="2601468" cy="1097280"/>
          </a:xfrm>
          <a:prstGeom prst="roundRect">
            <a:avLst>
              <a:gd name="adj" fmla="val 5000"/>
            </a:avLst>
          </a:prstGeom>
          <a:solidFill>
            <a:srgbClr val="FBEBE8"/>
          </a:solidFill>
          <a:ln w="15875">
            <a:solidFill>
              <a:srgbClr val="C0392B"/>
            </a:solidFill>
            <a:prstDash val="solid"/>
          </a:ln>
        </p:spPr>
        <p:txBody>
          <a:bodyPr/>
          <a:lstStyle/>
          <a:p>
            <a:endParaRPr lang="en-IN"/>
          </a:p>
        </p:txBody>
      </p:sp>
      <p:sp>
        <p:nvSpPr>
          <p:cNvPr id="11" name="Text 8"/>
          <p:cNvSpPr txBox="1"/>
          <p:nvPr/>
        </p:nvSpPr>
        <p:spPr>
          <a:xfrm>
            <a:off x="3552444" y="4718304"/>
            <a:ext cx="2272284" cy="237744"/>
          </a:xfrm>
          <a:prstGeom prst="rect">
            <a:avLst/>
          </a:prstGeom>
          <a:noFill/>
          <a:ln/>
        </p:spPr>
        <p:txBody>
          <a:bodyPr wrap="square" lIns="0" tIns="0" rIns="0" bIns="0" rtlCol="0" anchor="ctr"/>
          <a:lstStyle/>
          <a:p>
            <a:pPr marL="0" indent="0">
              <a:buNone/>
            </a:pPr>
            <a:r>
              <a:rPr lang="en-US" sz="1250" b="1" dirty="0">
                <a:solidFill>
                  <a:srgbClr val="C0392B"/>
                </a:solidFill>
                <a:latin typeface="Calibri" pitchFamily="34" charset="0"/>
                <a:ea typeface="Calibri" pitchFamily="34" charset="-122"/>
                <a:cs typeface="Calibri" pitchFamily="34" charset="-120"/>
              </a:rPr>
              <a:t>⟨k⟩ = 1.0</a:t>
            </a:r>
            <a:endParaRPr lang="en-US" sz="1250" dirty="0"/>
          </a:p>
        </p:txBody>
      </p:sp>
      <p:sp>
        <p:nvSpPr>
          <p:cNvPr id="12" name="Text 9"/>
          <p:cNvSpPr txBox="1"/>
          <p:nvPr/>
        </p:nvSpPr>
        <p:spPr>
          <a:xfrm>
            <a:off x="3552444" y="4965192"/>
            <a:ext cx="2272284" cy="694944"/>
          </a:xfrm>
          <a:prstGeom prst="rect">
            <a:avLst/>
          </a:prstGeom>
          <a:noFill/>
          <a:ln/>
        </p:spPr>
        <p:txBody>
          <a:bodyPr wrap="square" lIns="0" tIns="0" rIns="0" bIns="0" rtlCol="0" anchor="ctr"/>
          <a:lstStyle/>
          <a:p>
            <a:pPr marL="0" indent="0">
              <a:lnSpc>
                <a:spcPct val="96000"/>
              </a:lnSpc>
              <a:buNone/>
            </a:pPr>
            <a:r>
              <a:rPr lang="en-US" sz="1100" dirty="0">
                <a:solidFill>
                  <a:srgbClr val="12203A"/>
                </a:solidFill>
                <a:latin typeface="Calibri" pitchFamily="34" charset="0"/>
                <a:ea typeface="Calibri" pitchFamily="34" charset="-122"/>
                <a:cs typeface="Calibri" pitchFamily="34" charset="-120"/>
              </a:rPr>
              <a:t>Tangency. The curve touches the diagonal at the origin and nowhere else. This is the critical point.</a:t>
            </a:r>
            <a:endParaRPr lang="en-US" sz="1100" dirty="0"/>
          </a:p>
        </p:txBody>
      </p:sp>
      <p:sp>
        <p:nvSpPr>
          <p:cNvPr id="13" name="Shape 10"/>
          <p:cNvSpPr/>
          <p:nvPr/>
        </p:nvSpPr>
        <p:spPr>
          <a:xfrm>
            <a:off x="6208776" y="4626864"/>
            <a:ext cx="2601468" cy="1097280"/>
          </a:xfrm>
          <a:prstGeom prst="roundRect">
            <a:avLst>
              <a:gd name="adj" fmla="val 5000"/>
            </a:avLst>
          </a:prstGeom>
          <a:solidFill>
            <a:srgbClr val="F4F6F9"/>
          </a:solidFill>
          <a:ln w="12700">
            <a:solidFill>
              <a:srgbClr val="333333"/>
            </a:solidFill>
            <a:prstDash val="solid"/>
          </a:ln>
        </p:spPr>
        <p:txBody>
          <a:bodyPr/>
          <a:lstStyle/>
          <a:p>
            <a:endParaRPr lang="en-IN"/>
          </a:p>
        </p:txBody>
      </p:sp>
      <p:sp>
        <p:nvSpPr>
          <p:cNvPr id="14" name="Text 11"/>
          <p:cNvSpPr txBox="1"/>
          <p:nvPr/>
        </p:nvSpPr>
        <p:spPr>
          <a:xfrm>
            <a:off x="6373368" y="4718304"/>
            <a:ext cx="2272284"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⟨k⟩ = 1.5</a:t>
            </a:r>
            <a:endParaRPr lang="en-US" sz="1250" dirty="0"/>
          </a:p>
        </p:txBody>
      </p:sp>
      <p:sp>
        <p:nvSpPr>
          <p:cNvPr id="15" name="Text 12"/>
          <p:cNvSpPr txBox="1"/>
          <p:nvPr/>
        </p:nvSpPr>
        <p:spPr>
          <a:xfrm>
            <a:off x="6373368" y="4965192"/>
            <a:ext cx="2272284" cy="694944"/>
          </a:xfrm>
          <a:prstGeom prst="rect">
            <a:avLst/>
          </a:prstGeom>
          <a:noFill/>
          <a:ln/>
        </p:spPr>
        <p:txBody>
          <a:bodyPr wrap="square" lIns="0" tIns="0" rIns="0" bIns="0" rtlCol="0" anchor="ctr"/>
          <a:lstStyle/>
          <a:p>
            <a:pPr marL="0" indent="0">
              <a:lnSpc>
                <a:spcPct val="96000"/>
              </a:lnSpc>
              <a:buNone/>
            </a:pPr>
            <a:r>
              <a:rPr lang="en-US" sz="1100" dirty="0">
                <a:solidFill>
                  <a:srgbClr val="12203A"/>
                </a:solidFill>
                <a:latin typeface="Calibri" pitchFamily="34" charset="0"/>
                <a:ea typeface="Calibri" pitchFamily="34" charset="-122"/>
                <a:cs typeface="Calibri" pitchFamily="34" charset="-120"/>
              </a:rPr>
              <a:t>Slope &gt; 1. The curve rises above the diagonal, must come back down, and a positive fixed point appears.</a:t>
            </a:r>
            <a:endParaRPr lang="en-US" sz="1100" dirty="0"/>
          </a:p>
        </p:txBody>
      </p:sp>
      <p:sp>
        <p:nvSpPr>
          <p:cNvPr id="16" name="Shape 13"/>
          <p:cNvSpPr/>
          <p:nvPr/>
        </p:nvSpPr>
        <p:spPr>
          <a:xfrm>
            <a:off x="9029700" y="4626864"/>
            <a:ext cx="2601468" cy="1097280"/>
          </a:xfrm>
          <a:prstGeom prst="roundRect">
            <a:avLst>
              <a:gd name="adj" fmla="val 5000"/>
            </a:avLst>
          </a:prstGeom>
          <a:solidFill>
            <a:srgbClr val="F4F6F9"/>
          </a:solidFill>
          <a:ln w="12700">
            <a:solidFill>
              <a:srgbClr val="333333"/>
            </a:solidFill>
            <a:prstDash val="solid"/>
          </a:ln>
        </p:spPr>
        <p:txBody>
          <a:bodyPr/>
          <a:lstStyle/>
          <a:p>
            <a:endParaRPr lang="en-IN"/>
          </a:p>
        </p:txBody>
      </p:sp>
      <p:sp>
        <p:nvSpPr>
          <p:cNvPr id="17" name="Text 14"/>
          <p:cNvSpPr txBox="1"/>
          <p:nvPr/>
        </p:nvSpPr>
        <p:spPr>
          <a:xfrm>
            <a:off x="9194292" y="4718304"/>
            <a:ext cx="2272284"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⟨k⟩ = 2.5</a:t>
            </a:r>
            <a:endParaRPr lang="en-US" sz="1250" dirty="0"/>
          </a:p>
        </p:txBody>
      </p:sp>
      <p:sp>
        <p:nvSpPr>
          <p:cNvPr id="18" name="Text 15"/>
          <p:cNvSpPr txBox="1"/>
          <p:nvPr/>
        </p:nvSpPr>
        <p:spPr>
          <a:xfrm>
            <a:off x="9194292" y="4965192"/>
            <a:ext cx="2272284" cy="694944"/>
          </a:xfrm>
          <a:prstGeom prst="rect">
            <a:avLst/>
          </a:prstGeom>
          <a:noFill/>
          <a:ln/>
        </p:spPr>
        <p:txBody>
          <a:bodyPr wrap="square" lIns="0" tIns="0" rIns="0" bIns="0" rtlCol="0" anchor="ctr"/>
          <a:lstStyle/>
          <a:p>
            <a:pPr marL="0" indent="0">
              <a:lnSpc>
                <a:spcPct val="96000"/>
              </a:lnSpc>
              <a:buNone/>
            </a:pPr>
            <a:r>
              <a:rPr lang="en-US" sz="1100" dirty="0">
                <a:solidFill>
                  <a:srgbClr val="12203A"/>
                </a:solidFill>
                <a:latin typeface="Calibri" pitchFamily="34" charset="0"/>
                <a:ea typeface="Calibri" pitchFamily="34" charset="-122"/>
                <a:cs typeface="Calibri" pitchFamily="34" charset="-120"/>
              </a:rPr>
              <a:t>The fixed point has moved to S* = 0.797. As ⟨k⟩ grows it approaches 1 but never reaches it.</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ppt_x"/>
                                          </p:val>
                                        </p:tav>
                                        <p:tav tm="100000">
                                          <p:val>
                                            <p:strVal val="#ppt_x"/>
                                          </p:val>
                                        </p:tav>
                                      </p:tavLst>
                                    </p:anim>
                                    <p:anim calcmode="lin" valueType="num">
                                      <p:cBhvr additive="base">
                                        <p:cTn id="4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1000"/>
                                        <p:tgtEl>
                                          <p:spTgt spid="17"/>
                                        </p:tgtEl>
                                      </p:cBhvr>
                                    </p:animEffect>
                                    <p:anim calcmode="lin" valueType="num">
                                      <p:cBhvr>
                                        <p:cTn id="51" dur="1000" fill="hold"/>
                                        <p:tgtEl>
                                          <p:spTgt spid="17"/>
                                        </p:tgtEl>
                                        <p:attrNameLst>
                                          <p:attrName>ppt_x</p:attrName>
                                        </p:attrNameLst>
                                      </p:cBhvr>
                                      <p:tavLst>
                                        <p:tav tm="0">
                                          <p:val>
                                            <p:strVal val="#ppt_x"/>
                                          </p:val>
                                        </p:tav>
                                        <p:tav tm="100000">
                                          <p:val>
                                            <p:strVal val="#ppt_x"/>
                                          </p:val>
                                        </p:tav>
                                      </p:tavLst>
                                    </p:anim>
                                    <p:anim calcmode="lin" valueType="num">
                                      <p:cBhvr>
                                        <p:cTn id="52" dur="1000" fill="hold"/>
                                        <p:tgtEl>
                                          <p:spTgt spid="17"/>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1000"/>
                                        <p:tgtEl>
                                          <p:spTgt spid="16"/>
                                        </p:tgtEl>
                                      </p:cBhvr>
                                    </p:animEffect>
                                    <p:anim calcmode="lin" valueType="num">
                                      <p:cBhvr>
                                        <p:cTn id="56" dur="1000" fill="hold"/>
                                        <p:tgtEl>
                                          <p:spTgt spid="16"/>
                                        </p:tgtEl>
                                        <p:attrNameLst>
                                          <p:attrName>ppt_x</p:attrName>
                                        </p:attrNameLst>
                                      </p:cBhvr>
                                      <p:tavLst>
                                        <p:tav tm="0">
                                          <p:val>
                                            <p:strVal val="#ppt_x"/>
                                          </p:val>
                                        </p:tav>
                                        <p:tav tm="100000">
                                          <p:val>
                                            <p:strVal val="#ppt_x"/>
                                          </p:val>
                                        </p:tav>
                                      </p:tavLst>
                                    </p:anim>
                                    <p:anim calcmode="lin" valueType="num">
                                      <p:cBhvr>
                                        <p:cTn id="57" dur="1000" fill="hold"/>
                                        <p:tgtEl>
                                          <p:spTgt spid="1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1000"/>
                                        <p:tgtEl>
                                          <p:spTgt spid="18"/>
                                        </p:tgtEl>
                                      </p:cBhvr>
                                    </p:animEffect>
                                    <p:anim calcmode="lin" valueType="num">
                                      <p:cBhvr>
                                        <p:cTn id="61" dur="1000" fill="hold"/>
                                        <p:tgtEl>
                                          <p:spTgt spid="18"/>
                                        </p:tgtEl>
                                        <p:attrNameLst>
                                          <p:attrName>ppt_x</p:attrName>
                                        </p:attrNameLst>
                                      </p:cBhvr>
                                      <p:tavLst>
                                        <p:tav tm="0">
                                          <p:val>
                                            <p:strVal val="#ppt_x"/>
                                          </p:val>
                                        </p:tav>
                                        <p:tav tm="100000">
                                          <p:val>
                                            <p:strVal val="#ppt_x"/>
                                          </p:val>
                                        </p:tav>
                                      </p:tavLst>
                                    </p:anim>
                                    <p:anim calcmode="lin" valueType="num">
                                      <p:cBhvr>
                                        <p:cTn id="6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058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CRITICAL BEHAVIOUR</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A second-order transition with exponent β = 1</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24</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pic>
        <p:nvPicPr>
          <p:cNvPr id="6" name="Image 0" descr="/home/claude/figs/04_giant_S.png"/>
          <p:cNvPicPr>
            <a:picLocks noChangeAspect="1"/>
          </p:cNvPicPr>
          <p:nvPr/>
        </p:nvPicPr>
        <p:blipFill>
          <a:blip r:embed="rId3"/>
          <a:stretch>
            <a:fillRect/>
          </a:stretch>
        </p:blipFill>
        <p:spPr>
          <a:xfrm>
            <a:off x="566928" y="1152144"/>
            <a:ext cx="6650228" cy="4343400"/>
          </a:xfrm>
          <a:prstGeom prst="rect">
            <a:avLst/>
          </a:prstGeom>
        </p:spPr>
      </p:pic>
      <p:sp>
        <p:nvSpPr>
          <p:cNvPr id="7" name="Shape 4"/>
          <p:cNvSpPr/>
          <p:nvPr/>
        </p:nvSpPr>
        <p:spPr>
          <a:xfrm>
            <a:off x="7626096" y="1152144"/>
            <a:ext cx="4005072" cy="1060704"/>
          </a:xfrm>
          <a:prstGeom prst="roundRect">
            <a:avLst>
              <a:gd name="adj" fmla="val 5172"/>
            </a:avLst>
          </a:prstGeom>
          <a:solidFill>
            <a:srgbClr val="FBEBE8"/>
          </a:solidFill>
          <a:ln w="15875">
            <a:solidFill>
              <a:srgbClr val="C0392B"/>
            </a:solidFill>
            <a:prstDash val="solid"/>
          </a:ln>
        </p:spPr>
        <p:txBody>
          <a:bodyPr/>
          <a:lstStyle/>
          <a:p>
            <a:endParaRPr lang="en-IN"/>
          </a:p>
        </p:txBody>
      </p:sp>
      <p:sp>
        <p:nvSpPr>
          <p:cNvPr id="8" name="Text 5"/>
          <p:cNvSpPr txBox="1"/>
          <p:nvPr/>
        </p:nvSpPr>
        <p:spPr>
          <a:xfrm>
            <a:off x="7845552" y="1243584"/>
            <a:ext cx="356616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NEAR-CRITICAL EXPANSION</a:t>
            </a:r>
            <a:endParaRPr lang="en-US" sz="1050" dirty="0"/>
          </a:p>
        </p:txBody>
      </p:sp>
      <p:pic>
        <p:nvPicPr>
          <p:cNvPr id="9" name="Image 1" descr="/home/claude/eq/giant_lin.png"/>
          <p:cNvPicPr>
            <a:picLocks noChangeAspect="1"/>
          </p:cNvPicPr>
          <p:nvPr/>
        </p:nvPicPr>
        <p:blipFill>
          <a:blip r:embed="rId4"/>
          <a:stretch>
            <a:fillRect/>
          </a:stretch>
        </p:blipFill>
        <p:spPr>
          <a:xfrm>
            <a:off x="7845552" y="1481328"/>
            <a:ext cx="3566160" cy="547771"/>
          </a:xfrm>
          <a:prstGeom prst="rect">
            <a:avLst/>
          </a:prstGeom>
        </p:spPr>
      </p:pic>
      <p:sp>
        <p:nvSpPr>
          <p:cNvPr id="10" name="Shape 6"/>
          <p:cNvSpPr/>
          <p:nvPr/>
        </p:nvSpPr>
        <p:spPr>
          <a:xfrm>
            <a:off x="7626096" y="2359152"/>
            <a:ext cx="4005072" cy="3163824"/>
          </a:xfrm>
          <a:prstGeom prst="roundRect">
            <a:avLst>
              <a:gd name="adj" fmla="val 1734"/>
            </a:avLst>
          </a:prstGeom>
          <a:solidFill>
            <a:srgbClr val="F4F6F9"/>
          </a:solidFill>
          <a:ln w="12700">
            <a:solidFill>
              <a:srgbClr val="333333"/>
            </a:solidFill>
            <a:prstDash val="solid"/>
          </a:ln>
        </p:spPr>
        <p:txBody>
          <a:bodyPr/>
          <a:lstStyle/>
          <a:p>
            <a:endParaRPr lang="en-IN"/>
          </a:p>
        </p:txBody>
      </p:sp>
      <p:sp>
        <p:nvSpPr>
          <p:cNvPr id="11" name="Text 7"/>
          <p:cNvSpPr txBox="1"/>
          <p:nvPr/>
        </p:nvSpPr>
        <p:spPr>
          <a:xfrm>
            <a:off x="7845552" y="2487168"/>
            <a:ext cx="356616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Why “second order”</a:t>
            </a:r>
            <a:endParaRPr lang="en-US" sz="1550" dirty="0"/>
          </a:p>
        </p:txBody>
      </p:sp>
      <p:sp>
        <p:nvSpPr>
          <p:cNvPr id="12" name="Text 8"/>
          <p:cNvSpPr txBox="1"/>
          <p:nvPr/>
        </p:nvSpPr>
        <p:spPr>
          <a:xfrm>
            <a:off x="7845552" y="2834640"/>
            <a:ext cx="3566160" cy="2560320"/>
          </a:xfrm>
          <a:prstGeom prst="rect">
            <a:avLst/>
          </a:prstGeom>
          <a:noFill/>
          <a:ln/>
        </p:spPr>
        <p:txBody>
          <a:bodyPr wrap="square" rtlCol="0" anchor="t"/>
          <a:lstStyle/>
          <a:p>
            <a:pPr marL="342900" indent="-342900">
              <a:lnSpc>
                <a:spcPct val="106000"/>
              </a:lnSpc>
              <a:spcAft>
                <a:spcPts val="500"/>
              </a:spcAft>
              <a:buSzPct val="100000"/>
              <a:buChar char="•"/>
            </a:pPr>
            <a:r>
              <a:rPr lang="en-US" sz="1050" dirty="0">
                <a:solidFill>
                  <a:srgbClr val="12203A"/>
                </a:solidFill>
                <a:latin typeface="Calibri" pitchFamily="34" charset="0"/>
                <a:ea typeface="Calibri" pitchFamily="34" charset="-122"/>
                <a:cs typeface="Calibri" pitchFamily="34" charset="-120"/>
              </a:rPr>
              <a:t>S is continuous at ⟨k⟩ = 1 — it rises from zero rather than jumping. A first-order transition would show a discontinuity.</a:t>
            </a:r>
            <a:endParaRPr lang="en-US" sz="1050" dirty="0"/>
          </a:p>
          <a:p>
            <a:pPr marL="342900" indent="-342900">
              <a:lnSpc>
                <a:spcPct val="106000"/>
              </a:lnSpc>
              <a:spcAft>
                <a:spcPts val="500"/>
              </a:spcAft>
              <a:buSzPct val="100000"/>
              <a:buChar char="•"/>
            </a:pPr>
            <a:r>
              <a:rPr lang="en-US" sz="1050" dirty="0">
                <a:solidFill>
                  <a:srgbClr val="12203A"/>
                </a:solidFill>
                <a:latin typeface="Calibri" pitchFamily="34" charset="0"/>
                <a:ea typeface="Calibri" pitchFamily="34" charset="-122"/>
                <a:cs typeface="Calibri" pitchFamily="34" charset="-120"/>
              </a:rPr>
              <a:t>Its derivative dS/d⟨k⟩ is discontinuous: 0 below, 2 just above. The singularity sits in the first derivative of the order parameter.</a:t>
            </a:r>
            <a:endParaRPr lang="en-US" sz="1050" dirty="0"/>
          </a:p>
          <a:p>
            <a:pPr marL="342900" indent="-342900">
              <a:lnSpc>
                <a:spcPct val="106000"/>
              </a:lnSpc>
              <a:spcAft>
                <a:spcPts val="500"/>
              </a:spcAft>
              <a:buSzPct val="100000"/>
              <a:buChar char="•"/>
            </a:pPr>
            <a:r>
              <a:rPr lang="en-US" sz="1050" dirty="0">
                <a:solidFill>
                  <a:srgbClr val="12203A"/>
                </a:solidFill>
                <a:latin typeface="Calibri" pitchFamily="34" charset="0"/>
                <a:ea typeface="Calibri" pitchFamily="34" charset="-122"/>
                <a:cs typeface="Calibri" pitchFamily="34" charset="-120"/>
              </a:rPr>
              <a:t>Expanding S = 1 − e^(−⟨k⟩S) to second order in small S gives S ≈ 2(⟨k⟩−1)/⟨k⟩², so S ∝ (⟨k⟩ − 1)¹ and the critical exponent is β = 1.</a:t>
            </a:r>
            <a:endParaRPr lang="en-US" sz="1050" dirty="0"/>
          </a:p>
          <a:p>
            <a:pPr marL="342900" indent="-342900">
              <a:lnSpc>
                <a:spcPct val="106000"/>
              </a:lnSpc>
              <a:spcAft>
                <a:spcPts val="500"/>
              </a:spcAft>
              <a:buSzPct val="100000"/>
              <a:buChar char="•"/>
            </a:pPr>
            <a:r>
              <a:rPr lang="en-US" sz="1050" dirty="0">
                <a:solidFill>
                  <a:srgbClr val="12203A"/>
                </a:solidFill>
                <a:latin typeface="Calibri" pitchFamily="34" charset="0"/>
                <a:ea typeface="Calibri" pitchFamily="34" charset="-122"/>
                <a:cs typeface="Calibri" pitchFamily="34" charset="-120"/>
              </a:rPr>
              <a:t>β = 1 is the mean-field percolation value — expected, since ER has no geometry and every node interacts with every other with equal probability.</a:t>
            </a:r>
            <a:endParaRPr lang="en-US" sz="1050" dirty="0"/>
          </a:p>
        </p:txBody>
      </p:sp>
      <p:sp>
        <p:nvSpPr>
          <p:cNvPr id="13" name="Shape 9"/>
          <p:cNvSpPr/>
          <p:nvPr/>
        </p:nvSpPr>
        <p:spPr>
          <a:xfrm>
            <a:off x="566928" y="5614416"/>
            <a:ext cx="11064240" cy="566928"/>
          </a:xfrm>
          <a:prstGeom prst="roundRect">
            <a:avLst>
              <a:gd name="adj" fmla="val 9677"/>
            </a:avLst>
          </a:prstGeom>
          <a:solidFill>
            <a:srgbClr val="E4F0EE"/>
          </a:solidFill>
          <a:ln w="12700">
            <a:solidFill>
              <a:srgbClr val="333333"/>
            </a:solidFill>
            <a:prstDash val="solid"/>
          </a:ln>
        </p:spPr>
        <p:txBody>
          <a:bodyPr/>
          <a:lstStyle/>
          <a:p>
            <a:endParaRPr lang="en-IN"/>
          </a:p>
        </p:txBody>
      </p:sp>
      <p:sp>
        <p:nvSpPr>
          <p:cNvPr id="14" name="Text 10"/>
          <p:cNvSpPr txBox="1"/>
          <p:nvPr/>
        </p:nvSpPr>
        <p:spPr>
          <a:xfrm>
            <a:off x="768096" y="5614416"/>
            <a:ext cx="10661904" cy="566928"/>
          </a:xfrm>
          <a:prstGeom prst="rect">
            <a:avLst/>
          </a:prstGeom>
          <a:noFill/>
          <a:ln/>
        </p:spPr>
        <p:txBody>
          <a:bodyPr wrap="square" lIns="0" tIns="0" rIns="0" bIns="0" rtlCol="0" anchor="ctr"/>
          <a:lstStyle/>
          <a:p>
            <a:pPr marL="0" indent="0">
              <a:buNone/>
            </a:pPr>
            <a:r>
              <a:rPr lang="en-US" sz="1300" i="1" dirty="0">
                <a:solidFill>
                  <a:srgbClr val="0E1B33"/>
                </a:solidFill>
                <a:latin typeface="Calibri" pitchFamily="34" charset="0"/>
                <a:ea typeface="Calibri" pitchFamily="34" charset="-122"/>
                <a:cs typeface="Calibri" pitchFamily="34" charset="-120"/>
              </a:rPr>
              <a:t>The dashed orange curve is the linearised prediction; it tracks the exact solution to within a few percent up to ⟨k⟩ ≈ 1.4.</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FINITE-SIZE EFFECTS</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At finite n the transition is rounded</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25</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pic>
        <p:nvPicPr>
          <p:cNvPr id="6" name="Image 0" descr="/home/claude/figs/20_finite_size.png"/>
          <p:cNvPicPr>
            <a:picLocks noChangeAspect="1"/>
          </p:cNvPicPr>
          <p:nvPr/>
        </p:nvPicPr>
        <p:blipFill>
          <a:blip r:embed="rId3"/>
          <a:stretch>
            <a:fillRect/>
          </a:stretch>
        </p:blipFill>
        <p:spPr>
          <a:xfrm>
            <a:off x="566928" y="1152144"/>
            <a:ext cx="6738911" cy="4343400"/>
          </a:xfrm>
          <a:prstGeom prst="rect">
            <a:avLst/>
          </a:prstGeom>
        </p:spPr>
      </p:pic>
      <p:sp>
        <p:nvSpPr>
          <p:cNvPr id="7" name="Shape 4"/>
          <p:cNvSpPr/>
          <p:nvPr/>
        </p:nvSpPr>
        <p:spPr>
          <a:xfrm>
            <a:off x="7626096" y="1152144"/>
            <a:ext cx="4005072" cy="2487168"/>
          </a:xfrm>
          <a:prstGeom prst="roundRect">
            <a:avLst>
              <a:gd name="adj" fmla="val 2206"/>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845552" y="1280160"/>
            <a:ext cx="356616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What simulation shows</a:t>
            </a:r>
            <a:endParaRPr lang="en-US" sz="1550" dirty="0"/>
          </a:p>
        </p:txBody>
      </p:sp>
      <p:sp>
        <p:nvSpPr>
          <p:cNvPr id="9" name="Text 6"/>
          <p:cNvSpPr txBox="1"/>
          <p:nvPr/>
        </p:nvSpPr>
        <p:spPr>
          <a:xfrm>
            <a:off x="7845552" y="1627632"/>
            <a:ext cx="3566160" cy="1920240"/>
          </a:xfrm>
          <a:prstGeom prst="rect">
            <a:avLst/>
          </a:prstGeom>
          <a:noFill/>
          <a:ln/>
        </p:spPr>
        <p:txBody>
          <a:bodyPr wrap="square" rtlCol="0" anchor="t"/>
          <a:lstStyle/>
          <a:p>
            <a:pPr marL="342900" indent="-342900">
              <a:lnSpc>
                <a:spcPct val="106000"/>
              </a:lnSpc>
              <a:spcAft>
                <a:spcPts val="600"/>
              </a:spcAft>
              <a:buSzPct val="100000"/>
              <a:buChar char="•"/>
            </a:pPr>
            <a:r>
              <a:rPr lang="en-US" sz="1100" dirty="0">
                <a:solidFill>
                  <a:srgbClr val="12203A"/>
                </a:solidFill>
                <a:latin typeface="Calibri" pitchFamily="34" charset="0"/>
                <a:ea typeface="Calibri" pitchFamily="34" charset="-122"/>
                <a:cs typeface="Calibri" pitchFamily="34" charset="-120"/>
              </a:rPr>
              <a:t>At n = 200 the “transition” is a broad shoulder; the largest component is a sizeable fraction of the graph even at ⟨k⟩ = 0.6.</a:t>
            </a:r>
            <a:endParaRPr lang="en-US" sz="1100" dirty="0"/>
          </a:p>
          <a:p>
            <a:pPr marL="342900" indent="-342900">
              <a:lnSpc>
                <a:spcPct val="106000"/>
              </a:lnSpc>
              <a:spcAft>
                <a:spcPts val="600"/>
              </a:spcAft>
              <a:buSzPct val="100000"/>
              <a:buChar char="•"/>
            </a:pPr>
            <a:r>
              <a:rPr lang="en-US" sz="1100" dirty="0">
                <a:solidFill>
                  <a:srgbClr val="12203A"/>
                </a:solidFill>
                <a:latin typeface="Calibri" pitchFamily="34" charset="0"/>
                <a:ea typeface="Calibri" pitchFamily="34" charset="-122"/>
                <a:cs typeface="Calibri" pitchFamily="34" charset="-120"/>
              </a:rPr>
              <a:t>At n = 20,000 the measured curve hugs the theory except in a narrow window around ⟨k⟩ = 1.</a:t>
            </a:r>
            <a:endParaRPr lang="en-US" sz="1100" dirty="0"/>
          </a:p>
          <a:p>
            <a:pPr marL="342900" indent="-342900">
              <a:lnSpc>
                <a:spcPct val="106000"/>
              </a:lnSpc>
              <a:spcAft>
                <a:spcPts val="600"/>
              </a:spcAft>
              <a:buSzPct val="100000"/>
              <a:buChar char="•"/>
            </a:pPr>
            <a:r>
              <a:rPr lang="en-US" sz="1100" dirty="0">
                <a:solidFill>
                  <a:srgbClr val="12203A"/>
                </a:solidFill>
                <a:latin typeface="Calibri" pitchFamily="34" charset="0"/>
                <a:ea typeface="Calibri" pitchFamily="34" charset="-122"/>
                <a:cs typeface="Calibri" pitchFamily="34" charset="-120"/>
              </a:rPr>
              <a:t>The rounding width scales as n^(−1/3), and at criticality the largest component is Θ(n^(2/3)) — a vanishing fraction, but far from small.</a:t>
            </a:r>
            <a:endParaRPr lang="en-US" sz="1100" dirty="0"/>
          </a:p>
        </p:txBody>
      </p:sp>
      <p:sp>
        <p:nvSpPr>
          <p:cNvPr id="10" name="Shape 7"/>
          <p:cNvSpPr/>
          <p:nvPr/>
        </p:nvSpPr>
        <p:spPr>
          <a:xfrm>
            <a:off x="7626096" y="3749040"/>
            <a:ext cx="4005072" cy="1719072"/>
          </a:xfrm>
          <a:prstGeom prst="roundRect">
            <a:avLst>
              <a:gd name="adj" fmla="val 3191"/>
            </a:avLst>
          </a:prstGeom>
          <a:solidFill>
            <a:srgbClr val="FBEBE8"/>
          </a:solidFill>
          <a:ln w="15875">
            <a:solidFill>
              <a:srgbClr val="C0392B"/>
            </a:solidFill>
            <a:prstDash val="solid"/>
          </a:ln>
        </p:spPr>
        <p:txBody>
          <a:bodyPr/>
          <a:lstStyle/>
          <a:p>
            <a:endParaRPr lang="en-IN"/>
          </a:p>
        </p:txBody>
      </p:sp>
      <p:sp>
        <p:nvSpPr>
          <p:cNvPr id="11" name="Text 8"/>
          <p:cNvSpPr txBox="1"/>
          <p:nvPr/>
        </p:nvSpPr>
        <p:spPr>
          <a:xfrm>
            <a:off x="7845552" y="3858768"/>
            <a:ext cx="356616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PRACTICAL CONSEQUENCE</a:t>
            </a:r>
            <a:endParaRPr lang="en-US" sz="1050" dirty="0"/>
          </a:p>
        </p:txBody>
      </p:sp>
      <p:sp>
        <p:nvSpPr>
          <p:cNvPr id="12" name="Text 9"/>
          <p:cNvSpPr txBox="1"/>
          <p:nvPr/>
        </p:nvSpPr>
        <p:spPr>
          <a:xfrm>
            <a:off x="7845552" y="4114800"/>
            <a:ext cx="3566160" cy="1280160"/>
          </a:xfrm>
          <a:prstGeom prst="rect">
            <a:avLst/>
          </a:prstGeom>
          <a:noFill/>
          <a:ln/>
        </p:spPr>
        <p:txBody>
          <a:bodyPr wrap="square" lIns="0" tIns="0" rIns="0" bIns="0" rtlCol="0" anchor="ctr"/>
          <a:lstStyle/>
          <a:p>
            <a:pPr marL="0" indent="0">
              <a:lnSpc>
                <a:spcPct val="98000"/>
              </a:lnSpc>
              <a:buNone/>
            </a:pPr>
            <a:r>
              <a:rPr lang="en-US" sz="1100" dirty="0">
                <a:solidFill>
                  <a:srgbClr val="0E1B33"/>
                </a:solidFill>
                <a:latin typeface="Calibri" pitchFamily="34" charset="0"/>
                <a:ea typeface="Calibri" pitchFamily="34" charset="-122"/>
                <a:cs typeface="Calibri" pitchFamily="34" charset="-120"/>
              </a:rPr>
              <a:t>Sharp thresholds are statements about the n → ∞ limit only. Any measurement on a real, finite network sees a smooth crossover, so “is this network above the percolation threshold?” is never answered by a single number — it needs the finite-size scaling form.</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VISUALISATION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Watching the giant component condense</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26</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pic>
        <p:nvPicPr>
          <p:cNvPr id="6" name="Image 0" descr="/home/claude/figs/19_regimes_graphs.png"/>
          <p:cNvPicPr>
            <a:picLocks noChangeAspect="1"/>
          </p:cNvPicPr>
          <p:nvPr/>
        </p:nvPicPr>
        <p:blipFill>
          <a:blip r:embed="rId3"/>
          <a:stretch>
            <a:fillRect/>
          </a:stretch>
        </p:blipFill>
        <p:spPr>
          <a:xfrm>
            <a:off x="1466988" y="1298448"/>
            <a:ext cx="9264120" cy="3291840"/>
          </a:xfrm>
          <a:prstGeom prst="rect">
            <a:avLst/>
          </a:prstGeom>
        </p:spPr>
      </p:pic>
      <p:sp>
        <p:nvSpPr>
          <p:cNvPr id="7" name="Shape 4"/>
          <p:cNvSpPr/>
          <p:nvPr/>
        </p:nvSpPr>
        <p:spPr>
          <a:xfrm>
            <a:off x="566928" y="4791456"/>
            <a:ext cx="2601468" cy="1042416"/>
          </a:xfrm>
          <a:prstGeom prst="roundRect">
            <a:avLst>
              <a:gd name="adj" fmla="val 5263"/>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31520" y="4882896"/>
            <a:ext cx="2272284"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Sea of small trees</a:t>
            </a:r>
            <a:endParaRPr lang="en-US" sz="1250" dirty="0"/>
          </a:p>
        </p:txBody>
      </p:sp>
      <p:sp>
        <p:nvSpPr>
          <p:cNvPr id="9" name="Text 6"/>
          <p:cNvSpPr txBox="1"/>
          <p:nvPr/>
        </p:nvSpPr>
        <p:spPr>
          <a:xfrm>
            <a:off x="731520" y="5129784"/>
            <a:ext cx="2272284" cy="640080"/>
          </a:xfrm>
          <a:prstGeom prst="rect">
            <a:avLst/>
          </a:prstGeom>
          <a:noFill/>
          <a:ln/>
        </p:spPr>
        <p:txBody>
          <a:bodyPr wrap="square" lIns="0" tIns="0" rIns="0" bIns="0" rtlCol="0" anchor="ctr"/>
          <a:lstStyle/>
          <a:p>
            <a:pPr marL="0" indent="0">
              <a:lnSpc>
                <a:spcPct val="96000"/>
              </a:lnSpc>
              <a:buNone/>
            </a:pPr>
            <a:r>
              <a:rPr lang="en-US" sz="1050" dirty="0">
                <a:solidFill>
                  <a:srgbClr val="12203A"/>
                </a:solidFill>
                <a:latin typeface="Calibri" pitchFamily="34" charset="0"/>
                <a:ea typeface="Calibri" pitchFamily="34" charset="-122"/>
                <a:cs typeface="Calibri" pitchFamily="34" charset="-120"/>
              </a:rPr>
              <a:t>126 components, largest holds 5% of nodes. Every component is a tree — no cycles have appeared yet.</a:t>
            </a:r>
            <a:endParaRPr lang="en-US" sz="1050" dirty="0"/>
          </a:p>
        </p:txBody>
      </p:sp>
      <p:sp>
        <p:nvSpPr>
          <p:cNvPr id="10" name="Shape 7"/>
          <p:cNvSpPr/>
          <p:nvPr/>
        </p:nvSpPr>
        <p:spPr>
          <a:xfrm>
            <a:off x="3387852" y="4791456"/>
            <a:ext cx="2601468" cy="1042416"/>
          </a:xfrm>
          <a:prstGeom prst="roundRect">
            <a:avLst>
              <a:gd name="adj" fmla="val 5263"/>
            </a:avLst>
          </a:prstGeom>
          <a:solidFill>
            <a:srgbClr val="F4F6F9"/>
          </a:solidFill>
          <a:ln w="12700">
            <a:solidFill>
              <a:srgbClr val="333333"/>
            </a:solidFill>
            <a:prstDash val="solid"/>
          </a:ln>
        </p:spPr>
        <p:txBody>
          <a:bodyPr/>
          <a:lstStyle/>
          <a:p>
            <a:endParaRPr lang="en-IN"/>
          </a:p>
        </p:txBody>
      </p:sp>
      <p:sp>
        <p:nvSpPr>
          <p:cNvPr id="11" name="Text 8"/>
          <p:cNvSpPr txBox="1"/>
          <p:nvPr/>
        </p:nvSpPr>
        <p:spPr>
          <a:xfrm>
            <a:off x="3552444" y="4882896"/>
            <a:ext cx="2272284"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Critical</a:t>
            </a:r>
            <a:endParaRPr lang="en-US" sz="1250" dirty="0"/>
          </a:p>
        </p:txBody>
      </p:sp>
      <p:sp>
        <p:nvSpPr>
          <p:cNvPr id="12" name="Text 9"/>
          <p:cNvSpPr txBox="1"/>
          <p:nvPr/>
        </p:nvSpPr>
        <p:spPr>
          <a:xfrm>
            <a:off x="3552444" y="5129784"/>
            <a:ext cx="2272284" cy="640080"/>
          </a:xfrm>
          <a:prstGeom prst="rect">
            <a:avLst/>
          </a:prstGeom>
          <a:noFill/>
          <a:ln/>
        </p:spPr>
        <p:txBody>
          <a:bodyPr wrap="square" lIns="0" tIns="0" rIns="0" bIns="0" rtlCol="0" anchor="ctr"/>
          <a:lstStyle/>
          <a:p>
            <a:pPr marL="0" indent="0">
              <a:lnSpc>
                <a:spcPct val="96000"/>
              </a:lnSpc>
              <a:buNone/>
            </a:pPr>
            <a:r>
              <a:rPr lang="en-US" sz="1050" dirty="0">
                <a:solidFill>
                  <a:srgbClr val="12203A"/>
                </a:solidFill>
                <a:latin typeface="Calibri" pitchFamily="34" charset="0"/>
                <a:ea typeface="Calibri" pitchFamily="34" charset="-122"/>
                <a:cs typeface="Calibri" pitchFamily="34" charset="-120"/>
              </a:rPr>
              <a:t>One component is now visibly larger than the rest, but at n = 180 finite-size fluctuations are severe: theory says Θ(n^(2/3)) ≈ 32 nodes.</a:t>
            </a:r>
            <a:endParaRPr lang="en-US" sz="1050" dirty="0"/>
          </a:p>
        </p:txBody>
      </p:sp>
      <p:sp>
        <p:nvSpPr>
          <p:cNvPr id="13" name="Shape 10"/>
          <p:cNvSpPr/>
          <p:nvPr/>
        </p:nvSpPr>
        <p:spPr>
          <a:xfrm>
            <a:off x="6208776" y="4791456"/>
            <a:ext cx="2601468" cy="1042416"/>
          </a:xfrm>
          <a:prstGeom prst="roundRect">
            <a:avLst>
              <a:gd name="adj" fmla="val 5263"/>
            </a:avLst>
          </a:prstGeom>
          <a:solidFill>
            <a:srgbClr val="F4F6F9"/>
          </a:solidFill>
          <a:ln w="12700">
            <a:solidFill>
              <a:srgbClr val="333333"/>
            </a:solidFill>
            <a:prstDash val="solid"/>
          </a:ln>
        </p:spPr>
        <p:txBody>
          <a:bodyPr/>
          <a:lstStyle/>
          <a:p>
            <a:endParaRPr lang="en-IN"/>
          </a:p>
        </p:txBody>
      </p:sp>
      <p:sp>
        <p:nvSpPr>
          <p:cNvPr id="14" name="Text 11"/>
          <p:cNvSpPr txBox="1"/>
          <p:nvPr/>
        </p:nvSpPr>
        <p:spPr>
          <a:xfrm>
            <a:off x="6373368" y="4882896"/>
            <a:ext cx="2272284" cy="237744"/>
          </a:xfrm>
          <a:prstGeom prst="rect">
            <a:avLst/>
          </a:prstGeom>
          <a:noFill/>
          <a:ln/>
        </p:spPr>
        <p:txBody>
          <a:bodyPr wrap="square" lIns="0" tIns="0" rIns="0" bIns="0" rtlCol="0" anchor="ctr"/>
          <a:lstStyle/>
          <a:p>
            <a:pPr marL="0" indent="0">
              <a:buNone/>
            </a:pPr>
            <a:r>
              <a:rPr lang="en-US" sz="1250" b="1" dirty="0">
                <a:solidFill>
                  <a:srgbClr val="C0392B"/>
                </a:solidFill>
                <a:latin typeface="Calibri" pitchFamily="34" charset="0"/>
                <a:ea typeface="Calibri" pitchFamily="34" charset="-122"/>
                <a:cs typeface="Calibri" pitchFamily="34" charset="-120"/>
              </a:rPr>
              <a:t>Giant emerges</a:t>
            </a:r>
            <a:endParaRPr lang="en-US" sz="1250" dirty="0"/>
          </a:p>
        </p:txBody>
      </p:sp>
      <p:sp>
        <p:nvSpPr>
          <p:cNvPr id="15" name="Text 12"/>
          <p:cNvSpPr txBox="1"/>
          <p:nvPr/>
        </p:nvSpPr>
        <p:spPr>
          <a:xfrm>
            <a:off x="6373368" y="5129784"/>
            <a:ext cx="2272284" cy="640080"/>
          </a:xfrm>
          <a:prstGeom prst="rect">
            <a:avLst/>
          </a:prstGeom>
          <a:noFill/>
          <a:ln/>
        </p:spPr>
        <p:txBody>
          <a:bodyPr wrap="square" lIns="0" tIns="0" rIns="0" bIns="0" rtlCol="0" anchor="ctr"/>
          <a:lstStyle/>
          <a:p>
            <a:pPr marL="0" indent="0">
              <a:lnSpc>
                <a:spcPct val="96000"/>
              </a:lnSpc>
              <a:buNone/>
            </a:pPr>
            <a:r>
              <a:rPr lang="en-US" sz="1050" dirty="0">
                <a:solidFill>
                  <a:srgbClr val="12203A"/>
                </a:solidFill>
                <a:latin typeface="Calibri" pitchFamily="34" charset="0"/>
                <a:ea typeface="Calibri" pitchFamily="34" charset="-122"/>
                <a:cs typeface="Calibri" pitchFamily="34" charset="-120"/>
              </a:rPr>
              <a:t>A single component spanning 54% of the graph, coexisting with 60 small ones and many isolated vertices.</a:t>
            </a:r>
            <a:endParaRPr lang="en-US" sz="1050" dirty="0"/>
          </a:p>
        </p:txBody>
      </p:sp>
      <p:sp>
        <p:nvSpPr>
          <p:cNvPr id="16" name="Shape 13"/>
          <p:cNvSpPr/>
          <p:nvPr/>
        </p:nvSpPr>
        <p:spPr>
          <a:xfrm>
            <a:off x="9029700" y="4791456"/>
            <a:ext cx="2601468" cy="1042416"/>
          </a:xfrm>
          <a:prstGeom prst="roundRect">
            <a:avLst>
              <a:gd name="adj" fmla="val 5263"/>
            </a:avLst>
          </a:prstGeom>
          <a:solidFill>
            <a:srgbClr val="F4F6F9"/>
          </a:solidFill>
          <a:ln w="12700">
            <a:solidFill>
              <a:srgbClr val="333333"/>
            </a:solidFill>
            <a:prstDash val="solid"/>
          </a:ln>
        </p:spPr>
        <p:txBody>
          <a:bodyPr/>
          <a:lstStyle/>
          <a:p>
            <a:endParaRPr lang="en-IN"/>
          </a:p>
        </p:txBody>
      </p:sp>
      <p:sp>
        <p:nvSpPr>
          <p:cNvPr id="17" name="Text 14"/>
          <p:cNvSpPr txBox="1"/>
          <p:nvPr/>
        </p:nvSpPr>
        <p:spPr>
          <a:xfrm>
            <a:off x="9194292" y="4882896"/>
            <a:ext cx="2272284"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Nearly connected</a:t>
            </a:r>
            <a:endParaRPr lang="en-US" sz="1250" dirty="0"/>
          </a:p>
        </p:txBody>
      </p:sp>
      <p:sp>
        <p:nvSpPr>
          <p:cNvPr id="18" name="Text 15"/>
          <p:cNvSpPr txBox="1"/>
          <p:nvPr/>
        </p:nvSpPr>
        <p:spPr>
          <a:xfrm>
            <a:off x="9194292" y="5129784"/>
            <a:ext cx="2272284" cy="640080"/>
          </a:xfrm>
          <a:prstGeom prst="rect">
            <a:avLst/>
          </a:prstGeom>
          <a:noFill/>
          <a:ln/>
        </p:spPr>
        <p:txBody>
          <a:bodyPr wrap="square" lIns="0" tIns="0" rIns="0" bIns="0" rtlCol="0" anchor="ctr"/>
          <a:lstStyle/>
          <a:p>
            <a:pPr marL="0" indent="0">
              <a:lnSpc>
                <a:spcPct val="96000"/>
              </a:lnSpc>
              <a:buNone/>
            </a:pPr>
            <a:r>
              <a:rPr lang="en-US" sz="1050" dirty="0">
                <a:solidFill>
                  <a:srgbClr val="12203A"/>
                </a:solidFill>
                <a:latin typeface="Calibri" pitchFamily="34" charset="0"/>
                <a:ea typeface="Calibri" pitchFamily="34" charset="-122"/>
                <a:cs typeface="Calibri" pitchFamily="34" charset="-120"/>
              </a:rPr>
              <a:t>93% in the giant. The stragglers are isolated vertices — exactly the obstruction Section II analysed.</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FB28D-C25F-83AC-9C67-3DE9349642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298314F-5AC7-DFF0-1CAA-66E9A8BD7F9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80385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BRANCHING PROCESS</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Susceptibility: the divergence that locates the critical point</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27</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pic>
        <p:nvPicPr>
          <p:cNvPr id="6" name="Image 0" descr="/home/claude/figs/06_mean_small_component.png"/>
          <p:cNvPicPr>
            <a:picLocks noChangeAspect="1"/>
          </p:cNvPicPr>
          <p:nvPr/>
        </p:nvPicPr>
        <p:blipFill>
          <a:blip r:embed="rId3"/>
          <a:stretch>
            <a:fillRect/>
          </a:stretch>
        </p:blipFill>
        <p:spPr>
          <a:xfrm>
            <a:off x="566928" y="1152144"/>
            <a:ext cx="6158107" cy="4023360"/>
          </a:xfrm>
          <a:prstGeom prst="rect">
            <a:avLst/>
          </a:prstGeom>
        </p:spPr>
      </p:pic>
      <p:sp>
        <p:nvSpPr>
          <p:cNvPr id="7" name="Shape 4"/>
          <p:cNvSpPr/>
          <p:nvPr/>
        </p:nvSpPr>
        <p:spPr>
          <a:xfrm>
            <a:off x="566928" y="5285232"/>
            <a:ext cx="6400800" cy="512064"/>
          </a:xfrm>
          <a:prstGeom prst="roundRect">
            <a:avLst>
              <a:gd name="adj" fmla="val 10714"/>
            </a:avLst>
          </a:prstGeom>
          <a:solidFill>
            <a:srgbClr val="E4F0EE"/>
          </a:solidFill>
          <a:ln w="12700">
            <a:solidFill>
              <a:srgbClr val="333333"/>
            </a:solidFill>
            <a:prstDash val="solid"/>
          </a:ln>
        </p:spPr>
        <p:txBody>
          <a:bodyPr/>
          <a:lstStyle/>
          <a:p>
            <a:endParaRPr lang="en-IN"/>
          </a:p>
        </p:txBody>
      </p:sp>
      <p:pic>
        <p:nvPicPr>
          <p:cNvPr id="8" name="Image 1" descr="/home/claude/eq/small_comp.png"/>
          <p:cNvPicPr>
            <a:picLocks noChangeAspect="1"/>
          </p:cNvPicPr>
          <p:nvPr/>
        </p:nvPicPr>
        <p:blipFill>
          <a:blip r:embed="rId4"/>
          <a:stretch>
            <a:fillRect/>
          </a:stretch>
        </p:blipFill>
        <p:spPr>
          <a:xfrm>
            <a:off x="2839656" y="5340096"/>
            <a:ext cx="1855344" cy="402336"/>
          </a:xfrm>
          <a:prstGeom prst="rect">
            <a:avLst/>
          </a:prstGeom>
        </p:spPr>
      </p:pic>
      <p:sp>
        <p:nvSpPr>
          <p:cNvPr id="9" name="Shape 5"/>
          <p:cNvSpPr/>
          <p:nvPr/>
        </p:nvSpPr>
        <p:spPr>
          <a:xfrm>
            <a:off x="7260336" y="1152144"/>
            <a:ext cx="4370832" cy="2377440"/>
          </a:xfrm>
          <a:prstGeom prst="roundRect">
            <a:avLst>
              <a:gd name="adj" fmla="val 2308"/>
            </a:avLst>
          </a:prstGeom>
          <a:solidFill>
            <a:srgbClr val="F4F6F9"/>
          </a:solidFill>
          <a:ln w="12700">
            <a:solidFill>
              <a:srgbClr val="333333"/>
            </a:solidFill>
            <a:prstDash val="solid"/>
          </a:ln>
        </p:spPr>
        <p:txBody>
          <a:bodyPr/>
          <a:lstStyle/>
          <a:p>
            <a:endParaRPr lang="en-IN"/>
          </a:p>
        </p:txBody>
      </p:sp>
      <p:sp>
        <p:nvSpPr>
          <p:cNvPr id="10" name="Text 6"/>
          <p:cNvSpPr txBox="1"/>
          <p:nvPr/>
        </p:nvSpPr>
        <p:spPr>
          <a:xfrm>
            <a:off x="7479792" y="1280160"/>
            <a:ext cx="393192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The branching-process argument</a:t>
            </a:r>
            <a:endParaRPr lang="en-US" sz="1550" dirty="0"/>
          </a:p>
        </p:txBody>
      </p:sp>
      <p:sp>
        <p:nvSpPr>
          <p:cNvPr id="11" name="Text 7"/>
          <p:cNvSpPr txBox="1"/>
          <p:nvPr/>
        </p:nvSpPr>
        <p:spPr>
          <a:xfrm>
            <a:off x="7479792" y="1645920"/>
            <a:ext cx="3931920" cy="1773936"/>
          </a:xfrm>
          <a:prstGeom prst="rect">
            <a:avLst/>
          </a:prstGeom>
          <a:noFill/>
          <a:ln/>
        </p:spPr>
        <p:txBody>
          <a:bodyPr wrap="square" rtlCol="0" anchor="t"/>
          <a:lstStyle/>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Exploring a component from a random root is a Galton–Watson process with Poisson(⟨k⟩) offspring.</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Expected total progeny of a subcritical branching process with mean offspring m &lt; 1 is the geometric sum 1 + m + m² + ⋯ = 1/(1 − m).</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With m = ⟨k⟩ this is exactly ⟨s⟩ = 1/(1 − ⟨k⟩). Section VII rederives it from the generating function, with no geometric-series hand-waving.</a:t>
            </a:r>
            <a:endParaRPr lang="en-US" sz="1200" dirty="0"/>
          </a:p>
        </p:txBody>
      </p:sp>
      <p:sp>
        <p:nvSpPr>
          <p:cNvPr id="12" name="Shape 8"/>
          <p:cNvSpPr/>
          <p:nvPr/>
        </p:nvSpPr>
        <p:spPr>
          <a:xfrm>
            <a:off x="7260336" y="3675888"/>
            <a:ext cx="4370832" cy="2121408"/>
          </a:xfrm>
          <a:prstGeom prst="roundRect">
            <a:avLst>
              <a:gd name="adj" fmla="val 2586"/>
            </a:avLst>
          </a:prstGeom>
          <a:solidFill>
            <a:srgbClr val="FBEBE8"/>
          </a:solidFill>
          <a:ln w="15875">
            <a:solidFill>
              <a:srgbClr val="C0392B"/>
            </a:solidFill>
            <a:prstDash val="solid"/>
          </a:ln>
        </p:spPr>
        <p:txBody>
          <a:bodyPr/>
          <a:lstStyle/>
          <a:p>
            <a:endParaRPr lang="en-IN"/>
          </a:p>
        </p:txBody>
      </p:sp>
      <p:sp>
        <p:nvSpPr>
          <p:cNvPr id="13" name="Text 9"/>
          <p:cNvSpPr txBox="1"/>
          <p:nvPr/>
        </p:nvSpPr>
        <p:spPr>
          <a:xfrm>
            <a:off x="7479792" y="3785616"/>
            <a:ext cx="393192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WHY DIVERGENCE MARKS THE TRANSITION</a:t>
            </a:r>
            <a:endParaRPr lang="en-US" sz="1050" dirty="0"/>
          </a:p>
        </p:txBody>
      </p:sp>
      <p:sp>
        <p:nvSpPr>
          <p:cNvPr id="14" name="Text 10"/>
          <p:cNvSpPr txBox="1"/>
          <p:nvPr/>
        </p:nvSpPr>
        <p:spPr>
          <a:xfrm>
            <a:off x="7479792" y="4059936"/>
            <a:ext cx="3931920" cy="1627632"/>
          </a:xfrm>
          <a:prstGeom prst="rect">
            <a:avLst/>
          </a:prstGeom>
          <a:noFill/>
          <a:ln/>
        </p:spPr>
        <p:txBody>
          <a:bodyPr wrap="square" lIns="0" tIns="0" rIns="0" bIns="0" rtlCol="0" anchor="ctr"/>
          <a:lstStyle/>
          <a:p>
            <a:pPr marL="0" indent="0">
              <a:lnSpc>
                <a:spcPct val="98000"/>
              </a:lnSpc>
              <a:buNone/>
            </a:pPr>
            <a:r>
              <a:rPr lang="en-US" sz="1150" dirty="0">
                <a:solidFill>
                  <a:srgbClr val="0E1B33"/>
                </a:solidFill>
                <a:latin typeface="Calibri" pitchFamily="34" charset="0"/>
                <a:ea typeface="Calibri" pitchFamily="34" charset="-122"/>
                <a:cs typeface="Calibri" pitchFamily="34" charset="-120"/>
              </a:rPr>
              <a:t>⟨s⟩ is the percolation analogue of magnetic susceptibility. It diverges as ⟨k⟩ → 1⁻ because the typical component is being driven to macroscopic size — the giant component is being born. This gives an independent, order-parameter-free way to locate ⟨k⟩ = 1: look for where a mean, not a fraction, blows up.</a:t>
            </a:r>
            <a:endParaRPr lang="en-US" sz="1150" dirty="0"/>
          </a:p>
          <a:p>
            <a:pPr marL="0" indent="0">
              <a:lnSpc>
                <a:spcPct val="98000"/>
              </a:lnSpc>
              <a:buNone/>
            </a:pPr>
            <a:endParaRPr lang="en-US" sz="1150" dirty="0"/>
          </a:p>
          <a:p>
            <a:pPr marL="0" indent="0">
              <a:lnSpc>
                <a:spcPct val="98000"/>
              </a:lnSpc>
              <a:buNone/>
            </a:pPr>
            <a:r>
              <a:rPr lang="en-US" sz="1150" dirty="0">
                <a:solidFill>
                  <a:srgbClr val="0E1B33"/>
                </a:solidFill>
                <a:latin typeface="Calibri" pitchFamily="34" charset="0"/>
                <a:ea typeface="Calibri" pitchFamily="34" charset="-122"/>
                <a:cs typeface="Calibri" pitchFamily="34" charset="-120"/>
              </a:rPr>
              <a:t>Above the threshold the picture is extremely bimodal: one component of size Θ(n), all others O(log n). Nothing in between.</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VERIFICATION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Both transitions in one simulation, n = 2000</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28</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III  ·  The Giant Component and Percolation</a:t>
            </a:r>
            <a:endParaRPr lang="en-US" sz="1000" dirty="0"/>
          </a:p>
        </p:txBody>
      </p:sp>
      <p:pic>
        <p:nvPicPr>
          <p:cNvPr id="6" name="Image 0" descr="/home/claude/figs/23_giant_vs_connectivity_sim.png"/>
          <p:cNvPicPr>
            <a:picLocks noChangeAspect="1"/>
          </p:cNvPicPr>
          <p:nvPr/>
        </p:nvPicPr>
        <p:blipFill>
          <a:blip r:embed="rId3"/>
          <a:stretch>
            <a:fillRect/>
          </a:stretch>
        </p:blipFill>
        <p:spPr>
          <a:xfrm>
            <a:off x="566928" y="1152144"/>
            <a:ext cx="6719235" cy="4343400"/>
          </a:xfrm>
          <a:prstGeom prst="rect">
            <a:avLst/>
          </a:prstGeom>
        </p:spPr>
      </p:pic>
      <p:sp>
        <p:nvSpPr>
          <p:cNvPr id="7" name="Shape 4"/>
          <p:cNvSpPr/>
          <p:nvPr/>
        </p:nvSpPr>
        <p:spPr>
          <a:xfrm>
            <a:off x="7626096" y="1152144"/>
            <a:ext cx="4005072" cy="2615184"/>
          </a:xfrm>
          <a:prstGeom prst="roundRect">
            <a:avLst>
              <a:gd name="adj" fmla="val 2098"/>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845552" y="1280160"/>
            <a:ext cx="356616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Three observables, two transitions</a:t>
            </a:r>
            <a:endParaRPr lang="en-US" sz="1550" dirty="0"/>
          </a:p>
        </p:txBody>
      </p:sp>
      <p:sp>
        <p:nvSpPr>
          <p:cNvPr id="9" name="Text 6"/>
          <p:cNvSpPr txBox="1"/>
          <p:nvPr/>
        </p:nvSpPr>
        <p:spPr>
          <a:xfrm>
            <a:off x="7845552" y="1645920"/>
            <a:ext cx="3566160" cy="2011680"/>
          </a:xfrm>
          <a:prstGeom prst="rect">
            <a:avLst/>
          </a:prstGeom>
          <a:noFill/>
          <a:ln/>
        </p:spPr>
        <p:txBody>
          <a:bodyPr wrap="square" rtlCol="0" anchor="t"/>
          <a:lstStyle/>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The largest-component curve lifts off near ⟨k⟩ = 1 and saturates well before connectivity is reached.</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The isolated-node fraction decays as e^(−⟨k⟩) and is still non-zero at ⟨k⟩ = 5, where the giant already holds 99% of nodes.</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ℙ(connected) stays pinned at zero until ⟨k⟩ approaches ln 2000 ≈ 7.6, then rises steeply — the second transition.</a:t>
            </a:r>
            <a:endParaRPr lang="en-US" sz="1200" dirty="0"/>
          </a:p>
        </p:txBody>
      </p:sp>
      <p:sp>
        <p:nvSpPr>
          <p:cNvPr id="10" name="Shape 7"/>
          <p:cNvSpPr/>
          <p:nvPr/>
        </p:nvSpPr>
        <p:spPr>
          <a:xfrm>
            <a:off x="7626096" y="3913632"/>
            <a:ext cx="1911096"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11" name="Text 8"/>
          <p:cNvSpPr txBox="1"/>
          <p:nvPr/>
        </p:nvSpPr>
        <p:spPr>
          <a:xfrm>
            <a:off x="7735824" y="4041648"/>
            <a:ext cx="1691640" cy="566928"/>
          </a:xfrm>
          <a:prstGeom prst="rect">
            <a:avLst/>
          </a:prstGeom>
          <a:noFill/>
          <a:ln/>
        </p:spPr>
        <p:txBody>
          <a:bodyPr wrap="square" lIns="0" tIns="0" rIns="0" bIns="0" rtlCol="0" anchor="ctr"/>
          <a:lstStyle/>
          <a:p>
            <a:pPr marL="0" indent="0" algn="ctr">
              <a:buNone/>
            </a:pPr>
            <a:r>
              <a:rPr lang="en-US" sz="3000" b="1" dirty="0">
                <a:solidFill>
                  <a:srgbClr val="C0392B"/>
                </a:solidFill>
                <a:latin typeface="Cambria" pitchFamily="34" charset="0"/>
                <a:ea typeface="Cambria" pitchFamily="34" charset="-122"/>
                <a:cs typeface="Cambria" pitchFamily="34" charset="-120"/>
              </a:rPr>
              <a:t>1</a:t>
            </a:r>
            <a:endParaRPr lang="en-US" sz="3000" dirty="0"/>
          </a:p>
        </p:txBody>
      </p:sp>
      <p:sp>
        <p:nvSpPr>
          <p:cNvPr id="12" name="Text 9"/>
          <p:cNvSpPr txBox="1"/>
          <p:nvPr/>
        </p:nvSpPr>
        <p:spPr>
          <a:xfrm>
            <a:off x="7735824" y="4608576"/>
            <a:ext cx="1691640" cy="347472"/>
          </a:xfrm>
          <a:prstGeom prst="rect">
            <a:avLst/>
          </a:prstGeom>
          <a:noFill/>
          <a:ln/>
        </p:spPr>
        <p:txBody>
          <a:bodyPr wrap="square" lIns="0" tIns="0" rIns="0" bIns="0" rtlCol="0" anchor="t"/>
          <a:lstStyle/>
          <a:p>
            <a:pPr marL="0" indent="0" algn="ctr">
              <a:buNone/>
            </a:pPr>
            <a:r>
              <a:rPr lang="en-US" sz="1150" dirty="0">
                <a:solidFill>
                  <a:srgbClr val="6B7684"/>
                </a:solidFill>
                <a:latin typeface="Calibri" pitchFamily="34" charset="0"/>
                <a:ea typeface="Calibri" pitchFamily="34" charset="-122"/>
                <a:cs typeface="Calibri" pitchFamily="34" charset="-120"/>
              </a:rPr>
              <a:t>⟨k⟩ for giant</a:t>
            </a:r>
            <a:endParaRPr lang="en-US" sz="1150" dirty="0"/>
          </a:p>
        </p:txBody>
      </p:sp>
      <p:sp>
        <p:nvSpPr>
          <p:cNvPr id="13" name="Shape 10"/>
          <p:cNvSpPr/>
          <p:nvPr/>
        </p:nvSpPr>
        <p:spPr>
          <a:xfrm>
            <a:off x="9720072" y="3913632"/>
            <a:ext cx="1911096"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14" name="Text 11"/>
          <p:cNvSpPr txBox="1"/>
          <p:nvPr/>
        </p:nvSpPr>
        <p:spPr>
          <a:xfrm>
            <a:off x="9829800" y="4041648"/>
            <a:ext cx="1691640" cy="566928"/>
          </a:xfrm>
          <a:prstGeom prst="rect">
            <a:avLst/>
          </a:prstGeom>
          <a:noFill/>
          <a:ln/>
        </p:spPr>
        <p:txBody>
          <a:bodyPr wrap="square" lIns="0" tIns="0" rIns="0" bIns="0" rtlCol="0" anchor="ctr"/>
          <a:lstStyle/>
          <a:p>
            <a:pPr marL="0" indent="0" algn="ctr">
              <a:buNone/>
            </a:pPr>
            <a:r>
              <a:rPr lang="en-US" sz="3000" b="1" dirty="0">
                <a:solidFill>
                  <a:srgbClr val="0E1B33"/>
                </a:solidFill>
                <a:latin typeface="Cambria" pitchFamily="34" charset="0"/>
                <a:ea typeface="Cambria" pitchFamily="34" charset="-122"/>
                <a:cs typeface="Cambria" pitchFamily="34" charset="-120"/>
              </a:rPr>
              <a:t>7.6</a:t>
            </a:r>
            <a:endParaRPr lang="en-US" sz="3000" dirty="0"/>
          </a:p>
        </p:txBody>
      </p:sp>
      <p:sp>
        <p:nvSpPr>
          <p:cNvPr id="15" name="Text 12"/>
          <p:cNvSpPr txBox="1"/>
          <p:nvPr/>
        </p:nvSpPr>
        <p:spPr>
          <a:xfrm>
            <a:off x="9829800" y="4608576"/>
            <a:ext cx="1691640" cy="347472"/>
          </a:xfrm>
          <a:prstGeom prst="rect">
            <a:avLst/>
          </a:prstGeom>
          <a:noFill/>
          <a:ln/>
        </p:spPr>
        <p:txBody>
          <a:bodyPr wrap="square" lIns="0" tIns="0" rIns="0" bIns="0" rtlCol="0" anchor="t"/>
          <a:lstStyle/>
          <a:p>
            <a:pPr marL="0" indent="0" algn="ctr">
              <a:buNone/>
            </a:pPr>
            <a:r>
              <a:rPr lang="en-US" sz="1150" dirty="0">
                <a:solidFill>
                  <a:srgbClr val="6B7684"/>
                </a:solidFill>
                <a:latin typeface="Calibri" pitchFamily="34" charset="0"/>
                <a:ea typeface="Calibri" pitchFamily="34" charset="-122"/>
                <a:cs typeface="Calibri" pitchFamily="34" charset="-120"/>
              </a:rPr>
              <a:t>⟨k⟩ for connected</a:t>
            </a:r>
            <a:endParaRPr lang="en-US" sz="1150" dirty="0"/>
          </a:p>
        </p:txBody>
      </p:sp>
      <p:sp>
        <p:nvSpPr>
          <p:cNvPr id="16" name="Shape 13"/>
          <p:cNvSpPr/>
          <p:nvPr/>
        </p:nvSpPr>
        <p:spPr>
          <a:xfrm>
            <a:off x="7626096" y="5212080"/>
            <a:ext cx="4005072" cy="566928"/>
          </a:xfrm>
          <a:prstGeom prst="roundRect">
            <a:avLst>
              <a:gd name="adj" fmla="val 9677"/>
            </a:avLst>
          </a:prstGeom>
          <a:solidFill>
            <a:srgbClr val="E4F0EE"/>
          </a:solidFill>
          <a:ln w="12700">
            <a:solidFill>
              <a:srgbClr val="333333"/>
            </a:solidFill>
            <a:prstDash val="solid"/>
          </a:ln>
        </p:spPr>
        <p:txBody>
          <a:bodyPr/>
          <a:lstStyle/>
          <a:p>
            <a:endParaRPr lang="en-IN"/>
          </a:p>
        </p:txBody>
      </p:sp>
      <p:sp>
        <p:nvSpPr>
          <p:cNvPr id="17" name="Text 14"/>
          <p:cNvSpPr txBox="1"/>
          <p:nvPr/>
        </p:nvSpPr>
        <p:spPr>
          <a:xfrm>
            <a:off x="7845552" y="5212080"/>
            <a:ext cx="3566160" cy="566928"/>
          </a:xfrm>
          <a:prstGeom prst="rect">
            <a:avLst/>
          </a:prstGeom>
          <a:noFill/>
          <a:ln/>
        </p:spPr>
        <p:txBody>
          <a:bodyPr wrap="square" lIns="0" tIns="0" rIns="0" bIns="0" rtlCol="0" anchor="ctr"/>
          <a:lstStyle/>
          <a:p>
            <a:pPr marL="0" indent="0">
              <a:buNone/>
            </a:pPr>
            <a:r>
              <a:rPr lang="en-US" sz="1150" i="1" dirty="0">
                <a:solidFill>
                  <a:srgbClr val="0E1B33"/>
                </a:solidFill>
                <a:latin typeface="Calibri" pitchFamily="34" charset="0"/>
                <a:ea typeface="Calibri" pitchFamily="34" charset="-122"/>
                <a:cs typeface="Calibri" pitchFamily="34" charset="-120"/>
              </a:rPr>
              <a:t>A factor of 7.6 apart at n = 2000 — and the gap grows like ln n.</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566928" y="1773936"/>
            <a:ext cx="1225296" cy="1225296"/>
          </a:xfrm>
          <a:prstGeom prst="ellipse">
            <a:avLst/>
          </a:prstGeom>
          <a:solidFill>
            <a:srgbClr val="0E6F66"/>
          </a:solidFill>
          <a:ln w="12700">
            <a:solidFill>
              <a:srgbClr val="0E6F66"/>
            </a:solidFill>
            <a:prstDash val="solid"/>
          </a:ln>
        </p:spPr>
        <p:txBody>
          <a:bodyPr/>
          <a:lstStyle/>
          <a:p>
            <a:endParaRPr lang="en-IN"/>
          </a:p>
        </p:txBody>
      </p:sp>
      <p:sp>
        <p:nvSpPr>
          <p:cNvPr id="3" name="Text 1"/>
          <p:cNvSpPr txBox="1"/>
          <p:nvPr/>
        </p:nvSpPr>
        <p:spPr>
          <a:xfrm>
            <a:off x="566928" y="1778508"/>
            <a:ext cx="1225296" cy="1225296"/>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III</a:t>
            </a:r>
            <a:endParaRPr lang="en-US" sz="4400" dirty="0"/>
          </a:p>
        </p:txBody>
      </p:sp>
      <p:sp>
        <p:nvSpPr>
          <p:cNvPr id="4" name="Text 2"/>
          <p:cNvSpPr txBox="1"/>
          <p:nvPr/>
        </p:nvSpPr>
        <p:spPr>
          <a:xfrm>
            <a:off x="2139696" y="1481328"/>
            <a:ext cx="9692640" cy="1481328"/>
          </a:xfrm>
          <a:prstGeom prst="rect">
            <a:avLst/>
          </a:prstGeom>
          <a:noFill/>
          <a:ln/>
        </p:spPr>
        <p:txBody>
          <a:bodyPr wrap="square" lIns="0" tIns="0" rIns="0" bIns="0" rtlCol="0" anchor="ctr"/>
          <a:lstStyle/>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Distances, Correlations</a:t>
            </a:r>
            <a:endParaRPr lang="en-US" sz="3600" dirty="0"/>
          </a:p>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and Clustering</a:t>
            </a:r>
            <a:endParaRPr lang="en-US" sz="3600" dirty="0"/>
          </a:p>
        </p:txBody>
      </p:sp>
      <p:sp>
        <p:nvSpPr>
          <p:cNvPr id="5" name="Text 3"/>
          <p:cNvSpPr txBox="1"/>
          <p:nvPr/>
        </p:nvSpPr>
        <p:spPr>
          <a:xfrm>
            <a:off x="2139696" y="3163824"/>
            <a:ext cx="9509760" cy="786384"/>
          </a:xfrm>
          <a:prstGeom prst="rect">
            <a:avLst/>
          </a:prstGeom>
          <a:noFill/>
          <a:ln/>
        </p:spPr>
        <p:txBody>
          <a:bodyPr wrap="square" lIns="0" tIns="0" rIns="0" bIns="0" rtlCol="0" anchor="t"/>
          <a:lstStyle/>
          <a:p>
            <a:pPr marL="0" indent="0">
              <a:lnSpc>
                <a:spcPct val="106000"/>
              </a:lnSpc>
              <a:buNone/>
            </a:pPr>
            <a:r>
              <a:rPr lang="en-US" sz="1500" dirty="0">
                <a:solidFill>
                  <a:srgbClr val="BFD3E6"/>
                </a:solidFill>
                <a:latin typeface="Calibri" pitchFamily="34" charset="0"/>
                <a:ea typeface="Calibri" pitchFamily="34" charset="-122"/>
                <a:cs typeface="Calibri" pitchFamily="34" charset="-120"/>
              </a:rPr>
              <a:t>Breadth-first shells and the small-world property · the friendship paradox from size-biased sampling · why clustering vanishes</a:t>
            </a:r>
            <a:endParaRPr lang="en-US" sz="1500" dirty="0"/>
          </a:p>
        </p:txBody>
      </p:sp>
      <p:pic>
        <p:nvPicPr>
          <p:cNvPr id="6" name="Image 0" descr="/home/claude/eq/w_sec4.png"/>
          <p:cNvPicPr>
            <a:picLocks noChangeAspect="1"/>
          </p:cNvPicPr>
          <p:nvPr/>
        </p:nvPicPr>
        <p:blipFill>
          <a:blip r:embed="rId3"/>
          <a:stretch>
            <a:fillRect/>
          </a:stretch>
        </p:blipFill>
        <p:spPr>
          <a:xfrm>
            <a:off x="2139696" y="4169664"/>
            <a:ext cx="3996388" cy="804672"/>
          </a:xfrm>
          <a:prstGeom prst="rect">
            <a:avLst/>
          </a:prstGeom>
        </p:spPr>
      </p:pic>
      <p:sp>
        <p:nvSpPr>
          <p:cNvPr id="7" name="Text 4"/>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29</a:t>
            </a:r>
            <a:endParaRPr lang="en-US" sz="1050" dirty="0"/>
          </a:p>
        </p:txBody>
      </p:sp>
      <p:sp>
        <p:nvSpPr>
          <p:cNvPr id="8" name="Text 5"/>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IV  ·  Distances, Correlations, Clustering</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2BF90FD-B596-F2B7-4C40-2E982CDFA301}"/>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FD367BFD-2EF8-94C1-22A8-DE8828CE98CC}"/>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A336DA73-4EC5-4D08-717F-D2275C94EEF7}"/>
              </a:ext>
            </a:extLst>
          </p:cNvPr>
          <p:cNvSpPr>
            <a:spLocks noGrp="1"/>
          </p:cNvSpPr>
          <p:nvPr>
            <p:ph type="sldNum" sz="quarter" idx="12"/>
          </p:nvPr>
        </p:nvSpPr>
        <p:spPr/>
        <p:txBody>
          <a:bodyPr/>
          <a:lstStyle/>
          <a:p>
            <a:fld id="{40FF48A1-BBC9-46E7-A4CC-5BFD9B1F42DF}" type="slidenum">
              <a:rPr lang="en-IN" smtClean="0"/>
              <a:pPr/>
              <a:t>24</a:t>
            </a:fld>
            <a:endParaRPr lang="en-IN"/>
          </a:p>
        </p:txBody>
      </p:sp>
      <p:pic>
        <p:nvPicPr>
          <p:cNvPr id="8" name="Picture 7">
            <a:extLst>
              <a:ext uri="{FF2B5EF4-FFF2-40B4-BE49-F238E27FC236}">
                <a16:creationId xmlns:a16="http://schemas.microsoft.com/office/drawing/2014/main" id="{CFF7D90D-FD8B-64BA-52DA-F45D0ADC9BA7}"/>
              </a:ext>
            </a:extLst>
          </p:cNvPr>
          <p:cNvPicPr>
            <a:picLocks noChangeAspect="1"/>
          </p:cNvPicPr>
          <p:nvPr/>
        </p:nvPicPr>
        <p:blipFill>
          <a:blip r:embed="rId2"/>
          <a:stretch>
            <a:fillRect/>
          </a:stretch>
        </p:blipFill>
        <p:spPr>
          <a:xfrm>
            <a:off x="1703512" y="509112"/>
            <a:ext cx="3372624" cy="5719221"/>
          </a:xfrm>
          <a:prstGeom prst="rect">
            <a:avLst/>
          </a:prstGeom>
        </p:spPr>
      </p:pic>
      <p:pic>
        <p:nvPicPr>
          <p:cNvPr id="10" name="Picture 9">
            <a:extLst>
              <a:ext uri="{FF2B5EF4-FFF2-40B4-BE49-F238E27FC236}">
                <a16:creationId xmlns:a16="http://schemas.microsoft.com/office/drawing/2014/main" id="{437A3ADE-5289-CAA5-5DF8-3ECEB8374402}"/>
              </a:ext>
            </a:extLst>
          </p:cNvPr>
          <p:cNvPicPr>
            <a:picLocks noChangeAspect="1"/>
          </p:cNvPicPr>
          <p:nvPr/>
        </p:nvPicPr>
        <p:blipFill>
          <a:blip r:embed="rId3"/>
          <a:stretch>
            <a:fillRect/>
          </a:stretch>
        </p:blipFill>
        <p:spPr>
          <a:xfrm>
            <a:off x="5021708" y="260648"/>
            <a:ext cx="5424409" cy="1609680"/>
          </a:xfrm>
          <a:prstGeom prst="rect">
            <a:avLst/>
          </a:prstGeom>
        </p:spPr>
      </p:pic>
      <p:pic>
        <p:nvPicPr>
          <p:cNvPr id="12" name="Picture 11">
            <a:extLst>
              <a:ext uri="{FF2B5EF4-FFF2-40B4-BE49-F238E27FC236}">
                <a16:creationId xmlns:a16="http://schemas.microsoft.com/office/drawing/2014/main" id="{82CCE7CC-CE74-D511-C526-7303710AF1A5}"/>
              </a:ext>
            </a:extLst>
          </p:cNvPr>
          <p:cNvPicPr>
            <a:picLocks noChangeAspect="1"/>
          </p:cNvPicPr>
          <p:nvPr/>
        </p:nvPicPr>
        <p:blipFill>
          <a:blip r:embed="rId4"/>
          <a:stretch>
            <a:fillRect/>
          </a:stretch>
        </p:blipFill>
        <p:spPr>
          <a:xfrm>
            <a:off x="4988847" y="2118791"/>
            <a:ext cx="5365280" cy="2016224"/>
          </a:xfrm>
          <a:prstGeom prst="rect">
            <a:avLst/>
          </a:prstGeom>
        </p:spPr>
      </p:pic>
      <p:pic>
        <p:nvPicPr>
          <p:cNvPr id="14" name="Picture 13">
            <a:extLst>
              <a:ext uri="{FF2B5EF4-FFF2-40B4-BE49-F238E27FC236}">
                <a16:creationId xmlns:a16="http://schemas.microsoft.com/office/drawing/2014/main" id="{817BF55A-C38E-8A68-095D-A9F33C4B2996}"/>
              </a:ext>
            </a:extLst>
          </p:cNvPr>
          <p:cNvPicPr>
            <a:picLocks noChangeAspect="1"/>
          </p:cNvPicPr>
          <p:nvPr/>
        </p:nvPicPr>
        <p:blipFill>
          <a:blip r:embed="rId5"/>
          <a:stretch>
            <a:fillRect/>
          </a:stretch>
        </p:blipFill>
        <p:spPr>
          <a:xfrm>
            <a:off x="4499900" y="4725144"/>
            <a:ext cx="6168100" cy="1181104"/>
          </a:xfrm>
          <a:prstGeom prst="rect">
            <a:avLst/>
          </a:prstGeom>
        </p:spPr>
      </p:pic>
      <p:sp>
        <p:nvSpPr>
          <p:cNvPr id="15" name="TextBox 14">
            <a:extLst>
              <a:ext uri="{FF2B5EF4-FFF2-40B4-BE49-F238E27FC236}">
                <a16:creationId xmlns:a16="http://schemas.microsoft.com/office/drawing/2014/main" id="{E15C89C9-4FE0-D462-1FA6-5CB6FE8FBD28}"/>
              </a:ext>
            </a:extLst>
          </p:cNvPr>
          <p:cNvSpPr txBox="1"/>
          <p:nvPr/>
        </p:nvSpPr>
        <p:spPr>
          <a:xfrm>
            <a:off x="1773332" y="6191773"/>
            <a:ext cx="2718048" cy="261610"/>
          </a:xfrm>
          <a:prstGeom prst="rect">
            <a:avLst/>
          </a:prstGeom>
          <a:noFill/>
        </p:spPr>
        <p:txBody>
          <a:bodyPr wrap="square">
            <a:spAutoFit/>
          </a:bodyPr>
          <a:lstStyle/>
          <a:p>
            <a:r>
              <a:rPr lang="en-IN" sz="1100" dirty="0"/>
              <a:t>ALBERT-LÁSZLÓ BARABÁSI</a:t>
            </a:r>
          </a:p>
        </p:txBody>
      </p:sp>
      <p:sp>
        <p:nvSpPr>
          <p:cNvPr id="16" name="Title 1">
            <a:extLst>
              <a:ext uri="{FF2B5EF4-FFF2-40B4-BE49-F238E27FC236}">
                <a16:creationId xmlns:a16="http://schemas.microsoft.com/office/drawing/2014/main" id="{20DD2301-095E-96D8-1CFF-5863E843CE31}"/>
              </a:ext>
            </a:extLst>
          </p:cNvPr>
          <p:cNvSpPr>
            <a:spLocks noGrp="1"/>
          </p:cNvSpPr>
          <p:nvPr>
            <p:ph type="title"/>
          </p:nvPr>
        </p:nvSpPr>
        <p:spPr>
          <a:xfrm>
            <a:off x="1981200" y="260648"/>
            <a:ext cx="3178696" cy="1143000"/>
          </a:xfrm>
        </p:spPr>
        <p:txBody>
          <a:bodyPr>
            <a:noAutofit/>
          </a:bodyPr>
          <a:lstStyle/>
          <a:p>
            <a:r>
              <a:rPr lang="en-US" sz="2800" dirty="0">
                <a:solidFill>
                  <a:srgbClr val="FF0000"/>
                </a:solidFill>
                <a:latin typeface="Cambria" panose="02040503050406030204" pitchFamily="18" charset="0"/>
                <a:ea typeface="Cambria" panose="02040503050406030204" pitchFamily="18" charset="0"/>
              </a:rPr>
              <a:t>Average pathlength</a:t>
            </a:r>
            <a:endParaRPr lang="en-IN" sz="2800"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8593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arn(inVertical)">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EED627C-A293-DCE4-37EA-C736133B529D}"/>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2AD714D5-1150-28EF-F477-2309177166A6}"/>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E495F8B4-35FE-98A6-FAE2-D8836EF2AD91}"/>
              </a:ext>
            </a:extLst>
          </p:cNvPr>
          <p:cNvSpPr>
            <a:spLocks noGrp="1"/>
          </p:cNvSpPr>
          <p:nvPr>
            <p:ph type="sldNum" sz="quarter" idx="12"/>
          </p:nvPr>
        </p:nvSpPr>
        <p:spPr/>
        <p:txBody>
          <a:bodyPr/>
          <a:lstStyle/>
          <a:p>
            <a:fld id="{40FF48A1-BBC9-46E7-A4CC-5BFD9B1F42DF}" type="slidenum">
              <a:rPr lang="en-IN" smtClean="0"/>
              <a:pPr/>
              <a:t>25</a:t>
            </a:fld>
            <a:endParaRPr lang="en-IN"/>
          </a:p>
        </p:txBody>
      </p:sp>
      <p:grpSp>
        <p:nvGrpSpPr>
          <p:cNvPr id="13" name="Group 12">
            <a:extLst>
              <a:ext uri="{FF2B5EF4-FFF2-40B4-BE49-F238E27FC236}">
                <a16:creationId xmlns:a16="http://schemas.microsoft.com/office/drawing/2014/main" id="{79CCC714-4238-7CD9-4F53-21586DCA29A8}"/>
              </a:ext>
            </a:extLst>
          </p:cNvPr>
          <p:cNvGrpSpPr/>
          <p:nvPr/>
        </p:nvGrpSpPr>
        <p:grpSpPr>
          <a:xfrm>
            <a:off x="2654589" y="1541543"/>
            <a:ext cx="6882823" cy="1414483"/>
            <a:chOff x="729537" y="705534"/>
            <a:chExt cx="6882823" cy="1414483"/>
          </a:xfrm>
        </p:grpSpPr>
        <p:pic>
          <p:nvPicPr>
            <p:cNvPr id="9" name="Picture 8">
              <a:extLst>
                <a:ext uri="{FF2B5EF4-FFF2-40B4-BE49-F238E27FC236}">
                  <a16:creationId xmlns:a16="http://schemas.microsoft.com/office/drawing/2014/main" id="{169A68C2-EA18-9B04-A1DE-40B1489E77AA}"/>
                </a:ext>
              </a:extLst>
            </p:cNvPr>
            <p:cNvPicPr>
              <a:picLocks noChangeAspect="1"/>
            </p:cNvPicPr>
            <p:nvPr/>
          </p:nvPicPr>
          <p:blipFill>
            <a:blip r:embed="rId2"/>
            <a:stretch>
              <a:fillRect/>
            </a:stretch>
          </p:blipFill>
          <p:spPr>
            <a:xfrm>
              <a:off x="729537" y="705534"/>
              <a:ext cx="6882823" cy="1414483"/>
            </a:xfrm>
            <a:prstGeom prst="rect">
              <a:avLst/>
            </a:prstGeom>
          </p:spPr>
        </p:pic>
        <p:sp>
          <p:nvSpPr>
            <p:cNvPr id="10" name="Rectangle 9">
              <a:extLst>
                <a:ext uri="{FF2B5EF4-FFF2-40B4-BE49-F238E27FC236}">
                  <a16:creationId xmlns:a16="http://schemas.microsoft.com/office/drawing/2014/main" id="{6BEEF881-8265-3D85-B9FA-D98F358C5646}"/>
                </a:ext>
              </a:extLst>
            </p:cNvPr>
            <p:cNvSpPr/>
            <p:nvPr/>
          </p:nvSpPr>
          <p:spPr>
            <a:xfrm>
              <a:off x="6876256" y="1412776"/>
              <a:ext cx="648072" cy="5040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grpSp>
      <p:grpSp>
        <p:nvGrpSpPr>
          <p:cNvPr id="12" name="Group 11">
            <a:extLst>
              <a:ext uri="{FF2B5EF4-FFF2-40B4-BE49-F238E27FC236}">
                <a16:creationId xmlns:a16="http://schemas.microsoft.com/office/drawing/2014/main" id="{B5F79A28-6611-27DA-3BE7-0D6673283BF4}"/>
              </a:ext>
            </a:extLst>
          </p:cNvPr>
          <p:cNvGrpSpPr/>
          <p:nvPr/>
        </p:nvGrpSpPr>
        <p:grpSpPr>
          <a:xfrm>
            <a:off x="2429817" y="2961908"/>
            <a:ext cx="6965257" cy="2033195"/>
            <a:chOff x="785521" y="2132856"/>
            <a:chExt cx="6965257" cy="2033195"/>
          </a:xfrm>
        </p:grpSpPr>
        <p:pic>
          <p:nvPicPr>
            <p:cNvPr id="8" name="Picture 7">
              <a:extLst>
                <a:ext uri="{FF2B5EF4-FFF2-40B4-BE49-F238E27FC236}">
                  <a16:creationId xmlns:a16="http://schemas.microsoft.com/office/drawing/2014/main" id="{F01F46FF-9640-32EE-260B-136404BBD464}"/>
                </a:ext>
              </a:extLst>
            </p:cNvPr>
            <p:cNvPicPr>
              <a:picLocks noChangeAspect="1"/>
            </p:cNvPicPr>
            <p:nvPr/>
          </p:nvPicPr>
          <p:blipFill>
            <a:blip r:embed="rId3"/>
            <a:stretch>
              <a:fillRect/>
            </a:stretch>
          </p:blipFill>
          <p:spPr>
            <a:xfrm>
              <a:off x="785521" y="2132856"/>
              <a:ext cx="6965257" cy="1944216"/>
            </a:xfrm>
            <a:prstGeom prst="rect">
              <a:avLst/>
            </a:prstGeom>
          </p:spPr>
        </p:pic>
        <p:sp>
          <p:nvSpPr>
            <p:cNvPr id="11" name="Rectangle 10">
              <a:extLst>
                <a:ext uri="{FF2B5EF4-FFF2-40B4-BE49-F238E27FC236}">
                  <a16:creationId xmlns:a16="http://schemas.microsoft.com/office/drawing/2014/main" id="{C7B43D37-2798-B49E-35EA-1D1F3F2021AC}"/>
                </a:ext>
              </a:extLst>
            </p:cNvPr>
            <p:cNvSpPr/>
            <p:nvPr/>
          </p:nvSpPr>
          <p:spPr>
            <a:xfrm>
              <a:off x="7010739" y="3661995"/>
              <a:ext cx="648072" cy="5040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pSp>
      <p:grpSp>
        <p:nvGrpSpPr>
          <p:cNvPr id="20" name="Group 19">
            <a:extLst>
              <a:ext uri="{FF2B5EF4-FFF2-40B4-BE49-F238E27FC236}">
                <a16:creationId xmlns:a16="http://schemas.microsoft.com/office/drawing/2014/main" id="{3EE376F2-F1AE-92FC-F6F6-79B7F0E6B20D}"/>
              </a:ext>
            </a:extLst>
          </p:cNvPr>
          <p:cNvGrpSpPr/>
          <p:nvPr/>
        </p:nvGrpSpPr>
        <p:grpSpPr>
          <a:xfrm>
            <a:off x="2707668" y="5127438"/>
            <a:ext cx="6882822" cy="1512168"/>
            <a:chOff x="930161" y="4293096"/>
            <a:chExt cx="6882822" cy="1512168"/>
          </a:xfrm>
        </p:grpSpPr>
        <p:grpSp>
          <p:nvGrpSpPr>
            <p:cNvPr id="19" name="Group 18">
              <a:extLst>
                <a:ext uri="{FF2B5EF4-FFF2-40B4-BE49-F238E27FC236}">
                  <a16:creationId xmlns:a16="http://schemas.microsoft.com/office/drawing/2014/main" id="{44F34DAC-039C-B2EE-BE4B-0BC25C0F07F8}"/>
                </a:ext>
              </a:extLst>
            </p:cNvPr>
            <p:cNvGrpSpPr/>
            <p:nvPr/>
          </p:nvGrpSpPr>
          <p:grpSpPr>
            <a:xfrm>
              <a:off x="930161" y="4293096"/>
              <a:ext cx="6882822" cy="1512168"/>
              <a:chOff x="1259631" y="4293096"/>
              <a:chExt cx="6553351" cy="1440160"/>
            </a:xfrm>
          </p:grpSpPr>
          <p:pic>
            <p:nvPicPr>
              <p:cNvPr id="15" name="Picture 14">
                <a:extLst>
                  <a:ext uri="{FF2B5EF4-FFF2-40B4-BE49-F238E27FC236}">
                    <a16:creationId xmlns:a16="http://schemas.microsoft.com/office/drawing/2014/main" id="{9315AD7C-E615-783E-28E2-3D76EB3408DC}"/>
                  </a:ext>
                </a:extLst>
              </p:cNvPr>
              <p:cNvPicPr>
                <a:picLocks noChangeAspect="1"/>
              </p:cNvPicPr>
              <p:nvPr/>
            </p:nvPicPr>
            <p:blipFill>
              <a:blip r:embed="rId4"/>
              <a:stretch>
                <a:fillRect/>
              </a:stretch>
            </p:blipFill>
            <p:spPr>
              <a:xfrm>
                <a:off x="1259631" y="4293096"/>
                <a:ext cx="6500273" cy="1440160"/>
              </a:xfrm>
              <a:prstGeom prst="rect">
                <a:avLst/>
              </a:prstGeom>
            </p:spPr>
          </p:pic>
          <p:sp>
            <p:nvSpPr>
              <p:cNvPr id="16" name="Rectangle 15">
                <a:extLst>
                  <a:ext uri="{FF2B5EF4-FFF2-40B4-BE49-F238E27FC236}">
                    <a16:creationId xmlns:a16="http://schemas.microsoft.com/office/drawing/2014/main" id="{B28600D4-0257-A1BD-3173-005F9F72EA29}"/>
                  </a:ext>
                </a:extLst>
              </p:cNvPr>
              <p:cNvSpPr/>
              <p:nvPr/>
            </p:nvSpPr>
            <p:spPr>
              <a:xfrm>
                <a:off x="7164910" y="5054158"/>
                <a:ext cx="648072" cy="5040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pSp>
        <p:sp>
          <p:nvSpPr>
            <p:cNvPr id="17" name="Rectangle 16">
              <a:extLst>
                <a:ext uri="{FF2B5EF4-FFF2-40B4-BE49-F238E27FC236}">
                  <a16:creationId xmlns:a16="http://schemas.microsoft.com/office/drawing/2014/main" id="{50F67F1F-ECA2-05B1-47FA-27E85CEA5CA8}"/>
                </a:ext>
              </a:extLst>
            </p:cNvPr>
            <p:cNvSpPr/>
            <p:nvPr/>
          </p:nvSpPr>
          <p:spPr>
            <a:xfrm>
              <a:off x="2771800" y="4725144"/>
              <a:ext cx="471215" cy="2448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900" dirty="0">
                  <a:solidFill>
                    <a:srgbClr val="FF0000"/>
                  </a:solidFill>
                </a:rPr>
                <a:t>Eqn. 1</a:t>
              </a:r>
              <a:endParaRPr lang="en-IN" sz="900" dirty="0">
                <a:solidFill>
                  <a:srgbClr val="FF0000"/>
                </a:solidFill>
              </a:endParaRPr>
            </a:p>
          </p:txBody>
        </p:sp>
      </p:grpSp>
      <p:sp>
        <p:nvSpPr>
          <p:cNvPr id="18" name="Rectangle 17">
            <a:extLst>
              <a:ext uri="{FF2B5EF4-FFF2-40B4-BE49-F238E27FC236}">
                <a16:creationId xmlns:a16="http://schemas.microsoft.com/office/drawing/2014/main" id="{62675B1A-5D4A-3359-8082-BEA76CE38E1A}"/>
              </a:ext>
            </a:extLst>
          </p:cNvPr>
          <p:cNvSpPr/>
          <p:nvPr/>
        </p:nvSpPr>
        <p:spPr>
          <a:xfrm>
            <a:off x="7104112" y="2132758"/>
            <a:ext cx="648072" cy="5040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FF0000"/>
                </a:solidFill>
              </a:rPr>
              <a:t>(1)</a:t>
            </a:r>
            <a:endParaRPr lang="en-IN" dirty="0">
              <a:solidFill>
                <a:srgbClr val="FF0000"/>
              </a:solidFill>
            </a:endParaRPr>
          </a:p>
        </p:txBody>
      </p:sp>
      <p:sp>
        <p:nvSpPr>
          <p:cNvPr id="21" name="TextBox 20">
            <a:extLst>
              <a:ext uri="{FF2B5EF4-FFF2-40B4-BE49-F238E27FC236}">
                <a16:creationId xmlns:a16="http://schemas.microsoft.com/office/drawing/2014/main" id="{F5E3D1A3-9FA2-B389-D373-6BE08D8364C0}"/>
              </a:ext>
            </a:extLst>
          </p:cNvPr>
          <p:cNvSpPr txBox="1"/>
          <p:nvPr/>
        </p:nvSpPr>
        <p:spPr>
          <a:xfrm>
            <a:off x="1790235" y="6195324"/>
            <a:ext cx="2718048" cy="261610"/>
          </a:xfrm>
          <a:prstGeom prst="rect">
            <a:avLst/>
          </a:prstGeom>
          <a:noFill/>
        </p:spPr>
        <p:txBody>
          <a:bodyPr wrap="square">
            <a:spAutoFit/>
          </a:bodyPr>
          <a:lstStyle/>
          <a:p>
            <a:r>
              <a:rPr lang="en-IN" sz="1100" dirty="0"/>
              <a:t>ALBERT-LÁSZLÓ BARABÁSI</a:t>
            </a:r>
          </a:p>
        </p:txBody>
      </p:sp>
      <p:sp>
        <p:nvSpPr>
          <p:cNvPr id="22" name="Title 1">
            <a:extLst>
              <a:ext uri="{FF2B5EF4-FFF2-40B4-BE49-F238E27FC236}">
                <a16:creationId xmlns:a16="http://schemas.microsoft.com/office/drawing/2014/main" id="{35D0A672-0C49-CD13-F9BE-0F1A4CB4CE08}"/>
              </a:ext>
            </a:extLst>
          </p:cNvPr>
          <p:cNvSpPr>
            <a:spLocks noGrp="1"/>
          </p:cNvSpPr>
          <p:nvPr>
            <p:ph type="title"/>
          </p:nvPr>
        </p:nvSpPr>
        <p:spPr>
          <a:xfrm>
            <a:off x="1981200" y="260648"/>
            <a:ext cx="3178696" cy="1143000"/>
          </a:xfrm>
        </p:spPr>
        <p:txBody>
          <a:bodyPr>
            <a:noAutofit/>
          </a:bodyPr>
          <a:lstStyle/>
          <a:p>
            <a:r>
              <a:rPr lang="en-US" sz="2800" dirty="0">
                <a:solidFill>
                  <a:srgbClr val="FF0000"/>
                </a:solidFill>
                <a:latin typeface="Cambria" panose="02040503050406030204" pitchFamily="18" charset="0"/>
                <a:ea typeface="Cambria" panose="02040503050406030204" pitchFamily="18" charset="0"/>
              </a:rPr>
              <a:t>Average pathlength</a:t>
            </a:r>
            <a:endParaRPr lang="en-IN" sz="2800"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9227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54CE38C-AB1D-7714-83ED-5FEEF816F168}"/>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FA7A6698-5E3E-8AC6-B02B-E7DFC547318F}"/>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65200651-3B27-DED8-D286-66A84B64E519}"/>
              </a:ext>
            </a:extLst>
          </p:cNvPr>
          <p:cNvSpPr>
            <a:spLocks noGrp="1"/>
          </p:cNvSpPr>
          <p:nvPr>
            <p:ph type="sldNum" sz="quarter" idx="12"/>
          </p:nvPr>
        </p:nvSpPr>
        <p:spPr/>
        <p:txBody>
          <a:bodyPr/>
          <a:lstStyle/>
          <a:p>
            <a:fld id="{40FF48A1-BBC9-46E7-A4CC-5BFD9B1F42DF}" type="slidenum">
              <a:rPr lang="en-IN" smtClean="0"/>
              <a:pPr/>
              <a:t>26</a:t>
            </a:fld>
            <a:endParaRPr lang="en-IN"/>
          </a:p>
        </p:txBody>
      </p:sp>
      <p:grpSp>
        <p:nvGrpSpPr>
          <p:cNvPr id="7" name="Group 6">
            <a:extLst>
              <a:ext uri="{FF2B5EF4-FFF2-40B4-BE49-F238E27FC236}">
                <a16:creationId xmlns:a16="http://schemas.microsoft.com/office/drawing/2014/main" id="{69210ABD-EE5E-95BC-A593-2822DBD0328E}"/>
              </a:ext>
            </a:extLst>
          </p:cNvPr>
          <p:cNvGrpSpPr/>
          <p:nvPr/>
        </p:nvGrpSpPr>
        <p:grpSpPr>
          <a:xfrm>
            <a:off x="2295513" y="739071"/>
            <a:ext cx="6882822" cy="1512168"/>
            <a:chOff x="930161" y="4293096"/>
            <a:chExt cx="6882822" cy="1512168"/>
          </a:xfrm>
        </p:grpSpPr>
        <p:grpSp>
          <p:nvGrpSpPr>
            <p:cNvPr id="8" name="Group 7">
              <a:extLst>
                <a:ext uri="{FF2B5EF4-FFF2-40B4-BE49-F238E27FC236}">
                  <a16:creationId xmlns:a16="http://schemas.microsoft.com/office/drawing/2014/main" id="{7275E624-BD9D-4DA3-0161-EEA4DC2C2F52}"/>
                </a:ext>
              </a:extLst>
            </p:cNvPr>
            <p:cNvGrpSpPr/>
            <p:nvPr/>
          </p:nvGrpSpPr>
          <p:grpSpPr>
            <a:xfrm>
              <a:off x="930161" y="4293096"/>
              <a:ext cx="6882822" cy="1512168"/>
              <a:chOff x="1259631" y="4293096"/>
              <a:chExt cx="6553351" cy="1440160"/>
            </a:xfrm>
          </p:grpSpPr>
          <p:pic>
            <p:nvPicPr>
              <p:cNvPr id="10" name="Picture 9">
                <a:extLst>
                  <a:ext uri="{FF2B5EF4-FFF2-40B4-BE49-F238E27FC236}">
                    <a16:creationId xmlns:a16="http://schemas.microsoft.com/office/drawing/2014/main" id="{2FFCD49A-591A-6813-5BC7-259CCC44FF25}"/>
                  </a:ext>
                </a:extLst>
              </p:cNvPr>
              <p:cNvPicPr>
                <a:picLocks noChangeAspect="1"/>
              </p:cNvPicPr>
              <p:nvPr/>
            </p:nvPicPr>
            <p:blipFill>
              <a:blip r:embed="rId2"/>
              <a:stretch>
                <a:fillRect/>
              </a:stretch>
            </p:blipFill>
            <p:spPr>
              <a:xfrm>
                <a:off x="1259631" y="4293096"/>
                <a:ext cx="6500273" cy="1440160"/>
              </a:xfrm>
              <a:prstGeom prst="rect">
                <a:avLst/>
              </a:prstGeom>
            </p:spPr>
          </p:pic>
          <p:sp>
            <p:nvSpPr>
              <p:cNvPr id="11" name="Rectangle 10">
                <a:extLst>
                  <a:ext uri="{FF2B5EF4-FFF2-40B4-BE49-F238E27FC236}">
                    <a16:creationId xmlns:a16="http://schemas.microsoft.com/office/drawing/2014/main" id="{0DBC0813-8933-EE52-8DC8-B3EE37574DA9}"/>
                  </a:ext>
                </a:extLst>
              </p:cNvPr>
              <p:cNvSpPr/>
              <p:nvPr/>
            </p:nvSpPr>
            <p:spPr>
              <a:xfrm>
                <a:off x="7164910" y="5054158"/>
                <a:ext cx="648072" cy="5040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pSp>
        <p:sp>
          <p:nvSpPr>
            <p:cNvPr id="9" name="Rectangle 8">
              <a:extLst>
                <a:ext uri="{FF2B5EF4-FFF2-40B4-BE49-F238E27FC236}">
                  <a16:creationId xmlns:a16="http://schemas.microsoft.com/office/drawing/2014/main" id="{F7D76A5A-0EF5-4A65-AF27-2CA2869E00F5}"/>
                </a:ext>
              </a:extLst>
            </p:cNvPr>
            <p:cNvSpPr/>
            <p:nvPr/>
          </p:nvSpPr>
          <p:spPr>
            <a:xfrm>
              <a:off x="2771800" y="4725144"/>
              <a:ext cx="471215" cy="2448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900" dirty="0">
                  <a:solidFill>
                    <a:srgbClr val="FF0000"/>
                  </a:solidFill>
                </a:rPr>
                <a:t>Eqn. 1</a:t>
              </a:r>
              <a:endParaRPr lang="en-IN" sz="900" dirty="0">
                <a:solidFill>
                  <a:srgbClr val="FF0000"/>
                </a:solidFill>
              </a:endParaRPr>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A14F3EE-C206-BB6D-54FE-EBE68D13BFEF}"/>
                  </a:ext>
                </a:extLst>
              </p:cNvPr>
              <p:cNvSpPr txBox="1"/>
              <p:nvPr/>
            </p:nvSpPr>
            <p:spPr>
              <a:xfrm>
                <a:off x="2135560" y="4592288"/>
                <a:ext cx="7848872" cy="1754326"/>
              </a:xfrm>
              <a:prstGeom prst="rect">
                <a:avLst/>
              </a:prstGeom>
              <a:noFill/>
            </p:spPr>
            <p:txBody>
              <a:bodyPr wrap="square">
                <a:spAutoFit/>
              </a:bodyPr>
              <a:lstStyle/>
              <a:p>
                <a:pPr algn="just"/>
                <a:r>
                  <a:rPr lang="en-US" dirty="0">
                    <a:solidFill>
                      <a:srgbClr val="000000"/>
                    </a:solidFill>
                    <a:latin typeface="Cambria" panose="02040503050406030204" pitchFamily="18" charset="0"/>
                    <a:ea typeface="Cambria" panose="02040503050406030204" pitchFamily="18" charset="0"/>
                  </a:rPr>
                  <a:t>As derived, </a:t>
                </a:r>
                <a:r>
                  <a:rPr lang="en-US" dirty="0">
                    <a:latin typeface="Cambria" panose="02040503050406030204" pitchFamily="18" charset="0"/>
                    <a:ea typeface="Cambria" panose="02040503050406030204" pitchFamily="18" charset="0"/>
                  </a:rPr>
                  <a:t>it</a:t>
                </a:r>
                <a:r>
                  <a:rPr lang="en-US" dirty="0">
                    <a:solidFill>
                      <a:srgbClr val="7F3E99"/>
                    </a:solidFill>
                    <a:latin typeface="Cambria" panose="02040503050406030204" pitchFamily="18" charset="0"/>
                    <a:ea typeface="Cambria" panose="02040503050406030204" pitchFamily="18" charset="0"/>
                  </a:rPr>
                  <a:t> </a:t>
                </a:r>
                <a:r>
                  <a:rPr lang="en-US" dirty="0">
                    <a:solidFill>
                      <a:srgbClr val="000000"/>
                    </a:solidFill>
                    <a:latin typeface="Cambria" panose="02040503050406030204" pitchFamily="18" charset="0"/>
                    <a:ea typeface="Cambria" panose="02040503050406030204" pitchFamily="18" charset="0"/>
                  </a:rPr>
                  <a:t>predicts the scaling of the network diameter, </a:t>
                </a:r>
                <a14:m>
                  <m:oMath xmlns:m="http://schemas.openxmlformats.org/officeDocument/2006/math">
                    <m:r>
                      <a:rPr lang="en-US" i="1" dirty="0">
                        <a:solidFill>
                          <a:srgbClr val="0000FF"/>
                        </a:solidFill>
                        <a:latin typeface="Cambria Math" panose="02040503050406030204" pitchFamily="18" charset="0"/>
                      </a:rPr>
                      <m:t>𝑑</m:t>
                    </m:r>
                    <m:r>
                      <m:rPr>
                        <m:sty m:val="p"/>
                      </m:rPr>
                      <a:rPr lang="en-US" sz="800" dirty="0" err="1">
                        <a:solidFill>
                          <a:srgbClr val="0000FF"/>
                        </a:solidFill>
                        <a:latin typeface="Cambria Math" panose="02040503050406030204" pitchFamily="18" charset="0"/>
                      </a:rPr>
                      <m:t>max</m:t>
                    </m:r>
                  </m:oMath>
                </a14:m>
                <a:r>
                  <a:rPr lang="en-US" dirty="0">
                    <a:solidFill>
                      <a:srgbClr val="000000"/>
                    </a:solidFill>
                    <a:latin typeface="Cambria" panose="02040503050406030204" pitchFamily="18" charset="0"/>
                    <a:ea typeface="Cambria" panose="02040503050406030204" pitchFamily="18" charset="0"/>
                  </a:rPr>
                  <a:t>, with the size of the system, </a:t>
                </a:r>
                <a14:m>
                  <m:oMath xmlns:m="http://schemas.openxmlformats.org/officeDocument/2006/math">
                    <m:r>
                      <a:rPr lang="en-US" i="1" dirty="0">
                        <a:solidFill>
                          <a:srgbClr val="000000"/>
                        </a:solidFill>
                        <a:latin typeface="Cambria Math" panose="02040503050406030204" pitchFamily="18" charset="0"/>
                      </a:rPr>
                      <m:t>𝑁</m:t>
                    </m:r>
                  </m:oMath>
                </a14:m>
                <a:r>
                  <a:rPr lang="en-US" dirty="0">
                    <a:solidFill>
                      <a:srgbClr val="000000"/>
                    </a:solidFill>
                    <a:latin typeface="Cambria" panose="02040503050406030204" pitchFamily="18" charset="0"/>
                    <a:ea typeface="Cambria" panose="02040503050406030204" pitchFamily="18" charset="0"/>
                  </a:rPr>
                  <a:t>. Yet, for most networks </a:t>
                </a:r>
                <a:r>
                  <a:rPr lang="en-US" dirty="0">
                    <a:latin typeface="Cambria" panose="02040503050406030204" pitchFamily="18" charset="0"/>
                    <a:ea typeface="Cambria" panose="02040503050406030204" pitchFamily="18" charset="0"/>
                  </a:rPr>
                  <a:t>the equation </a:t>
                </a:r>
                <a:r>
                  <a:rPr lang="en-US" dirty="0">
                    <a:solidFill>
                      <a:srgbClr val="000000"/>
                    </a:solidFill>
                    <a:latin typeface="Cambria" panose="02040503050406030204" pitchFamily="18" charset="0"/>
                    <a:ea typeface="Cambria" panose="02040503050406030204" pitchFamily="18" charset="0"/>
                  </a:rPr>
                  <a:t>offers a better approximation to the average distance between two randomly chosen nodes, </a:t>
                </a:r>
                <a14:m>
                  <m:oMath xmlns:m="http://schemas.openxmlformats.org/officeDocument/2006/math">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𝑑</m:t>
                    </m:r>
                    <m:r>
                      <a:rPr lang="en-US" i="1" dirty="0">
                        <a:solidFill>
                          <a:srgbClr val="0000FF"/>
                        </a:solidFill>
                        <a:latin typeface="Cambria Math" panose="02040503050406030204" pitchFamily="18" charset="0"/>
                      </a:rPr>
                      <m:t>⟩, </m:t>
                    </m:r>
                  </m:oMath>
                </a14:m>
                <a:r>
                  <a:rPr lang="en-US" dirty="0">
                    <a:solidFill>
                      <a:srgbClr val="000000"/>
                    </a:solidFill>
                    <a:latin typeface="Cambria" panose="02040503050406030204" pitchFamily="18" charset="0"/>
                    <a:ea typeface="Cambria" panose="02040503050406030204" pitchFamily="18" charset="0"/>
                  </a:rPr>
                  <a:t>than to </a:t>
                </a:r>
                <a14:m>
                  <m:oMath xmlns:m="http://schemas.openxmlformats.org/officeDocument/2006/math">
                    <m:r>
                      <a:rPr lang="en-US" i="1" dirty="0">
                        <a:solidFill>
                          <a:srgbClr val="0000FF"/>
                        </a:solidFill>
                        <a:latin typeface="Cambria Math" panose="02040503050406030204" pitchFamily="18" charset="0"/>
                      </a:rPr>
                      <m:t>𝑑</m:t>
                    </m:r>
                    <m:r>
                      <m:rPr>
                        <m:sty m:val="p"/>
                      </m:rPr>
                      <a:rPr lang="en-US" sz="800" dirty="0" err="1">
                        <a:solidFill>
                          <a:srgbClr val="0000FF"/>
                        </a:solidFill>
                        <a:latin typeface="Cambria Math" panose="02040503050406030204" pitchFamily="18" charset="0"/>
                      </a:rPr>
                      <m:t>max</m:t>
                    </m:r>
                    <m:r>
                      <a:rPr lang="en-US" i="1" dirty="0">
                        <a:solidFill>
                          <a:srgbClr val="0000FF"/>
                        </a:solidFill>
                        <a:latin typeface="Cambria Math" panose="02040503050406030204" pitchFamily="18" charset="0"/>
                      </a:rPr>
                      <m:t>. </m:t>
                    </m:r>
                  </m:oMath>
                </a14:m>
                <a:r>
                  <a:rPr lang="en-US" dirty="0">
                    <a:solidFill>
                      <a:srgbClr val="000000"/>
                    </a:solidFill>
                    <a:latin typeface="Cambria" panose="02040503050406030204" pitchFamily="18" charset="0"/>
                    <a:ea typeface="Cambria" panose="02040503050406030204" pitchFamily="18" charset="0"/>
                  </a:rPr>
                  <a:t>This is because </a:t>
                </a:r>
                <a14:m>
                  <m:oMath xmlns:m="http://schemas.openxmlformats.org/officeDocument/2006/math">
                    <m:r>
                      <a:rPr lang="en-US" i="1" dirty="0">
                        <a:solidFill>
                          <a:srgbClr val="0000FF"/>
                        </a:solidFill>
                        <a:latin typeface="Cambria Math" panose="02040503050406030204" pitchFamily="18" charset="0"/>
                      </a:rPr>
                      <m:t>𝑑</m:t>
                    </m:r>
                    <m:r>
                      <m:rPr>
                        <m:sty m:val="p"/>
                      </m:rPr>
                      <a:rPr lang="en-US" sz="800" dirty="0" err="1">
                        <a:solidFill>
                          <a:srgbClr val="0000FF"/>
                        </a:solidFill>
                        <a:latin typeface="Cambria Math" panose="02040503050406030204" pitchFamily="18" charset="0"/>
                      </a:rPr>
                      <m:t>max</m:t>
                    </m:r>
                  </m:oMath>
                </a14:m>
                <a:r>
                  <a:rPr lang="en-US" sz="800" dirty="0">
                    <a:solidFill>
                      <a:srgbClr val="000000"/>
                    </a:solidFill>
                    <a:latin typeface="Cambria" panose="02040503050406030204" pitchFamily="18" charset="0"/>
                    <a:ea typeface="Cambria" panose="02040503050406030204" pitchFamily="18" charset="0"/>
                  </a:rPr>
                  <a:t> </a:t>
                </a:r>
                <a:r>
                  <a:rPr lang="en-US" dirty="0">
                    <a:solidFill>
                      <a:srgbClr val="000000"/>
                    </a:solidFill>
                    <a:latin typeface="Cambria" panose="02040503050406030204" pitchFamily="18" charset="0"/>
                    <a:ea typeface="Cambria" panose="02040503050406030204" pitchFamily="18" charset="0"/>
                  </a:rPr>
                  <a:t>is often dominated by a few extreme paths, while </a:t>
                </a:r>
                <a14:m>
                  <m:oMath xmlns:m="http://schemas.openxmlformats.org/officeDocument/2006/math">
                    <m:d>
                      <m:dPr>
                        <m:begChr m:val="⟨"/>
                        <m:endChr m:val="⟩"/>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𝑑</m:t>
                        </m:r>
                      </m:e>
                    </m:d>
                    <m:r>
                      <a:rPr lang="en-US" i="1" dirty="0">
                        <a:solidFill>
                          <a:srgbClr val="000000"/>
                        </a:solidFill>
                        <a:latin typeface="Cambria Math" panose="02040503050406030204" pitchFamily="18" charset="0"/>
                      </a:rPr>
                      <m:t>,</m:t>
                    </m:r>
                  </m:oMath>
                </a14:m>
                <a:r>
                  <a:rPr lang="en-US" dirty="0">
                    <a:solidFill>
                      <a:srgbClr val="000000"/>
                    </a:solidFill>
                    <a:latin typeface="Cambria" panose="02040503050406030204" pitchFamily="18" charset="0"/>
                    <a:ea typeface="Cambria" panose="02040503050406030204" pitchFamily="18" charset="0"/>
                  </a:rPr>
                  <a:t> is averaged over all node pairs, a process that suppresses the fluctuations.</a:t>
                </a:r>
                <a:endParaRPr lang="en-IN" dirty="0">
                  <a:latin typeface="Cambria" panose="02040503050406030204" pitchFamily="18" charset="0"/>
                  <a:ea typeface="Cambria" panose="02040503050406030204" pitchFamily="18" charset="0"/>
                </a:endParaRPr>
              </a:p>
            </p:txBody>
          </p:sp>
        </mc:Choice>
        <mc:Fallback xmlns="">
          <p:sp>
            <p:nvSpPr>
              <p:cNvPr id="17" name="TextBox 16">
                <a:extLst>
                  <a:ext uri="{FF2B5EF4-FFF2-40B4-BE49-F238E27FC236}">
                    <a16:creationId xmlns:a16="http://schemas.microsoft.com/office/drawing/2014/main" id="{6A14F3EE-C206-BB6D-54FE-EBE68D13BFEF}"/>
                  </a:ext>
                </a:extLst>
              </p:cNvPr>
              <p:cNvSpPr txBox="1">
                <a:spLocks noRot="1" noChangeAspect="1" noMove="1" noResize="1" noEditPoints="1" noAdjustHandles="1" noChangeArrowheads="1" noChangeShapeType="1" noTextEdit="1"/>
              </p:cNvSpPr>
              <p:nvPr/>
            </p:nvSpPr>
            <p:spPr>
              <a:xfrm>
                <a:off x="2135560" y="4592288"/>
                <a:ext cx="7848872" cy="1754326"/>
              </a:xfrm>
              <a:prstGeom prst="rect">
                <a:avLst/>
              </a:prstGeom>
              <a:blipFill>
                <a:blip r:embed="rId3"/>
                <a:stretch>
                  <a:fillRect l="-621" t="-2083" r="-621" b="-4167"/>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CEDEF65F-0090-603F-0AD1-44DF1558558A}"/>
              </a:ext>
            </a:extLst>
          </p:cNvPr>
          <p:cNvSpPr txBox="1"/>
          <p:nvPr/>
        </p:nvSpPr>
        <p:spPr>
          <a:xfrm>
            <a:off x="1688976" y="6171322"/>
            <a:ext cx="2718048" cy="261610"/>
          </a:xfrm>
          <a:prstGeom prst="rect">
            <a:avLst/>
          </a:prstGeom>
          <a:noFill/>
        </p:spPr>
        <p:txBody>
          <a:bodyPr wrap="square">
            <a:spAutoFit/>
          </a:bodyPr>
          <a:lstStyle/>
          <a:p>
            <a:r>
              <a:rPr lang="en-IN" sz="1100" dirty="0"/>
              <a:t>ALBERT-LÁSZLÓ BARABÁSI</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55EBF17-85B5-22CF-0214-785E6BBB0572}"/>
                  </a:ext>
                </a:extLst>
              </p:cNvPr>
              <p:cNvSpPr txBox="1"/>
              <p:nvPr/>
            </p:nvSpPr>
            <p:spPr>
              <a:xfrm>
                <a:off x="5709050" y="3592421"/>
                <a:ext cx="1422634" cy="66556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14:m>
                  <m:oMathPara xmlns:m="http://schemas.openxmlformats.org/officeDocument/2006/math">
                    <m:oMath>
                      <m:d>
                        <m:dPr>
                          <m:begChr m:val="⟨"/>
                          <m:endChr m:val="⟩"/>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𝑑</m:t>
                          </m:r>
                        </m:e>
                      </m:d>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𝑁</m:t>
                              </m:r>
                              <m:r>
                                <a:rPr lang="en-US" i="1">
                                  <a:solidFill>
                                    <a:srgbClr val="0000FF"/>
                                  </a:solidFill>
                                  <a:latin typeface="Cambria Math" panose="02040503050406030204" pitchFamily="18" charset="0"/>
                                </a:rPr>
                                <m:t> </m:t>
                              </m:r>
                            </m:e>
                          </m:func>
                        </m:num>
                        <m:den>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𝑘</m:t>
                              </m:r>
                              <m:r>
                                <a:rPr lang="en-US" i="1">
                                  <a:solidFill>
                                    <a:srgbClr val="0000FF"/>
                                  </a:solidFill>
                                  <a:latin typeface="Cambria Math" panose="02040503050406030204" pitchFamily="18" charset="0"/>
                                </a:rPr>
                                <m:t>⟩</m:t>
                              </m:r>
                            </m:e>
                          </m:func>
                        </m:den>
                      </m:f>
                      <m:r>
                        <a:rPr lang="en-US" i="1">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9" name="TextBox 18">
                <a:extLst>
                  <a:ext uri="{FF2B5EF4-FFF2-40B4-BE49-F238E27FC236}">
                    <a16:creationId xmlns:a16="http://schemas.microsoft.com/office/drawing/2014/main" id="{F55EBF17-85B5-22CF-0214-785E6BBB0572}"/>
                  </a:ext>
                </a:extLst>
              </p:cNvPr>
              <p:cNvSpPr txBox="1">
                <a:spLocks noRot="1" noChangeAspect="1" noMove="1" noResize="1" noEditPoints="1" noAdjustHandles="1" noChangeArrowheads="1" noChangeShapeType="1" noTextEdit="1"/>
              </p:cNvSpPr>
              <p:nvPr/>
            </p:nvSpPr>
            <p:spPr>
              <a:xfrm>
                <a:off x="5709050" y="3592421"/>
                <a:ext cx="1422634" cy="66556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84B8B99-26CE-DCC4-A7FA-C10B5DF33926}"/>
                  </a:ext>
                </a:extLst>
              </p:cNvPr>
              <p:cNvSpPr txBox="1"/>
              <p:nvPr/>
            </p:nvSpPr>
            <p:spPr>
              <a:xfrm>
                <a:off x="5536117" y="2619733"/>
                <a:ext cx="1513812" cy="66556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14:m>
                  <m:oMathPara xmlns:m="http://schemas.openxmlformats.org/officeDocument/2006/math">
                    <m:oMath>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panose="02040503050406030204" pitchFamily="18" charset="0"/>
                            </a:rPr>
                            <m:t>𝑑</m:t>
                          </m:r>
                        </m:e>
                        <m:sub>
                          <m:r>
                            <m:rPr>
                              <m:sty m:val="p"/>
                            </m:rPr>
                            <a:rPr lang="en-US" i="1" dirty="0">
                              <a:solidFill>
                                <a:srgbClr val="0000FF"/>
                              </a:solidFill>
                              <a:latin typeface="Cambria Math" panose="02040503050406030204" pitchFamily="18" charset="0"/>
                            </a:rPr>
                            <m:t>max</m:t>
                          </m:r>
                        </m:sub>
                      </m:sSub>
                      <m:r>
                        <a:rPr lang="en-IN" i="1" dirty="0" err="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𝑁</m:t>
                              </m:r>
                              <m:r>
                                <a:rPr lang="en-US" i="1">
                                  <a:solidFill>
                                    <a:srgbClr val="0000FF"/>
                                  </a:solidFill>
                                  <a:latin typeface="Cambria Math" panose="02040503050406030204" pitchFamily="18" charset="0"/>
                                </a:rPr>
                                <m:t> </m:t>
                              </m:r>
                            </m:e>
                          </m:func>
                        </m:num>
                        <m:den>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𝑘</m:t>
                              </m:r>
                              <m:r>
                                <a:rPr lang="en-US" i="1">
                                  <a:solidFill>
                                    <a:srgbClr val="0000FF"/>
                                  </a:solidFill>
                                  <a:latin typeface="Cambria Math" panose="02040503050406030204" pitchFamily="18" charset="0"/>
                                </a:rPr>
                                <m:t>⟩</m:t>
                              </m:r>
                            </m:e>
                          </m:func>
                        </m:den>
                      </m:f>
                    </m:oMath>
                  </m:oMathPara>
                </a14:m>
                <a:endParaRPr lang="en-IN" dirty="0">
                  <a:solidFill>
                    <a:srgbClr val="0000FF"/>
                  </a:solidFill>
                </a:endParaRPr>
              </a:p>
            </p:txBody>
          </p:sp>
        </mc:Choice>
        <mc:Fallback xmlns="">
          <p:sp>
            <p:nvSpPr>
              <p:cNvPr id="20" name="TextBox 19">
                <a:extLst>
                  <a:ext uri="{FF2B5EF4-FFF2-40B4-BE49-F238E27FC236}">
                    <a16:creationId xmlns:a16="http://schemas.microsoft.com/office/drawing/2014/main" id="{A84B8B99-26CE-DCC4-A7FA-C10B5DF33926}"/>
                  </a:ext>
                </a:extLst>
              </p:cNvPr>
              <p:cNvSpPr txBox="1">
                <a:spLocks noRot="1" noChangeAspect="1" noMove="1" noResize="1" noEditPoints="1" noAdjustHandles="1" noChangeArrowheads="1" noChangeShapeType="1" noTextEdit="1"/>
              </p:cNvSpPr>
              <p:nvPr/>
            </p:nvSpPr>
            <p:spPr>
              <a:xfrm>
                <a:off x="5536117" y="2619733"/>
                <a:ext cx="1513812" cy="665567"/>
              </a:xfrm>
              <a:prstGeom prst="rect">
                <a:avLst/>
              </a:prstGeom>
              <a:blipFill>
                <a:blip r:embed="rId5"/>
                <a:stretch>
                  <a:fillRect/>
                </a:stretch>
              </a:blipFill>
            </p:spPr>
            <p:txBody>
              <a:bodyPr/>
              <a:lstStyle/>
              <a:p>
                <a:r>
                  <a:rPr lang="en-IN">
                    <a:noFill/>
                  </a:rPr>
                  <a:t> </a:t>
                </a:r>
              </a:p>
            </p:txBody>
          </p:sp>
        </mc:Fallback>
      </mc:AlternateContent>
      <p:sp>
        <p:nvSpPr>
          <p:cNvPr id="22" name="TextBox 21">
            <a:extLst>
              <a:ext uri="{FF2B5EF4-FFF2-40B4-BE49-F238E27FC236}">
                <a16:creationId xmlns:a16="http://schemas.microsoft.com/office/drawing/2014/main" id="{59360175-FF5B-AB54-4D55-45B4351A20F7}"/>
              </a:ext>
            </a:extLst>
          </p:cNvPr>
          <p:cNvSpPr txBox="1"/>
          <p:nvPr/>
        </p:nvSpPr>
        <p:spPr>
          <a:xfrm>
            <a:off x="2313971" y="2252043"/>
            <a:ext cx="7209002" cy="369332"/>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Therefore, the diameter of a random network follows </a:t>
            </a:r>
            <a:endParaRPr lang="en-IN" dirty="0">
              <a:latin typeface="Cambria" panose="02040503050406030204" pitchFamily="18" charset="0"/>
              <a:ea typeface="Cambria" panose="02040503050406030204" pitchFamily="18" charset="0"/>
            </a:endParaRPr>
          </a:p>
        </p:txBody>
      </p:sp>
      <p:sp>
        <p:nvSpPr>
          <p:cNvPr id="23" name="TextBox 22">
            <a:extLst>
              <a:ext uri="{FF2B5EF4-FFF2-40B4-BE49-F238E27FC236}">
                <a16:creationId xmlns:a16="http://schemas.microsoft.com/office/drawing/2014/main" id="{3B893011-CC05-E8C0-2741-47A448011C6D}"/>
              </a:ext>
            </a:extLst>
          </p:cNvPr>
          <p:cNvSpPr txBox="1"/>
          <p:nvPr/>
        </p:nvSpPr>
        <p:spPr>
          <a:xfrm>
            <a:off x="2320462" y="3207760"/>
            <a:ext cx="7209002" cy="369332"/>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Actually, we can write, </a:t>
            </a:r>
            <a:endParaRPr lang="en-IN" dirty="0">
              <a:latin typeface="Cambria" panose="02040503050406030204" pitchFamily="18" charset="0"/>
              <a:ea typeface="Cambria" panose="02040503050406030204" pitchFamily="18" charset="0"/>
            </a:endParaRPr>
          </a:p>
        </p:txBody>
      </p:sp>
      <p:sp>
        <p:nvSpPr>
          <p:cNvPr id="24" name="Title 1">
            <a:extLst>
              <a:ext uri="{FF2B5EF4-FFF2-40B4-BE49-F238E27FC236}">
                <a16:creationId xmlns:a16="http://schemas.microsoft.com/office/drawing/2014/main" id="{B1F2467F-0E17-D393-5EB0-80B774B344E6}"/>
              </a:ext>
            </a:extLst>
          </p:cNvPr>
          <p:cNvSpPr>
            <a:spLocks noGrp="1"/>
          </p:cNvSpPr>
          <p:nvPr>
            <p:ph type="title"/>
          </p:nvPr>
        </p:nvSpPr>
        <p:spPr>
          <a:xfrm>
            <a:off x="1775520" y="-64395"/>
            <a:ext cx="3178696" cy="1143000"/>
          </a:xfrm>
        </p:spPr>
        <p:txBody>
          <a:bodyPr>
            <a:noAutofit/>
          </a:bodyPr>
          <a:lstStyle/>
          <a:p>
            <a:r>
              <a:rPr lang="en-US" sz="2800" dirty="0">
                <a:solidFill>
                  <a:srgbClr val="FF0000"/>
                </a:solidFill>
                <a:latin typeface="Cambria" panose="02040503050406030204" pitchFamily="18" charset="0"/>
                <a:ea typeface="Cambria" panose="02040503050406030204" pitchFamily="18" charset="0"/>
              </a:rPr>
              <a:t>Average pathlength</a:t>
            </a:r>
            <a:endParaRPr lang="en-IN" sz="2800"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8518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animBg="1"/>
      <p:bldP spid="20" grpId="0" animBg="1"/>
      <p:bldP spid="22" grpId="0"/>
      <p:bldP spid="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2578B9C-1556-23EE-27D9-38E963D1D883}"/>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5CA998DB-A21E-8B0D-0242-2552A2B384FD}"/>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93D678C1-27D8-3EA7-426C-F6A5D307077B}"/>
              </a:ext>
            </a:extLst>
          </p:cNvPr>
          <p:cNvSpPr>
            <a:spLocks noGrp="1"/>
          </p:cNvSpPr>
          <p:nvPr>
            <p:ph type="sldNum" sz="quarter" idx="12"/>
          </p:nvPr>
        </p:nvSpPr>
        <p:spPr/>
        <p:txBody>
          <a:bodyPr/>
          <a:lstStyle/>
          <a:p>
            <a:fld id="{40FF48A1-BBC9-46E7-A4CC-5BFD9B1F42DF}" type="slidenum">
              <a:rPr lang="en-IN" smtClean="0"/>
              <a:pPr/>
              <a:t>27</a:t>
            </a:fld>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EE955DD-3371-2350-DECA-2C473E3CD50B}"/>
                  </a:ext>
                </a:extLst>
              </p:cNvPr>
              <p:cNvSpPr txBox="1"/>
              <p:nvPr/>
            </p:nvSpPr>
            <p:spPr>
              <a:xfrm>
                <a:off x="2281705" y="1196752"/>
                <a:ext cx="7560840" cy="1754326"/>
              </a:xfrm>
              <a:prstGeom prst="rect">
                <a:avLst/>
              </a:prstGeom>
              <a:noFill/>
            </p:spPr>
            <p:txBody>
              <a:bodyPr wrap="square">
                <a:spAutoFit/>
              </a:bodyPr>
              <a:lstStyle/>
              <a:p>
                <a:pPr algn="just"/>
                <a:r>
                  <a:rPr lang="en-US" dirty="0">
                    <a:latin typeface="Cambria" panose="02040503050406030204" pitchFamily="18" charset="0"/>
                    <a:ea typeface="Cambria" panose="02040503050406030204" pitchFamily="18" charset="0"/>
                  </a:rPr>
                  <a:t>The dependence of </a:t>
                </a:r>
                <a14:m>
                  <m:oMath xmlns:m="http://schemas.openxmlformats.org/officeDocument/2006/math">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𝑑</m:t>
                    </m:r>
                    <m:r>
                      <a:rPr lang="en-US" i="1" dirty="0">
                        <a:solidFill>
                          <a:srgbClr val="0000FF"/>
                        </a:solidFill>
                        <a:latin typeface="Cambria Math" panose="02040503050406030204" pitchFamily="18" charset="0"/>
                      </a:rPr>
                      <m:t>⟩ </m:t>
                    </m:r>
                    <m:r>
                      <a:rPr lang="en-US" i="1" dirty="0">
                        <a:latin typeface="Cambria Math" panose="02040503050406030204" pitchFamily="18" charset="0"/>
                      </a:rPr>
                      <m:t>𝑜𝑛</m:t>
                    </m:r>
                    <m:r>
                      <a:rPr lang="en-US" i="1" dirty="0">
                        <a:latin typeface="Cambria Math" panose="02040503050406030204" pitchFamily="18" charset="0"/>
                      </a:rPr>
                      <m:t> </m:t>
                    </m:r>
                    <m:r>
                      <a:rPr lang="en-US" i="1" dirty="0" err="1">
                        <a:latin typeface="Cambria Math" panose="02040503050406030204" pitchFamily="18" charset="0"/>
                      </a:rPr>
                      <m:t>𝑙𝑛𝑁</m:t>
                    </m:r>
                    <m:r>
                      <a:rPr lang="en-US" i="1" dirty="0">
                        <a:latin typeface="Cambria Math" panose="02040503050406030204" pitchFamily="18" charset="0"/>
                      </a:rPr>
                      <m:t> </m:t>
                    </m:r>
                  </m:oMath>
                </a14:m>
                <a:r>
                  <a:rPr lang="en-US" dirty="0">
                    <a:latin typeface="Cambria" panose="02040503050406030204" pitchFamily="18" charset="0"/>
                    <a:ea typeface="Cambria" panose="02040503050406030204" pitchFamily="18" charset="0"/>
                  </a:rPr>
                  <a:t>implies that the distances in a random network are </a:t>
                </a:r>
                <a:r>
                  <a:rPr lang="en-US" i="1" dirty="0">
                    <a:solidFill>
                      <a:srgbClr val="00B050"/>
                    </a:solidFill>
                    <a:latin typeface="Cambria" panose="02040503050406030204" pitchFamily="18" charset="0"/>
                    <a:ea typeface="Cambria" panose="02040503050406030204" pitchFamily="18" charset="0"/>
                  </a:rPr>
                  <a:t>orders of magnitude smaller than the size of the network</a:t>
                </a:r>
                <a:r>
                  <a:rPr lang="en-US" dirty="0">
                    <a:latin typeface="Cambria" panose="02040503050406030204" pitchFamily="18" charset="0"/>
                    <a:ea typeface="Cambria" panose="02040503050406030204" pitchFamily="18" charset="0"/>
                  </a:rPr>
                  <a:t>. Consequently, by </a:t>
                </a:r>
                <a:r>
                  <a:rPr lang="en-US" i="1" dirty="0">
                    <a:latin typeface="Cambria" panose="02040503050406030204" pitchFamily="18" charset="0"/>
                    <a:ea typeface="Cambria" panose="02040503050406030204" pitchFamily="18" charset="0"/>
                  </a:rPr>
                  <a:t>small </a:t>
                </a:r>
                <a:r>
                  <a:rPr lang="en-US" dirty="0">
                    <a:latin typeface="Cambria" panose="02040503050406030204" pitchFamily="18" charset="0"/>
                    <a:ea typeface="Cambria" panose="02040503050406030204" pitchFamily="18" charset="0"/>
                  </a:rPr>
                  <a:t>in the "small world phenomenon" </a:t>
                </a:r>
                <a:r>
                  <a:rPr lang="en-US" dirty="0">
                    <a:solidFill>
                      <a:srgbClr val="00B050"/>
                    </a:solidFill>
                    <a:latin typeface="Cambria" panose="02040503050406030204" pitchFamily="18" charset="0"/>
                    <a:ea typeface="Cambria" panose="02040503050406030204" pitchFamily="18" charset="0"/>
                  </a:rPr>
                  <a:t>we mean that </a:t>
                </a:r>
                <a:r>
                  <a:rPr lang="en-US" i="1" dirty="0">
                    <a:solidFill>
                      <a:srgbClr val="00B050"/>
                    </a:solidFill>
                    <a:latin typeface="Cambria" panose="02040503050406030204" pitchFamily="18" charset="0"/>
                    <a:ea typeface="Cambria" panose="02040503050406030204" pitchFamily="18" charset="0"/>
                  </a:rPr>
                  <a:t>the average path length or the diameter depends logarithmically on the system size</a:t>
                </a:r>
                <a:r>
                  <a:rPr lang="en-US" dirty="0">
                    <a:solidFill>
                      <a:srgbClr val="00B050"/>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Hence, “small” means that</a:t>
                </a:r>
                <a:r>
                  <a:rPr lang="en-US" u="sng" dirty="0">
                    <a:latin typeface="Cambria" panose="02040503050406030204" pitchFamily="18" charset="0"/>
                    <a:ea typeface="Cambria" panose="02040503050406030204" pitchFamily="18" charset="0"/>
                  </a:rPr>
                  <a:t> </a:t>
                </a:r>
                <a14:m>
                  <m:oMath xmlns:m="http://schemas.openxmlformats.org/officeDocument/2006/math">
                    <m:r>
                      <a:rPr lang="en-US" i="1" u="sng" dirty="0">
                        <a:solidFill>
                          <a:srgbClr val="0000FF"/>
                        </a:solidFill>
                        <a:latin typeface="Cambria Math" panose="02040503050406030204" pitchFamily="18" charset="0"/>
                      </a:rPr>
                      <m:t>⟨</m:t>
                    </m:r>
                    <m:r>
                      <a:rPr lang="en-US" i="1" u="sng" dirty="0">
                        <a:solidFill>
                          <a:srgbClr val="0000FF"/>
                        </a:solidFill>
                        <a:latin typeface="Cambria Math" panose="02040503050406030204" pitchFamily="18" charset="0"/>
                      </a:rPr>
                      <m:t>𝑑</m:t>
                    </m:r>
                    <m:r>
                      <a:rPr lang="en-US" i="1" u="sng" dirty="0">
                        <a:solidFill>
                          <a:srgbClr val="0000FF"/>
                        </a:solidFill>
                        <a:latin typeface="Cambria Math" panose="02040503050406030204" pitchFamily="18" charset="0"/>
                      </a:rPr>
                      <m:t>⟩ </m:t>
                    </m:r>
                  </m:oMath>
                </a14:m>
                <a:r>
                  <a:rPr lang="en-US" u="sng" dirty="0">
                    <a:latin typeface="Cambria" panose="02040503050406030204" pitchFamily="18" charset="0"/>
                    <a:ea typeface="Cambria" panose="02040503050406030204" pitchFamily="18" charset="0"/>
                  </a:rPr>
                  <a:t>is proportional to</a:t>
                </a:r>
                <a14:m>
                  <m:oMath xmlns:m="http://schemas.openxmlformats.org/officeDocument/2006/math">
                    <m:r>
                      <a:rPr lang="en-US" i="1" u="sng" dirty="0">
                        <a:latin typeface="Cambria Math" panose="02040503050406030204" pitchFamily="18" charset="0"/>
                      </a:rPr>
                      <m:t> </m:t>
                    </m:r>
                    <m:r>
                      <a:rPr lang="en-US" i="1" u="sng" dirty="0">
                        <a:solidFill>
                          <a:srgbClr val="0000FF"/>
                        </a:solidFill>
                        <a:latin typeface="Cambria Math" panose="02040503050406030204" pitchFamily="18" charset="0"/>
                      </a:rPr>
                      <m:t>𝑙𝑛𝑁</m:t>
                    </m:r>
                  </m:oMath>
                </a14:m>
                <a:r>
                  <a:rPr lang="en-US" dirty="0">
                    <a:latin typeface="Cambria" panose="02040503050406030204" pitchFamily="18" charset="0"/>
                    <a:ea typeface="Cambria" panose="02040503050406030204" pitchFamily="18" charset="0"/>
                  </a:rPr>
                  <a:t>, rather than </a:t>
                </a:r>
                <a14:m>
                  <m:oMath xmlns:m="http://schemas.openxmlformats.org/officeDocument/2006/math">
                    <m:r>
                      <a:rPr lang="en-US" i="1" dirty="0">
                        <a:latin typeface="Cambria Math" panose="02040503050406030204" pitchFamily="18" charset="0"/>
                      </a:rPr>
                      <m:t>𝑁</m:t>
                    </m:r>
                  </m:oMath>
                </a14:m>
                <a:r>
                  <a:rPr lang="en-US" i="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or some power of </a:t>
                </a:r>
                <a14:m>
                  <m:oMath xmlns:m="http://schemas.openxmlformats.org/officeDocument/2006/math">
                    <m:r>
                      <a:rPr lang="en-US" i="1" dirty="0">
                        <a:solidFill>
                          <a:srgbClr val="0000FF"/>
                        </a:solidFill>
                        <a:latin typeface="Cambria Math" panose="02040503050406030204" pitchFamily="18" charset="0"/>
                      </a:rPr>
                      <m:t>𝑁</m:t>
                    </m:r>
                  </m:oMath>
                </a14:m>
                <a:r>
                  <a:rPr lang="en-IN" dirty="0">
                    <a:latin typeface="Cambria" panose="02040503050406030204" pitchFamily="18" charset="0"/>
                    <a:ea typeface="Cambria" panose="02040503050406030204" pitchFamily="18" charset="0"/>
                  </a:rPr>
                  <a:t>.</a:t>
                </a:r>
              </a:p>
            </p:txBody>
          </p:sp>
        </mc:Choice>
        <mc:Fallback xmlns="">
          <p:sp>
            <p:nvSpPr>
              <p:cNvPr id="8" name="TextBox 7">
                <a:extLst>
                  <a:ext uri="{FF2B5EF4-FFF2-40B4-BE49-F238E27FC236}">
                    <a16:creationId xmlns:a16="http://schemas.microsoft.com/office/drawing/2014/main" id="{0EE955DD-3371-2350-DECA-2C473E3CD50B}"/>
                  </a:ext>
                </a:extLst>
              </p:cNvPr>
              <p:cNvSpPr txBox="1">
                <a:spLocks noRot="1" noChangeAspect="1" noMove="1" noResize="1" noEditPoints="1" noAdjustHandles="1" noChangeArrowheads="1" noChangeShapeType="1" noTextEdit="1"/>
              </p:cNvSpPr>
              <p:nvPr/>
            </p:nvSpPr>
            <p:spPr>
              <a:xfrm>
                <a:off x="2281705" y="1196752"/>
                <a:ext cx="7560840" cy="1754326"/>
              </a:xfrm>
              <a:prstGeom prst="rect">
                <a:avLst/>
              </a:prstGeom>
              <a:blipFill>
                <a:blip r:embed="rId2"/>
                <a:stretch>
                  <a:fillRect l="-645" t="-2083" r="-645" b="-4167"/>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F708E2F5-1D94-86D5-E8A7-FBC7BBE2E930}"/>
              </a:ext>
            </a:extLst>
          </p:cNvPr>
          <p:cNvSpPr txBox="1"/>
          <p:nvPr/>
        </p:nvSpPr>
        <p:spPr>
          <a:xfrm>
            <a:off x="1981200" y="5890483"/>
            <a:ext cx="2718048" cy="261610"/>
          </a:xfrm>
          <a:prstGeom prst="rect">
            <a:avLst/>
          </a:prstGeom>
          <a:noFill/>
        </p:spPr>
        <p:txBody>
          <a:bodyPr wrap="square">
            <a:spAutoFit/>
          </a:bodyPr>
          <a:lstStyle/>
          <a:p>
            <a:r>
              <a:rPr lang="en-IN" sz="1100" dirty="0"/>
              <a:t>ALBERT-LÁSZLÓ BARABÁSI</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3F224DB-B3D9-2DF0-8472-FE7C0A6943EF}"/>
                  </a:ext>
                </a:extLst>
              </p:cNvPr>
              <p:cNvSpPr txBox="1"/>
              <p:nvPr/>
            </p:nvSpPr>
            <p:spPr>
              <a:xfrm>
                <a:off x="2315377" y="3262970"/>
                <a:ext cx="7895220" cy="809965"/>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The </a:t>
                </a:r>
                <a14:m>
                  <m:oMath xmlns:m="http://schemas.openxmlformats.org/officeDocument/2006/math">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1</m:t>
                        </m:r>
                      </m:num>
                      <m:den>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𝑘</m:t>
                            </m:r>
                            <m:r>
                              <a:rPr lang="en-US" i="1">
                                <a:solidFill>
                                  <a:srgbClr val="0000FF"/>
                                </a:solidFill>
                                <a:latin typeface="Cambria Math" panose="02040503050406030204" pitchFamily="18" charset="0"/>
                              </a:rPr>
                              <m:t>⟩</m:t>
                            </m:r>
                          </m:e>
                        </m:func>
                      </m:den>
                    </m:f>
                    <m:r>
                      <a:rPr lang="en-US" i="1">
                        <a:solidFill>
                          <a:srgbClr val="0000FF"/>
                        </a:solidFill>
                        <a:latin typeface="Cambria Math" panose="02040503050406030204" pitchFamily="18" charset="0"/>
                      </a:rPr>
                      <m:t> </m:t>
                    </m:r>
                  </m:oMath>
                </a14:m>
                <a:r>
                  <a:rPr lang="en-US" dirty="0">
                    <a:latin typeface="Cambria" panose="02040503050406030204" pitchFamily="18" charset="0"/>
                    <a:ea typeface="Cambria" panose="02040503050406030204" pitchFamily="18" charset="0"/>
                  </a:rPr>
                  <a:t>term implies that the denser the network, the smaller is the distance between the nodes.</a:t>
                </a:r>
                <a:endParaRPr lang="en-IN" dirty="0">
                  <a:latin typeface="Cambria" panose="02040503050406030204" pitchFamily="18" charset="0"/>
                  <a:ea typeface="Cambria" panose="02040503050406030204" pitchFamily="18" charset="0"/>
                </a:endParaRPr>
              </a:p>
            </p:txBody>
          </p:sp>
        </mc:Choice>
        <mc:Fallback xmlns="">
          <p:sp>
            <p:nvSpPr>
              <p:cNvPr id="14" name="TextBox 13">
                <a:extLst>
                  <a:ext uri="{FF2B5EF4-FFF2-40B4-BE49-F238E27FC236}">
                    <a16:creationId xmlns:a16="http://schemas.microsoft.com/office/drawing/2014/main" id="{63F224DB-B3D9-2DF0-8472-FE7C0A6943EF}"/>
                  </a:ext>
                </a:extLst>
              </p:cNvPr>
              <p:cNvSpPr txBox="1">
                <a:spLocks noRot="1" noChangeAspect="1" noMove="1" noResize="1" noEditPoints="1" noAdjustHandles="1" noChangeArrowheads="1" noChangeShapeType="1" noTextEdit="1"/>
              </p:cNvSpPr>
              <p:nvPr/>
            </p:nvSpPr>
            <p:spPr>
              <a:xfrm>
                <a:off x="2315377" y="3262970"/>
                <a:ext cx="7895220" cy="809965"/>
              </a:xfrm>
              <a:prstGeom prst="rect">
                <a:avLst/>
              </a:prstGeom>
              <a:blipFill>
                <a:blip r:embed="rId3"/>
                <a:stretch>
                  <a:fillRect l="-695" b="-9023"/>
                </a:stretch>
              </a:blipFill>
            </p:spPr>
            <p:txBody>
              <a:bodyPr/>
              <a:lstStyle/>
              <a:p>
                <a:r>
                  <a:rPr lang="en-IN">
                    <a:noFill/>
                  </a:rPr>
                  <a:t> </a:t>
                </a:r>
              </a:p>
            </p:txBody>
          </p:sp>
        </mc:Fallback>
      </mc:AlternateContent>
      <p:sp>
        <p:nvSpPr>
          <p:cNvPr id="15" name="Title 1">
            <a:extLst>
              <a:ext uri="{FF2B5EF4-FFF2-40B4-BE49-F238E27FC236}">
                <a16:creationId xmlns:a16="http://schemas.microsoft.com/office/drawing/2014/main" id="{2B252EE1-DA28-FFE4-C4CD-949C7CE71117}"/>
              </a:ext>
            </a:extLst>
          </p:cNvPr>
          <p:cNvSpPr>
            <a:spLocks noGrp="1"/>
          </p:cNvSpPr>
          <p:nvPr>
            <p:ph type="title"/>
          </p:nvPr>
        </p:nvSpPr>
        <p:spPr>
          <a:xfrm>
            <a:off x="1981200" y="260648"/>
            <a:ext cx="3178696" cy="1143000"/>
          </a:xfrm>
        </p:spPr>
        <p:txBody>
          <a:bodyPr>
            <a:noAutofit/>
          </a:bodyPr>
          <a:lstStyle/>
          <a:p>
            <a:r>
              <a:rPr lang="en-US" sz="2800" dirty="0">
                <a:solidFill>
                  <a:srgbClr val="FF0000"/>
                </a:solidFill>
                <a:latin typeface="Cambria" panose="02040503050406030204" pitchFamily="18" charset="0"/>
                <a:ea typeface="Cambria" panose="02040503050406030204" pitchFamily="18" charset="0"/>
              </a:rPr>
              <a:t>Average pathlength</a:t>
            </a:r>
            <a:endParaRPr lang="en-IN" sz="2800" dirty="0">
              <a:solidFill>
                <a:srgbClr val="FF0000"/>
              </a:solidFill>
              <a:latin typeface="Cambria" panose="02040503050406030204" pitchFamily="18" charset="0"/>
              <a:ea typeface="Cambria" panose="02040503050406030204" pitchFamily="18" charset="0"/>
            </a:endParaRPr>
          </a:p>
        </p:txBody>
      </p:sp>
      <p:pic>
        <p:nvPicPr>
          <p:cNvPr id="17" name="Picture 16">
            <a:extLst>
              <a:ext uri="{FF2B5EF4-FFF2-40B4-BE49-F238E27FC236}">
                <a16:creationId xmlns:a16="http://schemas.microsoft.com/office/drawing/2014/main" id="{1ECDB20C-2CF1-E865-B8C3-0A05C4205DBF}"/>
              </a:ext>
            </a:extLst>
          </p:cNvPr>
          <p:cNvPicPr>
            <a:picLocks noChangeAspect="1"/>
          </p:cNvPicPr>
          <p:nvPr/>
        </p:nvPicPr>
        <p:blipFill>
          <a:blip r:embed="rId4"/>
          <a:stretch>
            <a:fillRect/>
          </a:stretch>
        </p:blipFill>
        <p:spPr>
          <a:xfrm>
            <a:off x="5879976" y="3787014"/>
            <a:ext cx="3655224" cy="2592055"/>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813FC43-2D8B-96E3-511A-80F97C3D6F18}"/>
                  </a:ext>
                </a:extLst>
              </p:cNvPr>
              <p:cNvSpPr txBox="1"/>
              <p:nvPr/>
            </p:nvSpPr>
            <p:spPr>
              <a:xfrm>
                <a:off x="4136098" y="4750257"/>
                <a:ext cx="1422634" cy="66556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14:m>
                  <m:oMathPara xmlns:m="http://schemas.openxmlformats.org/officeDocument/2006/math">
                    <m:oMath>
                      <m:d>
                        <m:dPr>
                          <m:begChr m:val="⟨"/>
                          <m:endChr m:val="⟩"/>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𝑑</m:t>
                          </m:r>
                        </m:e>
                      </m:d>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𝑁</m:t>
                              </m:r>
                              <m:r>
                                <a:rPr lang="en-US" i="1">
                                  <a:solidFill>
                                    <a:srgbClr val="0000FF"/>
                                  </a:solidFill>
                                  <a:latin typeface="Cambria Math" panose="02040503050406030204" pitchFamily="18" charset="0"/>
                                </a:rPr>
                                <m:t> </m:t>
                              </m:r>
                            </m:e>
                          </m:func>
                        </m:num>
                        <m:den>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𝑘</m:t>
                              </m:r>
                              <m:r>
                                <a:rPr lang="en-US" i="1">
                                  <a:solidFill>
                                    <a:srgbClr val="0000FF"/>
                                  </a:solidFill>
                                  <a:latin typeface="Cambria Math" panose="02040503050406030204" pitchFamily="18" charset="0"/>
                                </a:rPr>
                                <m:t>⟩</m:t>
                              </m:r>
                            </m:e>
                          </m:func>
                        </m:den>
                      </m:f>
                      <m:r>
                        <a:rPr lang="en-US" i="1">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8" name="TextBox 17">
                <a:extLst>
                  <a:ext uri="{FF2B5EF4-FFF2-40B4-BE49-F238E27FC236}">
                    <a16:creationId xmlns:a16="http://schemas.microsoft.com/office/drawing/2014/main" id="{8813FC43-2D8B-96E3-511A-80F97C3D6F18}"/>
                  </a:ext>
                </a:extLst>
              </p:cNvPr>
              <p:cNvSpPr txBox="1">
                <a:spLocks noRot="1" noChangeAspect="1" noMove="1" noResize="1" noEditPoints="1" noAdjustHandles="1" noChangeArrowheads="1" noChangeShapeType="1" noTextEdit="1"/>
              </p:cNvSpPr>
              <p:nvPr/>
            </p:nvSpPr>
            <p:spPr>
              <a:xfrm>
                <a:off x="4136098" y="4750257"/>
                <a:ext cx="1422634" cy="665567"/>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89717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6455B-7FE9-7B92-4FF2-93439CF5214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65B6E7-E9AD-AF7F-5BD8-B1A98DE6FF33}"/>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E8A8CA55-65DE-D99E-F0A3-9D7824AE47D4}"/>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F27ED048-2837-2442-7D48-3632957D2826}"/>
              </a:ext>
            </a:extLst>
          </p:cNvPr>
          <p:cNvSpPr>
            <a:spLocks noGrp="1"/>
          </p:cNvSpPr>
          <p:nvPr>
            <p:ph type="sldNum" sz="quarter" idx="12"/>
          </p:nvPr>
        </p:nvSpPr>
        <p:spPr/>
        <p:txBody>
          <a:bodyPr/>
          <a:lstStyle/>
          <a:p>
            <a:fld id="{40FF48A1-BBC9-46E7-A4CC-5BFD9B1F42DF}" type="slidenum">
              <a:rPr lang="en-IN" smtClean="0"/>
              <a:pPr/>
              <a:t>28</a:t>
            </a:fld>
            <a:endParaRPr lang="en-IN"/>
          </a:p>
        </p:txBody>
      </p:sp>
      <p:sp>
        <p:nvSpPr>
          <p:cNvPr id="12" name="TextBox 11">
            <a:extLst>
              <a:ext uri="{FF2B5EF4-FFF2-40B4-BE49-F238E27FC236}">
                <a16:creationId xmlns:a16="http://schemas.microsoft.com/office/drawing/2014/main" id="{424624DB-6607-C679-80B8-02E07BFB1C2B}"/>
              </a:ext>
            </a:extLst>
          </p:cNvPr>
          <p:cNvSpPr txBox="1"/>
          <p:nvPr/>
        </p:nvSpPr>
        <p:spPr>
          <a:xfrm>
            <a:off x="1981200" y="5890483"/>
            <a:ext cx="2718048" cy="261610"/>
          </a:xfrm>
          <a:prstGeom prst="rect">
            <a:avLst/>
          </a:prstGeom>
          <a:noFill/>
        </p:spPr>
        <p:txBody>
          <a:bodyPr wrap="square">
            <a:spAutoFit/>
          </a:bodyPr>
          <a:lstStyle/>
          <a:p>
            <a:r>
              <a:rPr lang="en-IN" sz="1100" dirty="0"/>
              <a:t>ALBERT-LÁSZLÓ BARABÁSI</a:t>
            </a:r>
          </a:p>
        </p:txBody>
      </p:sp>
      <p:sp>
        <p:nvSpPr>
          <p:cNvPr id="15" name="Title 1">
            <a:extLst>
              <a:ext uri="{FF2B5EF4-FFF2-40B4-BE49-F238E27FC236}">
                <a16:creationId xmlns:a16="http://schemas.microsoft.com/office/drawing/2014/main" id="{995342B2-D8C7-DB9B-D520-D14B9E4FC2B4}"/>
              </a:ext>
            </a:extLst>
          </p:cNvPr>
          <p:cNvSpPr>
            <a:spLocks noGrp="1"/>
          </p:cNvSpPr>
          <p:nvPr>
            <p:ph type="title"/>
          </p:nvPr>
        </p:nvSpPr>
        <p:spPr>
          <a:xfrm>
            <a:off x="1541106" y="134407"/>
            <a:ext cx="3178696" cy="1143000"/>
          </a:xfrm>
        </p:spPr>
        <p:txBody>
          <a:bodyPr>
            <a:noAutofit/>
          </a:bodyPr>
          <a:lstStyle/>
          <a:p>
            <a:r>
              <a:rPr lang="en-US" sz="2800" dirty="0">
                <a:solidFill>
                  <a:srgbClr val="FF0000"/>
                </a:solidFill>
                <a:latin typeface="Cambria" panose="02040503050406030204" pitchFamily="18" charset="0"/>
                <a:ea typeface="Cambria" panose="02040503050406030204" pitchFamily="18" charset="0"/>
              </a:rPr>
              <a:t>Average pathlength</a:t>
            </a:r>
            <a:endParaRPr lang="en-IN" sz="2800" dirty="0">
              <a:solidFill>
                <a:srgbClr val="FF0000"/>
              </a:solidFill>
              <a:latin typeface="Cambria" panose="02040503050406030204" pitchFamily="18" charset="0"/>
              <a:ea typeface="Cambria" panose="02040503050406030204" pitchFamily="18" charset="0"/>
            </a:endParaRPr>
          </a:p>
        </p:txBody>
      </p:sp>
      <p:pic>
        <p:nvPicPr>
          <p:cNvPr id="17" name="Picture 16">
            <a:extLst>
              <a:ext uri="{FF2B5EF4-FFF2-40B4-BE49-F238E27FC236}">
                <a16:creationId xmlns:a16="http://schemas.microsoft.com/office/drawing/2014/main" id="{798D91F2-91E4-1857-F850-9769D327836E}"/>
              </a:ext>
            </a:extLst>
          </p:cNvPr>
          <p:cNvPicPr>
            <a:picLocks noChangeAspect="1"/>
          </p:cNvPicPr>
          <p:nvPr/>
        </p:nvPicPr>
        <p:blipFill>
          <a:blip r:embed="rId2"/>
          <a:stretch>
            <a:fillRect/>
          </a:stretch>
        </p:blipFill>
        <p:spPr>
          <a:xfrm>
            <a:off x="6744072" y="260649"/>
            <a:ext cx="3655224" cy="2592055"/>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68EF2C6-4870-D434-03A1-913CC6455B4D}"/>
                  </a:ext>
                </a:extLst>
              </p:cNvPr>
              <p:cNvSpPr txBox="1"/>
              <p:nvPr/>
            </p:nvSpPr>
            <p:spPr>
              <a:xfrm>
                <a:off x="2336683" y="1464423"/>
                <a:ext cx="1422634" cy="66556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14:m>
                  <m:oMathPara xmlns:m="http://schemas.openxmlformats.org/officeDocument/2006/math">
                    <m:oMath>
                      <m:d>
                        <m:dPr>
                          <m:begChr m:val="⟨"/>
                          <m:endChr m:val="⟩"/>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𝑑</m:t>
                          </m:r>
                        </m:e>
                      </m:d>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𝑁</m:t>
                              </m:r>
                              <m:r>
                                <a:rPr lang="en-US" i="1">
                                  <a:solidFill>
                                    <a:srgbClr val="0000FF"/>
                                  </a:solidFill>
                                  <a:latin typeface="Cambria Math" panose="02040503050406030204" pitchFamily="18" charset="0"/>
                                </a:rPr>
                                <m:t> </m:t>
                              </m:r>
                            </m:e>
                          </m:func>
                        </m:num>
                        <m:den>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𝑘</m:t>
                              </m:r>
                              <m:r>
                                <a:rPr lang="en-US" i="1">
                                  <a:solidFill>
                                    <a:srgbClr val="0000FF"/>
                                  </a:solidFill>
                                  <a:latin typeface="Cambria Math" panose="02040503050406030204" pitchFamily="18" charset="0"/>
                                </a:rPr>
                                <m:t>⟩</m:t>
                              </m:r>
                            </m:e>
                          </m:func>
                        </m:den>
                      </m:f>
                      <m:r>
                        <a:rPr lang="en-US" i="1">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8" name="TextBox 17">
                <a:extLst>
                  <a:ext uri="{FF2B5EF4-FFF2-40B4-BE49-F238E27FC236}">
                    <a16:creationId xmlns:a16="http://schemas.microsoft.com/office/drawing/2014/main" id="{A68EF2C6-4870-D434-03A1-913CC6455B4D}"/>
                  </a:ext>
                </a:extLst>
              </p:cNvPr>
              <p:cNvSpPr txBox="1">
                <a:spLocks noRot="1" noChangeAspect="1" noMove="1" noResize="1" noEditPoints="1" noAdjustHandles="1" noChangeArrowheads="1" noChangeShapeType="1" noTextEdit="1"/>
              </p:cNvSpPr>
              <p:nvPr/>
            </p:nvSpPr>
            <p:spPr>
              <a:xfrm>
                <a:off x="2336683" y="1464423"/>
                <a:ext cx="1422634" cy="665567"/>
              </a:xfrm>
              <a:prstGeom prst="rect">
                <a:avLst/>
              </a:prstGeom>
              <a:blipFill>
                <a:blip r:embed="rId3"/>
                <a:stretch>
                  <a:fillRect/>
                </a:stretch>
              </a:blipFill>
            </p:spPr>
            <p:txBody>
              <a:bodyPr/>
              <a:lstStyle/>
              <a:p>
                <a:r>
                  <a:rPr lang="en-IN">
                    <a:noFill/>
                  </a:rPr>
                  <a:t> </a:t>
                </a:r>
              </a:p>
            </p:txBody>
          </p:sp>
        </mc:Fallback>
      </mc:AlternateContent>
      <p:pic>
        <p:nvPicPr>
          <p:cNvPr id="3" name="Picture 2">
            <a:extLst>
              <a:ext uri="{FF2B5EF4-FFF2-40B4-BE49-F238E27FC236}">
                <a16:creationId xmlns:a16="http://schemas.microsoft.com/office/drawing/2014/main" id="{789A55D5-75D4-9FCF-5442-B22559CFE87D}"/>
              </a:ext>
            </a:extLst>
          </p:cNvPr>
          <p:cNvPicPr>
            <a:picLocks noChangeAspect="1"/>
          </p:cNvPicPr>
          <p:nvPr/>
        </p:nvPicPr>
        <p:blipFill>
          <a:blip r:embed="rId4"/>
          <a:stretch>
            <a:fillRect/>
          </a:stretch>
        </p:blipFill>
        <p:spPr>
          <a:xfrm>
            <a:off x="2128448" y="3019637"/>
            <a:ext cx="7639961" cy="3433164"/>
          </a:xfrm>
          <a:prstGeom prst="rect">
            <a:avLst/>
          </a:prstGeom>
        </p:spPr>
      </p:pic>
      <p:sp>
        <p:nvSpPr>
          <p:cNvPr id="2" name="Rectangle 1">
            <a:extLst>
              <a:ext uri="{FF2B5EF4-FFF2-40B4-BE49-F238E27FC236}">
                <a16:creationId xmlns:a16="http://schemas.microsoft.com/office/drawing/2014/main" id="{24835BD7-4074-72DF-602A-F6723451AFC4}"/>
              </a:ext>
            </a:extLst>
          </p:cNvPr>
          <p:cNvSpPr/>
          <p:nvPr/>
        </p:nvSpPr>
        <p:spPr>
          <a:xfrm>
            <a:off x="2336683" y="4696849"/>
            <a:ext cx="7143693" cy="26161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07873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Breadth-first shells: counting outward from a root</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30</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IV  ·  Distances, Correlations, Clustering</a:t>
            </a:r>
            <a:endParaRPr lang="en-US" sz="1000" dirty="0"/>
          </a:p>
        </p:txBody>
      </p:sp>
      <p:pic>
        <p:nvPicPr>
          <p:cNvPr id="6" name="Image 0" descr="/home/claude/figs/11_bfs_shells.png"/>
          <p:cNvPicPr>
            <a:picLocks noChangeAspect="1"/>
          </p:cNvPicPr>
          <p:nvPr/>
        </p:nvPicPr>
        <p:blipFill>
          <a:blip r:embed="rId3"/>
          <a:stretch>
            <a:fillRect/>
          </a:stretch>
        </p:blipFill>
        <p:spPr>
          <a:xfrm>
            <a:off x="566928" y="1172678"/>
            <a:ext cx="4343400" cy="3897426"/>
          </a:xfrm>
          <a:prstGeom prst="rect">
            <a:avLst/>
          </a:prstGeom>
        </p:spPr>
      </p:pic>
      <p:sp>
        <p:nvSpPr>
          <p:cNvPr id="7" name="Shape 4"/>
          <p:cNvSpPr/>
          <p:nvPr/>
        </p:nvSpPr>
        <p:spPr>
          <a:xfrm>
            <a:off x="5184648" y="1188720"/>
            <a:ext cx="6446520" cy="932688"/>
          </a:xfrm>
          <a:prstGeom prst="roundRect">
            <a:avLst>
              <a:gd name="adj" fmla="val 5882"/>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5404104" y="1280160"/>
            <a:ext cx="59436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SHELL SIZES BY INDUCTION</a:t>
            </a:r>
            <a:endParaRPr lang="en-US" sz="1050" dirty="0"/>
          </a:p>
        </p:txBody>
      </p:sp>
      <p:pic>
        <p:nvPicPr>
          <p:cNvPr id="9" name="Image 1" descr="/home/claude/eq/bfs_levels.png"/>
          <p:cNvPicPr>
            <a:picLocks noChangeAspect="1"/>
          </p:cNvPicPr>
          <p:nvPr/>
        </p:nvPicPr>
        <p:blipFill>
          <a:blip r:embed="rId4"/>
          <a:stretch>
            <a:fillRect/>
          </a:stretch>
        </p:blipFill>
        <p:spPr>
          <a:xfrm>
            <a:off x="5404104" y="1517904"/>
            <a:ext cx="5989320" cy="357127"/>
          </a:xfrm>
          <a:prstGeom prst="rect">
            <a:avLst/>
          </a:prstGeom>
        </p:spPr>
      </p:pic>
      <p:sp>
        <p:nvSpPr>
          <p:cNvPr id="10" name="Text 6"/>
          <p:cNvSpPr txBox="1"/>
          <p:nvPr/>
        </p:nvSpPr>
        <p:spPr>
          <a:xfrm>
            <a:off x="5184648" y="2212848"/>
            <a:ext cx="6446520" cy="1426464"/>
          </a:xfrm>
          <a:prstGeom prst="rect">
            <a:avLst/>
          </a:prstGeom>
          <a:noFill/>
          <a:ln/>
        </p:spPr>
        <p:txBody>
          <a:bodyPr wrap="square" rtlCol="0" anchor="t"/>
          <a:lstStyle/>
          <a:p>
            <a:pPr marL="342900" indent="-342900">
              <a:lnSpc>
                <a:spcPct val="106000"/>
              </a:lnSpc>
              <a:spcAft>
                <a:spcPts val="900"/>
              </a:spcAft>
              <a:buSzPct val="100000"/>
              <a:buChar char="•"/>
            </a:pPr>
            <a:r>
              <a:rPr lang="en-US" sz="1250" dirty="0">
                <a:solidFill>
                  <a:srgbClr val="12203A"/>
                </a:solidFill>
                <a:latin typeface="Calibri" pitchFamily="34" charset="0"/>
                <a:ea typeface="Calibri" pitchFamily="34" charset="-122"/>
                <a:cs typeface="Calibri" pitchFamily="34" charset="-120"/>
              </a:rPr>
              <a:t>Level 0 is the source itself. Level 1 contains its ⟨k⟩ immediate neighbours in expectation.</a:t>
            </a:r>
            <a:endParaRPr lang="en-US" sz="1250" dirty="0"/>
          </a:p>
          <a:p>
            <a:pPr marL="342900" indent="-342900">
              <a:lnSpc>
                <a:spcPct val="106000"/>
              </a:lnSpc>
              <a:spcAft>
                <a:spcPts val="900"/>
              </a:spcAft>
              <a:buSzPct val="100000"/>
              <a:buChar char="•"/>
            </a:pPr>
            <a:r>
              <a:rPr lang="en-US" sz="1250" dirty="0">
                <a:solidFill>
                  <a:srgbClr val="12203A"/>
                </a:solidFill>
                <a:latin typeface="Calibri" pitchFamily="34" charset="0"/>
                <a:ea typeface="Calibri" pitchFamily="34" charset="-122"/>
                <a:cs typeface="Calibri" pitchFamily="34" charset="-120"/>
              </a:rPr>
              <a:t>Each level-1 node has ⟨k⟩ further neighbours. If none of them were already seen, level 2 has ⟨k⟩² nodes.</a:t>
            </a:r>
            <a:endParaRPr lang="en-US" sz="1250" dirty="0"/>
          </a:p>
          <a:p>
            <a:pPr marL="342900" indent="-342900">
              <a:lnSpc>
                <a:spcPct val="106000"/>
              </a:lnSpc>
              <a:spcAft>
                <a:spcPts val="900"/>
              </a:spcAft>
              <a:buSzPct val="100000"/>
              <a:buChar char="•"/>
            </a:pPr>
            <a:r>
              <a:rPr lang="en-US" sz="1250" dirty="0">
                <a:solidFill>
                  <a:srgbClr val="12203A"/>
                </a:solidFill>
                <a:latin typeface="Calibri" pitchFamily="34" charset="0"/>
                <a:ea typeface="Calibri" pitchFamily="34" charset="-122"/>
                <a:cs typeface="Calibri" pitchFamily="34" charset="-120"/>
              </a:rPr>
              <a:t>The correction is the probability that an edge points back into an already-visited node — a shortcut. In a sparse graph:</a:t>
            </a:r>
            <a:endParaRPr lang="en-US" sz="1250" dirty="0"/>
          </a:p>
        </p:txBody>
      </p:sp>
      <p:sp>
        <p:nvSpPr>
          <p:cNvPr id="11" name="Shape 7"/>
          <p:cNvSpPr/>
          <p:nvPr/>
        </p:nvSpPr>
        <p:spPr>
          <a:xfrm>
            <a:off x="5184648" y="3694176"/>
            <a:ext cx="6446520" cy="658368"/>
          </a:xfrm>
          <a:prstGeom prst="roundRect">
            <a:avLst>
              <a:gd name="adj" fmla="val 8333"/>
            </a:avLst>
          </a:prstGeom>
          <a:solidFill>
            <a:srgbClr val="E4F0EE"/>
          </a:solidFill>
          <a:ln w="15875">
            <a:solidFill>
              <a:srgbClr val="0E6F66"/>
            </a:solidFill>
            <a:prstDash val="solid"/>
          </a:ln>
        </p:spPr>
        <p:txBody>
          <a:bodyPr/>
          <a:lstStyle/>
          <a:p>
            <a:endParaRPr lang="en-IN"/>
          </a:p>
        </p:txBody>
      </p:sp>
      <p:pic>
        <p:nvPicPr>
          <p:cNvPr id="12" name="Image 2" descr="/home/claude/eq/bfs_backedge.png"/>
          <p:cNvPicPr>
            <a:picLocks noChangeAspect="1"/>
          </p:cNvPicPr>
          <p:nvPr/>
        </p:nvPicPr>
        <p:blipFill>
          <a:blip r:embed="rId5"/>
          <a:stretch>
            <a:fillRect/>
          </a:stretch>
        </p:blipFill>
        <p:spPr>
          <a:xfrm>
            <a:off x="6655308" y="3767328"/>
            <a:ext cx="3486912" cy="512064"/>
          </a:xfrm>
          <a:prstGeom prst="rect">
            <a:avLst/>
          </a:prstGeom>
        </p:spPr>
      </p:pic>
      <p:sp>
        <p:nvSpPr>
          <p:cNvPr id="13" name="Shape 8"/>
          <p:cNvSpPr/>
          <p:nvPr/>
        </p:nvSpPr>
        <p:spPr>
          <a:xfrm>
            <a:off x="5184648" y="4498848"/>
            <a:ext cx="6446520" cy="1280160"/>
          </a:xfrm>
          <a:prstGeom prst="roundRect">
            <a:avLst>
              <a:gd name="adj" fmla="val 4286"/>
            </a:avLst>
          </a:prstGeom>
          <a:solidFill>
            <a:srgbClr val="F4F6F9"/>
          </a:solidFill>
          <a:ln w="12700">
            <a:solidFill>
              <a:srgbClr val="333333"/>
            </a:solidFill>
            <a:prstDash val="solid"/>
          </a:ln>
        </p:spPr>
        <p:txBody>
          <a:bodyPr/>
          <a:lstStyle/>
          <a:p>
            <a:endParaRPr lang="en-IN"/>
          </a:p>
        </p:txBody>
      </p:sp>
      <p:sp>
        <p:nvSpPr>
          <p:cNvPr id="14" name="Text 9"/>
          <p:cNvSpPr txBox="1"/>
          <p:nvPr/>
        </p:nvSpPr>
        <p:spPr>
          <a:xfrm>
            <a:off x="5404104" y="4590288"/>
            <a:ext cx="5989320" cy="256032"/>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The same tree assumption, used a second time</a:t>
            </a:r>
            <a:endParaRPr lang="en-US" sz="1300" dirty="0"/>
          </a:p>
        </p:txBody>
      </p:sp>
      <p:sp>
        <p:nvSpPr>
          <p:cNvPr id="15" name="Text 10"/>
          <p:cNvSpPr txBox="1"/>
          <p:nvPr/>
        </p:nvSpPr>
        <p:spPr>
          <a:xfrm>
            <a:off x="5404104" y="4864608"/>
            <a:ext cx="5989320" cy="859536"/>
          </a:xfrm>
          <a:prstGeom prst="rect">
            <a:avLst/>
          </a:prstGeom>
          <a:noFill/>
          <a:ln/>
        </p:spPr>
        <p:txBody>
          <a:bodyPr wrap="square" lIns="0" tIns="0" rIns="0" bIns="0" rtlCol="0" anchor="ctr"/>
          <a:lstStyle/>
          <a:p>
            <a:pPr marL="0" indent="0">
              <a:lnSpc>
                <a:spcPct val="98000"/>
              </a:lnSpc>
              <a:buNone/>
            </a:pPr>
            <a:r>
              <a:rPr lang="en-US" sz="1150" dirty="0">
                <a:solidFill>
                  <a:srgbClr val="12203A"/>
                </a:solidFill>
                <a:latin typeface="Calibri" pitchFamily="34" charset="0"/>
                <a:ea typeface="Calibri" pitchFamily="34" charset="-122"/>
                <a:cs typeface="Calibri" pitchFamily="34" charset="-120"/>
              </a:rPr>
              <a:t>Ignoring back-edges is legitimate for the same reason the giant-component derivation could treat neighbours as independent: locally, a sparse random graph looks like a tree. The shells therefore grow geometrically, and a geometric growth process reaches n nodes in logarithmically many steps. That single observation is the entire small-world result.</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RESULT</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small-world property, quantified</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31</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IV  ·  Distances, Correlations, Clustering</a:t>
            </a:r>
            <a:endParaRPr lang="en-US" sz="1000" dirty="0"/>
          </a:p>
        </p:txBody>
      </p:sp>
      <p:pic>
        <p:nvPicPr>
          <p:cNvPr id="6" name="Image 0" descr="/home/claude/figs/10_pathlength.png"/>
          <p:cNvPicPr>
            <a:picLocks noChangeAspect="1"/>
          </p:cNvPicPr>
          <p:nvPr/>
        </p:nvPicPr>
        <p:blipFill>
          <a:blip r:embed="rId3"/>
          <a:stretch>
            <a:fillRect/>
          </a:stretch>
        </p:blipFill>
        <p:spPr>
          <a:xfrm>
            <a:off x="566928" y="1152144"/>
            <a:ext cx="6302489" cy="4023360"/>
          </a:xfrm>
          <a:prstGeom prst="rect">
            <a:avLst/>
          </a:prstGeom>
        </p:spPr>
      </p:pic>
      <p:sp>
        <p:nvSpPr>
          <p:cNvPr id="7" name="Shape 4"/>
          <p:cNvSpPr/>
          <p:nvPr/>
        </p:nvSpPr>
        <p:spPr>
          <a:xfrm>
            <a:off x="566928" y="5266944"/>
            <a:ext cx="6537960" cy="530352"/>
          </a:xfrm>
          <a:prstGeom prst="roundRect">
            <a:avLst>
              <a:gd name="adj" fmla="val 10345"/>
            </a:avLst>
          </a:prstGeom>
          <a:solidFill>
            <a:srgbClr val="F4F6F9"/>
          </a:solidFill>
          <a:ln w="12700">
            <a:solidFill>
              <a:srgbClr val="333333"/>
            </a:solidFill>
            <a:prstDash val="solid"/>
          </a:ln>
        </p:spPr>
        <p:txBody>
          <a:bodyPr/>
          <a:lstStyle/>
          <a:p>
            <a:endParaRPr lang="en-IN"/>
          </a:p>
        </p:txBody>
      </p:sp>
      <p:pic>
        <p:nvPicPr>
          <p:cNvPr id="8" name="Image 1" descr="/home/claude/eq/diam.png"/>
          <p:cNvPicPr>
            <a:picLocks noChangeAspect="1"/>
          </p:cNvPicPr>
          <p:nvPr/>
        </p:nvPicPr>
        <p:blipFill>
          <a:blip r:embed="rId4"/>
          <a:stretch>
            <a:fillRect/>
          </a:stretch>
        </p:blipFill>
        <p:spPr>
          <a:xfrm>
            <a:off x="2493300" y="5321808"/>
            <a:ext cx="2685216" cy="420624"/>
          </a:xfrm>
          <a:prstGeom prst="rect">
            <a:avLst/>
          </a:prstGeom>
        </p:spPr>
      </p:pic>
      <p:sp>
        <p:nvSpPr>
          <p:cNvPr id="9" name="Shape 5"/>
          <p:cNvSpPr/>
          <p:nvPr/>
        </p:nvSpPr>
        <p:spPr>
          <a:xfrm>
            <a:off x="7397496" y="1152144"/>
            <a:ext cx="4233672" cy="1060704"/>
          </a:xfrm>
          <a:prstGeom prst="roundRect">
            <a:avLst>
              <a:gd name="adj" fmla="val 5172"/>
            </a:avLst>
          </a:prstGeom>
          <a:solidFill>
            <a:srgbClr val="FBEBE8"/>
          </a:solidFill>
          <a:ln w="15875">
            <a:solidFill>
              <a:srgbClr val="C0392B"/>
            </a:solidFill>
            <a:prstDash val="solid"/>
          </a:ln>
        </p:spPr>
        <p:txBody>
          <a:bodyPr/>
          <a:lstStyle/>
          <a:p>
            <a:endParaRPr lang="en-IN"/>
          </a:p>
        </p:txBody>
      </p:sp>
      <p:sp>
        <p:nvSpPr>
          <p:cNvPr id="10" name="Text 6"/>
          <p:cNvSpPr txBox="1"/>
          <p:nvPr/>
        </p:nvSpPr>
        <p:spPr>
          <a:xfrm>
            <a:off x="7616952" y="1261872"/>
            <a:ext cx="379476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AVERAGE PATH LENGTH</a:t>
            </a:r>
            <a:endParaRPr lang="en-US" sz="1050" dirty="0"/>
          </a:p>
        </p:txBody>
      </p:sp>
      <p:pic>
        <p:nvPicPr>
          <p:cNvPr id="11" name="Image 2" descr="/home/claude/eq/pathlen.png"/>
          <p:cNvPicPr>
            <a:picLocks noChangeAspect="1"/>
          </p:cNvPicPr>
          <p:nvPr/>
        </p:nvPicPr>
        <p:blipFill>
          <a:blip r:embed="rId5"/>
          <a:stretch>
            <a:fillRect/>
          </a:stretch>
        </p:blipFill>
        <p:spPr>
          <a:xfrm>
            <a:off x="8939333" y="1536192"/>
            <a:ext cx="1149998" cy="512064"/>
          </a:xfrm>
          <a:prstGeom prst="rect">
            <a:avLst/>
          </a:prstGeom>
        </p:spPr>
      </p:pic>
      <p:sp>
        <p:nvSpPr>
          <p:cNvPr id="12" name="Shape 7"/>
          <p:cNvSpPr/>
          <p:nvPr/>
        </p:nvSpPr>
        <p:spPr>
          <a:xfrm>
            <a:off x="7397496" y="2359152"/>
            <a:ext cx="4233672" cy="841248"/>
          </a:xfrm>
          <a:prstGeom prst="roundRect">
            <a:avLst>
              <a:gd name="adj" fmla="val 6522"/>
            </a:avLst>
          </a:prstGeom>
          <a:solidFill>
            <a:srgbClr val="F4F6F9"/>
          </a:solidFill>
          <a:ln w="12700">
            <a:solidFill>
              <a:srgbClr val="333333"/>
            </a:solidFill>
            <a:prstDash val="solid"/>
          </a:ln>
        </p:spPr>
        <p:txBody>
          <a:bodyPr/>
          <a:lstStyle/>
          <a:p>
            <a:endParaRPr lang="en-IN"/>
          </a:p>
        </p:txBody>
      </p:sp>
      <p:sp>
        <p:nvSpPr>
          <p:cNvPr id="13" name="Text 8"/>
          <p:cNvSpPr txBox="1"/>
          <p:nvPr/>
        </p:nvSpPr>
        <p:spPr>
          <a:xfrm>
            <a:off x="7616952" y="2450592"/>
            <a:ext cx="3794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WORKED EXAMPLE</a:t>
            </a:r>
            <a:endParaRPr lang="en-US" sz="1050" dirty="0"/>
          </a:p>
        </p:txBody>
      </p:sp>
      <p:pic>
        <p:nvPicPr>
          <p:cNvPr id="14" name="Image 3" descr="/home/claude/eq/pathlen_num.png"/>
          <p:cNvPicPr>
            <a:picLocks noChangeAspect="1"/>
          </p:cNvPicPr>
          <p:nvPr/>
        </p:nvPicPr>
        <p:blipFill>
          <a:blip r:embed="rId6"/>
          <a:stretch>
            <a:fillRect/>
          </a:stretch>
        </p:blipFill>
        <p:spPr>
          <a:xfrm>
            <a:off x="7884087" y="2670048"/>
            <a:ext cx="3260489" cy="438912"/>
          </a:xfrm>
          <a:prstGeom prst="rect">
            <a:avLst/>
          </a:prstGeom>
        </p:spPr>
      </p:pic>
      <p:sp>
        <p:nvSpPr>
          <p:cNvPr id="15" name="Shape 9"/>
          <p:cNvSpPr/>
          <p:nvPr/>
        </p:nvSpPr>
        <p:spPr>
          <a:xfrm>
            <a:off x="7397496" y="3346704"/>
            <a:ext cx="4233672" cy="2395728"/>
          </a:xfrm>
          <a:prstGeom prst="roundRect">
            <a:avLst>
              <a:gd name="adj" fmla="val 2290"/>
            </a:avLst>
          </a:prstGeom>
          <a:solidFill>
            <a:srgbClr val="F4F6F9"/>
          </a:solidFill>
          <a:ln w="12700">
            <a:solidFill>
              <a:srgbClr val="333333"/>
            </a:solidFill>
            <a:prstDash val="solid"/>
          </a:ln>
        </p:spPr>
        <p:txBody>
          <a:bodyPr/>
          <a:lstStyle/>
          <a:p>
            <a:endParaRPr lang="en-IN"/>
          </a:p>
        </p:txBody>
      </p:sp>
      <p:sp>
        <p:nvSpPr>
          <p:cNvPr id="16" name="Text 10"/>
          <p:cNvSpPr txBox="1"/>
          <p:nvPr/>
        </p:nvSpPr>
        <p:spPr>
          <a:xfrm>
            <a:off x="7616952" y="3474720"/>
            <a:ext cx="379476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Why ⟨ℓ⟩ and the diameter coincide</a:t>
            </a:r>
            <a:endParaRPr lang="en-US" sz="1550" dirty="0"/>
          </a:p>
        </p:txBody>
      </p:sp>
      <p:sp>
        <p:nvSpPr>
          <p:cNvPr id="17" name="Text 11"/>
          <p:cNvSpPr txBox="1"/>
          <p:nvPr/>
        </p:nvSpPr>
        <p:spPr>
          <a:xfrm>
            <a:off x="7616952" y="3822192"/>
            <a:ext cx="3794760" cy="1828800"/>
          </a:xfrm>
          <a:prstGeom prst="rect">
            <a:avLst/>
          </a:prstGeom>
          <a:noFill/>
          <a:ln/>
        </p:spPr>
        <p:txBody>
          <a:bodyPr wrap="square" rtlCol="0" anchor="t"/>
          <a:lstStyle/>
          <a:p>
            <a:pPr marL="342900" indent="-342900">
              <a:lnSpc>
                <a:spcPct val="106000"/>
              </a:lnSpc>
              <a:spcAft>
                <a:spcPts val="600"/>
              </a:spcAft>
              <a:buSzPct val="100000"/>
              <a:buChar char="•"/>
            </a:pPr>
            <a:r>
              <a:rPr lang="en-US" sz="1150" dirty="0">
                <a:solidFill>
                  <a:srgbClr val="12203A"/>
                </a:solidFill>
                <a:latin typeface="Calibri" pitchFamily="34" charset="0"/>
                <a:ea typeface="Calibri" pitchFamily="34" charset="-122"/>
                <a:cs typeface="Calibri" pitchFamily="34" charset="-120"/>
              </a:rPr>
              <a:t>The diameter is the largest shortest path; the average path length is the mean over all pairs. In general these differ substantially.</a:t>
            </a:r>
            <a:endParaRPr lang="en-US" sz="1150" dirty="0"/>
          </a:p>
          <a:p>
            <a:pPr marL="342900" indent="-342900">
              <a:lnSpc>
                <a:spcPct val="106000"/>
              </a:lnSpc>
              <a:spcAft>
                <a:spcPts val="600"/>
              </a:spcAft>
              <a:buSzPct val="100000"/>
              <a:buChar char="•"/>
            </a:pPr>
            <a:r>
              <a:rPr lang="en-US" sz="1150" dirty="0">
                <a:solidFill>
                  <a:srgbClr val="12203A"/>
                </a:solidFill>
                <a:latin typeface="Calibri" pitchFamily="34" charset="0"/>
                <a:ea typeface="Calibri" pitchFamily="34" charset="-122"/>
                <a:cs typeface="Calibri" pitchFamily="34" charset="-120"/>
              </a:rPr>
              <a:t>In G(n,p) they share the same leading behaviour because the variance of ℓ over pairs is O((ln N / ln⟨k⟩)² / N) → 0.</a:t>
            </a:r>
            <a:endParaRPr lang="en-US" sz="1150" dirty="0"/>
          </a:p>
          <a:p>
            <a:pPr marL="342900" indent="-342900">
              <a:lnSpc>
                <a:spcPct val="106000"/>
              </a:lnSpc>
              <a:spcAft>
                <a:spcPts val="600"/>
              </a:spcAft>
              <a:buSzPct val="100000"/>
              <a:buChar char="•"/>
            </a:pPr>
            <a:r>
              <a:rPr lang="en-US" sz="1150" dirty="0">
                <a:solidFill>
                  <a:srgbClr val="12203A"/>
                </a:solidFill>
                <a:latin typeface="Calibri" pitchFamily="34" charset="0"/>
                <a:ea typeface="Calibri" pitchFamily="34" charset="-122"/>
                <a:cs typeface="Calibri" pitchFamily="34" charset="-120"/>
              </a:rPr>
              <a:t>Almost every pair of nodes sits at almost exactly the same distance. The distance distribution concentrates onto a single value — there is no “periphery”.</a:t>
            </a:r>
            <a:endParaRPr lang="en-US" sz="1150" dirty="0"/>
          </a:p>
          <a:p>
            <a:pPr marL="342900" indent="-342900">
              <a:lnSpc>
                <a:spcPct val="106000"/>
              </a:lnSpc>
              <a:spcAft>
                <a:spcPts val="600"/>
              </a:spcAft>
              <a:buSzPct val="100000"/>
              <a:buChar char="•"/>
            </a:pPr>
            <a:r>
              <a:rPr lang="en-US" sz="1150" dirty="0">
                <a:solidFill>
                  <a:srgbClr val="12203A"/>
                </a:solidFill>
                <a:latin typeface="Calibri" pitchFamily="34" charset="0"/>
                <a:ea typeface="Calibri" pitchFamily="34" charset="-122"/>
                <a:cs typeface="Calibri" pitchFamily="34" charset="-120"/>
              </a:rPr>
              <a:t>A billion-node network with ⟨k⟩ = 10 has essentially every pair nine hops apart.</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6D707-24C8-D621-01A2-B46884826BD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1FD4EEB-49F0-4078-68D4-70F89ECE90C2}"/>
              </a:ext>
            </a:extLst>
          </p:cNvPr>
          <p:cNvSpPr>
            <a:spLocks noGrp="1"/>
          </p:cNvSpPr>
          <p:nvPr>
            <p:ph idx="1"/>
          </p:nvPr>
        </p:nvSpPr>
        <p:spPr/>
        <p:txBody>
          <a:bodyPr/>
          <a:lstStyle/>
          <a:p>
            <a:endParaRPr lang="en-IN" dirty="0"/>
          </a:p>
        </p:txBody>
      </p:sp>
      <p:sp>
        <p:nvSpPr>
          <p:cNvPr id="5" name="Text 1">
            <a:extLst>
              <a:ext uri="{FF2B5EF4-FFF2-40B4-BE49-F238E27FC236}">
                <a16:creationId xmlns:a16="http://schemas.microsoft.com/office/drawing/2014/main" id="{F9CBA45A-E175-874C-1E21-E8850298F623}"/>
              </a:ext>
            </a:extLst>
          </p:cNvPr>
          <p:cNvSpPr txBox="1"/>
          <p:nvPr/>
        </p:nvSpPr>
        <p:spPr>
          <a:xfrm>
            <a:off x="566928" y="2471119"/>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Clustering: two derivations, one answer</a:t>
            </a:r>
            <a:endParaRPr lang="en-US" sz="2900" dirty="0"/>
          </a:p>
        </p:txBody>
      </p:sp>
    </p:spTree>
    <p:extLst>
      <p:ext uri="{BB962C8B-B14F-4D97-AF65-F5344CB8AC3E}">
        <p14:creationId xmlns:p14="http://schemas.microsoft.com/office/powerpoint/2010/main" val="1896760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Clustering: two derivations, one answer</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34</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IV  ·  Distances, Correlations, Clustering</a:t>
            </a:r>
            <a:endParaRPr lang="en-US" sz="1000" dirty="0"/>
          </a:p>
        </p:txBody>
      </p:sp>
      <p:sp>
        <p:nvSpPr>
          <p:cNvPr id="6" name="Text 4"/>
          <p:cNvSpPr txBox="1"/>
          <p:nvPr/>
        </p:nvSpPr>
        <p:spPr>
          <a:xfrm>
            <a:off x="566928" y="1152144"/>
            <a:ext cx="5422392" cy="292608"/>
          </a:xfrm>
          <a:prstGeom prst="rect">
            <a:avLst/>
          </a:prstGeom>
          <a:noFill/>
          <a:ln/>
        </p:spPr>
        <p:txBody>
          <a:bodyPr wrap="square" lIns="0" tIns="0" rIns="0" bIns="0" rtlCol="0" anchor="ctr"/>
          <a:lstStyle/>
          <a:p>
            <a:pPr marL="0" indent="0">
              <a:buNone/>
            </a:pPr>
            <a:r>
              <a:rPr lang="en-US" sz="1800" b="1" dirty="0">
                <a:solidFill>
                  <a:srgbClr val="0E1B33"/>
                </a:solidFill>
                <a:latin typeface="Cambria" pitchFamily="34" charset="0"/>
                <a:ea typeface="Cambria" pitchFamily="34" charset="-122"/>
                <a:cs typeface="Cambria" pitchFamily="34" charset="-120"/>
              </a:rPr>
              <a:t>Local clustering coefficient</a:t>
            </a:r>
            <a:endParaRPr lang="en-US" sz="1800" dirty="0"/>
          </a:p>
        </p:txBody>
      </p:sp>
      <p:sp>
        <p:nvSpPr>
          <p:cNvPr id="7" name="Shape 5"/>
          <p:cNvSpPr/>
          <p:nvPr/>
        </p:nvSpPr>
        <p:spPr>
          <a:xfrm>
            <a:off x="566928" y="1499616"/>
            <a:ext cx="5422392" cy="786384"/>
          </a:xfrm>
          <a:prstGeom prst="roundRect">
            <a:avLst>
              <a:gd name="adj" fmla="val 6977"/>
            </a:avLst>
          </a:prstGeom>
          <a:solidFill>
            <a:srgbClr val="F4F6F9"/>
          </a:solidFill>
          <a:ln w="12700">
            <a:solidFill>
              <a:srgbClr val="333333"/>
            </a:solidFill>
            <a:prstDash val="solid"/>
          </a:ln>
        </p:spPr>
        <p:txBody>
          <a:bodyPr/>
          <a:lstStyle/>
          <a:p>
            <a:endParaRPr lang="en-IN"/>
          </a:p>
        </p:txBody>
      </p:sp>
      <p:pic>
        <p:nvPicPr>
          <p:cNvPr id="8" name="Image 0" descr="/home/claude/eq/clust_def.png"/>
          <p:cNvPicPr>
            <a:picLocks noChangeAspect="1"/>
          </p:cNvPicPr>
          <p:nvPr/>
        </p:nvPicPr>
        <p:blipFill>
          <a:blip r:embed="rId3"/>
          <a:stretch>
            <a:fillRect/>
          </a:stretch>
        </p:blipFill>
        <p:spPr>
          <a:xfrm>
            <a:off x="944037" y="1572768"/>
            <a:ext cx="4668174" cy="621792"/>
          </a:xfrm>
          <a:prstGeom prst="rect">
            <a:avLst/>
          </a:prstGeom>
        </p:spPr>
      </p:pic>
      <p:sp>
        <p:nvSpPr>
          <p:cNvPr id="9" name="Text 6"/>
          <p:cNvSpPr txBox="1"/>
          <p:nvPr/>
        </p:nvSpPr>
        <p:spPr>
          <a:xfrm>
            <a:off x="566928" y="2340864"/>
            <a:ext cx="5422392" cy="932688"/>
          </a:xfrm>
          <a:prstGeom prst="rect">
            <a:avLst/>
          </a:prstGeom>
          <a:noFill/>
          <a:ln/>
        </p:spPr>
        <p:txBody>
          <a:bodyPr wrap="square" rtlCol="0" anchor="t"/>
          <a:lstStyle/>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Fix node i with k_i = k ≥ 2 neighbours. There are C(k,2) potential edges among them.</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Each is present independently with probability p — edges in G(n,p) do not know about each other.</a:t>
            </a:r>
            <a:endParaRPr lang="en-US" sz="1200" dirty="0"/>
          </a:p>
        </p:txBody>
      </p:sp>
      <p:sp>
        <p:nvSpPr>
          <p:cNvPr id="10" name="Shape 7"/>
          <p:cNvSpPr/>
          <p:nvPr/>
        </p:nvSpPr>
        <p:spPr>
          <a:xfrm>
            <a:off x="566928" y="3364992"/>
            <a:ext cx="5422392" cy="786384"/>
          </a:xfrm>
          <a:prstGeom prst="roundRect">
            <a:avLst>
              <a:gd name="adj" fmla="val 6977"/>
            </a:avLst>
          </a:prstGeom>
          <a:solidFill>
            <a:srgbClr val="E4F0EE"/>
          </a:solidFill>
          <a:ln w="15875">
            <a:solidFill>
              <a:srgbClr val="0E6F66"/>
            </a:solidFill>
            <a:prstDash val="solid"/>
          </a:ln>
        </p:spPr>
        <p:txBody>
          <a:bodyPr/>
          <a:lstStyle/>
          <a:p>
            <a:endParaRPr lang="en-IN"/>
          </a:p>
        </p:txBody>
      </p:sp>
      <p:pic>
        <p:nvPicPr>
          <p:cNvPr id="11" name="Image 1" descr="/home/claude/eq/clust_exp.png"/>
          <p:cNvPicPr>
            <a:picLocks noChangeAspect="1"/>
          </p:cNvPicPr>
          <p:nvPr/>
        </p:nvPicPr>
        <p:blipFill>
          <a:blip r:embed="rId4"/>
          <a:stretch>
            <a:fillRect/>
          </a:stretch>
        </p:blipFill>
        <p:spPr>
          <a:xfrm>
            <a:off x="768096" y="3438144"/>
            <a:ext cx="5020056" cy="503424"/>
          </a:xfrm>
          <a:prstGeom prst="rect">
            <a:avLst/>
          </a:prstGeom>
        </p:spPr>
      </p:pic>
      <p:sp>
        <p:nvSpPr>
          <p:cNvPr id="12" name="Text 8"/>
          <p:cNvSpPr txBox="1"/>
          <p:nvPr/>
        </p:nvSpPr>
        <p:spPr>
          <a:xfrm>
            <a:off x="566928" y="4224528"/>
            <a:ext cx="5422392" cy="402336"/>
          </a:xfrm>
          <a:prstGeom prst="rect">
            <a:avLst/>
          </a:prstGeom>
          <a:noFill/>
          <a:ln/>
        </p:spPr>
        <p:txBody>
          <a:bodyPr wrap="square" lIns="0" tIns="0" rIns="0" bIns="0" rtlCol="0" anchor="ctr"/>
          <a:lstStyle/>
          <a:p>
            <a:pPr marL="0" indent="0">
              <a:lnSpc>
                <a:spcPct val="96000"/>
              </a:lnSpc>
              <a:buNone/>
            </a:pPr>
            <a:r>
              <a:rPr lang="en-US" sz="1100" i="1" dirty="0">
                <a:solidFill>
                  <a:srgbClr val="6B7684"/>
                </a:solidFill>
                <a:latin typeface="Calibri" pitchFamily="34" charset="0"/>
                <a:ea typeface="Calibri" pitchFamily="34" charset="-122"/>
                <a:cs typeface="Calibri" pitchFamily="34" charset="-120"/>
              </a:rPr>
              <a:t>The result is independent of k: every node has the same expected clustering, whatever its degree. Empirical networks almost always show C(k) decreasing in k.</a:t>
            </a:r>
            <a:endParaRPr lang="en-US" sz="1100" dirty="0"/>
          </a:p>
        </p:txBody>
      </p:sp>
      <p:sp>
        <p:nvSpPr>
          <p:cNvPr id="13" name="Shape 9"/>
          <p:cNvSpPr/>
          <p:nvPr/>
        </p:nvSpPr>
        <p:spPr>
          <a:xfrm>
            <a:off x="566928" y="4754880"/>
            <a:ext cx="5422392" cy="731520"/>
          </a:xfrm>
          <a:prstGeom prst="roundRect">
            <a:avLst>
              <a:gd name="adj" fmla="val 7500"/>
            </a:avLst>
          </a:prstGeom>
          <a:solidFill>
            <a:srgbClr val="FBEBE8"/>
          </a:solidFill>
          <a:ln w="15875">
            <a:solidFill>
              <a:srgbClr val="C0392B"/>
            </a:solidFill>
            <a:prstDash val="solid"/>
          </a:ln>
        </p:spPr>
        <p:txBody>
          <a:bodyPr/>
          <a:lstStyle/>
          <a:p>
            <a:endParaRPr lang="en-IN"/>
          </a:p>
        </p:txBody>
      </p:sp>
      <p:pic>
        <p:nvPicPr>
          <p:cNvPr id="14" name="Image 2" descr="/home/claude/eq/clust_limit.png"/>
          <p:cNvPicPr>
            <a:picLocks noChangeAspect="1"/>
          </p:cNvPicPr>
          <p:nvPr/>
        </p:nvPicPr>
        <p:blipFill>
          <a:blip r:embed="rId5"/>
          <a:stretch>
            <a:fillRect/>
          </a:stretch>
        </p:blipFill>
        <p:spPr>
          <a:xfrm>
            <a:off x="1974342" y="4846320"/>
            <a:ext cx="2607564" cy="530352"/>
          </a:xfrm>
          <a:prstGeom prst="rect">
            <a:avLst/>
          </a:prstGeom>
        </p:spPr>
      </p:pic>
      <p:sp>
        <p:nvSpPr>
          <p:cNvPr id="15" name="Text 10"/>
          <p:cNvSpPr txBox="1"/>
          <p:nvPr/>
        </p:nvSpPr>
        <p:spPr>
          <a:xfrm>
            <a:off x="6208776" y="1152144"/>
            <a:ext cx="5422392" cy="292608"/>
          </a:xfrm>
          <a:prstGeom prst="rect">
            <a:avLst/>
          </a:prstGeom>
          <a:noFill/>
          <a:ln/>
        </p:spPr>
        <p:txBody>
          <a:bodyPr wrap="square" lIns="0" tIns="0" rIns="0" bIns="0" rtlCol="0" anchor="ctr"/>
          <a:lstStyle/>
          <a:p>
            <a:pPr marL="0" indent="0">
              <a:buNone/>
            </a:pPr>
            <a:r>
              <a:rPr lang="en-US" sz="1800" b="1" dirty="0">
                <a:solidFill>
                  <a:srgbClr val="0E1B33"/>
                </a:solidFill>
                <a:latin typeface="Cambria" pitchFamily="34" charset="0"/>
                <a:ea typeface="Cambria" pitchFamily="34" charset="-122"/>
                <a:cs typeface="Cambria" pitchFamily="34" charset="-120"/>
              </a:rPr>
              <a:t>Global transitivity</a:t>
            </a:r>
            <a:endParaRPr lang="en-US" sz="1800" dirty="0"/>
          </a:p>
        </p:txBody>
      </p:sp>
      <p:sp>
        <p:nvSpPr>
          <p:cNvPr id="16" name="Text 11"/>
          <p:cNvSpPr txBox="1"/>
          <p:nvPr/>
        </p:nvSpPr>
        <p:spPr>
          <a:xfrm>
            <a:off x="6208776" y="1481328"/>
            <a:ext cx="5422392" cy="420624"/>
          </a:xfrm>
          <a:prstGeom prst="rect">
            <a:avLst/>
          </a:prstGeom>
          <a:noFill/>
          <a:ln/>
        </p:spPr>
        <p:txBody>
          <a:bodyPr wrap="square" lIns="0" tIns="0" rIns="0" bIns="0" rtlCol="0" anchor="ctr"/>
          <a:lstStyle/>
          <a:p>
            <a:pPr marL="0" indent="0">
              <a:lnSpc>
                <a:spcPct val="98000"/>
              </a:lnSpc>
              <a:buNone/>
            </a:pPr>
            <a:r>
              <a:rPr lang="en-US" sz="1250" dirty="0">
                <a:solidFill>
                  <a:srgbClr val="12203A"/>
                </a:solidFill>
                <a:latin typeface="Calibri" pitchFamily="34" charset="0"/>
                <a:ea typeface="Calibri" pitchFamily="34" charset="-122"/>
                <a:cs typeface="Calibri" pitchFamily="34" charset="-120"/>
              </a:rPr>
              <a:t>T is defined as three times the number of triangles divided by the number of connected triples (wedges). Count both expectations directly:</a:t>
            </a:r>
            <a:endParaRPr lang="en-US" sz="1250" dirty="0"/>
          </a:p>
        </p:txBody>
      </p:sp>
      <p:sp>
        <p:nvSpPr>
          <p:cNvPr id="17" name="Shape 12"/>
          <p:cNvSpPr/>
          <p:nvPr/>
        </p:nvSpPr>
        <p:spPr>
          <a:xfrm>
            <a:off x="6208776" y="1956816"/>
            <a:ext cx="5422392" cy="621792"/>
          </a:xfrm>
          <a:prstGeom prst="roundRect">
            <a:avLst>
              <a:gd name="adj" fmla="val 8824"/>
            </a:avLst>
          </a:prstGeom>
          <a:solidFill>
            <a:srgbClr val="F4F6F9"/>
          </a:solidFill>
          <a:ln w="12700">
            <a:solidFill>
              <a:srgbClr val="333333"/>
            </a:solidFill>
            <a:prstDash val="solid"/>
          </a:ln>
        </p:spPr>
        <p:txBody>
          <a:bodyPr/>
          <a:lstStyle/>
          <a:p>
            <a:endParaRPr lang="en-IN"/>
          </a:p>
        </p:txBody>
      </p:sp>
      <p:pic>
        <p:nvPicPr>
          <p:cNvPr id="18" name="Image 3" descr="/home/claude/eq/tri_count.png"/>
          <p:cNvPicPr>
            <a:picLocks noChangeAspect="1"/>
          </p:cNvPicPr>
          <p:nvPr/>
        </p:nvPicPr>
        <p:blipFill>
          <a:blip r:embed="rId6"/>
          <a:stretch>
            <a:fillRect/>
          </a:stretch>
        </p:blipFill>
        <p:spPr>
          <a:xfrm>
            <a:off x="7502504" y="2029968"/>
            <a:ext cx="2834937" cy="475488"/>
          </a:xfrm>
          <a:prstGeom prst="rect">
            <a:avLst/>
          </a:prstGeom>
        </p:spPr>
      </p:pic>
      <p:sp>
        <p:nvSpPr>
          <p:cNvPr id="19" name="Shape 13"/>
          <p:cNvSpPr/>
          <p:nvPr/>
        </p:nvSpPr>
        <p:spPr>
          <a:xfrm>
            <a:off x="6208776" y="2651760"/>
            <a:ext cx="5422392" cy="621792"/>
          </a:xfrm>
          <a:prstGeom prst="roundRect">
            <a:avLst>
              <a:gd name="adj" fmla="val 8824"/>
            </a:avLst>
          </a:prstGeom>
          <a:solidFill>
            <a:srgbClr val="F4F6F9"/>
          </a:solidFill>
          <a:ln w="12700">
            <a:solidFill>
              <a:srgbClr val="333333"/>
            </a:solidFill>
            <a:prstDash val="solid"/>
          </a:ln>
        </p:spPr>
        <p:txBody>
          <a:bodyPr/>
          <a:lstStyle/>
          <a:p>
            <a:endParaRPr lang="en-IN"/>
          </a:p>
        </p:txBody>
      </p:sp>
      <p:pic>
        <p:nvPicPr>
          <p:cNvPr id="20" name="Image 4" descr="/home/claude/eq/wedge_count.png"/>
          <p:cNvPicPr>
            <a:picLocks noChangeAspect="1"/>
          </p:cNvPicPr>
          <p:nvPr/>
        </p:nvPicPr>
        <p:blipFill>
          <a:blip r:embed="rId7"/>
          <a:stretch>
            <a:fillRect/>
          </a:stretch>
        </p:blipFill>
        <p:spPr>
          <a:xfrm>
            <a:off x="7275041" y="2724912"/>
            <a:ext cx="3289863" cy="475488"/>
          </a:xfrm>
          <a:prstGeom prst="rect">
            <a:avLst/>
          </a:prstGeom>
        </p:spPr>
      </p:pic>
      <p:sp>
        <p:nvSpPr>
          <p:cNvPr id="21" name="Shape 14"/>
          <p:cNvSpPr/>
          <p:nvPr/>
        </p:nvSpPr>
        <p:spPr>
          <a:xfrm>
            <a:off x="6208776" y="3364992"/>
            <a:ext cx="5422392" cy="932688"/>
          </a:xfrm>
          <a:prstGeom prst="roundRect">
            <a:avLst>
              <a:gd name="adj" fmla="val 5882"/>
            </a:avLst>
          </a:prstGeom>
          <a:solidFill>
            <a:srgbClr val="E4F0EE"/>
          </a:solidFill>
          <a:ln w="15875">
            <a:solidFill>
              <a:srgbClr val="0E6F66"/>
            </a:solidFill>
            <a:prstDash val="solid"/>
          </a:ln>
        </p:spPr>
        <p:txBody>
          <a:bodyPr/>
          <a:lstStyle/>
          <a:p>
            <a:endParaRPr lang="en-IN"/>
          </a:p>
        </p:txBody>
      </p:sp>
      <p:pic>
        <p:nvPicPr>
          <p:cNvPr id="22" name="Image 5" descr="/home/claude/eq/transitivity.png"/>
          <p:cNvPicPr>
            <a:picLocks noChangeAspect="1"/>
          </p:cNvPicPr>
          <p:nvPr/>
        </p:nvPicPr>
        <p:blipFill>
          <a:blip r:embed="rId8"/>
          <a:stretch>
            <a:fillRect/>
          </a:stretch>
        </p:blipFill>
        <p:spPr>
          <a:xfrm>
            <a:off x="6409944" y="3456432"/>
            <a:ext cx="5020056" cy="643820"/>
          </a:xfrm>
          <a:prstGeom prst="rect">
            <a:avLst/>
          </a:prstGeom>
        </p:spPr>
      </p:pic>
      <p:sp>
        <p:nvSpPr>
          <p:cNvPr id="23" name="Text 15"/>
          <p:cNvSpPr txBox="1"/>
          <p:nvPr/>
        </p:nvSpPr>
        <p:spPr>
          <a:xfrm>
            <a:off x="6208776" y="4315968"/>
            <a:ext cx="5422392" cy="402336"/>
          </a:xfrm>
          <a:prstGeom prst="rect">
            <a:avLst/>
          </a:prstGeom>
          <a:noFill/>
          <a:ln/>
        </p:spPr>
        <p:txBody>
          <a:bodyPr wrap="square" lIns="0" tIns="0" rIns="0" bIns="0" rtlCol="0" anchor="ctr"/>
          <a:lstStyle/>
          <a:p>
            <a:pPr marL="0" indent="0">
              <a:lnSpc>
                <a:spcPct val="96000"/>
              </a:lnSpc>
              <a:buNone/>
            </a:pPr>
            <a:r>
              <a:rPr lang="en-US" sz="1100" i="1" dirty="0">
                <a:solidFill>
                  <a:srgbClr val="6B7684"/>
                </a:solidFill>
                <a:latin typeface="Calibri" pitchFamily="34" charset="0"/>
                <a:ea typeface="Calibri" pitchFamily="34" charset="-122"/>
                <a:cs typeface="Calibri" pitchFamily="34" charset="-120"/>
              </a:rPr>
              <a:t>Every combinatorial factor cancels exactly. T = p is not an approximation — it is an identity, and it agrees with the local calculation.</a:t>
            </a:r>
            <a:endParaRPr lang="en-US" sz="1100" dirty="0"/>
          </a:p>
        </p:txBody>
      </p:sp>
      <p:sp>
        <p:nvSpPr>
          <p:cNvPr id="24" name="Shape 16"/>
          <p:cNvSpPr/>
          <p:nvPr/>
        </p:nvSpPr>
        <p:spPr>
          <a:xfrm>
            <a:off x="6208776" y="4754880"/>
            <a:ext cx="5422392" cy="731520"/>
          </a:xfrm>
          <a:prstGeom prst="roundRect">
            <a:avLst>
              <a:gd name="adj" fmla="val 7500"/>
            </a:avLst>
          </a:prstGeom>
          <a:solidFill>
            <a:srgbClr val="FBEBE8"/>
          </a:solidFill>
          <a:ln w="15875">
            <a:solidFill>
              <a:srgbClr val="C0392B"/>
            </a:solidFill>
            <a:prstDash val="solid"/>
          </a:ln>
        </p:spPr>
        <p:txBody>
          <a:bodyPr/>
          <a:lstStyle/>
          <a:p>
            <a:endParaRPr lang="en-IN"/>
          </a:p>
        </p:txBody>
      </p:sp>
      <p:pic>
        <p:nvPicPr>
          <p:cNvPr id="25" name="Image 6" descr="/home/claude/eq/c_trans_box.png"/>
          <p:cNvPicPr>
            <a:picLocks noChangeAspect="1"/>
          </p:cNvPicPr>
          <p:nvPr/>
        </p:nvPicPr>
        <p:blipFill>
          <a:blip r:embed="rId9"/>
          <a:stretch>
            <a:fillRect/>
          </a:stretch>
        </p:blipFill>
        <p:spPr>
          <a:xfrm>
            <a:off x="7944749" y="4864608"/>
            <a:ext cx="1950446" cy="5120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P spid="13" grpId="0" animBg="1"/>
      <p:bldP spid="15" grpId="0" animBg="1"/>
      <p:bldP spid="16" grpId="0" animBg="1"/>
      <p:bldP spid="17" grpId="0" animBg="1"/>
      <p:bldP spid="19" grpId="0" animBg="1"/>
      <p:bldP spid="21" grpId="0" animBg="1"/>
      <p:bldP spid="23" grpId="0" animBg="1"/>
      <p:bldP spid="2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LIMITATION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one place G(n,p) fails badly</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35</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IV  ·  Distances, Correlations, Clustering</a:t>
            </a:r>
            <a:endParaRPr lang="en-US" sz="1000" dirty="0"/>
          </a:p>
        </p:txBody>
      </p:sp>
      <p:pic>
        <p:nvPicPr>
          <p:cNvPr id="6" name="Image 0" descr="/home/claude/figs/12_clustering.png"/>
          <p:cNvPicPr>
            <a:picLocks noChangeAspect="1"/>
          </p:cNvPicPr>
          <p:nvPr/>
        </p:nvPicPr>
        <p:blipFill>
          <a:blip r:embed="rId3"/>
          <a:stretch>
            <a:fillRect/>
          </a:stretch>
        </p:blipFill>
        <p:spPr>
          <a:xfrm>
            <a:off x="2086326" y="1188720"/>
            <a:ext cx="8025445" cy="3200400"/>
          </a:xfrm>
          <a:prstGeom prst="rect">
            <a:avLst/>
          </a:prstGeom>
        </p:spPr>
      </p:pic>
      <p:sp>
        <p:nvSpPr>
          <p:cNvPr id="7" name="Shape 4"/>
          <p:cNvSpPr/>
          <p:nvPr/>
        </p:nvSpPr>
        <p:spPr>
          <a:xfrm>
            <a:off x="566928" y="4590288"/>
            <a:ext cx="5422392" cy="1188720"/>
          </a:xfrm>
          <a:prstGeom prst="roundRect">
            <a:avLst>
              <a:gd name="adj" fmla="val 4615"/>
            </a:avLst>
          </a:prstGeom>
          <a:solidFill>
            <a:srgbClr val="FBEBE8"/>
          </a:solidFill>
          <a:ln w="15875">
            <a:solidFill>
              <a:srgbClr val="C0392B"/>
            </a:solidFill>
            <a:prstDash val="solid"/>
          </a:ln>
        </p:spPr>
        <p:txBody>
          <a:bodyPr/>
          <a:lstStyle/>
          <a:p>
            <a:endParaRPr lang="en-IN"/>
          </a:p>
        </p:txBody>
      </p:sp>
      <p:sp>
        <p:nvSpPr>
          <p:cNvPr id="8" name="Text 5"/>
          <p:cNvSpPr txBox="1"/>
          <p:nvPr/>
        </p:nvSpPr>
        <p:spPr>
          <a:xfrm>
            <a:off x="786384" y="4681728"/>
            <a:ext cx="493776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REMARK — THE SMALL-WORLD PARADOX</a:t>
            </a:r>
            <a:endParaRPr lang="en-US" sz="1050" dirty="0"/>
          </a:p>
        </p:txBody>
      </p:sp>
      <p:sp>
        <p:nvSpPr>
          <p:cNvPr id="9" name="Text 6"/>
          <p:cNvSpPr txBox="1"/>
          <p:nvPr/>
        </p:nvSpPr>
        <p:spPr>
          <a:xfrm>
            <a:off x="786384" y="4937760"/>
            <a:ext cx="4983480" cy="768096"/>
          </a:xfrm>
          <a:prstGeom prst="rect">
            <a:avLst/>
          </a:prstGeom>
          <a:noFill/>
          <a:ln/>
        </p:spPr>
        <p:txBody>
          <a:bodyPr wrap="square" lIns="0" tIns="0" rIns="0" bIns="0" rtlCol="0" anchor="ctr"/>
          <a:lstStyle/>
          <a:p>
            <a:pPr marL="0" indent="0">
              <a:lnSpc>
                <a:spcPct val="98000"/>
              </a:lnSpc>
              <a:buNone/>
            </a:pPr>
            <a:r>
              <a:rPr lang="en-US" sz="1200" dirty="0">
                <a:solidFill>
                  <a:srgbClr val="0E1B33"/>
                </a:solidFill>
                <a:latin typeface="Calibri" pitchFamily="34" charset="0"/>
                <a:ea typeface="Calibri" pitchFamily="34" charset="-122"/>
                <a:cs typeface="Calibri" pitchFamily="34" charset="-120"/>
              </a:rPr>
              <a:t>Real social networks show L = O(log N) — short paths, just like G(n,p) — and simultaneously C̄ = Θ(1), high clustering, quite unlike G(n,p). No single-parameter random graph can do both.</a:t>
            </a:r>
            <a:endParaRPr lang="en-US" sz="1200" dirty="0"/>
          </a:p>
        </p:txBody>
      </p:sp>
      <p:sp>
        <p:nvSpPr>
          <p:cNvPr id="10" name="Shape 7"/>
          <p:cNvSpPr/>
          <p:nvPr/>
        </p:nvSpPr>
        <p:spPr>
          <a:xfrm>
            <a:off x="6208776" y="4590288"/>
            <a:ext cx="5422392" cy="1188720"/>
          </a:xfrm>
          <a:prstGeom prst="roundRect">
            <a:avLst>
              <a:gd name="adj" fmla="val 4615"/>
            </a:avLst>
          </a:prstGeom>
          <a:solidFill>
            <a:srgbClr val="F4F6F9"/>
          </a:solidFill>
          <a:ln w="12700">
            <a:solidFill>
              <a:srgbClr val="333333"/>
            </a:solidFill>
            <a:prstDash val="solid"/>
          </a:ln>
        </p:spPr>
        <p:txBody>
          <a:bodyPr/>
          <a:lstStyle/>
          <a:p>
            <a:endParaRPr lang="en-IN"/>
          </a:p>
        </p:txBody>
      </p:sp>
      <p:sp>
        <p:nvSpPr>
          <p:cNvPr id="11" name="Text 8"/>
          <p:cNvSpPr txBox="1"/>
          <p:nvPr/>
        </p:nvSpPr>
        <p:spPr>
          <a:xfrm>
            <a:off x="6428232" y="4681728"/>
            <a:ext cx="4983480" cy="256032"/>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Watts–Strogatz resolves it</a:t>
            </a:r>
            <a:endParaRPr lang="en-US" sz="1300" dirty="0"/>
          </a:p>
        </p:txBody>
      </p:sp>
      <p:sp>
        <p:nvSpPr>
          <p:cNvPr id="12" name="Text 9"/>
          <p:cNvSpPr txBox="1"/>
          <p:nvPr/>
        </p:nvSpPr>
        <p:spPr>
          <a:xfrm>
            <a:off x="6428232" y="4937760"/>
            <a:ext cx="4983480" cy="768096"/>
          </a:xfrm>
          <a:prstGeom prst="rect">
            <a:avLst/>
          </a:prstGeom>
          <a:noFill/>
          <a:ln/>
        </p:spPr>
        <p:txBody>
          <a:bodyPr wrap="square" lIns="0" tIns="0" rIns="0" bIns="0" rtlCol="0" anchor="ctr"/>
          <a:lstStyle/>
          <a:p>
            <a:pPr marL="0" indent="0">
              <a:lnSpc>
                <a:spcPct val="98000"/>
              </a:lnSpc>
              <a:buNone/>
            </a:pPr>
            <a:r>
              <a:rPr lang="en-US" sz="1200" dirty="0">
                <a:solidFill>
                  <a:srgbClr val="12203A"/>
                </a:solidFill>
                <a:latin typeface="Calibri" pitchFamily="34" charset="0"/>
                <a:ea typeface="Calibri" pitchFamily="34" charset="-122"/>
                <a:cs typeface="Calibri" pitchFamily="34" charset="-120"/>
              </a:rPr>
              <a:t>Start from a ring lattice, which has C̄ = Θ(1) but L = Θ(N), and rewire a small fraction of edges at random. The shortcuts collapse the path length logarithmically while leaving the dense local triangles intact — high C̄ and short L together.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C4A3-2FDC-12EC-A609-4646A2257A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7FFFB0A-C1BA-E4CD-A95A-CD9FB454D9E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27099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friendship paradox from size-biased sampling</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32</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IV  ·  Distances, Correlations, Clustering</a:t>
            </a:r>
            <a:endParaRPr lang="en-US" sz="1000" dirty="0"/>
          </a:p>
        </p:txBody>
      </p:sp>
      <p:sp>
        <p:nvSpPr>
          <p:cNvPr id="6" name="Shape 4"/>
          <p:cNvSpPr/>
          <p:nvPr/>
        </p:nvSpPr>
        <p:spPr>
          <a:xfrm>
            <a:off x="566928" y="1170432"/>
            <a:ext cx="11064240" cy="859536"/>
          </a:xfrm>
          <a:prstGeom prst="roundRect">
            <a:avLst>
              <a:gd name="adj" fmla="val 6383"/>
            </a:avLst>
          </a:prstGeom>
          <a:solidFill>
            <a:srgbClr val="F4F6F9"/>
          </a:solidFill>
          <a:ln w="12700">
            <a:solidFill>
              <a:srgbClr val="333333"/>
            </a:solidFill>
            <a:prstDash val="solid"/>
          </a:ln>
        </p:spPr>
        <p:txBody>
          <a:bodyPr/>
          <a:lstStyle/>
          <a:p>
            <a:endParaRPr lang="en-IN"/>
          </a:p>
        </p:txBody>
      </p:sp>
      <p:sp>
        <p:nvSpPr>
          <p:cNvPr id="7" name="Text 5"/>
          <p:cNvSpPr txBox="1"/>
          <p:nvPr/>
        </p:nvSpPr>
        <p:spPr>
          <a:xfrm>
            <a:off x="804672" y="1261872"/>
            <a:ext cx="7315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DEFINITION 6.1 — AVERAGE NEAREST-NEIGHBOUR DEGREE</a:t>
            </a:r>
            <a:endParaRPr lang="en-US" sz="1050" dirty="0"/>
          </a:p>
        </p:txBody>
      </p:sp>
      <p:pic>
        <p:nvPicPr>
          <p:cNvPr id="8" name="Image 0" descr="/home/claude/eq/annd_def.png"/>
          <p:cNvPicPr>
            <a:picLocks noChangeAspect="1"/>
          </p:cNvPicPr>
          <p:nvPr/>
        </p:nvPicPr>
        <p:blipFill>
          <a:blip r:embed="rId3"/>
          <a:stretch>
            <a:fillRect/>
          </a:stretch>
        </p:blipFill>
        <p:spPr>
          <a:xfrm>
            <a:off x="4742403" y="1499616"/>
            <a:ext cx="2713290" cy="457200"/>
          </a:xfrm>
          <a:prstGeom prst="rect">
            <a:avLst/>
          </a:prstGeom>
        </p:spPr>
      </p:pic>
      <p:sp>
        <p:nvSpPr>
          <p:cNvPr id="9" name="Shape 6"/>
          <p:cNvSpPr/>
          <p:nvPr/>
        </p:nvSpPr>
        <p:spPr>
          <a:xfrm>
            <a:off x="585216" y="2212848"/>
            <a:ext cx="329184" cy="329184"/>
          </a:xfrm>
          <a:prstGeom prst="ellipse">
            <a:avLst/>
          </a:prstGeom>
          <a:solidFill>
            <a:srgbClr val="0E6F66"/>
          </a:solidFill>
          <a:ln w="12700">
            <a:solidFill>
              <a:srgbClr val="0E6F66"/>
            </a:solidFill>
            <a:prstDash val="solid"/>
          </a:ln>
        </p:spPr>
        <p:txBody>
          <a:bodyPr/>
          <a:lstStyle/>
          <a:p>
            <a:endParaRPr lang="en-IN"/>
          </a:p>
        </p:txBody>
      </p:sp>
      <p:sp>
        <p:nvSpPr>
          <p:cNvPr id="10" name="Text 7"/>
          <p:cNvSpPr txBox="1"/>
          <p:nvPr/>
        </p:nvSpPr>
        <p:spPr>
          <a:xfrm>
            <a:off x="585216" y="2208276"/>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8"/>
          <p:cNvSpPr txBox="1"/>
          <p:nvPr/>
        </p:nvSpPr>
        <p:spPr>
          <a:xfrm>
            <a:off x="1060704" y="2185416"/>
            <a:ext cx="466344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Sampling a node by following an edge is not uniform</a:t>
            </a:r>
            <a:endParaRPr lang="en-US" sz="1350" dirty="0"/>
          </a:p>
        </p:txBody>
      </p:sp>
      <p:pic>
        <p:nvPicPr>
          <p:cNvPr id="12" name="Image 1" descr="/home/claude/eq/qk.png"/>
          <p:cNvPicPr>
            <a:picLocks noChangeAspect="1"/>
          </p:cNvPicPr>
          <p:nvPr/>
        </p:nvPicPr>
        <p:blipFill>
          <a:blip r:embed="rId4"/>
          <a:stretch>
            <a:fillRect/>
          </a:stretch>
        </p:blipFill>
        <p:spPr>
          <a:xfrm>
            <a:off x="5861304" y="2139696"/>
            <a:ext cx="3687815" cy="493776"/>
          </a:xfrm>
          <a:prstGeom prst="rect">
            <a:avLst/>
          </a:prstGeom>
        </p:spPr>
      </p:pic>
      <p:sp>
        <p:nvSpPr>
          <p:cNvPr id="13" name="Text 9"/>
          <p:cNvSpPr txBox="1"/>
          <p:nvPr/>
        </p:nvSpPr>
        <p:spPr>
          <a:xfrm>
            <a:off x="1060704" y="2724912"/>
            <a:ext cx="10570464" cy="274320"/>
          </a:xfrm>
          <a:prstGeom prst="rect">
            <a:avLst/>
          </a:prstGeom>
          <a:noFill/>
          <a:ln/>
        </p:spPr>
        <p:txBody>
          <a:bodyPr wrap="square" lIns="0" tIns="0" rIns="0" bIns="0" rtlCol="0" anchor="ctr"/>
          <a:lstStyle/>
          <a:p>
            <a:pPr marL="0" indent="0">
              <a:buNone/>
            </a:pPr>
            <a:r>
              <a:rPr lang="en-US" sz="1250" i="1" dirty="0">
                <a:solidFill>
                  <a:srgbClr val="6B7684"/>
                </a:solidFill>
                <a:latin typeface="Calibri" pitchFamily="34" charset="0"/>
                <a:ea typeface="Calibri" pitchFamily="34" charset="-122"/>
                <a:cs typeface="Calibri" pitchFamily="34" charset="-120"/>
              </a:rPr>
              <a:t>A node of degree k is incident to k edges, so it is k times more likely to be reached by following a random edge than a degree-1 node. The correctly normalised edge-biased distribution is q_k ∝ k·P(k).</a:t>
            </a:r>
            <a:endParaRPr lang="en-US" sz="1250" dirty="0"/>
          </a:p>
        </p:txBody>
      </p:sp>
      <p:sp>
        <p:nvSpPr>
          <p:cNvPr id="14" name="Shape 10"/>
          <p:cNvSpPr/>
          <p:nvPr/>
        </p:nvSpPr>
        <p:spPr>
          <a:xfrm>
            <a:off x="585216" y="3145536"/>
            <a:ext cx="329184" cy="329184"/>
          </a:xfrm>
          <a:prstGeom prst="ellipse">
            <a:avLst/>
          </a:prstGeom>
          <a:solidFill>
            <a:srgbClr val="0E6F66"/>
          </a:solidFill>
          <a:ln w="12700">
            <a:solidFill>
              <a:srgbClr val="0E6F66"/>
            </a:solidFill>
            <a:prstDash val="solid"/>
          </a:ln>
        </p:spPr>
        <p:txBody>
          <a:bodyPr/>
          <a:lstStyle/>
          <a:p>
            <a:endParaRPr lang="en-IN"/>
          </a:p>
        </p:txBody>
      </p:sp>
      <p:sp>
        <p:nvSpPr>
          <p:cNvPr id="15" name="Text 11"/>
          <p:cNvSpPr txBox="1"/>
          <p:nvPr/>
        </p:nvSpPr>
        <p:spPr>
          <a:xfrm>
            <a:off x="594360" y="315010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2"/>
          <p:cNvSpPr txBox="1"/>
          <p:nvPr/>
        </p:nvSpPr>
        <p:spPr>
          <a:xfrm>
            <a:off x="1060704" y="3118104"/>
            <a:ext cx="466344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Expected degree of a neighbour</a:t>
            </a:r>
            <a:endParaRPr lang="en-US" sz="1350" dirty="0"/>
          </a:p>
        </p:txBody>
      </p:sp>
      <p:pic>
        <p:nvPicPr>
          <p:cNvPr id="17" name="Image 2" descr="/home/claude/eq/annd_sum.png"/>
          <p:cNvPicPr>
            <a:picLocks noChangeAspect="1"/>
          </p:cNvPicPr>
          <p:nvPr/>
        </p:nvPicPr>
        <p:blipFill>
          <a:blip r:embed="rId5"/>
          <a:stretch>
            <a:fillRect/>
          </a:stretch>
        </p:blipFill>
        <p:spPr>
          <a:xfrm>
            <a:off x="5861304" y="3072384"/>
            <a:ext cx="2825124" cy="548640"/>
          </a:xfrm>
          <a:prstGeom prst="rect">
            <a:avLst/>
          </a:prstGeom>
        </p:spPr>
      </p:pic>
      <p:sp>
        <p:nvSpPr>
          <p:cNvPr id="18" name="Shape 13"/>
          <p:cNvSpPr/>
          <p:nvPr/>
        </p:nvSpPr>
        <p:spPr>
          <a:xfrm>
            <a:off x="585216" y="3803904"/>
            <a:ext cx="329184" cy="329184"/>
          </a:xfrm>
          <a:prstGeom prst="ellipse">
            <a:avLst/>
          </a:prstGeom>
          <a:solidFill>
            <a:srgbClr val="0E6F66"/>
          </a:solidFill>
          <a:ln w="12700">
            <a:solidFill>
              <a:srgbClr val="0E6F66"/>
            </a:solidFill>
            <a:prstDash val="solid"/>
          </a:ln>
        </p:spPr>
        <p:txBody>
          <a:bodyPr/>
          <a:lstStyle/>
          <a:p>
            <a:endParaRPr lang="en-IN"/>
          </a:p>
        </p:txBody>
      </p:sp>
      <p:sp>
        <p:nvSpPr>
          <p:cNvPr id="19" name="Text 14"/>
          <p:cNvSpPr txBox="1"/>
          <p:nvPr/>
        </p:nvSpPr>
        <p:spPr>
          <a:xfrm>
            <a:off x="585216" y="3822192"/>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5"/>
          <p:cNvSpPr txBox="1"/>
          <p:nvPr/>
        </p:nvSpPr>
        <p:spPr>
          <a:xfrm>
            <a:off x="1060704" y="3776472"/>
            <a:ext cx="466344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Rewrite the second moment</a:t>
            </a:r>
            <a:endParaRPr lang="en-US" sz="1350" dirty="0"/>
          </a:p>
        </p:txBody>
      </p:sp>
      <p:pic>
        <p:nvPicPr>
          <p:cNvPr id="21" name="Image 3" descr="/home/claude/eq/annd_var.png"/>
          <p:cNvPicPr>
            <a:picLocks noChangeAspect="1"/>
          </p:cNvPicPr>
          <p:nvPr/>
        </p:nvPicPr>
        <p:blipFill>
          <a:blip r:embed="rId6"/>
          <a:stretch>
            <a:fillRect/>
          </a:stretch>
        </p:blipFill>
        <p:spPr>
          <a:xfrm>
            <a:off x="5861304" y="3730752"/>
            <a:ext cx="5036695" cy="548640"/>
          </a:xfrm>
          <a:prstGeom prst="rect">
            <a:avLst/>
          </a:prstGeom>
        </p:spPr>
      </p:pic>
      <p:sp>
        <p:nvSpPr>
          <p:cNvPr id="22" name="Shape 16"/>
          <p:cNvSpPr/>
          <p:nvPr/>
        </p:nvSpPr>
        <p:spPr>
          <a:xfrm>
            <a:off x="566928" y="4480560"/>
            <a:ext cx="11064240" cy="658368"/>
          </a:xfrm>
          <a:prstGeom prst="roundRect">
            <a:avLst>
              <a:gd name="adj" fmla="val 8333"/>
            </a:avLst>
          </a:prstGeom>
          <a:solidFill>
            <a:srgbClr val="E4F0EE"/>
          </a:solidFill>
          <a:ln w="15875">
            <a:solidFill>
              <a:srgbClr val="0E6F66"/>
            </a:solidFill>
            <a:prstDash val="solid"/>
          </a:ln>
        </p:spPr>
        <p:txBody>
          <a:bodyPr/>
          <a:lstStyle/>
          <a:p>
            <a:endParaRPr lang="en-IN"/>
          </a:p>
        </p:txBody>
      </p:sp>
      <p:sp>
        <p:nvSpPr>
          <p:cNvPr id="23" name="Text 17"/>
          <p:cNvSpPr txBox="1"/>
          <p:nvPr/>
        </p:nvSpPr>
        <p:spPr>
          <a:xfrm>
            <a:off x="804672" y="4480560"/>
            <a:ext cx="10588752" cy="658368"/>
          </a:xfrm>
          <a:prstGeom prst="rect">
            <a:avLst/>
          </a:prstGeom>
          <a:noFill/>
          <a:ln/>
        </p:spPr>
        <p:txBody>
          <a:bodyPr wrap="square" lIns="0" tIns="0" rIns="0" bIns="0" rtlCol="0" anchor="ctr"/>
          <a:lstStyle/>
          <a:p>
            <a:pPr marL="0" indent="0">
              <a:buNone/>
            </a:pPr>
            <a:r>
              <a:rPr lang="en-US" sz="1250" dirty="0">
                <a:solidFill>
                  <a:srgbClr val="0E1B33"/>
                </a:solidFill>
                <a:latin typeface="Calibri" pitchFamily="34" charset="0"/>
                <a:ea typeface="Calibri" pitchFamily="34" charset="-122"/>
                <a:cs typeface="Calibri" pitchFamily="34" charset="-120"/>
              </a:rPr>
              <a:t>Because Var(k) &gt; 0 for any graph whose nodes do not all have identical degree, ⟨k_nn⟩ &gt; ⟨k⟩ holds universally — for every network, real or synthetic. The paradox is a property of how we sample, not of how people make friends.</a:t>
            </a:r>
            <a:endParaRPr lang="en-US" sz="1250" dirty="0"/>
          </a:p>
        </p:txBody>
      </p:sp>
      <p:sp>
        <p:nvSpPr>
          <p:cNvPr id="24" name="Shape 18"/>
          <p:cNvSpPr/>
          <p:nvPr/>
        </p:nvSpPr>
        <p:spPr>
          <a:xfrm>
            <a:off x="585216" y="5340096"/>
            <a:ext cx="329184" cy="329184"/>
          </a:xfrm>
          <a:prstGeom prst="ellipse">
            <a:avLst/>
          </a:prstGeom>
          <a:solidFill>
            <a:srgbClr val="C0392B"/>
          </a:solidFill>
          <a:ln w="12700">
            <a:solidFill>
              <a:srgbClr val="C0392B"/>
            </a:solidFill>
            <a:prstDash val="solid"/>
          </a:ln>
        </p:spPr>
        <p:txBody>
          <a:bodyPr/>
          <a:lstStyle/>
          <a:p>
            <a:endParaRPr lang="en-IN"/>
          </a:p>
        </p:txBody>
      </p:sp>
      <p:sp>
        <p:nvSpPr>
          <p:cNvPr id="25" name="Text 19"/>
          <p:cNvSpPr txBox="1"/>
          <p:nvPr/>
        </p:nvSpPr>
        <p:spPr>
          <a:xfrm>
            <a:off x="585216" y="5340096"/>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0"/>
          <p:cNvSpPr txBox="1"/>
          <p:nvPr/>
        </p:nvSpPr>
        <p:spPr>
          <a:xfrm>
            <a:off x="1060704" y="5312664"/>
            <a:ext cx="420624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Specialise to Poisson: Var(k) = ⟨k⟩</a:t>
            </a:r>
            <a:endParaRPr lang="en-US" sz="1350" dirty="0"/>
          </a:p>
        </p:txBody>
      </p:sp>
      <p:pic>
        <p:nvPicPr>
          <p:cNvPr id="27" name="Image 4" descr="/home/claude/eq/annd_er.png"/>
          <p:cNvPicPr>
            <a:picLocks noChangeAspect="1"/>
          </p:cNvPicPr>
          <p:nvPr/>
        </p:nvPicPr>
        <p:blipFill>
          <a:blip r:embed="rId7"/>
          <a:stretch>
            <a:fillRect/>
          </a:stretch>
        </p:blipFill>
        <p:spPr>
          <a:xfrm>
            <a:off x="5468112" y="5304569"/>
            <a:ext cx="6126480" cy="3453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1000"/>
                                        <p:tgtEl>
                                          <p:spTgt spid="22"/>
                                        </p:tgtEl>
                                      </p:cBhvr>
                                    </p:animEffect>
                                    <p:anim calcmode="lin" valueType="num">
                                      <p:cBhvr>
                                        <p:cTn id="75" dur="1000" fill="hold"/>
                                        <p:tgtEl>
                                          <p:spTgt spid="22"/>
                                        </p:tgtEl>
                                        <p:attrNameLst>
                                          <p:attrName>ppt_x</p:attrName>
                                        </p:attrNameLst>
                                      </p:cBhvr>
                                      <p:tavLst>
                                        <p:tav tm="0">
                                          <p:val>
                                            <p:strVal val="#ppt_x"/>
                                          </p:val>
                                        </p:tav>
                                        <p:tav tm="100000">
                                          <p:val>
                                            <p:strVal val="#ppt_x"/>
                                          </p:val>
                                        </p:tav>
                                      </p:tavLst>
                                    </p:anim>
                                    <p:anim calcmode="lin" valueType="num">
                                      <p:cBhvr>
                                        <p:cTn id="7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500"/>
                                        <p:tgtEl>
                                          <p:spTgt spid="2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500"/>
                                        <p:tgtEl>
                                          <p:spTgt spid="26"/>
                                        </p:tgtEl>
                                      </p:cBhvr>
                                    </p:animEffect>
                                  </p:childTnLst>
                                </p:cTn>
                              </p:par>
                              <p:par>
                                <p:cTn id="88" presetID="10" presetClass="entr" presetSubtype="0" fill="hold" nodeType="with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2" grpId="0" animBg="1"/>
      <p:bldP spid="23" grpId="0" animBg="1"/>
      <p:bldP spid="24" grpId="0" animBg="1"/>
      <p:bldP spid="25" grpId="0" animBg="1"/>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The nearest-neighbour degree  ⟨k_nn⟩</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notes, page 8</a:t>
            </a:r>
            <a:endParaRPr lang="en-US" sz="1150" dirty="0"/>
          </a:p>
        </p:txBody>
      </p:sp>
      <p:sp>
        <p:nvSpPr>
          <p:cNvPr id="5" name="anim:1"/>
          <p:cNvSpPr/>
          <p:nvPr/>
        </p:nvSpPr>
        <p:spPr>
          <a:xfrm>
            <a:off x="457200" y="950976"/>
            <a:ext cx="5852160" cy="3657600"/>
          </a:xfrm>
          <a:prstGeom prst="roundRect">
            <a:avLst>
              <a:gd name="adj" fmla="val 1500"/>
            </a:avLst>
          </a:prstGeom>
          <a:solidFill>
            <a:srgbClr val="FFFFFF"/>
          </a:solidFill>
          <a:ln w="12700">
            <a:solidFill>
              <a:srgbClr val="D5DDEA"/>
            </a:solidFill>
            <a:prstDash val="solid"/>
          </a:ln>
        </p:spPr>
        <p:txBody>
          <a:bodyPr/>
          <a:lstStyle/>
          <a:p>
            <a:endParaRPr lang="en-IN"/>
          </a:p>
        </p:txBody>
      </p:sp>
      <p:pic>
        <p:nvPicPr>
          <p:cNvPr id="6" name="anim:1" descr="/home/claude/deck/nb/nb_knndef.png"/>
          <p:cNvPicPr>
            <a:picLocks noChangeAspect="1"/>
          </p:cNvPicPr>
          <p:nvPr/>
        </p:nvPicPr>
        <p:blipFill>
          <a:blip r:embed="rId3"/>
          <a:stretch>
            <a:fillRect/>
          </a:stretch>
        </p:blipFill>
        <p:spPr>
          <a:xfrm>
            <a:off x="823958" y="1042416"/>
            <a:ext cx="5118645" cy="3273552"/>
          </a:xfrm>
          <a:prstGeom prst="rect">
            <a:avLst/>
          </a:prstGeom>
        </p:spPr>
      </p:pic>
      <p:sp>
        <p:nvSpPr>
          <p:cNvPr id="7" name="anim:1"/>
          <p:cNvSpPr/>
          <p:nvPr/>
        </p:nvSpPr>
        <p:spPr>
          <a:xfrm>
            <a:off x="585216" y="4297680"/>
            <a:ext cx="5596128" cy="237744"/>
          </a:xfrm>
          <a:prstGeom prst="rect">
            <a:avLst/>
          </a:prstGeom>
          <a:noFill/>
          <a:ln/>
        </p:spPr>
        <p:txBody>
          <a:bodyPr wrap="square" rtlCol="0" anchor="ctr"/>
          <a:lstStyle/>
          <a:p>
            <a:pPr marL="0" indent="0" algn="r">
              <a:buNone/>
            </a:pPr>
            <a:r>
              <a:rPr lang="en-US" sz="950" kern="0" spc="100" dirty="0">
                <a:solidFill>
                  <a:srgbClr val="7C8AA0"/>
                </a:solidFill>
                <a:latin typeface="Consolas" pitchFamily="34" charset="0"/>
                <a:ea typeface="Consolas" pitchFamily="34" charset="-122"/>
                <a:cs typeface="Consolas" pitchFamily="34" charset="-120"/>
              </a:rPr>
              <a:t>notes, p.8 — eqs. (9) and (10)</a:t>
            </a:r>
            <a:endParaRPr lang="en-US" sz="950" dirty="0"/>
          </a:p>
        </p:txBody>
      </p:sp>
      <p:pic>
        <p:nvPicPr>
          <p:cNvPr id="8" name="anim:2" descr="/home/claude/deck/eq/knni.png"/>
          <p:cNvPicPr>
            <a:picLocks noChangeAspect="1"/>
          </p:cNvPicPr>
          <p:nvPr/>
        </p:nvPicPr>
        <p:blipFill>
          <a:blip r:embed="rId4"/>
          <a:stretch>
            <a:fillRect/>
          </a:stretch>
        </p:blipFill>
        <p:spPr>
          <a:xfrm>
            <a:off x="8188732" y="1060704"/>
            <a:ext cx="1892248" cy="713232"/>
          </a:xfrm>
          <a:prstGeom prst="rect">
            <a:avLst/>
          </a:prstGeom>
        </p:spPr>
      </p:pic>
      <p:sp>
        <p:nvSpPr>
          <p:cNvPr id="9" name="anim:3"/>
          <p:cNvSpPr/>
          <p:nvPr/>
        </p:nvSpPr>
        <p:spPr>
          <a:xfrm>
            <a:off x="6537960" y="1883664"/>
            <a:ext cx="5193792" cy="841248"/>
          </a:xfrm>
          <a:prstGeom prst="roundRect">
            <a:avLst>
              <a:gd name="adj" fmla="val 6522"/>
            </a:avLst>
          </a:prstGeom>
          <a:solidFill>
            <a:srgbClr val="F3F6FA"/>
          </a:solidFill>
          <a:ln w="12700">
            <a:solidFill>
              <a:srgbClr val="D5DDEA"/>
            </a:solidFill>
            <a:prstDash val="solid"/>
          </a:ln>
        </p:spPr>
        <p:txBody>
          <a:bodyPr/>
          <a:lstStyle/>
          <a:p>
            <a:endParaRPr lang="en-IN"/>
          </a:p>
        </p:txBody>
      </p:sp>
      <p:sp>
        <p:nvSpPr>
          <p:cNvPr id="10" name="anim:3"/>
          <p:cNvSpPr/>
          <p:nvPr/>
        </p:nvSpPr>
        <p:spPr>
          <a:xfrm>
            <a:off x="6720840" y="2002536"/>
            <a:ext cx="4828032" cy="630936"/>
          </a:xfrm>
          <a:prstGeom prst="rect">
            <a:avLst/>
          </a:prstGeom>
          <a:noFill/>
          <a:ln/>
        </p:spPr>
        <p:txBody>
          <a:bodyPr wrap="square" rtlCol="0" anchor="t"/>
          <a:lstStyle/>
          <a:p>
            <a:pPr marL="0" indent="0">
              <a:lnSpc>
                <a:spcPts val="1988"/>
              </a:lnSpc>
              <a:buNone/>
            </a:pPr>
            <a:r>
              <a:rPr lang="en-US" sz="1400" dirty="0">
                <a:solidFill>
                  <a:srgbClr val="46536C"/>
                </a:solidFill>
                <a:latin typeface="Calibri" pitchFamily="34" charset="0"/>
                <a:ea typeface="Calibri" pitchFamily="34" charset="-122"/>
                <a:cs typeface="Calibri" pitchFamily="34" charset="-120"/>
              </a:rPr>
              <a:t>the mean degree of the neighbours of one node i</a:t>
            </a:r>
            <a:endParaRPr lang="en-US" sz="1400" dirty="0"/>
          </a:p>
        </p:txBody>
      </p:sp>
      <p:pic>
        <p:nvPicPr>
          <p:cNvPr id="11" name="anim:4" descr="/home/claude/deck/eq/knnavg.png"/>
          <p:cNvPicPr>
            <a:picLocks noChangeAspect="1"/>
          </p:cNvPicPr>
          <p:nvPr/>
        </p:nvPicPr>
        <p:blipFill>
          <a:blip r:embed="rId5"/>
          <a:stretch>
            <a:fillRect/>
          </a:stretch>
        </p:blipFill>
        <p:spPr>
          <a:xfrm>
            <a:off x="7726014" y="2834640"/>
            <a:ext cx="2817685" cy="786384"/>
          </a:xfrm>
          <a:prstGeom prst="rect">
            <a:avLst/>
          </a:prstGeom>
        </p:spPr>
      </p:pic>
      <p:sp>
        <p:nvSpPr>
          <p:cNvPr id="12" name="anim:5"/>
          <p:cNvSpPr/>
          <p:nvPr/>
        </p:nvSpPr>
        <p:spPr>
          <a:xfrm>
            <a:off x="6537960" y="3712464"/>
            <a:ext cx="5193792" cy="896112"/>
          </a:xfrm>
          <a:prstGeom prst="roundRect">
            <a:avLst>
              <a:gd name="adj" fmla="val 6122"/>
            </a:avLst>
          </a:prstGeom>
          <a:solidFill>
            <a:srgbClr val="F3F6FA"/>
          </a:solidFill>
          <a:ln w="12700">
            <a:solidFill>
              <a:srgbClr val="D5DDEA"/>
            </a:solidFill>
            <a:prstDash val="solid"/>
          </a:ln>
        </p:spPr>
        <p:txBody>
          <a:bodyPr/>
          <a:lstStyle/>
          <a:p>
            <a:endParaRPr lang="en-IN"/>
          </a:p>
        </p:txBody>
      </p:sp>
      <p:sp>
        <p:nvSpPr>
          <p:cNvPr id="13" name="anim:5"/>
          <p:cNvSpPr/>
          <p:nvPr/>
        </p:nvSpPr>
        <p:spPr>
          <a:xfrm>
            <a:off x="6720840" y="3831336"/>
            <a:ext cx="4828032" cy="685800"/>
          </a:xfrm>
          <a:prstGeom prst="rect">
            <a:avLst/>
          </a:prstGeom>
          <a:noFill/>
          <a:ln/>
        </p:spPr>
        <p:txBody>
          <a:bodyPr wrap="square" rtlCol="0" anchor="t"/>
          <a:lstStyle/>
          <a:p>
            <a:pPr marL="0" indent="0">
              <a:lnSpc>
                <a:spcPts val="1988"/>
              </a:lnSpc>
              <a:buNone/>
            </a:pPr>
            <a:r>
              <a:rPr lang="en-US" sz="1400" dirty="0">
                <a:solidFill>
                  <a:srgbClr val="46536C"/>
                </a:solidFill>
                <a:latin typeface="Calibri" pitchFamily="34" charset="0"/>
                <a:ea typeface="Calibri" pitchFamily="34" charset="-122"/>
                <a:cs typeface="Calibri" pitchFamily="34" charset="-120"/>
              </a:rPr>
              <a:t>averaged over all N nodes of the graph</a:t>
            </a:r>
            <a:endParaRPr lang="en-US" sz="1400" dirty="0"/>
          </a:p>
        </p:txBody>
      </p:sp>
      <p:sp>
        <p:nvSpPr>
          <p:cNvPr id="14" name="anim:6"/>
          <p:cNvSpPr/>
          <p:nvPr/>
        </p:nvSpPr>
        <p:spPr>
          <a:xfrm>
            <a:off x="457200" y="4773168"/>
            <a:ext cx="11274552" cy="1097280"/>
          </a:xfrm>
          <a:prstGeom prst="roundRect">
            <a:avLst>
              <a:gd name="adj" fmla="val 5000"/>
            </a:avLst>
          </a:prstGeom>
          <a:solidFill>
            <a:srgbClr val="FBEAE7"/>
          </a:solidFill>
          <a:ln w="12700">
            <a:solidFill>
              <a:srgbClr val="D5DDEA"/>
            </a:solidFill>
            <a:prstDash val="solid"/>
          </a:ln>
        </p:spPr>
        <p:txBody>
          <a:bodyPr/>
          <a:lstStyle/>
          <a:p>
            <a:endParaRPr lang="en-IN"/>
          </a:p>
        </p:txBody>
      </p:sp>
      <p:sp>
        <p:nvSpPr>
          <p:cNvPr id="15" name="anim:6"/>
          <p:cNvSpPr/>
          <p:nvPr/>
        </p:nvSpPr>
        <p:spPr>
          <a:xfrm>
            <a:off x="640080" y="4892040"/>
            <a:ext cx="10908792"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THE CLAIM THE NOTES MAKE</a:t>
            </a:r>
            <a:endParaRPr lang="en-US" sz="1100" dirty="0"/>
          </a:p>
        </p:txBody>
      </p:sp>
      <p:sp>
        <p:nvSpPr>
          <p:cNvPr id="16" name="anim:6"/>
          <p:cNvSpPr/>
          <p:nvPr/>
        </p:nvSpPr>
        <p:spPr>
          <a:xfrm>
            <a:off x="640080" y="5184648"/>
            <a:ext cx="10908792" cy="594360"/>
          </a:xfrm>
          <a:prstGeom prst="rect">
            <a:avLst/>
          </a:prstGeom>
          <a:noFill/>
          <a:ln/>
        </p:spPr>
        <p:txBody>
          <a:bodyPr wrap="square" rtlCol="0" anchor="t"/>
          <a:lstStyle/>
          <a:p>
            <a:pPr marL="0" indent="0">
              <a:lnSpc>
                <a:spcPts val="2130"/>
              </a:lnSpc>
              <a:buNone/>
            </a:pPr>
            <a:r>
              <a:rPr lang="en-US" sz="1500" dirty="0">
                <a:solidFill>
                  <a:srgbClr val="46536C"/>
                </a:solidFill>
                <a:latin typeface="Calibri" pitchFamily="34" charset="0"/>
                <a:ea typeface="Calibri" pitchFamily="34" charset="-122"/>
                <a:cs typeface="Calibri" pitchFamily="34" charset="-120"/>
              </a:rPr>
              <a:t>⟨k_nn⟩ is NOT equal to ⟨k⟩.  The degrees of the nodes you arrive at by following edges are drawn from a different distribution than the degrees of nodes you pick at random.  That distribution has a name: q_k.</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2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2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2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2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2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2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2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The distribution at the end of an edge</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notes, pages 9–10</a:t>
            </a:r>
            <a:endParaRPr lang="en-US" sz="1150" dirty="0"/>
          </a:p>
        </p:txBody>
      </p:sp>
      <p:sp>
        <p:nvSpPr>
          <p:cNvPr id="5" name="anim:1"/>
          <p:cNvSpPr/>
          <p:nvPr/>
        </p:nvSpPr>
        <p:spPr>
          <a:xfrm>
            <a:off x="502920" y="987552"/>
            <a:ext cx="292608" cy="292608"/>
          </a:xfrm>
          <a:prstGeom prst="ellipse">
            <a:avLst/>
          </a:prstGeom>
          <a:solidFill>
            <a:srgbClr val="B8281A"/>
          </a:solidFill>
          <a:ln w="12700">
            <a:solidFill>
              <a:srgbClr val="333333"/>
            </a:solidFill>
            <a:prstDash val="solid"/>
          </a:ln>
        </p:spPr>
        <p:txBody>
          <a:bodyPr/>
          <a:lstStyle/>
          <a:p>
            <a:endParaRPr lang="en-IN"/>
          </a:p>
        </p:txBody>
      </p:sp>
      <p:sp>
        <p:nvSpPr>
          <p:cNvPr id="6" name="anim:1"/>
          <p:cNvSpPr/>
          <p:nvPr/>
        </p:nvSpPr>
        <p:spPr>
          <a:xfrm>
            <a:off x="502920" y="987552"/>
            <a:ext cx="292608" cy="292608"/>
          </a:xfrm>
          <a:prstGeom prst="rect">
            <a:avLst/>
          </a:prstGeom>
          <a:noFill/>
          <a:ln/>
        </p:spPr>
        <p:txBody>
          <a:bodyPr wrap="square" rtlCol="0" anchor="ctr"/>
          <a:lstStyle/>
          <a:p>
            <a:pPr marL="0" indent="0" algn="ctr">
              <a:buNone/>
            </a:pPr>
            <a:r>
              <a:rPr lang="en-US" sz="1250" b="1" dirty="0">
                <a:solidFill>
                  <a:srgbClr val="FFFFFF"/>
                </a:solidFill>
                <a:latin typeface="Consolas" pitchFamily="34" charset="0"/>
                <a:ea typeface="Consolas" pitchFamily="34" charset="-122"/>
                <a:cs typeface="Consolas" pitchFamily="34" charset="-120"/>
              </a:rPr>
              <a:t>1</a:t>
            </a:r>
            <a:endParaRPr lang="en-US" sz="1250" dirty="0"/>
          </a:p>
        </p:txBody>
      </p:sp>
      <p:sp>
        <p:nvSpPr>
          <p:cNvPr id="7" name="anim:1"/>
          <p:cNvSpPr/>
          <p:nvPr/>
        </p:nvSpPr>
        <p:spPr>
          <a:xfrm>
            <a:off x="923544" y="969264"/>
            <a:ext cx="10735056" cy="384048"/>
          </a:xfrm>
          <a:prstGeom prst="rect">
            <a:avLst/>
          </a:prstGeom>
          <a:noFill/>
          <a:ln/>
        </p:spPr>
        <p:txBody>
          <a:bodyPr wrap="square" rtlCol="0" anchor="t"/>
          <a:lstStyle/>
          <a:p>
            <a:pPr marL="0" indent="0">
              <a:lnSpc>
                <a:spcPts val="2010"/>
              </a:lnSpc>
              <a:buNone/>
            </a:pPr>
            <a:r>
              <a:rPr lang="en-US" sz="1500" dirty="0">
                <a:solidFill>
                  <a:srgbClr val="0E1B33"/>
                </a:solidFill>
                <a:latin typeface="Calibri" pitchFamily="34" charset="0"/>
                <a:ea typeface="Calibri" pitchFamily="34" charset="-122"/>
                <a:cs typeface="Calibri" pitchFamily="34" charset="-120"/>
              </a:rPr>
              <a:t>Count edge-ends, not nodes.  The graph has 2m = N⟨k⟩ edge-ends in total.</a:t>
            </a:r>
            <a:endParaRPr lang="en-US" sz="1500" dirty="0"/>
          </a:p>
        </p:txBody>
      </p:sp>
      <p:sp>
        <p:nvSpPr>
          <p:cNvPr id="8" name="anim:2"/>
          <p:cNvSpPr/>
          <p:nvPr/>
        </p:nvSpPr>
        <p:spPr>
          <a:xfrm>
            <a:off x="502920" y="1499616"/>
            <a:ext cx="292608" cy="292608"/>
          </a:xfrm>
          <a:prstGeom prst="ellipse">
            <a:avLst/>
          </a:prstGeom>
          <a:solidFill>
            <a:srgbClr val="B8281A"/>
          </a:solidFill>
          <a:ln w="12700">
            <a:solidFill>
              <a:srgbClr val="333333"/>
            </a:solidFill>
            <a:prstDash val="solid"/>
          </a:ln>
        </p:spPr>
        <p:txBody>
          <a:bodyPr/>
          <a:lstStyle/>
          <a:p>
            <a:endParaRPr lang="en-IN"/>
          </a:p>
        </p:txBody>
      </p:sp>
      <p:sp>
        <p:nvSpPr>
          <p:cNvPr id="9" name="anim:2"/>
          <p:cNvSpPr/>
          <p:nvPr/>
        </p:nvSpPr>
        <p:spPr>
          <a:xfrm>
            <a:off x="502920" y="1499616"/>
            <a:ext cx="292608" cy="292608"/>
          </a:xfrm>
          <a:prstGeom prst="rect">
            <a:avLst/>
          </a:prstGeom>
          <a:noFill/>
          <a:ln/>
        </p:spPr>
        <p:txBody>
          <a:bodyPr wrap="square" rtlCol="0" anchor="ctr"/>
          <a:lstStyle/>
          <a:p>
            <a:pPr marL="0" indent="0" algn="ctr">
              <a:buNone/>
            </a:pPr>
            <a:r>
              <a:rPr lang="en-US" sz="1250" b="1" dirty="0">
                <a:solidFill>
                  <a:srgbClr val="FFFFFF"/>
                </a:solidFill>
                <a:latin typeface="Consolas" pitchFamily="34" charset="0"/>
                <a:ea typeface="Consolas" pitchFamily="34" charset="-122"/>
                <a:cs typeface="Consolas" pitchFamily="34" charset="-120"/>
              </a:rPr>
              <a:t>2</a:t>
            </a:r>
            <a:endParaRPr lang="en-US" sz="1250" dirty="0"/>
          </a:p>
        </p:txBody>
      </p:sp>
      <p:sp>
        <p:nvSpPr>
          <p:cNvPr id="10" name="anim:2"/>
          <p:cNvSpPr/>
          <p:nvPr/>
        </p:nvSpPr>
        <p:spPr>
          <a:xfrm>
            <a:off x="923544" y="1481328"/>
            <a:ext cx="10735056" cy="384048"/>
          </a:xfrm>
          <a:prstGeom prst="rect">
            <a:avLst/>
          </a:prstGeom>
          <a:noFill/>
          <a:ln/>
        </p:spPr>
        <p:txBody>
          <a:bodyPr wrap="square" rtlCol="0" anchor="t"/>
          <a:lstStyle/>
          <a:p>
            <a:pPr marL="0" indent="0">
              <a:lnSpc>
                <a:spcPts val="2010"/>
              </a:lnSpc>
              <a:buNone/>
            </a:pPr>
            <a:r>
              <a:rPr lang="en-US" sz="1500" dirty="0">
                <a:solidFill>
                  <a:srgbClr val="0E1B33"/>
                </a:solidFill>
                <a:latin typeface="Calibri" pitchFamily="34" charset="0"/>
                <a:ea typeface="Calibri" pitchFamily="34" charset="-122"/>
                <a:cs typeface="Calibri" pitchFamily="34" charset="-120"/>
              </a:rPr>
              <a:t>A node of degree k owns exactly k of them — so it is k times as easy to reach as a node of degree 1.</a:t>
            </a:r>
            <a:endParaRPr lang="en-US" sz="1500" dirty="0"/>
          </a:p>
        </p:txBody>
      </p:sp>
      <p:pic>
        <p:nvPicPr>
          <p:cNvPr id="11" name="anim:3" descr="/home/claude/deck/eq/qkwhy.png"/>
          <p:cNvPicPr>
            <a:picLocks noChangeAspect="1"/>
          </p:cNvPicPr>
          <p:nvPr/>
        </p:nvPicPr>
        <p:blipFill>
          <a:blip r:embed="rId3"/>
          <a:stretch>
            <a:fillRect/>
          </a:stretch>
        </p:blipFill>
        <p:spPr>
          <a:xfrm>
            <a:off x="932688" y="1956816"/>
            <a:ext cx="9479182" cy="420624"/>
          </a:xfrm>
          <a:prstGeom prst="rect">
            <a:avLst/>
          </a:prstGeom>
        </p:spPr>
      </p:pic>
      <p:pic>
        <p:nvPicPr>
          <p:cNvPr id="12" name="anim:4" descr="/home/claude/deck/eq/qkdef2.png"/>
          <p:cNvPicPr>
            <a:picLocks noChangeAspect="1"/>
          </p:cNvPicPr>
          <p:nvPr/>
        </p:nvPicPr>
        <p:blipFill>
          <a:blip r:embed="rId4"/>
          <a:stretch>
            <a:fillRect/>
          </a:stretch>
        </p:blipFill>
        <p:spPr>
          <a:xfrm>
            <a:off x="2961167" y="2340864"/>
            <a:ext cx="6239185" cy="1097280"/>
          </a:xfrm>
          <a:prstGeom prst="rect">
            <a:avLst/>
          </a:prstGeom>
        </p:spPr>
      </p:pic>
      <p:sp>
        <p:nvSpPr>
          <p:cNvPr id="13" name="anim:5"/>
          <p:cNvSpPr/>
          <p:nvPr/>
        </p:nvSpPr>
        <p:spPr>
          <a:xfrm>
            <a:off x="4206240" y="3456432"/>
            <a:ext cx="3776472" cy="877824"/>
          </a:xfrm>
          <a:prstGeom prst="roundRect">
            <a:avLst>
              <a:gd name="adj" fmla="val 6250"/>
            </a:avLst>
          </a:prstGeom>
          <a:solidFill>
            <a:srgbClr val="0E1B33"/>
          </a:solidFill>
          <a:ln w="12700">
            <a:solidFill>
              <a:srgbClr val="0E1B33"/>
            </a:solidFill>
            <a:prstDash val="solid"/>
          </a:ln>
        </p:spPr>
        <p:txBody>
          <a:bodyPr/>
          <a:lstStyle/>
          <a:p>
            <a:endParaRPr lang="en-IN"/>
          </a:p>
        </p:txBody>
      </p:sp>
      <p:pic>
        <p:nvPicPr>
          <p:cNvPr id="14" name="anim:5" descr="/home/claude/deck/eq/qkbox.png"/>
          <p:cNvPicPr>
            <a:picLocks noChangeAspect="1"/>
          </p:cNvPicPr>
          <p:nvPr/>
        </p:nvPicPr>
        <p:blipFill>
          <a:blip r:embed="rId5"/>
          <a:stretch>
            <a:fillRect/>
          </a:stretch>
        </p:blipFill>
        <p:spPr>
          <a:xfrm>
            <a:off x="5496423" y="3547872"/>
            <a:ext cx="1196106" cy="694944"/>
          </a:xfrm>
          <a:prstGeom prst="rect">
            <a:avLst/>
          </a:prstGeom>
        </p:spPr>
      </p:pic>
      <p:sp>
        <p:nvSpPr>
          <p:cNvPr id="15" name="anim:6"/>
          <p:cNvSpPr/>
          <p:nvPr/>
        </p:nvSpPr>
        <p:spPr>
          <a:xfrm>
            <a:off x="457200" y="4517136"/>
            <a:ext cx="5532120" cy="1316736"/>
          </a:xfrm>
          <a:prstGeom prst="roundRect">
            <a:avLst>
              <a:gd name="adj" fmla="val 4167"/>
            </a:avLst>
          </a:prstGeom>
          <a:solidFill>
            <a:srgbClr val="F3F6FA"/>
          </a:solidFill>
          <a:ln w="12700">
            <a:solidFill>
              <a:srgbClr val="D5DDEA"/>
            </a:solidFill>
            <a:prstDash val="solid"/>
          </a:ln>
        </p:spPr>
        <p:txBody>
          <a:bodyPr/>
          <a:lstStyle/>
          <a:p>
            <a:endParaRPr lang="en-IN"/>
          </a:p>
        </p:txBody>
      </p:sp>
      <p:sp>
        <p:nvSpPr>
          <p:cNvPr id="16" name="anim:6"/>
          <p:cNvSpPr/>
          <p:nvPr/>
        </p:nvSpPr>
        <p:spPr>
          <a:xfrm>
            <a:off x="640080" y="4636008"/>
            <a:ext cx="5166360"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SIZE-BIASED SAMPLING</a:t>
            </a:r>
            <a:endParaRPr lang="en-US" sz="1100" dirty="0"/>
          </a:p>
        </p:txBody>
      </p:sp>
      <p:sp>
        <p:nvSpPr>
          <p:cNvPr id="17" name="anim:6"/>
          <p:cNvSpPr/>
          <p:nvPr/>
        </p:nvSpPr>
        <p:spPr>
          <a:xfrm>
            <a:off x="640080" y="4928616"/>
            <a:ext cx="5166360" cy="813816"/>
          </a:xfrm>
          <a:prstGeom prst="rect">
            <a:avLst/>
          </a:prstGeom>
          <a:noFill/>
          <a:ln/>
        </p:spPr>
        <p:txBody>
          <a:bodyPr wrap="square" rtlCol="0" anchor="t"/>
          <a:lstStyle/>
          <a:p>
            <a:pPr marL="0" indent="0">
              <a:lnSpc>
                <a:spcPts val="1704"/>
              </a:lnSpc>
              <a:buNone/>
            </a:pPr>
            <a:r>
              <a:rPr lang="en-US" sz="1200" dirty="0">
                <a:solidFill>
                  <a:srgbClr val="46536C"/>
                </a:solidFill>
                <a:latin typeface="Calibri" pitchFamily="34" charset="0"/>
                <a:ea typeface="Calibri" pitchFamily="34" charset="-122"/>
                <a:cs typeface="Calibri" pitchFamily="34" charset="-120"/>
              </a:rPr>
              <a:t>q_k is p_k tilted by k and renormalised.  Low degrees are under-represented, high degrees over-represented — the same effect that makes a bus look fuller than average to the average passenger.</a:t>
            </a:r>
            <a:endParaRPr lang="en-US" sz="1200" dirty="0"/>
          </a:p>
        </p:txBody>
      </p:sp>
      <p:sp>
        <p:nvSpPr>
          <p:cNvPr id="18" name="anim:7"/>
          <p:cNvSpPr/>
          <p:nvPr/>
        </p:nvSpPr>
        <p:spPr>
          <a:xfrm>
            <a:off x="6199632" y="4517136"/>
            <a:ext cx="5532120" cy="1316736"/>
          </a:xfrm>
          <a:prstGeom prst="roundRect">
            <a:avLst>
              <a:gd name="adj" fmla="val 4167"/>
            </a:avLst>
          </a:prstGeom>
          <a:solidFill>
            <a:srgbClr val="E2F0EE"/>
          </a:solidFill>
          <a:ln w="12700">
            <a:solidFill>
              <a:srgbClr val="D5DDEA"/>
            </a:solidFill>
            <a:prstDash val="solid"/>
          </a:ln>
        </p:spPr>
        <p:txBody>
          <a:bodyPr/>
          <a:lstStyle/>
          <a:p>
            <a:endParaRPr lang="en-IN"/>
          </a:p>
        </p:txBody>
      </p:sp>
      <p:sp>
        <p:nvSpPr>
          <p:cNvPr id="19" name="anim:7"/>
          <p:cNvSpPr/>
          <p:nvPr/>
        </p:nvSpPr>
        <p:spPr>
          <a:xfrm>
            <a:off x="6382512" y="4636008"/>
            <a:ext cx="5166360" cy="274320"/>
          </a:xfrm>
          <a:prstGeom prst="rect">
            <a:avLst/>
          </a:prstGeom>
          <a:noFill/>
          <a:ln/>
        </p:spPr>
        <p:txBody>
          <a:bodyPr wrap="square" rtlCol="0" anchor="ctr"/>
          <a:lstStyle/>
          <a:p>
            <a:pPr marL="0" indent="0">
              <a:buNone/>
            </a:pPr>
            <a:r>
              <a:rPr lang="en-US" sz="1100" b="1" kern="0" spc="110" dirty="0">
                <a:solidFill>
                  <a:srgbClr val="0E6F66"/>
                </a:solidFill>
                <a:latin typeface="Consolas" pitchFamily="34" charset="0"/>
                <a:ea typeface="Consolas" pitchFamily="34" charset="-122"/>
                <a:cs typeface="Consolas" pitchFamily="34" charset="-120"/>
              </a:rPr>
              <a:t>AND IT IS EXACT</a:t>
            </a:r>
            <a:endParaRPr lang="en-US" sz="1100" dirty="0"/>
          </a:p>
        </p:txBody>
      </p:sp>
      <p:sp>
        <p:nvSpPr>
          <p:cNvPr id="20" name="anim:7"/>
          <p:cNvSpPr/>
          <p:nvPr/>
        </p:nvSpPr>
        <p:spPr>
          <a:xfrm>
            <a:off x="6382512" y="4928616"/>
            <a:ext cx="5166360" cy="813816"/>
          </a:xfrm>
          <a:prstGeom prst="rect">
            <a:avLst/>
          </a:prstGeom>
          <a:noFill/>
          <a:ln/>
        </p:spPr>
        <p:txBody>
          <a:bodyPr wrap="square" rtlCol="0" anchor="t"/>
          <a:lstStyle/>
          <a:p>
            <a:pPr marL="0" indent="0">
              <a:lnSpc>
                <a:spcPts val="1988"/>
              </a:lnSpc>
              <a:buNone/>
            </a:pPr>
            <a:r>
              <a:rPr lang="en-US" sz="1400" dirty="0">
                <a:solidFill>
                  <a:srgbClr val="46536C"/>
                </a:solidFill>
                <a:latin typeface="Calibri" pitchFamily="34" charset="0"/>
                <a:ea typeface="Calibri" pitchFamily="34" charset="-122"/>
                <a:cs typeface="Calibri" pitchFamily="34" charset="-120"/>
              </a:rPr>
              <a:t>This holds in ANY graph, random or not.  It is a statement about how edges sample vertices, with no model assumption at all.</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2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2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2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2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2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2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2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2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2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2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42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The notes' worked example, reproduced</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notes, page 9  ·  N = 10</a:t>
            </a:r>
            <a:endParaRPr lang="en-US" sz="1150" dirty="0"/>
          </a:p>
        </p:txBody>
      </p:sp>
      <p:pic>
        <p:nvPicPr>
          <p:cNvPr id="5" name="anim:1" descr="/home/claude/deck/fig/knn_example.png"/>
          <p:cNvPicPr>
            <a:picLocks noChangeAspect="1"/>
          </p:cNvPicPr>
          <p:nvPr/>
        </p:nvPicPr>
        <p:blipFill>
          <a:blip r:embed="rId3"/>
          <a:stretch>
            <a:fillRect/>
          </a:stretch>
        </p:blipFill>
        <p:spPr>
          <a:xfrm>
            <a:off x="2142466" y="896112"/>
            <a:ext cx="7876588" cy="4114800"/>
          </a:xfrm>
          <a:prstGeom prst="rect">
            <a:avLst/>
          </a:prstGeom>
        </p:spPr>
      </p:pic>
      <p:sp>
        <p:nvSpPr>
          <p:cNvPr id="6" name="anim:2"/>
          <p:cNvSpPr/>
          <p:nvPr/>
        </p:nvSpPr>
        <p:spPr>
          <a:xfrm>
            <a:off x="457200" y="5102352"/>
            <a:ext cx="3657600" cy="768096"/>
          </a:xfrm>
          <a:prstGeom prst="roundRect">
            <a:avLst>
              <a:gd name="adj" fmla="val 7143"/>
            </a:avLst>
          </a:prstGeom>
          <a:solidFill>
            <a:srgbClr val="F3F6FA"/>
          </a:solidFill>
          <a:ln w="12700">
            <a:solidFill>
              <a:srgbClr val="D5DDEA"/>
            </a:solidFill>
            <a:prstDash val="solid"/>
          </a:ln>
        </p:spPr>
        <p:txBody>
          <a:bodyPr/>
          <a:lstStyle/>
          <a:p>
            <a:endParaRPr lang="en-IN"/>
          </a:p>
        </p:txBody>
      </p:sp>
      <p:sp>
        <p:nvSpPr>
          <p:cNvPr id="7" name="anim:2"/>
          <p:cNvSpPr/>
          <p:nvPr/>
        </p:nvSpPr>
        <p:spPr>
          <a:xfrm>
            <a:off x="640080" y="5221224"/>
            <a:ext cx="3291840" cy="274320"/>
          </a:xfrm>
          <a:prstGeom prst="rect">
            <a:avLst/>
          </a:prstGeom>
          <a:noFill/>
          <a:ln/>
        </p:spPr>
        <p:txBody>
          <a:bodyPr wrap="square" rtlCol="0" anchor="ctr"/>
          <a:lstStyle/>
          <a:p>
            <a:pPr marL="0" indent="0">
              <a:buNone/>
            </a:pPr>
            <a:r>
              <a:rPr lang="en-US" sz="1100" b="1" kern="0" spc="110" dirty="0">
                <a:solidFill>
                  <a:srgbClr val="1560D4"/>
                </a:solidFill>
                <a:latin typeface="Consolas" pitchFamily="34" charset="0"/>
                <a:ea typeface="Consolas" pitchFamily="34" charset="-122"/>
                <a:cs typeface="Consolas" pitchFamily="34" charset="-120"/>
              </a:rPr>
              <a:t>q₁ = 1/5  &lt;  p₁ = 2/5</a:t>
            </a:r>
            <a:endParaRPr lang="en-US" sz="1100" dirty="0"/>
          </a:p>
        </p:txBody>
      </p:sp>
      <p:sp>
        <p:nvSpPr>
          <p:cNvPr id="8" name="anim:2"/>
          <p:cNvSpPr/>
          <p:nvPr/>
        </p:nvSpPr>
        <p:spPr>
          <a:xfrm>
            <a:off x="640080" y="5513832"/>
            <a:ext cx="3291840" cy="265176"/>
          </a:xfrm>
          <a:prstGeom prst="rect">
            <a:avLst/>
          </a:prstGeom>
          <a:noFill/>
          <a:ln/>
        </p:spPr>
        <p:txBody>
          <a:bodyPr wrap="square" rtlCol="0" anchor="t"/>
          <a:lstStyle/>
          <a:p>
            <a:pPr marL="0" indent="0">
              <a:lnSpc>
                <a:spcPts val="1846"/>
              </a:lnSpc>
              <a:buNone/>
            </a:pPr>
            <a:r>
              <a:rPr lang="en-US" sz="1300" dirty="0">
                <a:solidFill>
                  <a:srgbClr val="46536C"/>
                </a:solidFill>
                <a:latin typeface="Calibri" pitchFamily="34" charset="0"/>
                <a:ea typeface="Calibri" pitchFamily="34" charset="-122"/>
                <a:cs typeface="Calibri" pitchFamily="34" charset="-120"/>
              </a:rPr>
              <a:t>degree-1 nodes are hard to reach</a:t>
            </a:r>
            <a:endParaRPr lang="en-US" sz="1300" dirty="0"/>
          </a:p>
        </p:txBody>
      </p:sp>
      <p:sp>
        <p:nvSpPr>
          <p:cNvPr id="9" name="anim:3"/>
          <p:cNvSpPr/>
          <p:nvPr/>
        </p:nvSpPr>
        <p:spPr>
          <a:xfrm>
            <a:off x="4261104" y="5102352"/>
            <a:ext cx="3657600" cy="768096"/>
          </a:xfrm>
          <a:prstGeom prst="roundRect">
            <a:avLst>
              <a:gd name="adj" fmla="val 7143"/>
            </a:avLst>
          </a:prstGeom>
          <a:solidFill>
            <a:srgbClr val="F3F6FA"/>
          </a:solidFill>
          <a:ln w="12700">
            <a:solidFill>
              <a:srgbClr val="D5DDEA"/>
            </a:solidFill>
            <a:prstDash val="solid"/>
          </a:ln>
        </p:spPr>
        <p:txBody>
          <a:bodyPr/>
          <a:lstStyle/>
          <a:p>
            <a:endParaRPr lang="en-IN"/>
          </a:p>
        </p:txBody>
      </p:sp>
      <p:sp>
        <p:nvSpPr>
          <p:cNvPr id="10" name="anim:3"/>
          <p:cNvSpPr/>
          <p:nvPr/>
        </p:nvSpPr>
        <p:spPr>
          <a:xfrm>
            <a:off x="4443984" y="5221224"/>
            <a:ext cx="3291840" cy="274320"/>
          </a:xfrm>
          <a:prstGeom prst="rect">
            <a:avLst/>
          </a:prstGeom>
          <a:noFill/>
          <a:ln/>
        </p:spPr>
        <p:txBody>
          <a:bodyPr wrap="square" rtlCol="0" anchor="ctr"/>
          <a:lstStyle/>
          <a:p>
            <a:pPr marL="0" indent="0">
              <a:buNone/>
            </a:pPr>
            <a:r>
              <a:rPr lang="en-US" sz="1100" b="1" kern="0" spc="110" dirty="0">
                <a:solidFill>
                  <a:srgbClr val="46536C"/>
                </a:solidFill>
                <a:latin typeface="Consolas" pitchFamily="34" charset="0"/>
                <a:ea typeface="Consolas" pitchFamily="34" charset="-122"/>
                <a:cs typeface="Consolas" pitchFamily="34" charset="-120"/>
              </a:rPr>
              <a:t>q₂ = 2/5  =  p₂ = 2/5</a:t>
            </a:r>
            <a:endParaRPr lang="en-US" sz="1100" dirty="0"/>
          </a:p>
        </p:txBody>
      </p:sp>
      <p:sp>
        <p:nvSpPr>
          <p:cNvPr id="11" name="anim:3"/>
          <p:cNvSpPr/>
          <p:nvPr/>
        </p:nvSpPr>
        <p:spPr>
          <a:xfrm>
            <a:off x="4443984" y="5513832"/>
            <a:ext cx="3291840" cy="265176"/>
          </a:xfrm>
          <a:prstGeom prst="rect">
            <a:avLst/>
          </a:prstGeom>
          <a:noFill/>
          <a:ln/>
        </p:spPr>
        <p:txBody>
          <a:bodyPr wrap="square" rtlCol="0" anchor="t"/>
          <a:lstStyle/>
          <a:p>
            <a:pPr marL="0" indent="0">
              <a:lnSpc>
                <a:spcPts val="1846"/>
              </a:lnSpc>
              <a:buNone/>
            </a:pPr>
            <a:r>
              <a:rPr lang="en-US" sz="1300" dirty="0">
                <a:solidFill>
                  <a:srgbClr val="46536C"/>
                </a:solidFill>
                <a:latin typeface="Calibri" pitchFamily="34" charset="0"/>
                <a:ea typeface="Calibri" pitchFamily="34" charset="-122"/>
                <a:cs typeface="Calibri" pitchFamily="34" charset="-120"/>
              </a:rPr>
              <a:t>degree ⟨k⟩ = 2 is unbiased</a:t>
            </a:r>
            <a:endParaRPr lang="en-US" sz="1300" dirty="0"/>
          </a:p>
        </p:txBody>
      </p:sp>
      <p:sp>
        <p:nvSpPr>
          <p:cNvPr id="12" name="anim:4"/>
          <p:cNvSpPr/>
          <p:nvPr/>
        </p:nvSpPr>
        <p:spPr>
          <a:xfrm>
            <a:off x="8065008" y="5102352"/>
            <a:ext cx="3657600" cy="768096"/>
          </a:xfrm>
          <a:prstGeom prst="roundRect">
            <a:avLst>
              <a:gd name="adj" fmla="val 7143"/>
            </a:avLst>
          </a:prstGeom>
          <a:solidFill>
            <a:srgbClr val="F3F6FA"/>
          </a:solidFill>
          <a:ln w="12700">
            <a:solidFill>
              <a:srgbClr val="D5DDEA"/>
            </a:solidFill>
            <a:prstDash val="solid"/>
          </a:ln>
        </p:spPr>
        <p:txBody>
          <a:bodyPr/>
          <a:lstStyle/>
          <a:p>
            <a:endParaRPr lang="en-IN"/>
          </a:p>
        </p:txBody>
      </p:sp>
      <p:sp>
        <p:nvSpPr>
          <p:cNvPr id="13" name="anim:4"/>
          <p:cNvSpPr/>
          <p:nvPr/>
        </p:nvSpPr>
        <p:spPr>
          <a:xfrm>
            <a:off x="8247888" y="5221224"/>
            <a:ext cx="3291840"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q₅ = 5/20  &gt;  p₅ = 1/10</a:t>
            </a:r>
            <a:endParaRPr lang="en-US" sz="1100" dirty="0"/>
          </a:p>
        </p:txBody>
      </p:sp>
      <p:sp>
        <p:nvSpPr>
          <p:cNvPr id="14" name="anim:4"/>
          <p:cNvSpPr/>
          <p:nvPr/>
        </p:nvSpPr>
        <p:spPr>
          <a:xfrm>
            <a:off x="8247888" y="5513832"/>
            <a:ext cx="3291840" cy="265176"/>
          </a:xfrm>
          <a:prstGeom prst="rect">
            <a:avLst/>
          </a:prstGeom>
          <a:noFill/>
          <a:ln/>
        </p:spPr>
        <p:txBody>
          <a:bodyPr wrap="square" rtlCol="0" anchor="t"/>
          <a:lstStyle/>
          <a:p>
            <a:pPr marL="0" indent="0">
              <a:lnSpc>
                <a:spcPts val="1846"/>
              </a:lnSpc>
              <a:buNone/>
            </a:pPr>
            <a:r>
              <a:rPr lang="en-US" sz="1300" dirty="0">
                <a:solidFill>
                  <a:srgbClr val="46536C"/>
                </a:solidFill>
                <a:latin typeface="Calibri" pitchFamily="34" charset="0"/>
                <a:ea typeface="Calibri" pitchFamily="34" charset="-122"/>
                <a:cs typeface="Calibri" pitchFamily="34" charset="-120"/>
              </a:rPr>
              <a:t>the hub is 2.5× easier to reach</a:t>
            </a:r>
            <a:endParaRPr lang="en-US" sz="1300" dirty="0"/>
          </a:p>
        </p:txBody>
      </p:sp>
      <p:sp>
        <p:nvSpPr>
          <p:cNvPr id="15" name="anim:5"/>
          <p:cNvSpPr/>
          <p:nvPr/>
        </p:nvSpPr>
        <p:spPr>
          <a:xfrm>
            <a:off x="457200" y="5998464"/>
            <a:ext cx="11277295" cy="566928"/>
          </a:xfrm>
          <a:prstGeom prst="roundRect">
            <a:avLst>
              <a:gd name="adj" fmla="val 9677"/>
            </a:avLst>
          </a:prstGeom>
          <a:solidFill>
            <a:srgbClr val="0E1B33"/>
          </a:solidFill>
          <a:ln w="12700">
            <a:solidFill>
              <a:srgbClr val="333333"/>
            </a:solidFill>
            <a:prstDash val="solid"/>
          </a:ln>
        </p:spPr>
        <p:txBody>
          <a:bodyPr/>
          <a:lstStyle/>
          <a:p>
            <a:endParaRPr lang="en-IN"/>
          </a:p>
        </p:txBody>
      </p:sp>
      <p:sp>
        <p:nvSpPr>
          <p:cNvPr id="16" name="anim:5"/>
          <p:cNvSpPr/>
          <p:nvPr/>
        </p:nvSpPr>
        <p:spPr>
          <a:xfrm>
            <a:off x="658368" y="5998464"/>
            <a:ext cx="10874959" cy="566928"/>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Every number here matches the notes exactly:  q₁ = 1/5, q₂ = 2/5, q₃ = 3/20, q₅ = 5/20,  and Σ k q_k = ⟨k²⟩/⟨k⟩ = 2.7.</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2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2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2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2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2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2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2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2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2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Σ k q_k = ⟨k²⟩/⟨k⟩</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notes, page 10</a:t>
            </a:r>
            <a:endParaRPr lang="en-US" sz="1150" dirty="0"/>
          </a:p>
        </p:txBody>
      </p:sp>
      <p:sp>
        <p:nvSpPr>
          <p:cNvPr id="5" name="anim:1"/>
          <p:cNvSpPr/>
          <p:nvPr/>
        </p:nvSpPr>
        <p:spPr>
          <a:xfrm>
            <a:off x="502920" y="1024128"/>
            <a:ext cx="292608" cy="292608"/>
          </a:xfrm>
          <a:prstGeom prst="ellipse">
            <a:avLst/>
          </a:prstGeom>
          <a:solidFill>
            <a:srgbClr val="B8281A"/>
          </a:solidFill>
          <a:ln w="12700">
            <a:solidFill>
              <a:srgbClr val="333333"/>
            </a:solidFill>
            <a:prstDash val="solid"/>
          </a:ln>
        </p:spPr>
        <p:txBody>
          <a:bodyPr/>
          <a:lstStyle/>
          <a:p>
            <a:endParaRPr lang="en-IN"/>
          </a:p>
        </p:txBody>
      </p:sp>
      <p:sp>
        <p:nvSpPr>
          <p:cNvPr id="6" name="anim:1"/>
          <p:cNvSpPr/>
          <p:nvPr/>
        </p:nvSpPr>
        <p:spPr>
          <a:xfrm>
            <a:off x="502920" y="1024128"/>
            <a:ext cx="292608" cy="292608"/>
          </a:xfrm>
          <a:prstGeom prst="rect">
            <a:avLst/>
          </a:prstGeom>
          <a:noFill/>
          <a:ln/>
        </p:spPr>
        <p:txBody>
          <a:bodyPr wrap="square" rtlCol="0" anchor="ctr"/>
          <a:lstStyle/>
          <a:p>
            <a:pPr marL="0" indent="0" algn="ctr">
              <a:buNone/>
            </a:pPr>
            <a:r>
              <a:rPr lang="en-US" sz="1250" b="1" dirty="0">
                <a:solidFill>
                  <a:srgbClr val="FFFFFF"/>
                </a:solidFill>
                <a:latin typeface="Consolas" pitchFamily="34" charset="0"/>
                <a:ea typeface="Consolas" pitchFamily="34" charset="-122"/>
                <a:cs typeface="Consolas" pitchFamily="34" charset="-120"/>
              </a:rPr>
              <a:t>1</a:t>
            </a:r>
            <a:endParaRPr lang="en-US" sz="1250" dirty="0"/>
          </a:p>
        </p:txBody>
      </p:sp>
      <p:sp>
        <p:nvSpPr>
          <p:cNvPr id="7" name="anim:1"/>
          <p:cNvSpPr/>
          <p:nvPr/>
        </p:nvSpPr>
        <p:spPr>
          <a:xfrm>
            <a:off x="923544" y="1005840"/>
            <a:ext cx="10735056" cy="384048"/>
          </a:xfrm>
          <a:prstGeom prst="rect">
            <a:avLst/>
          </a:prstGeom>
          <a:noFill/>
          <a:ln/>
        </p:spPr>
        <p:txBody>
          <a:bodyPr wrap="square" rtlCol="0" anchor="t"/>
          <a:lstStyle/>
          <a:p>
            <a:pPr marL="0" indent="0">
              <a:lnSpc>
                <a:spcPts val="2010"/>
              </a:lnSpc>
              <a:buNone/>
            </a:pPr>
            <a:r>
              <a:rPr lang="en-US" sz="1500" dirty="0">
                <a:solidFill>
                  <a:srgbClr val="0E1B33"/>
                </a:solidFill>
                <a:latin typeface="Calibri" pitchFamily="34" charset="0"/>
                <a:ea typeface="Calibri" pitchFamily="34" charset="-122"/>
                <a:cs typeface="Calibri" pitchFamily="34" charset="-120"/>
              </a:rPr>
              <a:t>Substitute q_k = k p_k / ⟨k⟩ and collect:</a:t>
            </a:r>
            <a:endParaRPr lang="en-US" sz="1500" dirty="0"/>
          </a:p>
        </p:txBody>
      </p:sp>
      <p:pic>
        <p:nvPicPr>
          <p:cNvPr id="8" name="anim:2" descr="/home/claude/deck/eq/sumkq.png"/>
          <p:cNvPicPr>
            <a:picLocks noChangeAspect="1"/>
          </p:cNvPicPr>
          <p:nvPr/>
        </p:nvPicPr>
        <p:blipFill>
          <a:blip r:embed="rId3"/>
          <a:stretch>
            <a:fillRect/>
          </a:stretch>
        </p:blipFill>
        <p:spPr>
          <a:xfrm>
            <a:off x="932688" y="1463040"/>
            <a:ext cx="5459977" cy="786384"/>
          </a:xfrm>
          <a:prstGeom prst="rect">
            <a:avLst/>
          </a:prstGeom>
        </p:spPr>
      </p:pic>
      <p:sp>
        <p:nvSpPr>
          <p:cNvPr id="9" name="anim:3"/>
          <p:cNvSpPr/>
          <p:nvPr/>
        </p:nvSpPr>
        <p:spPr>
          <a:xfrm>
            <a:off x="457200" y="2414016"/>
            <a:ext cx="11274552" cy="786384"/>
          </a:xfrm>
          <a:prstGeom prst="roundRect">
            <a:avLst>
              <a:gd name="adj" fmla="val 6977"/>
            </a:avLst>
          </a:prstGeom>
          <a:solidFill>
            <a:srgbClr val="F3F6FA"/>
          </a:solidFill>
          <a:ln w="12700">
            <a:solidFill>
              <a:srgbClr val="D5DDEA"/>
            </a:solidFill>
            <a:prstDash val="solid"/>
          </a:ln>
        </p:spPr>
        <p:txBody>
          <a:bodyPr/>
          <a:lstStyle/>
          <a:p>
            <a:endParaRPr lang="en-IN"/>
          </a:p>
        </p:txBody>
      </p:sp>
      <p:sp>
        <p:nvSpPr>
          <p:cNvPr id="10" name="anim:3"/>
          <p:cNvSpPr/>
          <p:nvPr/>
        </p:nvSpPr>
        <p:spPr>
          <a:xfrm>
            <a:off x="640080" y="2532888"/>
            <a:ext cx="10908792"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THAT IS THE WHOLE PROOF</a:t>
            </a:r>
            <a:endParaRPr lang="en-US" sz="1100" dirty="0"/>
          </a:p>
        </p:txBody>
      </p:sp>
      <p:sp>
        <p:nvSpPr>
          <p:cNvPr id="11" name="anim:3"/>
          <p:cNvSpPr/>
          <p:nvPr/>
        </p:nvSpPr>
        <p:spPr>
          <a:xfrm>
            <a:off x="640080" y="2825496"/>
            <a:ext cx="10908792" cy="283464"/>
          </a:xfrm>
          <a:prstGeom prst="rect">
            <a:avLst/>
          </a:prstGeom>
          <a:noFill/>
          <a:ln/>
        </p:spPr>
        <p:txBody>
          <a:bodyPr wrap="square" rtlCol="0" anchor="t"/>
          <a:lstStyle/>
          <a:p>
            <a:pPr marL="0" indent="0">
              <a:lnSpc>
                <a:spcPts val="1846"/>
              </a:lnSpc>
              <a:buNone/>
            </a:pPr>
            <a:r>
              <a:rPr lang="en-US" sz="1300" dirty="0">
                <a:solidFill>
                  <a:srgbClr val="46536C"/>
                </a:solidFill>
                <a:latin typeface="Calibri" pitchFamily="34" charset="0"/>
                <a:ea typeface="Calibri" pitchFamily="34" charset="-122"/>
                <a:cs typeface="Calibri" pitchFamily="34" charset="-120"/>
              </a:rPr>
              <a:t>One substitution.  The second moment appears because size-biasing multiplies by k once, and taking the mean multiplies by k again.</a:t>
            </a:r>
            <a:endParaRPr lang="en-US" sz="1300" dirty="0"/>
          </a:p>
        </p:txBody>
      </p:sp>
      <p:pic>
        <p:nvPicPr>
          <p:cNvPr id="12" name="anim:4" descr="/home/claude/deck/eq/knneq.png"/>
          <p:cNvPicPr>
            <a:picLocks noChangeAspect="1"/>
          </p:cNvPicPr>
          <p:nvPr/>
        </p:nvPicPr>
        <p:blipFill>
          <a:blip r:embed="rId4"/>
          <a:stretch>
            <a:fillRect/>
          </a:stretch>
        </p:blipFill>
        <p:spPr>
          <a:xfrm>
            <a:off x="3871200" y="3346704"/>
            <a:ext cx="4446553" cy="603504"/>
          </a:xfrm>
          <a:prstGeom prst="rect">
            <a:avLst/>
          </a:prstGeom>
        </p:spPr>
      </p:pic>
      <p:sp>
        <p:nvSpPr>
          <p:cNvPr id="13" name="anim:5"/>
          <p:cNvSpPr/>
          <p:nvPr/>
        </p:nvSpPr>
        <p:spPr>
          <a:xfrm>
            <a:off x="457200" y="4078224"/>
            <a:ext cx="5532120" cy="1755648"/>
          </a:xfrm>
          <a:prstGeom prst="roundRect">
            <a:avLst>
              <a:gd name="adj" fmla="val 3125"/>
            </a:avLst>
          </a:prstGeom>
          <a:solidFill>
            <a:srgbClr val="F3F6FA"/>
          </a:solidFill>
          <a:ln w="12700">
            <a:solidFill>
              <a:srgbClr val="D5DDEA"/>
            </a:solidFill>
            <a:prstDash val="solid"/>
          </a:ln>
        </p:spPr>
        <p:txBody>
          <a:bodyPr/>
          <a:lstStyle/>
          <a:p>
            <a:endParaRPr lang="en-IN"/>
          </a:p>
        </p:txBody>
      </p:sp>
      <p:sp>
        <p:nvSpPr>
          <p:cNvPr id="14" name="anim:5"/>
          <p:cNvSpPr/>
          <p:nvPr/>
        </p:nvSpPr>
        <p:spPr>
          <a:xfrm>
            <a:off x="640080" y="4197096"/>
            <a:ext cx="5166360"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WHY ⟨k_nn⟩ EQUALS THIS SUM</a:t>
            </a:r>
            <a:endParaRPr lang="en-US" sz="1100" dirty="0"/>
          </a:p>
        </p:txBody>
      </p:sp>
      <p:sp>
        <p:nvSpPr>
          <p:cNvPr id="15" name="anim:5"/>
          <p:cNvSpPr/>
          <p:nvPr/>
        </p:nvSpPr>
        <p:spPr>
          <a:xfrm>
            <a:off x="640080" y="4489704"/>
            <a:ext cx="5166360" cy="1252728"/>
          </a:xfrm>
          <a:prstGeom prst="rect">
            <a:avLst/>
          </a:prstGeom>
          <a:noFill/>
          <a:ln/>
        </p:spPr>
        <p:txBody>
          <a:bodyPr wrap="square" rtlCol="0" anchor="t"/>
          <a:lstStyle/>
          <a:p>
            <a:pPr marL="0" indent="0">
              <a:lnSpc>
                <a:spcPts val="1988"/>
              </a:lnSpc>
              <a:buNone/>
            </a:pPr>
            <a:r>
              <a:rPr lang="en-US" sz="1400" dirty="0">
                <a:solidFill>
                  <a:srgbClr val="46536C"/>
                </a:solidFill>
                <a:latin typeface="Calibri" pitchFamily="34" charset="0"/>
                <a:ea typeface="Calibri" pitchFamily="34" charset="-122"/>
                <a:cs typeface="Calibri" pitchFamily="34" charset="-120"/>
              </a:rPr>
              <a:t>In an uncorrelated graph the degree of the node at the far end of an edge is independent of where you started.  So averaging over nodes and averaging over edges give the same answer, and ⟨k_nn⟩ is just the mean of q.</a:t>
            </a:r>
            <a:endParaRPr lang="en-US" sz="1400" dirty="0"/>
          </a:p>
        </p:txBody>
      </p:sp>
      <p:sp>
        <p:nvSpPr>
          <p:cNvPr id="16" name="anim:6"/>
          <p:cNvSpPr/>
          <p:nvPr/>
        </p:nvSpPr>
        <p:spPr>
          <a:xfrm>
            <a:off x="6199632" y="4078224"/>
            <a:ext cx="5532120" cy="1755648"/>
          </a:xfrm>
          <a:prstGeom prst="roundRect">
            <a:avLst>
              <a:gd name="adj" fmla="val 3125"/>
            </a:avLst>
          </a:prstGeom>
          <a:solidFill>
            <a:srgbClr val="FBEAE7"/>
          </a:solidFill>
          <a:ln w="12700">
            <a:solidFill>
              <a:srgbClr val="D5DDEA"/>
            </a:solidFill>
            <a:prstDash val="solid"/>
          </a:ln>
        </p:spPr>
        <p:txBody>
          <a:bodyPr/>
          <a:lstStyle/>
          <a:p>
            <a:endParaRPr lang="en-IN"/>
          </a:p>
        </p:txBody>
      </p:sp>
      <p:sp>
        <p:nvSpPr>
          <p:cNvPr id="17" name="anim:6"/>
          <p:cNvSpPr/>
          <p:nvPr/>
        </p:nvSpPr>
        <p:spPr>
          <a:xfrm>
            <a:off x="6382512" y="4197096"/>
            <a:ext cx="5166360"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A GENERAL INEQUALITY</a:t>
            </a:r>
            <a:endParaRPr lang="en-US" sz="1100" dirty="0"/>
          </a:p>
        </p:txBody>
      </p:sp>
      <p:sp>
        <p:nvSpPr>
          <p:cNvPr id="18" name="anim:6"/>
          <p:cNvSpPr/>
          <p:nvPr/>
        </p:nvSpPr>
        <p:spPr>
          <a:xfrm>
            <a:off x="6382512" y="4489704"/>
            <a:ext cx="5166360" cy="1252728"/>
          </a:xfrm>
          <a:prstGeom prst="rect">
            <a:avLst/>
          </a:prstGeom>
          <a:noFill/>
          <a:ln/>
        </p:spPr>
        <p:txBody>
          <a:bodyPr wrap="square" rtlCol="0" anchor="t"/>
          <a:lstStyle/>
          <a:p>
            <a:pPr marL="0" indent="0">
              <a:lnSpc>
                <a:spcPts val="1988"/>
              </a:lnSpc>
              <a:buNone/>
            </a:pPr>
            <a:r>
              <a:rPr lang="en-US" sz="1400" dirty="0">
                <a:solidFill>
                  <a:srgbClr val="46536C"/>
                </a:solidFill>
                <a:latin typeface="Calibri" pitchFamily="34" charset="0"/>
                <a:ea typeface="Calibri" pitchFamily="34" charset="-122"/>
                <a:cs typeface="Calibri" pitchFamily="34" charset="-120"/>
              </a:rPr>
              <a:t>⟨k²⟩/⟨k⟩ = ⟨k⟩ + Var(k)/⟨k⟩  ≥  ⟨k⟩,  with equality only if every degree is identical.  Any spread in the degrees makes your neighbours better connected than you.</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2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2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2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2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2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2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2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2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2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For ER:  ⟨k_nn⟩ = ⟨k⟩ + 1</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notes, page 11</a:t>
            </a:r>
            <a:endParaRPr lang="en-US" sz="1150" dirty="0"/>
          </a:p>
        </p:txBody>
      </p:sp>
      <p:pic>
        <p:nvPicPr>
          <p:cNvPr id="5" name="anim:1" descr="/home/claude/deck/eq/poissonmom.png"/>
          <p:cNvPicPr>
            <a:picLocks noChangeAspect="1"/>
          </p:cNvPicPr>
          <p:nvPr/>
        </p:nvPicPr>
        <p:blipFill>
          <a:blip r:embed="rId3"/>
          <a:stretch>
            <a:fillRect/>
          </a:stretch>
        </p:blipFill>
        <p:spPr>
          <a:xfrm>
            <a:off x="4270756" y="1005840"/>
            <a:ext cx="3647440" cy="493776"/>
          </a:xfrm>
          <a:prstGeom prst="rect">
            <a:avLst/>
          </a:prstGeom>
        </p:spPr>
      </p:pic>
      <p:sp>
        <p:nvSpPr>
          <p:cNvPr id="6" name="anim:2"/>
          <p:cNvSpPr/>
          <p:nvPr/>
        </p:nvSpPr>
        <p:spPr>
          <a:xfrm>
            <a:off x="2606040" y="1627632"/>
            <a:ext cx="6976872" cy="932688"/>
          </a:xfrm>
          <a:prstGeom prst="roundRect">
            <a:avLst>
              <a:gd name="adj" fmla="val 5882"/>
            </a:avLst>
          </a:prstGeom>
          <a:solidFill>
            <a:srgbClr val="0E1B33"/>
          </a:solidFill>
          <a:ln w="12700">
            <a:solidFill>
              <a:srgbClr val="0E1B33"/>
            </a:solidFill>
            <a:prstDash val="solid"/>
          </a:ln>
        </p:spPr>
        <p:txBody>
          <a:bodyPr/>
          <a:lstStyle/>
          <a:p>
            <a:endParaRPr lang="en-IN"/>
          </a:p>
        </p:txBody>
      </p:sp>
      <p:pic>
        <p:nvPicPr>
          <p:cNvPr id="7" name="anim:2" descr="/home/claude/deck/eq/knnER.png"/>
          <p:cNvPicPr>
            <a:picLocks noChangeAspect="1"/>
          </p:cNvPicPr>
          <p:nvPr/>
        </p:nvPicPr>
        <p:blipFill>
          <a:blip r:embed="rId4"/>
          <a:stretch>
            <a:fillRect/>
          </a:stretch>
        </p:blipFill>
        <p:spPr>
          <a:xfrm>
            <a:off x="3740281" y="1719072"/>
            <a:ext cx="4708390" cy="749808"/>
          </a:xfrm>
          <a:prstGeom prst="rect">
            <a:avLst/>
          </a:prstGeom>
        </p:spPr>
      </p:pic>
      <p:pic>
        <p:nvPicPr>
          <p:cNvPr id="8" name="anim:3" descr="/home/claude/deck/fig/knn_er.png"/>
          <p:cNvPicPr>
            <a:picLocks noChangeAspect="1"/>
          </p:cNvPicPr>
          <p:nvPr/>
        </p:nvPicPr>
        <p:blipFill>
          <a:blip r:embed="rId5"/>
          <a:stretch>
            <a:fillRect/>
          </a:stretch>
        </p:blipFill>
        <p:spPr>
          <a:xfrm>
            <a:off x="1258962" y="2688336"/>
            <a:ext cx="4522957" cy="3108960"/>
          </a:xfrm>
          <a:prstGeom prst="rect">
            <a:avLst/>
          </a:prstGeom>
        </p:spPr>
      </p:pic>
      <p:sp>
        <p:nvSpPr>
          <p:cNvPr id="9" name="anim:4"/>
          <p:cNvSpPr/>
          <p:nvPr/>
        </p:nvSpPr>
        <p:spPr>
          <a:xfrm>
            <a:off x="6766560" y="2670048"/>
            <a:ext cx="4965192" cy="1463040"/>
          </a:xfrm>
          <a:prstGeom prst="roundRect">
            <a:avLst>
              <a:gd name="adj" fmla="val 3750"/>
            </a:avLst>
          </a:prstGeom>
          <a:solidFill>
            <a:srgbClr val="F3F6FA"/>
          </a:solidFill>
          <a:ln w="12700">
            <a:solidFill>
              <a:srgbClr val="D5DDEA"/>
            </a:solidFill>
            <a:prstDash val="solid"/>
          </a:ln>
        </p:spPr>
        <p:txBody>
          <a:bodyPr/>
          <a:lstStyle/>
          <a:p>
            <a:endParaRPr lang="en-IN"/>
          </a:p>
        </p:txBody>
      </p:sp>
      <p:sp>
        <p:nvSpPr>
          <p:cNvPr id="10" name="anim:4"/>
          <p:cNvSpPr/>
          <p:nvPr/>
        </p:nvSpPr>
        <p:spPr>
          <a:xfrm>
            <a:off x="6949440" y="2788920"/>
            <a:ext cx="4599432"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A SECOND, DIRECT PROOF</a:t>
            </a:r>
            <a:endParaRPr lang="en-US" sz="1100" dirty="0"/>
          </a:p>
        </p:txBody>
      </p:sp>
      <p:sp>
        <p:nvSpPr>
          <p:cNvPr id="11" name="anim:4"/>
          <p:cNvSpPr/>
          <p:nvPr/>
        </p:nvSpPr>
        <p:spPr>
          <a:xfrm>
            <a:off x="6949440" y="3081528"/>
            <a:ext cx="4599432" cy="960120"/>
          </a:xfrm>
          <a:prstGeom prst="rect">
            <a:avLst/>
          </a:prstGeom>
          <a:noFill/>
          <a:ln/>
        </p:spPr>
        <p:txBody>
          <a:bodyPr wrap="square" rtlCol="0" anchor="t"/>
          <a:lstStyle/>
          <a:p>
            <a:pPr marL="0" indent="0">
              <a:lnSpc>
                <a:spcPts val="1846"/>
              </a:lnSpc>
              <a:buNone/>
            </a:pPr>
            <a:r>
              <a:rPr lang="en-US" sz="1300" dirty="0">
                <a:solidFill>
                  <a:srgbClr val="46536C"/>
                </a:solidFill>
                <a:latin typeface="Calibri" pitchFamily="34" charset="0"/>
                <a:ea typeface="Calibri" pitchFamily="34" charset="-122"/>
                <a:cs typeface="Calibri" pitchFamily="34" charset="-120"/>
              </a:rPr>
              <a:t>Given that j is a neighbour of i, j's other N−2 pairs are still independent coin flips.  So k_j = 1 + Bin(N−2, p), whose mean is 1 + ⟨k⟩ — for every i, whatever i's own degree.</a:t>
            </a:r>
            <a:endParaRPr lang="en-US" sz="1300" dirty="0"/>
          </a:p>
        </p:txBody>
      </p:sp>
      <p:pic>
        <p:nvPicPr>
          <p:cNvPr id="12" name="anim:5" descr="/home/claude/deck/eq/knndirect.png"/>
          <p:cNvPicPr>
            <a:picLocks noChangeAspect="1"/>
          </p:cNvPicPr>
          <p:nvPr/>
        </p:nvPicPr>
        <p:blipFill>
          <a:blip r:embed="rId6"/>
          <a:stretch>
            <a:fillRect/>
          </a:stretch>
        </p:blipFill>
        <p:spPr>
          <a:xfrm>
            <a:off x="6766560" y="4300197"/>
            <a:ext cx="4965192" cy="214421"/>
          </a:xfrm>
          <a:prstGeom prst="rect">
            <a:avLst/>
          </a:prstGeom>
        </p:spPr>
      </p:pic>
      <p:sp>
        <p:nvSpPr>
          <p:cNvPr id="13" name="anim:6"/>
          <p:cNvSpPr/>
          <p:nvPr/>
        </p:nvSpPr>
        <p:spPr>
          <a:xfrm>
            <a:off x="6766560" y="4791456"/>
            <a:ext cx="4965192" cy="1024128"/>
          </a:xfrm>
          <a:prstGeom prst="roundRect">
            <a:avLst>
              <a:gd name="adj" fmla="val 5357"/>
            </a:avLst>
          </a:prstGeom>
          <a:solidFill>
            <a:srgbClr val="FBEAE7"/>
          </a:solidFill>
          <a:ln w="12700">
            <a:solidFill>
              <a:srgbClr val="D5DDEA"/>
            </a:solidFill>
            <a:prstDash val="solid"/>
          </a:ln>
        </p:spPr>
        <p:txBody>
          <a:bodyPr/>
          <a:lstStyle/>
          <a:p>
            <a:endParaRPr lang="en-IN"/>
          </a:p>
        </p:txBody>
      </p:sp>
      <p:sp>
        <p:nvSpPr>
          <p:cNvPr id="14" name="anim:6"/>
          <p:cNvSpPr/>
          <p:nvPr/>
        </p:nvSpPr>
        <p:spPr>
          <a:xfrm>
            <a:off x="6949440" y="4910328"/>
            <a:ext cx="4599432"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THE FRIENDSHIP PARADOX</a:t>
            </a:r>
            <a:endParaRPr lang="en-US" sz="1100" dirty="0"/>
          </a:p>
        </p:txBody>
      </p:sp>
      <p:sp>
        <p:nvSpPr>
          <p:cNvPr id="15" name="anim:6"/>
          <p:cNvSpPr/>
          <p:nvPr/>
        </p:nvSpPr>
        <p:spPr>
          <a:xfrm>
            <a:off x="6949440" y="5202936"/>
            <a:ext cx="4599432" cy="521208"/>
          </a:xfrm>
          <a:prstGeom prst="rect">
            <a:avLst/>
          </a:prstGeom>
          <a:noFill/>
          <a:ln/>
        </p:spPr>
        <p:txBody>
          <a:bodyPr wrap="square" rtlCol="0" anchor="t"/>
          <a:lstStyle/>
          <a:p>
            <a:pPr marL="0" indent="0">
              <a:lnSpc>
                <a:spcPts val="1704"/>
              </a:lnSpc>
              <a:buNone/>
            </a:pPr>
            <a:r>
              <a:rPr lang="en-US" sz="1200" dirty="0">
                <a:solidFill>
                  <a:srgbClr val="46536C"/>
                </a:solidFill>
                <a:latin typeface="Calibri" pitchFamily="34" charset="0"/>
                <a:ea typeface="Calibri" pitchFamily="34" charset="-122"/>
                <a:cs typeface="Calibri" pitchFamily="34" charset="-120"/>
              </a:rPr>
              <a:t>Your friends have, on average, exactly one more friend than you do.  Measured points sit on ⟨k⟩+1 across the whole range.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2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2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2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2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2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2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2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2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2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So ρ = ⟨k⟩,  and the shells grow geometrically</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notes, page 12</a:t>
            </a:r>
            <a:endParaRPr lang="en-US" sz="1150" dirty="0"/>
          </a:p>
        </p:txBody>
      </p:sp>
      <p:pic>
        <p:nvPicPr>
          <p:cNvPr id="5" name="anim:1" descr="/home/claude/deck/eq/rhoER.png"/>
          <p:cNvPicPr>
            <a:picLocks noChangeAspect="1"/>
          </p:cNvPicPr>
          <p:nvPr/>
        </p:nvPicPr>
        <p:blipFill>
          <a:blip r:embed="rId3"/>
          <a:stretch>
            <a:fillRect/>
          </a:stretch>
        </p:blipFill>
        <p:spPr>
          <a:xfrm>
            <a:off x="3060716" y="1005840"/>
            <a:ext cx="6067519" cy="493776"/>
          </a:xfrm>
          <a:prstGeom prst="rect">
            <a:avLst/>
          </a:prstGeom>
        </p:spPr>
      </p:pic>
      <p:sp>
        <p:nvSpPr>
          <p:cNvPr id="6" name="anim:2"/>
          <p:cNvSpPr/>
          <p:nvPr/>
        </p:nvSpPr>
        <p:spPr>
          <a:xfrm>
            <a:off x="3931920" y="1609344"/>
            <a:ext cx="4325112" cy="859536"/>
          </a:xfrm>
          <a:prstGeom prst="roundRect">
            <a:avLst>
              <a:gd name="adj" fmla="val 6383"/>
            </a:avLst>
          </a:prstGeom>
          <a:solidFill>
            <a:srgbClr val="0E1B33"/>
          </a:solidFill>
          <a:ln w="12700">
            <a:solidFill>
              <a:srgbClr val="0E1B33"/>
            </a:solidFill>
            <a:prstDash val="solid"/>
          </a:ln>
        </p:spPr>
        <p:txBody>
          <a:bodyPr/>
          <a:lstStyle/>
          <a:p>
            <a:endParaRPr lang="en-IN"/>
          </a:p>
        </p:txBody>
      </p:sp>
      <p:pic>
        <p:nvPicPr>
          <p:cNvPr id="7" name="anim:2" descr="/home/claude/deck/eq/z2ER.png"/>
          <p:cNvPicPr>
            <a:picLocks noChangeAspect="1"/>
          </p:cNvPicPr>
          <p:nvPr/>
        </p:nvPicPr>
        <p:blipFill>
          <a:blip r:embed="rId4"/>
          <a:stretch>
            <a:fillRect/>
          </a:stretch>
        </p:blipFill>
        <p:spPr>
          <a:xfrm>
            <a:off x="4540858" y="1691640"/>
            <a:ext cx="3107237" cy="694944"/>
          </a:xfrm>
          <a:prstGeom prst="rect">
            <a:avLst/>
          </a:prstGeom>
        </p:spPr>
      </p:pic>
      <p:sp>
        <p:nvSpPr>
          <p:cNvPr id="8" name="anim:3"/>
          <p:cNvSpPr/>
          <p:nvPr/>
        </p:nvSpPr>
        <p:spPr>
          <a:xfrm>
            <a:off x="457200" y="2596896"/>
            <a:ext cx="11274552" cy="731520"/>
          </a:xfrm>
          <a:prstGeom prst="roundRect">
            <a:avLst>
              <a:gd name="adj" fmla="val 7500"/>
            </a:avLst>
          </a:prstGeom>
          <a:solidFill>
            <a:srgbClr val="F3F6FA"/>
          </a:solidFill>
          <a:ln w="12700">
            <a:solidFill>
              <a:srgbClr val="D5DDEA"/>
            </a:solidFill>
            <a:prstDash val="solid"/>
          </a:ln>
        </p:spPr>
        <p:txBody>
          <a:bodyPr/>
          <a:lstStyle/>
          <a:p>
            <a:endParaRPr lang="en-IN"/>
          </a:p>
        </p:txBody>
      </p:sp>
      <p:sp>
        <p:nvSpPr>
          <p:cNvPr id="9" name="anim:3"/>
          <p:cNvSpPr/>
          <p:nvPr/>
        </p:nvSpPr>
        <p:spPr>
          <a:xfrm>
            <a:off x="640080" y="2715768"/>
            <a:ext cx="10908792"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AND THE SAME ARGUMENT REPEATS</a:t>
            </a:r>
            <a:endParaRPr lang="en-US" sz="1100" dirty="0"/>
          </a:p>
        </p:txBody>
      </p:sp>
      <p:sp>
        <p:nvSpPr>
          <p:cNvPr id="10" name="anim:3"/>
          <p:cNvSpPr/>
          <p:nvPr/>
        </p:nvSpPr>
        <p:spPr>
          <a:xfrm>
            <a:off x="640080" y="3008376"/>
            <a:ext cx="10908792" cy="228600"/>
          </a:xfrm>
          <a:prstGeom prst="rect">
            <a:avLst/>
          </a:prstGeom>
          <a:noFill/>
          <a:ln/>
        </p:spPr>
        <p:txBody>
          <a:bodyPr wrap="square" rtlCol="0" anchor="t"/>
          <a:lstStyle/>
          <a:p>
            <a:pPr marL="0" indent="0">
              <a:lnSpc>
                <a:spcPts val="1775"/>
              </a:lnSpc>
              <a:buNone/>
            </a:pPr>
            <a:r>
              <a:rPr lang="en-US" sz="1250" dirty="0">
                <a:solidFill>
                  <a:srgbClr val="46536C"/>
                </a:solidFill>
                <a:latin typeface="Calibri" pitchFamily="34" charset="0"/>
                <a:ea typeface="Calibri" pitchFamily="34" charset="-122"/>
                <a:cs typeface="Calibri" pitchFamily="34" charset="-120"/>
              </a:rPr>
              <a:t>Nothing about the step from z₁ to z₂ used the number 2.  Each new shell multiplies by ρ = ⟨k⟩ again.</a:t>
            </a:r>
            <a:endParaRPr lang="en-US" sz="1250" dirty="0"/>
          </a:p>
        </p:txBody>
      </p:sp>
      <p:sp>
        <p:nvSpPr>
          <p:cNvPr id="11" name="anim:4"/>
          <p:cNvSpPr/>
          <p:nvPr/>
        </p:nvSpPr>
        <p:spPr>
          <a:xfrm>
            <a:off x="3566160" y="3438144"/>
            <a:ext cx="5056632" cy="877824"/>
          </a:xfrm>
          <a:prstGeom prst="roundRect">
            <a:avLst>
              <a:gd name="adj" fmla="val 6250"/>
            </a:avLst>
          </a:prstGeom>
          <a:solidFill>
            <a:srgbClr val="0E1B33"/>
          </a:solidFill>
          <a:ln w="12700">
            <a:solidFill>
              <a:srgbClr val="0E1B33"/>
            </a:solidFill>
            <a:prstDash val="solid"/>
          </a:ln>
        </p:spPr>
        <p:txBody>
          <a:bodyPr/>
          <a:lstStyle/>
          <a:p>
            <a:endParaRPr lang="en-IN"/>
          </a:p>
        </p:txBody>
      </p:sp>
      <p:pic>
        <p:nvPicPr>
          <p:cNvPr id="12" name="anim:4" descr="/home/claude/deck/eq/zmER.png"/>
          <p:cNvPicPr>
            <a:picLocks noChangeAspect="1"/>
          </p:cNvPicPr>
          <p:nvPr/>
        </p:nvPicPr>
        <p:blipFill>
          <a:blip r:embed="rId5"/>
          <a:stretch>
            <a:fillRect/>
          </a:stretch>
        </p:blipFill>
        <p:spPr>
          <a:xfrm>
            <a:off x="4124255" y="3529584"/>
            <a:ext cx="3940442" cy="694944"/>
          </a:xfrm>
          <a:prstGeom prst="rect">
            <a:avLst/>
          </a:prstGeom>
        </p:spPr>
      </p:pic>
      <p:sp>
        <p:nvSpPr>
          <p:cNvPr id="13" name="anim:5"/>
          <p:cNvSpPr/>
          <p:nvPr/>
        </p:nvSpPr>
        <p:spPr>
          <a:xfrm>
            <a:off x="457200" y="4224528"/>
            <a:ext cx="5532120" cy="1664208"/>
          </a:xfrm>
          <a:prstGeom prst="roundRect">
            <a:avLst>
              <a:gd name="adj" fmla="val 3297"/>
            </a:avLst>
          </a:prstGeom>
          <a:solidFill>
            <a:srgbClr val="FFFFFF"/>
          </a:solidFill>
          <a:ln w="12700">
            <a:solidFill>
              <a:srgbClr val="D5DDEA"/>
            </a:solidFill>
            <a:prstDash val="solid"/>
          </a:ln>
        </p:spPr>
        <p:txBody>
          <a:bodyPr/>
          <a:lstStyle/>
          <a:p>
            <a:endParaRPr lang="en-IN"/>
          </a:p>
        </p:txBody>
      </p:sp>
      <p:pic>
        <p:nvPicPr>
          <p:cNvPr id="14" name="anim:5" descr="/home/claude/deck/nb/nb_zm.png"/>
          <p:cNvPicPr>
            <a:picLocks noChangeAspect="1"/>
          </p:cNvPicPr>
          <p:nvPr/>
        </p:nvPicPr>
        <p:blipFill>
          <a:blip r:embed="rId6"/>
          <a:stretch>
            <a:fillRect/>
          </a:stretch>
        </p:blipFill>
        <p:spPr>
          <a:xfrm>
            <a:off x="1261193" y="4315968"/>
            <a:ext cx="3924134" cy="1280160"/>
          </a:xfrm>
          <a:prstGeom prst="rect">
            <a:avLst/>
          </a:prstGeom>
        </p:spPr>
      </p:pic>
      <p:sp>
        <p:nvSpPr>
          <p:cNvPr id="15" name="anim:5"/>
          <p:cNvSpPr/>
          <p:nvPr/>
        </p:nvSpPr>
        <p:spPr>
          <a:xfrm>
            <a:off x="585216" y="5577840"/>
            <a:ext cx="5276088" cy="237744"/>
          </a:xfrm>
          <a:prstGeom prst="rect">
            <a:avLst/>
          </a:prstGeom>
          <a:noFill/>
          <a:ln/>
        </p:spPr>
        <p:txBody>
          <a:bodyPr wrap="square" rtlCol="0" anchor="ctr"/>
          <a:lstStyle/>
          <a:p>
            <a:pPr marL="0" indent="0" algn="r">
              <a:buNone/>
            </a:pPr>
            <a:r>
              <a:rPr lang="en-US" sz="950" kern="0" spc="100" dirty="0">
                <a:solidFill>
                  <a:srgbClr val="7C8AA0"/>
                </a:solidFill>
                <a:latin typeface="Consolas" pitchFamily="34" charset="0"/>
                <a:ea typeface="Consolas" pitchFamily="34" charset="-122"/>
                <a:cs typeface="Consolas" pitchFamily="34" charset="-120"/>
              </a:rPr>
              <a:t>notes, p.12 — eq. (16)</a:t>
            </a:r>
            <a:endParaRPr lang="en-US" sz="950" dirty="0"/>
          </a:p>
        </p:txBody>
      </p:sp>
      <p:sp>
        <p:nvSpPr>
          <p:cNvPr id="16" name="anim:6"/>
          <p:cNvSpPr/>
          <p:nvPr/>
        </p:nvSpPr>
        <p:spPr>
          <a:xfrm>
            <a:off x="6199632" y="4224528"/>
            <a:ext cx="5532120" cy="1664208"/>
          </a:xfrm>
          <a:prstGeom prst="roundRect">
            <a:avLst>
              <a:gd name="adj" fmla="val 3297"/>
            </a:avLst>
          </a:prstGeom>
          <a:solidFill>
            <a:srgbClr val="E2F0EE"/>
          </a:solidFill>
          <a:ln w="12700">
            <a:solidFill>
              <a:srgbClr val="D5DDEA"/>
            </a:solidFill>
            <a:prstDash val="solid"/>
          </a:ln>
        </p:spPr>
        <p:txBody>
          <a:bodyPr/>
          <a:lstStyle/>
          <a:p>
            <a:endParaRPr lang="en-IN"/>
          </a:p>
        </p:txBody>
      </p:sp>
      <p:sp>
        <p:nvSpPr>
          <p:cNvPr id="17" name="anim:6"/>
          <p:cNvSpPr/>
          <p:nvPr/>
        </p:nvSpPr>
        <p:spPr>
          <a:xfrm>
            <a:off x="6382512" y="4343400"/>
            <a:ext cx="5166360" cy="274320"/>
          </a:xfrm>
          <a:prstGeom prst="rect">
            <a:avLst/>
          </a:prstGeom>
          <a:noFill/>
          <a:ln/>
        </p:spPr>
        <p:txBody>
          <a:bodyPr wrap="square" rtlCol="0" anchor="ctr"/>
          <a:lstStyle/>
          <a:p>
            <a:pPr marL="0" indent="0">
              <a:buNone/>
            </a:pPr>
            <a:r>
              <a:rPr lang="en-US" sz="1100" b="1" kern="0" spc="110" dirty="0">
                <a:solidFill>
                  <a:srgbClr val="0E6F66"/>
                </a:solidFill>
                <a:latin typeface="Consolas" pitchFamily="34" charset="0"/>
                <a:ea typeface="Consolas" pitchFamily="34" charset="-122"/>
                <a:cs typeface="Consolas" pitchFamily="34" charset="-120"/>
              </a:rPr>
              <a:t>THE PICTURE</a:t>
            </a:r>
            <a:endParaRPr lang="en-US" sz="1100" dirty="0"/>
          </a:p>
        </p:txBody>
      </p:sp>
      <p:sp>
        <p:nvSpPr>
          <p:cNvPr id="18" name="anim:6"/>
          <p:cNvSpPr/>
          <p:nvPr/>
        </p:nvSpPr>
        <p:spPr>
          <a:xfrm>
            <a:off x="6382512" y="4636008"/>
            <a:ext cx="5166360" cy="1161288"/>
          </a:xfrm>
          <a:prstGeom prst="rect">
            <a:avLst/>
          </a:prstGeom>
          <a:noFill/>
          <a:ln/>
        </p:spPr>
        <p:txBody>
          <a:bodyPr wrap="square" rtlCol="0" anchor="t"/>
          <a:lstStyle/>
          <a:p>
            <a:pPr marL="0" indent="0">
              <a:lnSpc>
                <a:spcPts val="1988"/>
              </a:lnSpc>
              <a:buNone/>
            </a:pPr>
            <a:r>
              <a:rPr lang="en-US" sz="1400" dirty="0">
                <a:solidFill>
                  <a:srgbClr val="46536C"/>
                </a:solidFill>
                <a:latin typeface="Calibri" pitchFamily="34" charset="0"/>
                <a:ea typeface="Calibri" pitchFamily="34" charset="-122"/>
                <a:cs typeface="Calibri" pitchFamily="34" charset="-120"/>
              </a:rPr>
              <a:t>Breadth-first search from any node fans out by a factor ⟨k⟩ per step.  This is exactly the BFS shell census in the dashboard — the mechanism behind every “small world” claim.</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2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2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2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2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2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2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2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2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2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2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Sum the shells, invert, and L appears</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notes, pages 13–14</a:t>
            </a:r>
            <a:endParaRPr lang="en-US" sz="1150" dirty="0"/>
          </a:p>
        </p:txBody>
      </p:sp>
      <p:sp>
        <p:nvSpPr>
          <p:cNvPr id="5" name="anim:1"/>
          <p:cNvSpPr/>
          <p:nvPr/>
        </p:nvSpPr>
        <p:spPr>
          <a:xfrm>
            <a:off x="502920" y="1005840"/>
            <a:ext cx="292608" cy="292608"/>
          </a:xfrm>
          <a:prstGeom prst="ellipse">
            <a:avLst/>
          </a:prstGeom>
          <a:solidFill>
            <a:srgbClr val="B8281A"/>
          </a:solidFill>
          <a:ln w="12700">
            <a:solidFill>
              <a:srgbClr val="333333"/>
            </a:solidFill>
            <a:prstDash val="solid"/>
          </a:ln>
        </p:spPr>
        <p:txBody>
          <a:bodyPr/>
          <a:lstStyle/>
          <a:p>
            <a:endParaRPr lang="en-IN"/>
          </a:p>
        </p:txBody>
      </p:sp>
      <p:sp>
        <p:nvSpPr>
          <p:cNvPr id="6" name="anim:1"/>
          <p:cNvSpPr/>
          <p:nvPr/>
        </p:nvSpPr>
        <p:spPr>
          <a:xfrm>
            <a:off x="502920" y="1005840"/>
            <a:ext cx="292608" cy="292608"/>
          </a:xfrm>
          <a:prstGeom prst="rect">
            <a:avLst/>
          </a:prstGeom>
          <a:noFill/>
          <a:ln/>
        </p:spPr>
        <p:txBody>
          <a:bodyPr wrap="square" rtlCol="0" anchor="ctr"/>
          <a:lstStyle/>
          <a:p>
            <a:pPr marL="0" indent="0" algn="ctr">
              <a:buNone/>
            </a:pPr>
            <a:r>
              <a:rPr lang="en-US" sz="1250" b="1" dirty="0">
                <a:solidFill>
                  <a:srgbClr val="FFFFFF"/>
                </a:solidFill>
                <a:latin typeface="Consolas" pitchFamily="34" charset="0"/>
                <a:ea typeface="Consolas" pitchFamily="34" charset="-122"/>
                <a:cs typeface="Consolas" pitchFamily="34" charset="-120"/>
              </a:rPr>
              <a:t>1</a:t>
            </a:r>
            <a:endParaRPr lang="en-US" sz="1250" dirty="0"/>
          </a:p>
        </p:txBody>
      </p:sp>
      <p:sp>
        <p:nvSpPr>
          <p:cNvPr id="7" name="anim:1"/>
          <p:cNvSpPr/>
          <p:nvPr/>
        </p:nvSpPr>
        <p:spPr>
          <a:xfrm>
            <a:off x="923544" y="987552"/>
            <a:ext cx="10735056" cy="384048"/>
          </a:xfrm>
          <a:prstGeom prst="rect">
            <a:avLst/>
          </a:prstGeom>
          <a:noFill/>
          <a:ln/>
        </p:spPr>
        <p:txBody>
          <a:bodyPr wrap="square" rtlCol="0" anchor="t"/>
          <a:lstStyle/>
          <a:p>
            <a:pPr marL="0" indent="0">
              <a:lnSpc>
                <a:spcPts val="2010"/>
              </a:lnSpc>
              <a:buNone/>
            </a:pPr>
            <a:r>
              <a:rPr lang="en-US" sz="1500" dirty="0">
                <a:solidFill>
                  <a:srgbClr val="0E1B33"/>
                </a:solidFill>
                <a:latin typeface="Calibri" pitchFamily="34" charset="0"/>
                <a:ea typeface="Calibri" pitchFamily="34" charset="-122"/>
                <a:cs typeface="Calibri" pitchFamily="34" charset="-120"/>
              </a:rPr>
              <a:t>Total nodes within distance m — a geometric series:</a:t>
            </a:r>
            <a:endParaRPr lang="en-US" sz="1500" dirty="0"/>
          </a:p>
        </p:txBody>
      </p:sp>
      <p:pic>
        <p:nvPicPr>
          <p:cNvPr id="8" name="anim:2" descr="/home/claude/deck/eq/sumz.png"/>
          <p:cNvPicPr>
            <a:picLocks noChangeAspect="1"/>
          </p:cNvPicPr>
          <p:nvPr/>
        </p:nvPicPr>
        <p:blipFill>
          <a:blip r:embed="rId3"/>
          <a:stretch>
            <a:fillRect/>
          </a:stretch>
        </p:blipFill>
        <p:spPr>
          <a:xfrm>
            <a:off x="932688" y="1426464"/>
            <a:ext cx="6393566" cy="822960"/>
          </a:xfrm>
          <a:prstGeom prst="rect">
            <a:avLst/>
          </a:prstGeom>
        </p:spPr>
      </p:pic>
      <p:sp>
        <p:nvSpPr>
          <p:cNvPr id="9" name="anim:3"/>
          <p:cNvSpPr/>
          <p:nvPr/>
        </p:nvSpPr>
        <p:spPr>
          <a:xfrm>
            <a:off x="502920" y="2414016"/>
            <a:ext cx="292608" cy="292608"/>
          </a:xfrm>
          <a:prstGeom prst="ellipse">
            <a:avLst/>
          </a:prstGeom>
          <a:solidFill>
            <a:srgbClr val="B8281A"/>
          </a:solidFill>
          <a:ln w="12700">
            <a:solidFill>
              <a:srgbClr val="333333"/>
            </a:solidFill>
            <a:prstDash val="solid"/>
          </a:ln>
        </p:spPr>
        <p:txBody>
          <a:bodyPr/>
          <a:lstStyle/>
          <a:p>
            <a:endParaRPr lang="en-IN"/>
          </a:p>
        </p:txBody>
      </p:sp>
      <p:sp>
        <p:nvSpPr>
          <p:cNvPr id="10" name="anim:3"/>
          <p:cNvSpPr/>
          <p:nvPr/>
        </p:nvSpPr>
        <p:spPr>
          <a:xfrm>
            <a:off x="502920" y="2414016"/>
            <a:ext cx="292608" cy="292608"/>
          </a:xfrm>
          <a:prstGeom prst="rect">
            <a:avLst/>
          </a:prstGeom>
          <a:noFill/>
          <a:ln/>
        </p:spPr>
        <p:txBody>
          <a:bodyPr wrap="square" rtlCol="0" anchor="ctr"/>
          <a:lstStyle/>
          <a:p>
            <a:pPr marL="0" indent="0" algn="ctr">
              <a:buNone/>
            </a:pPr>
            <a:r>
              <a:rPr lang="en-US" sz="1250" b="1" dirty="0">
                <a:solidFill>
                  <a:srgbClr val="FFFFFF"/>
                </a:solidFill>
                <a:latin typeface="Consolas" pitchFamily="34" charset="0"/>
                <a:ea typeface="Consolas" pitchFamily="34" charset="-122"/>
                <a:cs typeface="Consolas" pitchFamily="34" charset="-120"/>
              </a:rPr>
              <a:t>2</a:t>
            </a:r>
            <a:endParaRPr lang="en-US" sz="1250" dirty="0"/>
          </a:p>
        </p:txBody>
      </p:sp>
      <p:sp>
        <p:nvSpPr>
          <p:cNvPr id="11" name="anim:3"/>
          <p:cNvSpPr/>
          <p:nvPr/>
        </p:nvSpPr>
        <p:spPr>
          <a:xfrm>
            <a:off x="923544" y="2395728"/>
            <a:ext cx="10735056" cy="566928"/>
          </a:xfrm>
          <a:prstGeom prst="rect">
            <a:avLst/>
          </a:prstGeom>
          <a:noFill/>
          <a:ln/>
        </p:spPr>
        <p:txBody>
          <a:bodyPr wrap="square" rtlCol="0" anchor="t"/>
          <a:lstStyle/>
          <a:p>
            <a:pPr marL="0" indent="0">
              <a:lnSpc>
                <a:spcPts val="2010"/>
              </a:lnSpc>
              <a:buNone/>
            </a:pPr>
            <a:r>
              <a:rPr lang="en-US" sz="1500" dirty="0">
                <a:solidFill>
                  <a:srgbClr val="0E1B33"/>
                </a:solidFill>
                <a:latin typeface="Calibri" pitchFamily="34" charset="0"/>
                <a:ea typeface="Calibri" pitchFamily="34" charset="-122"/>
                <a:cs typeface="Calibri" pitchFamily="34" charset="-120"/>
              </a:rPr>
              <a:t>For ⟨k⟩ ≫ 1 the correction 1/⟨k⟩ is small, so S ≈ ⟨k⟩^m: the last shell dominates the whole ball.</a:t>
            </a:r>
            <a:endParaRPr lang="en-US" sz="1500" dirty="0"/>
          </a:p>
        </p:txBody>
      </p:sp>
      <p:sp>
        <p:nvSpPr>
          <p:cNvPr id="12" name="anim:4"/>
          <p:cNvSpPr/>
          <p:nvPr/>
        </p:nvSpPr>
        <p:spPr>
          <a:xfrm>
            <a:off x="502920" y="3108960"/>
            <a:ext cx="292608" cy="292608"/>
          </a:xfrm>
          <a:prstGeom prst="ellipse">
            <a:avLst/>
          </a:prstGeom>
          <a:solidFill>
            <a:srgbClr val="B8281A"/>
          </a:solidFill>
          <a:ln w="12700">
            <a:solidFill>
              <a:srgbClr val="333333"/>
            </a:solidFill>
            <a:prstDash val="solid"/>
          </a:ln>
        </p:spPr>
        <p:txBody>
          <a:bodyPr/>
          <a:lstStyle/>
          <a:p>
            <a:endParaRPr lang="en-IN"/>
          </a:p>
        </p:txBody>
      </p:sp>
      <p:sp>
        <p:nvSpPr>
          <p:cNvPr id="13" name="anim:4"/>
          <p:cNvSpPr/>
          <p:nvPr/>
        </p:nvSpPr>
        <p:spPr>
          <a:xfrm>
            <a:off x="502920" y="3108960"/>
            <a:ext cx="292608" cy="292608"/>
          </a:xfrm>
          <a:prstGeom prst="rect">
            <a:avLst/>
          </a:prstGeom>
          <a:noFill/>
          <a:ln/>
        </p:spPr>
        <p:txBody>
          <a:bodyPr wrap="square" rtlCol="0" anchor="ctr"/>
          <a:lstStyle/>
          <a:p>
            <a:pPr marL="0" indent="0" algn="ctr">
              <a:buNone/>
            </a:pPr>
            <a:r>
              <a:rPr lang="en-US" sz="1250" b="1" dirty="0">
                <a:solidFill>
                  <a:srgbClr val="FFFFFF"/>
                </a:solidFill>
                <a:latin typeface="Consolas" pitchFamily="34" charset="0"/>
                <a:ea typeface="Consolas" pitchFamily="34" charset="-122"/>
                <a:cs typeface="Consolas" pitchFamily="34" charset="-120"/>
              </a:rPr>
              <a:t>3</a:t>
            </a:r>
            <a:endParaRPr lang="en-US" sz="1250" dirty="0"/>
          </a:p>
        </p:txBody>
      </p:sp>
      <p:sp>
        <p:nvSpPr>
          <p:cNvPr id="14" name="anim:4"/>
          <p:cNvSpPr/>
          <p:nvPr/>
        </p:nvSpPr>
        <p:spPr>
          <a:xfrm>
            <a:off x="923544" y="3090672"/>
            <a:ext cx="10735056" cy="566928"/>
          </a:xfrm>
          <a:prstGeom prst="rect">
            <a:avLst/>
          </a:prstGeom>
          <a:noFill/>
          <a:ln/>
        </p:spPr>
        <p:txBody>
          <a:bodyPr wrap="square" rtlCol="0" anchor="t"/>
          <a:lstStyle/>
          <a:p>
            <a:pPr marL="0" indent="0">
              <a:lnSpc>
                <a:spcPts val="2010"/>
              </a:lnSpc>
              <a:buNone/>
            </a:pPr>
            <a:r>
              <a:rPr lang="en-US" sz="1500" dirty="0">
                <a:solidFill>
                  <a:srgbClr val="0E1B33"/>
                </a:solidFill>
                <a:latin typeface="Calibri" pitchFamily="34" charset="0"/>
                <a:ea typeface="Calibri" pitchFamily="34" charset="-122"/>
                <a:cs typeface="Calibri" pitchFamily="34" charset="-120"/>
              </a:rPr>
              <a:t>Most nodes sit at distance ≈ L, so the ball of radius L must hold essentially the whole graph:</a:t>
            </a:r>
            <a:endParaRPr lang="en-US" sz="1500" dirty="0"/>
          </a:p>
        </p:txBody>
      </p:sp>
      <p:pic>
        <p:nvPicPr>
          <p:cNvPr id="15" name="anim:5" descr="/home/claude/deck/eq/NkL.png"/>
          <p:cNvPicPr>
            <a:picLocks noChangeAspect="1"/>
          </p:cNvPicPr>
          <p:nvPr/>
        </p:nvPicPr>
        <p:blipFill>
          <a:blip r:embed="rId4"/>
          <a:stretch>
            <a:fillRect/>
          </a:stretch>
        </p:blipFill>
        <p:spPr>
          <a:xfrm>
            <a:off x="932688" y="3675888"/>
            <a:ext cx="4023360" cy="548640"/>
          </a:xfrm>
          <a:prstGeom prst="rect">
            <a:avLst/>
          </a:prstGeom>
        </p:spPr>
      </p:pic>
      <p:sp>
        <p:nvSpPr>
          <p:cNvPr id="16" name="anim:6"/>
          <p:cNvSpPr/>
          <p:nvPr/>
        </p:nvSpPr>
        <p:spPr>
          <a:xfrm>
            <a:off x="3794760" y="4389120"/>
            <a:ext cx="4599432" cy="914400"/>
          </a:xfrm>
          <a:prstGeom prst="roundRect">
            <a:avLst>
              <a:gd name="adj" fmla="val 6000"/>
            </a:avLst>
          </a:prstGeom>
          <a:solidFill>
            <a:srgbClr val="0E1B33"/>
          </a:solidFill>
          <a:ln w="12700">
            <a:solidFill>
              <a:srgbClr val="0E1B33"/>
            </a:solidFill>
            <a:prstDash val="solid"/>
          </a:ln>
        </p:spPr>
        <p:txBody>
          <a:bodyPr/>
          <a:lstStyle/>
          <a:p>
            <a:endParaRPr lang="en-IN"/>
          </a:p>
        </p:txBody>
      </p:sp>
      <p:pic>
        <p:nvPicPr>
          <p:cNvPr id="17" name="anim:6" descr="/home/claude/deck/eq/Lresult.png"/>
          <p:cNvPicPr>
            <a:picLocks noChangeAspect="1"/>
          </p:cNvPicPr>
          <p:nvPr/>
        </p:nvPicPr>
        <p:blipFill>
          <a:blip r:embed="rId5"/>
          <a:stretch>
            <a:fillRect/>
          </a:stretch>
        </p:blipFill>
        <p:spPr>
          <a:xfrm>
            <a:off x="5361784" y="4480560"/>
            <a:ext cx="1465385" cy="731520"/>
          </a:xfrm>
          <a:prstGeom prst="rect">
            <a:avLst/>
          </a:prstGeom>
        </p:spPr>
      </p:pic>
      <p:pic>
        <p:nvPicPr>
          <p:cNvPr id="18" name="anim:7" descr="/home/claude/deck/eq/Lscaling.png"/>
          <p:cNvPicPr>
            <a:picLocks noChangeAspect="1"/>
          </p:cNvPicPr>
          <p:nvPr/>
        </p:nvPicPr>
        <p:blipFill>
          <a:blip r:embed="rId6"/>
          <a:stretch>
            <a:fillRect/>
          </a:stretch>
        </p:blipFill>
        <p:spPr>
          <a:xfrm>
            <a:off x="920801" y="5431536"/>
            <a:ext cx="10347350" cy="4572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2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2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2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2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2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2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2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2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2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L measured, both ways</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growth in N and decay in ⟨k⟩</a:t>
            </a:r>
            <a:endParaRPr lang="en-US" sz="1150" dirty="0"/>
          </a:p>
        </p:txBody>
      </p:sp>
      <p:pic>
        <p:nvPicPr>
          <p:cNvPr id="5" name="anim:1" descr="/home/claude/deck/fig/Lfit.png"/>
          <p:cNvPicPr>
            <a:picLocks noChangeAspect="1"/>
          </p:cNvPicPr>
          <p:nvPr/>
        </p:nvPicPr>
        <p:blipFill>
          <a:blip r:embed="rId3"/>
          <a:stretch>
            <a:fillRect/>
          </a:stretch>
        </p:blipFill>
        <p:spPr>
          <a:xfrm>
            <a:off x="1633019" y="932688"/>
            <a:ext cx="8922915" cy="3931920"/>
          </a:xfrm>
          <a:prstGeom prst="rect">
            <a:avLst/>
          </a:prstGeom>
        </p:spPr>
      </p:pic>
      <p:sp>
        <p:nvSpPr>
          <p:cNvPr id="6" name="anim:2"/>
          <p:cNvSpPr/>
          <p:nvPr/>
        </p:nvSpPr>
        <p:spPr>
          <a:xfrm>
            <a:off x="457200" y="4901184"/>
            <a:ext cx="5532120" cy="1024128"/>
          </a:xfrm>
          <a:prstGeom prst="roundRect">
            <a:avLst>
              <a:gd name="adj" fmla="val 5357"/>
            </a:avLst>
          </a:prstGeom>
          <a:solidFill>
            <a:srgbClr val="F3F6FA"/>
          </a:solidFill>
          <a:ln w="12700">
            <a:solidFill>
              <a:srgbClr val="D5DDEA"/>
            </a:solidFill>
            <a:prstDash val="solid"/>
          </a:ln>
        </p:spPr>
        <p:txBody>
          <a:bodyPr/>
          <a:lstStyle/>
          <a:p>
            <a:endParaRPr lang="en-IN"/>
          </a:p>
        </p:txBody>
      </p:sp>
      <p:sp>
        <p:nvSpPr>
          <p:cNvPr id="7" name="anim:2"/>
          <p:cNvSpPr/>
          <p:nvPr/>
        </p:nvSpPr>
        <p:spPr>
          <a:xfrm>
            <a:off x="640080" y="5020056"/>
            <a:ext cx="5166360"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THE TWO SIGNATURES</a:t>
            </a:r>
            <a:endParaRPr lang="en-US" sz="1100" dirty="0"/>
          </a:p>
        </p:txBody>
      </p:sp>
      <p:sp>
        <p:nvSpPr>
          <p:cNvPr id="8" name="anim:2"/>
          <p:cNvSpPr/>
          <p:nvPr/>
        </p:nvSpPr>
        <p:spPr>
          <a:xfrm>
            <a:off x="640080" y="5312664"/>
            <a:ext cx="5166360" cy="521208"/>
          </a:xfrm>
          <a:prstGeom prst="rect">
            <a:avLst/>
          </a:prstGeom>
          <a:noFill/>
          <a:ln/>
        </p:spPr>
        <p:txBody>
          <a:bodyPr wrap="square" rtlCol="0" anchor="t"/>
          <a:lstStyle/>
          <a:p>
            <a:pPr marL="0" indent="0">
              <a:lnSpc>
                <a:spcPts val="1988"/>
              </a:lnSpc>
              <a:buNone/>
            </a:pPr>
            <a:r>
              <a:rPr lang="en-US" sz="1400" dirty="0">
                <a:solidFill>
                  <a:srgbClr val="46536C"/>
                </a:solidFill>
                <a:latin typeface="Calibri" pitchFamily="34" charset="0"/>
                <a:ea typeface="Calibri" pitchFamily="34" charset="-122"/>
                <a:cs typeface="Calibri" pitchFamily="34" charset="-120"/>
              </a:rPr>
              <a:t>Left: at fixed ⟨k⟩ = 6, L rises like ln N.  Right: at fixed N = 2 000, L falls like 1/ln⟨k⟩.</a:t>
            </a:r>
            <a:endParaRPr lang="en-US" sz="1400" dirty="0"/>
          </a:p>
        </p:txBody>
      </p:sp>
      <p:sp>
        <p:nvSpPr>
          <p:cNvPr id="9" name="anim:3"/>
          <p:cNvSpPr/>
          <p:nvPr/>
        </p:nvSpPr>
        <p:spPr>
          <a:xfrm>
            <a:off x="6199632" y="4901184"/>
            <a:ext cx="5532120" cy="1024128"/>
          </a:xfrm>
          <a:prstGeom prst="roundRect">
            <a:avLst>
              <a:gd name="adj" fmla="val 5357"/>
            </a:avLst>
          </a:prstGeom>
          <a:solidFill>
            <a:srgbClr val="FBEAE7"/>
          </a:solidFill>
          <a:ln w="12700">
            <a:solidFill>
              <a:srgbClr val="D5DDEA"/>
            </a:solidFill>
            <a:prstDash val="solid"/>
          </a:ln>
        </p:spPr>
        <p:txBody>
          <a:bodyPr/>
          <a:lstStyle/>
          <a:p>
            <a:endParaRPr lang="en-IN"/>
          </a:p>
        </p:txBody>
      </p:sp>
      <p:sp>
        <p:nvSpPr>
          <p:cNvPr id="10" name="anim:3"/>
          <p:cNvSpPr/>
          <p:nvPr/>
        </p:nvSpPr>
        <p:spPr>
          <a:xfrm>
            <a:off x="6382512" y="5020056"/>
            <a:ext cx="5166360"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AND A HONEST 5%</a:t>
            </a:r>
            <a:endParaRPr lang="en-US" sz="1100" dirty="0"/>
          </a:p>
        </p:txBody>
      </p:sp>
      <p:sp>
        <p:nvSpPr>
          <p:cNvPr id="11" name="anim:3"/>
          <p:cNvSpPr/>
          <p:nvPr/>
        </p:nvSpPr>
        <p:spPr>
          <a:xfrm>
            <a:off x="6382512" y="5312664"/>
            <a:ext cx="5166360" cy="521208"/>
          </a:xfrm>
          <a:prstGeom prst="rect">
            <a:avLst/>
          </a:prstGeom>
          <a:noFill/>
          <a:ln/>
        </p:spPr>
        <p:txBody>
          <a:bodyPr wrap="square" rtlCol="0" anchor="t"/>
          <a:lstStyle/>
          <a:p>
            <a:pPr marL="0" indent="0">
              <a:lnSpc>
                <a:spcPts val="1917"/>
              </a:lnSpc>
              <a:buNone/>
            </a:pPr>
            <a:r>
              <a:rPr lang="en-US" sz="1350" dirty="0">
                <a:solidFill>
                  <a:srgbClr val="46536C"/>
                </a:solidFill>
                <a:latin typeface="Calibri" pitchFamily="34" charset="0"/>
                <a:ea typeface="Calibri" pitchFamily="34" charset="-122"/>
                <a:cs typeface="Calibri" pitchFamily="34" charset="-120"/>
              </a:rPr>
              <a:t>Measured L runs about 5% above ln N/ln⟨k⟩.  The leading behaviour is right; the sub-leading constant is not claimed.</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2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2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2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2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2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1B33"/>
          </a:solidFill>
          <a:ln/>
        </p:spPr>
        <p:txBody>
          <a:bodyPr/>
          <a:lstStyle/>
          <a:p>
            <a:endParaRPr lang="en-IN"/>
          </a:p>
        </p:txBody>
      </p:sp>
      <p:sp>
        <p:nvSpPr>
          <p:cNvPr id="3" name="Text 1"/>
          <p:cNvSpPr/>
          <p:nvPr/>
        </p:nvSpPr>
        <p:spPr>
          <a:xfrm>
            <a:off x="475488" y="54864"/>
            <a:ext cx="9082735" cy="676656"/>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The notes' own exercise</a:t>
            </a:r>
            <a:endParaRPr lang="en-US" sz="2500" dirty="0"/>
          </a:p>
        </p:txBody>
      </p:sp>
      <p:sp>
        <p:nvSpPr>
          <p:cNvPr id="4" name="Text 2"/>
          <p:cNvSpPr/>
          <p:nvPr/>
        </p:nvSpPr>
        <p:spPr>
          <a:xfrm>
            <a:off x="8168335" y="54864"/>
            <a:ext cx="3566160" cy="676656"/>
          </a:xfrm>
          <a:prstGeom prst="rect">
            <a:avLst/>
          </a:prstGeom>
          <a:noFill/>
          <a:ln/>
        </p:spPr>
        <p:txBody>
          <a:bodyPr wrap="square" rtlCol="0" anchor="ctr"/>
          <a:lstStyle/>
          <a:p>
            <a:pPr marL="0" indent="0" algn="r">
              <a:buNone/>
            </a:pPr>
            <a:r>
              <a:rPr lang="en-US" sz="1150" kern="0" spc="120" dirty="0">
                <a:solidFill>
                  <a:srgbClr val="9FB2CE"/>
                </a:solidFill>
                <a:latin typeface="Consolas" pitchFamily="34" charset="0"/>
                <a:ea typeface="Consolas" pitchFamily="34" charset="-122"/>
                <a:cs typeface="Consolas" pitchFamily="34" charset="-120"/>
              </a:rPr>
              <a:t>notes, p.12  ·  ⟨k⟩ = 10</a:t>
            </a:r>
            <a:endParaRPr lang="en-US" sz="1150" dirty="0"/>
          </a:p>
        </p:txBody>
      </p:sp>
      <p:sp>
        <p:nvSpPr>
          <p:cNvPr id="5" name="anim:1"/>
          <p:cNvSpPr/>
          <p:nvPr/>
        </p:nvSpPr>
        <p:spPr>
          <a:xfrm>
            <a:off x="457200" y="932688"/>
            <a:ext cx="5852160" cy="1481328"/>
          </a:xfrm>
          <a:prstGeom prst="roundRect">
            <a:avLst>
              <a:gd name="adj" fmla="val 3704"/>
            </a:avLst>
          </a:prstGeom>
          <a:solidFill>
            <a:srgbClr val="FFFFFF"/>
          </a:solidFill>
          <a:ln w="12700">
            <a:solidFill>
              <a:srgbClr val="D5DDEA"/>
            </a:solidFill>
            <a:prstDash val="solid"/>
          </a:ln>
        </p:spPr>
        <p:txBody>
          <a:bodyPr/>
          <a:lstStyle/>
          <a:p>
            <a:endParaRPr lang="en-IN"/>
          </a:p>
        </p:txBody>
      </p:sp>
      <p:pic>
        <p:nvPicPr>
          <p:cNvPr id="6" name="anim:1" descr="/home/claude/deck/nb/nb_exercise.png"/>
          <p:cNvPicPr>
            <a:picLocks noChangeAspect="1"/>
          </p:cNvPicPr>
          <p:nvPr/>
        </p:nvPicPr>
        <p:blipFill>
          <a:blip r:embed="rId3"/>
          <a:stretch>
            <a:fillRect/>
          </a:stretch>
        </p:blipFill>
        <p:spPr>
          <a:xfrm>
            <a:off x="1417320" y="1024128"/>
            <a:ext cx="3931920" cy="1097280"/>
          </a:xfrm>
          <a:prstGeom prst="rect">
            <a:avLst/>
          </a:prstGeom>
        </p:spPr>
      </p:pic>
      <p:sp>
        <p:nvSpPr>
          <p:cNvPr id="7" name="anim:1"/>
          <p:cNvSpPr/>
          <p:nvPr/>
        </p:nvSpPr>
        <p:spPr>
          <a:xfrm>
            <a:off x="585216" y="2103120"/>
            <a:ext cx="5596128" cy="237744"/>
          </a:xfrm>
          <a:prstGeom prst="rect">
            <a:avLst/>
          </a:prstGeom>
          <a:noFill/>
          <a:ln/>
        </p:spPr>
        <p:txBody>
          <a:bodyPr wrap="square" rtlCol="0" anchor="ctr"/>
          <a:lstStyle/>
          <a:p>
            <a:pPr marL="0" indent="0" algn="r">
              <a:buNone/>
            </a:pPr>
            <a:r>
              <a:rPr lang="en-US" sz="950" kern="0" spc="100" dirty="0">
                <a:solidFill>
                  <a:srgbClr val="7C8AA0"/>
                </a:solidFill>
                <a:latin typeface="Consolas" pitchFamily="34" charset="0"/>
                <a:ea typeface="Consolas" pitchFamily="34" charset="-122"/>
                <a:cs typeface="Consolas" pitchFamily="34" charset="-120"/>
              </a:rPr>
              <a:t>notes, p.12</a:t>
            </a:r>
            <a:endParaRPr lang="en-US" sz="950" dirty="0"/>
          </a:p>
        </p:txBody>
      </p:sp>
      <p:sp>
        <p:nvSpPr>
          <p:cNvPr id="8" name="anim:2"/>
          <p:cNvSpPr/>
          <p:nvPr/>
        </p:nvSpPr>
        <p:spPr>
          <a:xfrm>
            <a:off x="6537960" y="932688"/>
            <a:ext cx="5193792" cy="1481328"/>
          </a:xfrm>
          <a:prstGeom prst="roundRect">
            <a:avLst>
              <a:gd name="adj" fmla="val 3704"/>
            </a:avLst>
          </a:prstGeom>
          <a:solidFill>
            <a:srgbClr val="FBEAE7"/>
          </a:solidFill>
          <a:ln w="12700">
            <a:solidFill>
              <a:srgbClr val="D5DDEA"/>
            </a:solidFill>
            <a:prstDash val="solid"/>
          </a:ln>
        </p:spPr>
        <p:txBody>
          <a:bodyPr/>
          <a:lstStyle/>
          <a:p>
            <a:endParaRPr lang="en-IN"/>
          </a:p>
        </p:txBody>
      </p:sp>
      <p:sp>
        <p:nvSpPr>
          <p:cNvPr id="9" name="anim:2"/>
          <p:cNvSpPr/>
          <p:nvPr/>
        </p:nvSpPr>
        <p:spPr>
          <a:xfrm>
            <a:off x="6720840" y="1051560"/>
            <a:ext cx="4828032" cy="274320"/>
          </a:xfrm>
          <a:prstGeom prst="rect">
            <a:avLst/>
          </a:prstGeom>
          <a:noFill/>
          <a:ln/>
        </p:spPr>
        <p:txBody>
          <a:bodyPr wrap="square" rtlCol="0" anchor="ctr"/>
          <a:lstStyle/>
          <a:p>
            <a:pPr marL="0" indent="0">
              <a:buNone/>
            </a:pPr>
            <a:r>
              <a:rPr lang="en-US" sz="1100" b="1" kern="0" spc="110" dirty="0">
                <a:solidFill>
                  <a:srgbClr val="B8281A"/>
                </a:solidFill>
                <a:latin typeface="Consolas" pitchFamily="34" charset="0"/>
                <a:ea typeface="Consolas" pitchFamily="34" charset="-122"/>
                <a:cs typeface="Consolas" pitchFamily="34" charset="-120"/>
              </a:rPr>
              <a:t>THE ANSWER, IN ONE LINE</a:t>
            </a:r>
            <a:endParaRPr lang="en-US" sz="1100" dirty="0"/>
          </a:p>
        </p:txBody>
      </p:sp>
      <p:sp>
        <p:nvSpPr>
          <p:cNvPr id="10" name="anim:2"/>
          <p:cNvSpPr/>
          <p:nvPr/>
        </p:nvSpPr>
        <p:spPr>
          <a:xfrm>
            <a:off x="6720840" y="1344168"/>
            <a:ext cx="4828032" cy="978408"/>
          </a:xfrm>
          <a:prstGeom prst="rect">
            <a:avLst/>
          </a:prstGeom>
          <a:noFill/>
          <a:ln/>
        </p:spPr>
        <p:txBody>
          <a:bodyPr wrap="square" rtlCol="0" anchor="t"/>
          <a:lstStyle/>
          <a:p>
            <a:pPr marL="0" indent="0">
              <a:lnSpc>
                <a:spcPts val="1988"/>
              </a:lnSpc>
              <a:buNone/>
            </a:pPr>
            <a:r>
              <a:rPr lang="en-US" sz="1400" dirty="0">
                <a:solidFill>
                  <a:srgbClr val="46536C"/>
                </a:solidFill>
                <a:latin typeface="Calibri" pitchFamily="34" charset="0"/>
                <a:ea typeface="Calibri" pitchFamily="34" charset="-122"/>
                <a:cs typeface="Calibri" pitchFamily="34" charset="-120"/>
              </a:rPr>
              <a:t>Geometric growth cannot outlast the graph.  z_m = ⟨k⟩^m must be ≤ N, so the shells can keep doubling only until m reaches ln N / ln⟨k⟩ — which is precisely L.</a:t>
            </a:r>
            <a:endParaRPr lang="en-US" sz="1400" dirty="0"/>
          </a:p>
        </p:txBody>
      </p:sp>
      <p:pic>
        <p:nvPicPr>
          <p:cNvPr id="11" name="anim:3" descr="/home/claude/deck/eq/saturate.png"/>
          <p:cNvPicPr>
            <a:picLocks noChangeAspect="1"/>
          </p:cNvPicPr>
          <p:nvPr/>
        </p:nvPicPr>
        <p:blipFill>
          <a:blip r:embed="rId4"/>
          <a:stretch>
            <a:fillRect/>
          </a:stretch>
        </p:blipFill>
        <p:spPr>
          <a:xfrm>
            <a:off x="4423383" y="2505456"/>
            <a:ext cx="3342186" cy="493776"/>
          </a:xfrm>
          <a:prstGeom prst="rect">
            <a:avLst/>
          </a:prstGeom>
        </p:spPr>
      </p:pic>
      <p:pic>
        <p:nvPicPr>
          <p:cNvPr id="12" name="anim:4" descr="/home/claude/deck/eq/satex.png"/>
          <p:cNvPicPr>
            <a:picLocks noChangeAspect="1"/>
          </p:cNvPicPr>
          <p:nvPr/>
        </p:nvPicPr>
        <p:blipFill>
          <a:blip r:embed="rId5"/>
          <a:stretch>
            <a:fillRect/>
          </a:stretch>
        </p:blipFill>
        <p:spPr>
          <a:xfrm>
            <a:off x="879939" y="3108960"/>
            <a:ext cx="10429073" cy="438912"/>
          </a:xfrm>
          <a:prstGeom prst="rect">
            <a:avLst/>
          </a:prstGeom>
        </p:spPr>
      </p:pic>
      <p:pic>
        <p:nvPicPr>
          <p:cNvPr id="13" name="anim:5" descr="/home/claude/deck/fig/shells.png"/>
          <p:cNvPicPr>
            <a:picLocks noChangeAspect="1"/>
          </p:cNvPicPr>
          <p:nvPr/>
        </p:nvPicPr>
        <p:blipFill>
          <a:blip r:embed="rId6"/>
          <a:stretch>
            <a:fillRect/>
          </a:stretch>
        </p:blipFill>
        <p:spPr>
          <a:xfrm>
            <a:off x="2369478" y="3602736"/>
            <a:ext cx="7449995" cy="2322576"/>
          </a:xfrm>
          <a:prstGeom prst="rect">
            <a:avLst/>
          </a:prstGeom>
        </p:spPr>
      </p:pic>
      <p:sp>
        <p:nvSpPr>
          <p:cNvPr id="14" name="anim:6"/>
          <p:cNvSpPr/>
          <p:nvPr/>
        </p:nvSpPr>
        <p:spPr>
          <a:xfrm>
            <a:off x="548640" y="5998464"/>
            <a:ext cx="11064240" cy="365760"/>
          </a:xfrm>
          <a:prstGeom prst="rect">
            <a:avLst/>
          </a:prstGeom>
          <a:noFill/>
          <a:ln/>
        </p:spPr>
        <p:txBody>
          <a:bodyPr wrap="square" rtlCol="0" anchor="t"/>
          <a:lstStyle/>
          <a:p>
            <a:pPr marL="0" indent="0" algn="ctr">
              <a:lnSpc>
                <a:spcPts val="1600"/>
              </a:lnSpc>
              <a:buNone/>
            </a:pPr>
            <a:r>
              <a:rPr lang="en-US" sz="1250" i="1" dirty="0">
                <a:solidFill>
                  <a:srgbClr val="7C8AA0"/>
                </a:solidFill>
                <a:latin typeface="Calibri" pitchFamily="34" charset="0"/>
                <a:ea typeface="Calibri" pitchFamily="34" charset="-122"/>
                <a:cs typeface="Calibri" pitchFamily="34" charset="-120"/>
              </a:rPr>
              <a:t>Measured shells at ⟨k⟩ = 10.  Bars follow ⟨k⟩^m (red) until the dashed line N is reached at m = ln N/ln⟨k⟩ (purple), then collapse — there is nothing left to discover.</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2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2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2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2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2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CONSEQUENCE</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Exactly one extra friend — and why heavy tails break it</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33</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IV  ·  Distances, Correlations, Clustering</a:t>
            </a:r>
            <a:endParaRPr lang="en-US" sz="1000" dirty="0"/>
          </a:p>
        </p:txBody>
      </p:sp>
      <p:pic>
        <p:nvPicPr>
          <p:cNvPr id="6" name="Image 0" descr="/home/claude/figs/14_friendship_paradox.png"/>
          <p:cNvPicPr>
            <a:picLocks noChangeAspect="1"/>
          </p:cNvPicPr>
          <p:nvPr/>
        </p:nvPicPr>
        <p:blipFill>
          <a:blip r:embed="rId3"/>
          <a:stretch>
            <a:fillRect/>
          </a:stretch>
        </p:blipFill>
        <p:spPr>
          <a:xfrm>
            <a:off x="2244783" y="1207008"/>
            <a:ext cx="7708530" cy="3200400"/>
          </a:xfrm>
          <a:prstGeom prst="rect">
            <a:avLst/>
          </a:prstGeom>
        </p:spPr>
      </p:pic>
      <p:sp>
        <p:nvSpPr>
          <p:cNvPr id="7" name="Shape 4"/>
          <p:cNvSpPr/>
          <p:nvPr/>
        </p:nvSpPr>
        <p:spPr>
          <a:xfrm>
            <a:off x="566928" y="4590288"/>
            <a:ext cx="3529584" cy="1170432"/>
          </a:xfrm>
          <a:prstGeom prst="roundRect">
            <a:avLst>
              <a:gd name="adj" fmla="val 4688"/>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49808" y="4681728"/>
            <a:ext cx="3163824"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The ER answer</a:t>
            </a:r>
            <a:endParaRPr lang="en-US" sz="1300" dirty="0"/>
          </a:p>
        </p:txBody>
      </p:sp>
      <p:sp>
        <p:nvSpPr>
          <p:cNvPr id="9" name="Text 6"/>
          <p:cNvSpPr txBox="1"/>
          <p:nvPr/>
        </p:nvSpPr>
        <p:spPr>
          <a:xfrm>
            <a:off x="749808" y="4937760"/>
            <a:ext cx="3163824" cy="749808"/>
          </a:xfrm>
          <a:prstGeom prst="rect">
            <a:avLst/>
          </a:prstGeom>
          <a:noFill/>
          <a:ln/>
        </p:spPr>
        <p:txBody>
          <a:bodyPr wrap="square" lIns="0" tIns="0" rIns="0" bIns="0" rtlCol="0" anchor="ctr"/>
          <a:lstStyle/>
          <a:p>
            <a:pPr marL="0" indent="0">
              <a:lnSpc>
                <a:spcPct val="98000"/>
              </a:lnSpc>
              <a:buNone/>
            </a:pPr>
            <a:r>
              <a:rPr lang="en-US" sz="1150" dirty="0">
                <a:solidFill>
                  <a:srgbClr val="12203A"/>
                </a:solidFill>
                <a:latin typeface="Calibri" pitchFamily="34" charset="0"/>
                <a:ea typeface="Calibri" pitchFamily="34" charset="-122"/>
                <a:cs typeface="Calibri" pitchFamily="34" charset="-120"/>
              </a:rPr>
              <a:t>Var(k)/⟨k⟩ = 1 for Poisson, so the excess is exactly one friend — independent of ⟨k⟩. A gap that neither grows nor shrinks with density.</a:t>
            </a:r>
            <a:endParaRPr lang="en-US" sz="1150" dirty="0"/>
          </a:p>
        </p:txBody>
      </p:sp>
      <p:sp>
        <p:nvSpPr>
          <p:cNvPr id="10" name="Shape 7"/>
          <p:cNvSpPr/>
          <p:nvPr/>
        </p:nvSpPr>
        <p:spPr>
          <a:xfrm>
            <a:off x="4334256" y="4590288"/>
            <a:ext cx="3529584" cy="1170432"/>
          </a:xfrm>
          <a:prstGeom prst="roundRect">
            <a:avLst>
              <a:gd name="adj" fmla="val 4688"/>
            </a:avLst>
          </a:prstGeom>
          <a:solidFill>
            <a:srgbClr val="FBEBE8"/>
          </a:solidFill>
          <a:ln w="15875">
            <a:solidFill>
              <a:srgbClr val="C0392B"/>
            </a:solidFill>
            <a:prstDash val="solid"/>
          </a:ln>
        </p:spPr>
        <p:txBody>
          <a:bodyPr/>
          <a:lstStyle/>
          <a:p>
            <a:endParaRPr lang="en-IN"/>
          </a:p>
        </p:txBody>
      </p:sp>
      <p:sp>
        <p:nvSpPr>
          <p:cNvPr id="11" name="Text 8"/>
          <p:cNvSpPr txBox="1"/>
          <p:nvPr/>
        </p:nvSpPr>
        <p:spPr>
          <a:xfrm>
            <a:off x="4517136" y="4681728"/>
            <a:ext cx="3163824" cy="237744"/>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The scale-free answer</a:t>
            </a:r>
            <a:endParaRPr lang="en-US" sz="1300" dirty="0"/>
          </a:p>
        </p:txBody>
      </p:sp>
      <p:sp>
        <p:nvSpPr>
          <p:cNvPr id="12" name="Text 9"/>
          <p:cNvSpPr txBox="1"/>
          <p:nvPr/>
        </p:nvSpPr>
        <p:spPr>
          <a:xfrm>
            <a:off x="4517136" y="4937760"/>
            <a:ext cx="3163824" cy="749808"/>
          </a:xfrm>
          <a:prstGeom prst="rect">
            <a:avLst/>
          </a:prstGeom>
          <a:noFill/>
          <a:ln/>
        </p:spPr>
        <p:txBody>
          <a:bodyPr wrap="square" lIns="0" tIns="0" rIns="0" bIns="0" rtlCol="0" anchor="ctr"/>
          <a:lstStyle/>
          <a:p>
            <a:pPr marL="0" indent="0">
              <a:lnSpc>
                <a:spcPct val="98000"/>
              </a:lnSpc>
              <a:buNone/>
            </a:pPr>
            <a:r>
              <a:rPr lang="en-US" sz="1150" dirty="0">
                <a:solidFill>
                  <a:srgbClr val="0E1B33"/>
                </a:solidFill>
                <a:latin typeface="Calibri" pitchFamily="34" charset="0"/>
                <a:ea typeface="Calibri" pitchFamily="34" charset="-122"/>
                <a:cs typeface="Calibri" pitchFamily="34" charset="-120"/>
              </a:rPr>
              <a:t>For γ &lt; 3 the second moment diverges with system size, so ⟨k_nn⟩/⟨k⟩ grows without bound. Your friends are not slightly more popular — they are enormously more popular.</a:t>
            </a:r>
            <a:endParaRPr lang="en-US" sz="1150" dirty="0"/>
          </a:p>
        </p:txBody>
      </p:sp>
      <p:sp>
        <p:nvSpPr>
          <p:cNvPr id="13" name="Shape 10"/>
          <p:cNvSpPr/>
          <p:nvPr/>
        </p:nvSpPr>
        <p:spPr>
          <a:xfrm>
            <a:off x="8101584" y="4590288"/>
            <a:ext cx="3529584" cy="1170432"/>
          </a:xfrm>
          <a:prstGeom prst="roundRect">
            <a:avLst>
              <a:gd name="adj" fmla="val 4688"/>
            </a:avLst>
          </a:prstGeom>
          <a:solidFill>
            <a:srgbClr val="F4F6F9"/>
          </a:solidFill>
          <a:ln w="12700">
            <a:solidFill>
              <a:srgbClr val="333333"/>
            </a:solidFill>
            <a:prstDash val="solid"/>
          </a:ln>
        </p:spPr>
        <p:txBody>
          <a:bodyPr/>
          <a:lstStyle/>
          <a:p>
            <a:endParaRPr lang="en-IN"/>
          </a:p>
        </p:txBody>
      </p:sp>
      <p:sp>
        <p:nvSpPr>
          <p:cNvPr id="14" name="Text 11"/>
          <p:cNvSpPr txBox="1"/>
          <p:nvPr/>
        </p:nvSpPr>
        <p:spPr>
          <a:xfrm>
            <a:off x="8284464" y="4681728"/>
            <a:ext cx="3163824"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Remark — assortativity</a:t>
            </a:r>
            <a:endParaRPr lang="en-US" sz="1300" dirty="0"/>
          </a:p>
        </p:txBody>
      </p:sp>
      <p:sp>
        <p:nvSpPr>
          <p:cNvPr id="15" name="Text 12"/>
          <p:cNvSpPr txBox="1"/>
          <p:nvPr/>
        </p:nvSpPr>
        <p:spPr>
          <a:xfrm>
            <a:off x="8284464" y="4937760"/>
            <a:ext cx="3163824" cy="749808"/>
          </a:xfrm>
          <a:prstGeom prst="rect">
            <a:avLst/>
          </a:prstGeom>
          <a:noFill/>
          <a:ln/>
        </p:spPr>
        <p:txBody>
          <a:bodyPr wrap="square" lIns="0" tIns="0" rIns="0" bIns="0" rtlCol="0" anchor="ctr"/>
          <a:lstStyle/>
          <a:p>
            <a:pPr marL="0" indent="0">
              <a:lnSpc>
                <a:spcPct val="98000"/>
              </a:lnSpc>
              <a:buNone/>
            </a:pPr>
            <a:r>
              <a:rPr lang="en-US" sz="1150" dirty="0">
                <a:solidFill>
                  <a:srgbClr val="12203A"/>
                </a:solidFill>
                <a:latin typeface="Calibri" pitchFamily="34" charset="0"/>
                <a:ea typeface="Calibri" pitchFamily="34" charset="-122"/>
                <a:cs typeface="Calibri" pitchFamily="34" charset="-120"/>
              </a:rPr>
              <a:t>The Pearson degree correlation r is exactly 0 in G(n,p) — edges are placed without regard to degree. Social networks are assortative (r &gt; 0); technological and biological ones disassortative (r &lt; 0).</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6903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1773936"/>
            <a:ext cx="1225296" cy="1225296"/>
          </a:xfrm>
          <a:prstGeom prst="ellipse">
            <a:avLst/>
          </a:prstGeom>
          <a:solidFill>
            <a:srgbClr val="0E6F66"/>
          </a:solidFill>
          <a:ln w="12700">
            <a:solidFill>
              <a:srgbClr val="0E6F66"/>
            </a:solidFill>
            <a:prstDash val="solid"/>
          </a:ln>
        </p:spPr>
        <p:txBody>
          <a:bodyPr/>
          <a:lstStyle/>
          <a:p>
            <a:endParaRPr lang="en-IN"/>
          </a:p>
        </p:txBody>
      </p:sp>
      <p:sp>
        <p:nvSpPr>
          <p:cNvPr id="3" name="Text 1"/>
          <p:cNvSpPr txBox="1"/>
          <p:nvPr/>
        </p:nvSpPr>
        <p:spPr>
          <a:xfrm>
            <a:off x="566928" y="1778508"/>
            <a:ext cx="1225296" cy="1225296"/>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IV</a:t>
            </a:r>
            <a:endParaRPr lang="en-US" sz="4400" dirty="0"/>
          </a:p>
        </p:txBody>
      </p:sp>
      <p:sp>
        <p:nvSpPr>
          <p:cNvPr id="4" name="Text 2"/>
          <p:cNvSpPr txBox="1"/>
          <p:nvPr/>
        </p:nvSpPr>
        <p:spPr>
          <a:xfrm>
            <a:off x="2139696" y="1481328"/>
            <a:ext cx="9692640" cy="1481328"/>
          </a:xfrm>
          <a:prstGeom prst="rect">
            <a:avLst/>
          </a:prstGeom>
          <a:noFill/>
          <a:ln/>
        </p:spPr>
        <p:txBody>
          <a:bodyPr wrap="square" lIns="0" tIns="0" rIns="0" bIns="0" rtlCol="0" anchor="ctr"/>
          <a:lstStyle/>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Thresholds and</a:t>
            </a:r>
            <a:endParaRPr lang="en-US" sz="3600" dirty="0"/>
          </a:p>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Connectivity</a:t>
            </a:r>
            <a:endParaRPr lang="en-US" sz="3600" dirty="0"/>
          </a:p>
        </p:txBody>
      </p:sp>
      <p:sp>
        <p:nvSpPr>
          <p:cNvPr id="5" name="Text 3"/>
          <p:cNvSpPr txBox="1"/>
          <p:nvPr/>
        </p:nvSpPr>
        <p:spPr>
          <a:xfrm>
            <a:off x="2139696" y="3163824"/>
            <a:ext cx="9509760" cy="786384"/>
          </a:xfrm>
          <a:prstGeom prst="rect">
            <a:avLst/>
          </a:prstGeom>
          <a:noFill/>
          <a:ln/>
        </p:spPr>
        <p:txBody>
          <a:bodyPr wrap="square" lIns="0" tIns="0" rIns="0" bIns="0" rtlCol="0" anchor="t"/>
          <a:lstStyle/>
          <a:p>
            <a:pPr marL="0" indent="0">
              <a:lnSpc>
                <a:spcPct val="106000"/>
              </a:lnSpc>
              <a:buNone/>
            </a:pPr>
            <a:r>
              <a:rPr lang="en-US" sz="1500" dirty="0">
                <a:solidFill>
                  <a:srgbClr val="BFD3E6"/>
                </a:solidFill>
                <a:latin typeface="Calibri" pitchFamily="34" charset="0"/>
                <a:ea typeface="Calibri" pitchFamily="34" charset="-122"/>
                <a:cs typeface="Calibri" pitchFamily="34" charset="-120"/>
              </a:rPr>
              <a:t>Threshold functions and sharp transitions · isolated nodes · the Chen–Stein Poisson approximation · the double-exponential window</a:t>
            </a:r>
            <a:endParaRPr lang="en-US" sz="1500" dirty="0"/>
          </a:p>
        </p:txBody>
      </p:sp>
      <p:pic>
        <p:nvPicPr>
          <p:cNvPr id="6" name="Image 0" descr="/home/claude/eq/w_sec2.png"/>
          <p:cNvPicPr>
            <a:picLocks noChangeAspect="1"/>
          </p:cNvPicPr>
          <p:nvPr/>
        </p:nvPicPr>
        <p:blipFill>
          <a:blip r:embed="rId3"/>
          <a:stretch>
            <a:fillRect/>
          </a:stretch>
        </p:blipFill>
        <p:spPr>
          <a:xfrm>
            <a:off x="2139696" y="4169664"/>
            <a:ext cx="1759283" cy="804672"/>
          </a:xfrm>
          <a:prstGeom prst="rect">
            <a:avLst/>
          </a:prstGeom>
        </p:spPr>
      </p:pic>
      <p:sp>
        <p:nvSpPr>
          <p:cNvPr id="7" name="Text 4"/>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11</a:t>
            </a:r>
            <a:endParaRPr lang="en-US" sz="1050" dirty="0"/>
          </a:p>
        </p:txBody>
      </p:sp>
      <p:sp>
        <p:nvSpPr>
          <p:cNvPr id="8" name="Text 5"/>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spTree>
    <p:extLst>
      <p:ext uri="{BB962C8B-B14F-4D97-AF65-F5344CB8AC3E}">
        <p14:creationId xmlns:p14="http://schemas.microsoft.com/office/powerpoint/2010/main" val="1742784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45435-75C9-F6A2-31E0-FA59769BAD9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7CA7EAD-22EA-5773-4A38-F63A042A0495}"/>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3F31BE01-138C-8C48-D6F2-3FD5254BD46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F322D8F-AAAD-B4C6-EE6E-B6B4F7914D86}"/>
              </a:ext>
            </a:extLst>
          </p:cNvPr>
          <p:cNvSpPr>
            <a:spLocks noGrp="1"/>
          </p:cNvSpPr>
          <p:nvPr>
            <p:ph type="sldNum" sz="quarter" idx="12"/>
          </p:nvPr>
        </p:nvSpPr>
        <p:spPr/>
        <p:txBody>
          <a:bodyPr/>
          <a:lstStyle/>
          <a:p>
            <a:fld id="{40FF48A1-BBC9-46E7-A4CC-5BFD9B1F42DF}" type="slidenum">
              <a:rPr lang="en-IN" smtClean="0"/>
              <a:pPr/>
              <a:t>48</a:t>
            </a:fld>
            <a:endParaRPr lang="en-IN"/>
          </a:p>
        </p:txBody>
      </p:sp>
      <p:sp>
        <p:nvSpPr>
          <p:cNvPr id="16" name="Title 1">
            <a:extLst>
              <a:ext uri="{FF2B5EF4-FFF2-40B4-BE49-F238E27FC236}">
                <a16:creationId xmlns:a16="http://schemas.microsoft.com/office/drawing/2014/main" id="{AEB2EE44-63F8-7415-C04D-116023875943}"/>
              </a:ext>
            </a:extLst>
          </p:cNvPr>
          <p:cNvSpPr txBox="1">
            <a:spLocks/>
          </p:cNvSpPr>
          <p:nvPr/>
        </p:nvSpPr>
        <p:spPr>
          <a:xfrm>
            <a:off x="2999656" y="126243"/>
            <a:ext cx="6000792" cy="642942"/>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fontScale="70000" lnSpcReduction="20000"/>
          </a:bodyPr>
          <a:lstStyle/>
          <a:p>
            <a:pPr algn="ctr"/>
            <a:r>
              <a:rPr lang="en-IN" sz="3200" dirty="0">
                <a:solidFill>
                  <a:srgbClr val="FF0000"/>
                </a:solidFill>
                <a:latin typeface="Cambria" panose="02040503050406030204" pitchFamily="18" charset="0"/>
                <a:ea typeface="Cambria" panose="02040503050406030204" pitchFamily="18" charset="0"/>
              </a:rPr>
              <a:t>    </a:t>
            </a:r>
            <a:r>
              <a:rPr lang="en-IN" sz="3200" b="1" dirty="0">
                <a:solidFill>
                  <a:srgbClr val="FF0000"/>
                </a:solidFill>
                <a:latin typeface="Cambria" panose="02040503050406030204" pitchFamily="18" charset="0"/>
                <a:ea typeface="Cambria" panose="02040503050406030204" pitchFamily="18" charset="0"/>
              </a:rPr>
              <a:t>Properties of  Random Network (ER): Isolated nodes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B9CD72A-DC87-8559-5234-A69D493D821D}"/>
                  </a:ext>
                </a:extLst>
              </p:cNvPr>
              <p:cNvSpPr txBox="1"/>
              <p:nvPr/>
            </p:nvSpPr>
            <p:spPr>
              <a:xfrm>
                <a:off x="2311400" y="1628801"/>
                <a:ext cx="7899400" cy="1200329"/>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Each of the </a:t>
                </a:r>
                <a14:m>
                  <m:oMath xmlns:m="http://schemas.openxmlformats.org/officeDocument/2006/math">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−1 </m:t>
                    </m:r>
                  </m:oMath>
                </a14:m>
                <a:r>
                  <a:rPr lang="en-US" dirty="0">
                    <a:latin typeface="Cambria" panose="02040503050406030204" pitchFamily="18" charset="0"/>
                    <a:ea typeface="Cambria" panose="02040503050406030204" pitchFamily="18" charset="0"/>
                  </a:rPr>
                  <a:t>possible edges between </a:t>
                </a:r>
                <a14:m>
                  <m:oMath xmlns:m="http://schemas.openxmlformats.org/officeDocument/2006/math">
                    <m:r>
                      <a:rPr lang="en-US" i="1">
                        <a:solidFill>
                          <a:srgbClr val="0000FF"/>
                        </a:solidFill>
                        <a:latin typeface="Cambria Math" panose="02040503050406030204" pitchFamily="18" charset="0"/>
                      </a:rPr>
                      <m:t>𝑣</m:t>
                    </m:r>
                  </m:oMath>
                </a14:m>
                <a:r>
                  <a:rPr lang="en-US" dirty="0">
                    <a:latin typeface="Cambria" panose="02040503050406030204" pitchFamily="18" charset="0"/>
                    <a:ea typeface="Cambria" panose="02040503050406030204" pitchFamily="18" charset="0"/>
                  </a:rPr>
                  <a:t> and the other nodes is present independently with probability </a:t>
                </a:r>
                <a14:m>
                  <m:oMath xmlns:m="http://schemas.openxmlformats.org/officeDocument/2006/math">
                    <m:r>
                      <a:rPr lang="en-US" i="1">
                        <a:solidFill>
                          <a:srgbClr val="0000FF"/>
                        </a:solidFill>
                        <a:latin typeface="Cambria Math" panose="02040503050406030204" pitchFamily="18" charset="0"/>
                      </a:rPr>
                      <m:t>𝑝</m:t>
                    </m:r>
                  </m:oMath>
                </a14:m>
                <a:r>
                  <a:rPr lang="en-US" dirty="0">
                    <a:latin typeface="Cambria" panose="02040503050406030204" pitchFamily="18" charset="0"/>
                    <a:ea typeface="Cambria" panose="02040503050406030204" pitchFamily="18" charset="0"/>
                  </a:rPr>
                  <a:t>. </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So the probability </a:t>
                </a:r>
                <a:r>
                  <a:rPr lang="en-US" b="1" dirty="0">
                    <a:solidFill>
                      <a:srgbClr val="0000FF"/>
                    </a:solidFill>
                    <a:latin typeface="Cambria" panose="02040503050406030204" pitchFamily="18" charset="0"/>
                    <a:ea typeface="Cambria" panose="02040503050406030204" pitchFamily="18" charset="0"/>
                  </a:rPr>
                  <a:t>that </a:t>
                </a:r>
                <a14:m>
                  <m:oMath xmlns:m="http://schemas.openxmlformats.org/officeDocument/2006/math">
                    <m:r>
                      <a:rPr lang="en-US" i="1">
                        <a:solidFill>
                          <a:srgbClr val="0000FF"/>
                        </a:solidFill>
                        <a:latin typeface="Cambria Math" panose="02040503050406030204" pitchFamily="18" charset="0"/>
                      </a:rPr>
                      <m:t>𝑣</m:t>
                    </m:r>
                  </m:oMath>
                </a14:m>
                <a:r>
                  <a:rPr lang="en-US" b="1" dirty="0">
                    <a:solidFill>
                      <a:srgbClr val="0000FF"/>
                    </a:solidFill>
                    <a:latin typeface="Cambria" panose="02040503050406030204" pitchFamily="18" charset="0"/>
                    <a:ea typeface="Cambria" panose="02040503050406030204" pitchFamily="18" charset="0"/>
                  </a:rPr>
                  <a:t> has degree 0</a:t>
                </a:r>
                <a:r>
                  <a:rPr lang="en-US" dirty="0">
                    <a:solidFill>
                      <a:srgbClr val="0000FF"/>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(i.e. is i</a:t>
                </a:r>
                <a:r>
                  <a:rPr lang="en-US" u="sng" dirty="0">
                    <a:latin typeface="Cambria" panose="02040503050406030204" pitchFamily="18" charset="0"/>
                    <a:ea typeface="Cambria" panose="02040503050406030204" pitchFamily="18" charset="0"/>
                  </a:rPr>
                  <a:t>solated</a:t>
                </a:r>
                <a:r>
                  <a:rPr lang="en-US" dirty="0">
                    <a:latin typeface="Cambria" panose="02040503050406030204" pitchFamily="18" charset="0"/>
                    <a:ea typeface="Cambria" panose="02040503050406030204" pitchFamily="18" charset="0"/>
                  </a:rPr>
                  <a:t>) is</a:t>
                </a:r>
                <a:endParaRPr lang="en-IN" dirty="0">
                  <a:latin typeface="Cambria" panose="02040503050406030204" pitchFamily="18" charset="0"/>
                  <a:ea typeface="Cambria" panose="02040503050406030204" pitchFamily="18" charset="0"/>
                </a:endParaRPr>
              </a:p>
            </p:txBody>
          </p:sp>
        </mc:Choice>
        <mc:Fallback xmlns="">
          <p:sp>
            <p:nvSpPr>
              <p:cNvPr id="8" name="TextBox 7">
                <a:extLst>
                  <a:ext uri="{FF2B5EF4-FFF2-40B4-BE49-F238E27FC236}">
                    <a16:creationId xmlns:a16="http://schemas.microsoft.com/office/drawing/2014/main" id="{3B9CD72A-DC87-8559-5234-A69D493D821D}"/>
                  </a:ext>
                </a:extLst>
              </p:cNvPr>
              <p:cNvSpPr txBox="1">
                <a:spLocks noRot="1" noChangeAspect="1" noMove="1" noResize="1" noEditPoints="1" noAdjustHandles="1" noChangeArrowheads="1" noChangeShapeType="1" noTextEdit="1"/>
              </p:cNvSpPr>
              <p:nvPr/>
            </p:nvSpPr>
            <p:spPr>
              <a:xfrm>
                <a:off x="2311400" y="1628801"/>
                <a:ext cx="7899400" cy="1200329"/>
              </a:xfrm>
              <a:prstGeom prst="rect">
                <a:avLst/>
              </a:prstGeom>
              <a:blipFill>
                <a:blip r:embed="rId2"/>
                <a:stretch>
                  <a:fillRect l="-617" t="-3046" b="-659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5866F98-351E-FC69-582E-F81B8CD968CC}"/>
                  </a:ext>
                </a:extLst>
              </p:cNvPr>
              <p:cNvSpPr txBox="1"/>
              <p:nvPr/>
            </p:nvSpPr>
            <p:spPr>
              <a:xfrm>
                <a:off x="3975100" y="3227438"/>
                <a:ext cx="4572000" cy="369332"/>
              </a:xfrm>
              <a:prstGeom prst="rect">
                <a:avLst/>
              </a:prstGeom>
              <a:noFill/>
            </p:spPr>
            <p:txBody>
              <a:bodyPr wrap="square">
                <a:spAutoFit/>
              </a:bodyPr>
              <a:lstStyle/>
              <a:p>
                <a:pPr/>
                <a14:m>
                  <m:oMathPara xmlns:m="http://schemas.openxmlformats.org/officeDocument/2006/math">
                    <m:oMath>
                      <m:r>
                        <m:rPr>
                          <m:sty m:val="p"/>
                        </m:rPr>
                        <a:rPr lang="en-US" i="1" dirty="0">
                          <a:solidFill>
                            <a:srgbClr val="0000FF"/>
                          </a:solidFill>
                          <a:latin typeface="Cambria Math" panose="02040503050406030204" pitchFamily="18" charset="0"/>
                        </a:rPr>
                        <m:t>Pr</m:t>
                      </m:r>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𝑣</m:t>
                      </m:r>
                      <m:r>
                        <a:rPr lang="en-US" i="1"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m:t>
                      </m:r>
                      <m:r>
                        <a:rPr lang="en-US"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isolated</m:t>
                      </m:r>
                      <m:r>
                        <a:rPr lang="en-US" i="1" dirty="0">
                          <a:solidFill>
                            <a:srgbClr val="0000FF"/>
                          </a:solidFill>
                          <a:latin typeface="Cambria Math" panose="02040503050406030204" pitchFamily="18" charset="0"/>
                        </a:rPr>
                        <m:t>)=</m:t>
                      </m:r>
                      <m:sSup>
                        <m:sSupPr>
                          <m:ctrlPr>
                            <a:rPr lang="en-US" i="1" dirty="0">
                              <a:solidFill>
                                <a:srgbClr val="0000FF"/>
                              </a:solidFill>
                              <a:latin typeface="Cambria Math" panose="02040503050406030204" pitchFamily="18" charset="0"/>
                            </a:rPr>
                          </m:ctrlPr>
                        </m:sSupPr>
                        <m:e>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r>
                        <a:rPr lang="en-US" i="1" dirty="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2" name="TextBox 11">
                <a:extLst>
                  <a:ext uri="{FF2B5EF4-FFF2-40B4-BE49-F238E27FC236}">
                    <a16:creationId xmlns:a16="http://schemas.microsoft.com/office/drawing/2014/main" id="{65866F98-351E-FC69-582E-F81B8CD968CC}"/>
                  </a:ext>
                </a:extLst>
              </p:cNvPr>
              <p:cNvSpPr txBox="1">
                <a:spLocks noRot="1" noChangeAspect="1" noMove="1" noResize="1" noEditPoints="1" noAdjustHandles="1" noChangeArrowheads="1" noChangeShapeType="1" noTextEdit="1"/>
              </p:cNvSpPr>
              <p:nvPr/>
            </p:nvSpPr>
            <p:spPr>
              <a:xfrm>
                <a:off x="3975100" y="3227438"/>
                <a:ext cx="4572000" cy="369332"/>
              </a:xfrm>
              <a:prstGeom prst="rect">
                <a:avLst/>
              </a:prstGeom>
              <a:blipFill>
                <a:blip r:embed="rId3"/>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DE024B-A46E-7911-9968-05E3EE5224AF}"/>
                  </a:ext>
                </a:extLst>
              </p:cNvPr>
              <p:cNvSpPr txBox="1"/>
              <p:nvPr/>
            </p:nvSpPr>
            <p:spPr>
              <a:xfrm>
                <a:off x="2495600" y="4031153"/>
                <a:ext cx="7488832" cy="369332"/>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This is simply the probability every one of those </a:t>
                </a:r>
                <a14:m>
                  <m:oMath xmlns:m="http://schemas.openxmlformats.org/officeDocument/2006/math">
                    <m:r>
                      <a:rPr lang="en-US" i="1">
                        <a:solidFill>
                          <a:srgbClr val="0000FF"/>
                        </a:solidFill>
                        <a:latin typeface="Cambria Math" panose="02040503050406030204" pitchFamily="18" charset="0"/>
                      </a:rPr>
                      <m:t>𝑛</m:t>
                    </m:r>
                    <m:r>
                      <a:rPr lang="en-US">
                        <a:solidFill>
                          <a:srgbClr val="0000FF"/>
                        </a:solidFill>
                        <a:latin typeface="Cambria Math" panose="02040503050406030204" pitchFamily="18" charset="0"/>
                      </a:rPr>
                      <m:t>−1 </m:t>
                    </m:r>
                  </m:oMath>
                </a14:m>
                <a:r>
                  <a:rPr lang="en-US" dirty="0">
                    <a:latin typeface="Cambria" panose="02040503050406030204" pitchFamily="18" charset="0"/>
                    <a:ea typeface="Cambria" panose="02040503050406030204" pitchFamily="18" charset="0"/>
                  </a:rPr>
                  <a:t>edges is absent.</a:t>
                </a:r>
                <a:endParaRPr lang="en-IN" dirty="0">
                  <a:latin typeface="Cambria" panose="02040503050406030204" pitchFamily="18" charset="0"/>
                  <a:ea typeface="Cambria" panose="02040503050406030204" pitchFamily="18" charset="0"/>
                </a:endParaRPr>
              </a:p>
            </p:txBody>
          </p:sp>
        </mc:Choice>
        <mc:Fallback xmlns="">
          <p:sp>
            <p:nvSpPr>
              <p:cNvPr id="14" name="TextBox 13">
                <a:extLst>
                  <a:ext uri="{FF2B5EF4-FFF2-40B4-BE49-F238E27FC236}">
                    <a16:creationId xmlns:a16="http://schemas.microsoft.com/office/drawing/2014/main" id="{5DDE024B-A46E-7911-9968-05E3EE5224AF}"/>
                  </a:ext>
                </a:extLst>
              </p:cNvPr>
              <p:cNvSpPr txBox="1">
                <a:spLocks noRot="1" noChangeAspect="1" noMove="1" noResize="1" noEditPoints="1" noAdjustHandles="1" noChangeArrowheads="1" noChangeShapeType="1" noTextEdit="1"/>
              </p:cNvSpPr>
              <p:nvPr/>
            </p:nvSpPr>
            <p:spPr>
              <a:xfrm>
                <a:off x="2495600" y="4031153"/>
                <a:ext cx="7488832" cy="369332"/>
              </a:xfrm>
              <a:prstGeom prst="rect">
                <a:avLst/>
              </a:prstGeom>
              <a:blipFill>
                <a:blip r:embed="rId4"/>
                <a:stretch>
                  <a:fillRect l="-651" t="-9836" b="-22951"/>
                </a:stretch>
              </a:blipFill>
            </p:spPr>
            <p:txBody>
              <a:bodyPr/>
              <a:lstStyle/>
              <a:p>
                <a:r>
                  <a:rPr lang="en-IN">
                    <a:noFill/>
                  </a:rPr>
                  <a:t> </a:t>
                </a:r>
              </a:p>
            </p:txBody>
          </p:sp>
        </mc:Fallback>
      </mc:AlternateContent>
    </p:spTree>
    <p:extLst>
      <p:ext uri="{BB962C8B-B14F-4D97-AF65-F5344CB8AC3E}">
        <p14:creationId xmlns:p14="http://schemas.microsoft.com/office/powerpoint/2010/main" val="1245806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6EFD2-855D-B7B9-0EAA-8D8572F2F3E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0318D22-F4B2-D6C7-6327-33ECFAC6B887}"/>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FD386F9F-5B50-1F2E-4078-5BD29D564CF1}"/>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CCB98D9A-D949-0657-1693-99F0B52C21FB}"/>
              </a:ext>
            </a:extLst>
          </p:cNvPr>
          <p:cNvSpPr>
            <a:spLocks noGrp="1"/>
          </p:cNvSpPr>
          <p:nvPr>
            <p:ph type="sldNum" sz="quarter" idx="12"/>
          </p:nvPr>
        </p:nvSpPr>
        <p:spPr/>
        <p:txBody>
          <a:bodyPr/>
          <a:lstStyle/>
          <a:p>
            <a:fld id="{40FF48A1-BBC9-46E7-A4CC-5BFD9B1F42DF}" type="slidenum">
              <a:rPr lang="en-IN" smtClean="0"/>
              <a:pPr/>
              <a:t>49</a:t>
            </a:fld>
            <a:endParaRPr lang="en-IN"/>
          </a:p>
        </p:txBody>
      </p:sp>
      <p:sp>
        <p:nvSpPr>
          <p:cNvPr id="16" name="Title 1">
            <a:extLst>
              <a:ext uri="{FF2B5EF4-FFF2-40B4-BE49-F238E27FC236}">
                <a16:creationId xmlns:a16="http://schemas.microsoft.com/office/drawing/2014/main" id="{687F75A8-1BA2-C324-1733-D445BF74B4D5}"/>
              </a:ext>
            </a:extLst>
          </p:cNvPr>
          <p:cNvSpPr txBox="1">
            <a:spLocks/>
          </p:cNvSpPr>
          <p:nvPr/>
        </p:nvSpPr>
        <p:spPr>
          <a:xfrm>
            <a:off x="2999656" y="126243"/>
            <a:ext cx="6000792" cy="642942"/>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fontScale="70000" lnSpcReduction="20000"/>
          </a:bodyPr>
          <a:lstStyle/>
          <a:p>
            <a:pPr algn="ctr"/>
            <a:r>
              <a:rPr lang="en-IN" sz="3200" dirty="0">
                <a:solidFill>
                  <a:srgbClr val="FF0000"/>
                </a:solidFill>
                <a:latin typeface="Cambria" panose="02040503050406030204" pitchFamily="18" charset="0"/>
                <a:ea typeface="Cambria" panose="02040503050406030204" pitchFamily="18" charset="0"/>
              </a:rPr>
              <a:t>    </a:t>
            </a:r>
            <a:r>
              <a:rPr lang="en-IN" sz="3200" b="1" dirty="0">
                <a:solidFill>
                  <a:srgbClr val="FF0000"/>
                </a:solidFill>
                <a:latin typeface="Cambria" panose="02040503050406030204" pitchFamily="18" charset="0"/>
                <a:ea typeface="Cambria" panose="02040503050406030204" pitchFamily="18" charset="0"/>
              </a:rPr>
              <a:t>Properties of  Random Network (ER): Isolated nodes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D842784-5030-41A5-0DD6-5533886E554B}"/>
                  </a:ext>
                </a:extLst>
              </p:cNvPr>
              <p:cNvSpPr txBox="1"/>
              <p:nvPr/>
            </p:nvSpPr>
            <p:spPr>
              <a:xfrm>
                <a:off x="3863752" y="1052736"/>
                <a:ext cx="4572000" cy="369332"/>
              </a:xfrm>
              <a:prstGeom prst="rect">
                <a:avLst/>
              </a:prstGeom>
              <a:noFill/>
            </p:spPr>
            <p:txBody>
              <a:bodyPr wrap="square">
                <a:spAutoFit/>
              </a:bodyPr>
              <a:lstStyle/>
              <a:p>
                <a:pPr/>
                <a14:m>
                  <m:oMathPara xmlns:m="http://schemas.openxmlformats.org/officeDocument/2006/math">
                    <m:oMath>
                      <m:r>
                        <m:rPr>
                          <m:sty m:val="p"/>
                        </m:rPr>
                        <a:rPr lang="en-US" i="1" dirty="0">
                          <a:solidFill>
                            <a:srgbClr val="0000FF"/>
                          </a:solidFill>
                          <a:latin typeface="Cambria Math" panose="02040503050406030204" pitchFamily="18" charset="0"/>
                        </a:rPr>
                        <m:t>Pr</m:t>
                      </m:r>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𝑣</m:t>
                      </m:r>
                      <m:r>
                        <a:rPr lang="en-US" i="1"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m:t>
                      </m:r>
                      <m:r>
                        <a:rPr lang="en-US"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isolated</m:t>
                      </m:r>
                      <m:r>
                        <a:rPr lang="en-US" i="1" dirty="0">
                          <a:solidFill>
                            <a:srgbClr val="0000FF"/>
                          </a:solidFill>
                          <a:latin typeface="Cambria Math" panose="02040503050406030204" pitchFamily="18" charset="0"/>
                        </a:rPr>
                        <m:t>)=</m:t>
                      </m:r>
                      <m:sSup>
                        <m:sSupPr>
                          <m:ctrlPr>
                            <a:rPr lang="en-US" i="1" dirty="0">
                              <a:solidFill>
                                <a:srgbClr val="0000FF"/>
                              </a:solidFill>
                              <a:latin typeface="Cambria Math" panose="02040503050406030204" pitchFamily="18" charset="0"/>
                            </a:rPr>
                          </m:ctrlPr>
                        </m:sSupPr>
                        <m:e>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r>
                        <a:rPr lang="en-US" i="1" dirty="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2" name="TextBox 11">
                <a:extLst>
                  <a:ext uri="{FF2B5EF4-FFF2-40B4-BE49-F238E27FC236}">
                    <a16:creationId xmlns:a16="http://schemas.microsoft.com/office/drawing/2014/main" id="{5D842784-5030-41A5-0DD6-5533886E554B}"/>
                  </a:ext>
                </a:extLst>
              </p:cNvPr>
              <p:cNvSpPr txBox="1">
                <a:spLocks noRot="1" noChangeAspect="1" noMove="1" noResize="1" noEditPoints="1" noAdjustHandles="1" noChangeArrowheads="1" noChangeShapeType="1" noTextEdit="1"/>
              </p:cNvSpPr>
              <p:nvPr/>
            </p:nvSpPr>
            <p:spPr>
              <a:xfrm>
                <a:off x="3863752" y="1052736"/>
                <a:ext cx="4572000" cy="369332"/>
              </a:xfrm>
              <a:prstGeom prst="rect">
                <a:avLst/>
              </a:prstGeom>
              <a:blipFill>
                <a:blip r:embed="rId2"/>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44520FD3-3843-71AC-4087-7E5A837A124F}"/>
                  </a:ext>
                </a:extLst>
              </p:cNvPr>
              <p:cNvSpPr>
                <a:spLocks noChangeArrowheads="1"/>
              </p:cNvSpPr>
              <p:nvPr/>
            </p:nvSpPr>
            <p:spPr bwMode="auto">
              <a:xfrm>
                <a:off x="3486532" y="1727982"/>
                <a:ext cx="6707088" cy="258532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altLang="en-US" dirty="0">
                    <a:latin typeface="Cambria" panose="02040503050406030204" pitchFamily="18" charset="0"/>
                    <a:ea typeface="Cambria" panose="02040503050406030204" pitchFamily="18" charset="0"/>
                  </a:rPr>
                  <a:t>The degree of </a:t>
                </a:r>
                <a14:m>
                  <m:oMath xmlns:m="http://schemas.openxmlformats.org/officeDocument/2006/math">
                    <m:r>
                      <a:rPr lang="en-US" altLang="en-US" i="1" dirty="0">
                        <a:latin typeface="Cambria Math" panose="02040503050406030204" pitchFamily="18" charset="0"/>
                      </a:rPr>
                      <m:t>𝑣</m:t>
                    </m:r>
                  </m:oMath>
                </a14:m>
                <a:r>
                  <a:rPr lang="en-US" altLang="en-US" dirty="0">
                    <a:latin typeface="Cambria" panose="02040503050406030204" pitchFamily="18" charset="0"/>
                    <a:ea typeface="Cambria" panose="02040503050406030204" pitchFamily="18" charset="0"/>
                  </a:rPr>
                  <a:t> is </a:t>
                </a:r>
                <a14:m>
                  <m:oMath xmlns:m="http://schemas.openxmlformats.org/officeDocument/2006/math">
                    <m:r>
                      <a:rPr lang="en-US" altLang="en-US" i="1" dirty="0">
                        <a:solidFill>
                          <a:srgbClr val="0000FF"/>
                        </a:solidFill>
                        <a:latin typeface="Cambria Math" panose="02040503050406030204" pitchFamily="18" charset="0"/>
                      </a:rPr>
                      <m:t>𝐵𝑖𝑛𝑜𝑚𝑖𝑎𝑙</m:t>
                    </m:r>
                    <m:r>
                      <a:rPr lang="en-US" altLang="en-US" i="1" dirty="0">
                        <a:solidFill>
                          <a:srgbClr val="0000FF"/>
                        </a:solidFill>
                        <a:latin typeface="Cambria Math" panose="02040503050406030204" pitchFamily="18" charset="0"/>
                      </a:rPr>
                      <m:t>(</m:t>
                    </m:r>
                    <m:r>
                      <a:rPr lang="en-US" altLang="en-US" i="1" dirty="0">
                        <a:solidFill>
                          <a:srgbClr val="0000FF"/>
                        </a:solidFill>
                        <a:latin typeface="Cambria Math" panose="02040503050406030204" pitchFamily="18" charset="0"/>
                      </a:rPr>
                      <m:t>𝑛</m:t>
                    </m:r>
                    <m:r>
                      <a:rPr lang="en-US" altLang="en-US" i="1" dirty="0">
                        <a:solidFill>
                          <a:srgbClr val="0000FF"/>
                        </a:solidFill>
                        <a:latin typeface="Cambria Math" panose="02040503050406030204" pitchFamily="18" charset="0"/>
                      </a:rPr>
                      <m:t>−1,</m:t>
                    </m:r>
                    <m:r>
                      <a:rPr lang="en-US" altLang="en-US" i="1" dirty="0">
                        <a:solidFill>
                          <a:srgbClr val="0000FF"/>
                        </a:solidFill>
                        <a:latin typeface="Cambria Math" panose="02040503050406030204" pitchFamily="18" charset="0"/>
                      </a:rPr>
                      <m:t>𝑝</m:t>
                    </m:r>
                    <m:r>
                      <a:rPr lang="en-US" altLang="en-US" i="1" dirty="0">
                        <a:solidFill>
                          <a:srgbClr val="0000FF"/>
                        </a:solidFill>
                        <a:latin typeface="Cambria Math" panose="02040503050406030204" pitchFamily="18" charset="0"/>
                      </a:rPr>
                      <m:t>). </m:t>
                    </m:r>
                  </m:oMath>
                </a14:m>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r>
                  <a:rPr lang="en-US" altLang="en-US" dirty="0">
                    <a:latin typeface="Cambria" panose="02040503050406030204" pitchFamily="18" charset="0"/>
                    <a:ea typeface="Cambria" panose="02040503050406030204" pitchFamily="18" charset="0"/>
                  </a:rPr>
                  <a:t>The isolated-event is the </a:t>
                </a:r>
                <a14:m>
                  <m:oMath xmlns:m="http://schemas.openxmlformats.org/officeDocument/2006/math">
                    <m:r>
                      <a:rPr lang="en-US" altLang="en-US" i="1" dirty="0">
                        <a:solidFill>
                          <a:srgbClr val="0000FF"/>
                        </a:solidFill>
                        <a:latin typeface="Cambria Math" panose="02040503050406030204" pitchFamily="18" charset="0"/>
                      </a:rPr>
                      <m:t>𝑘</m:t>
                    </m:r>
                    <m:r>
                      <a:rPr lang="en-US" altLang="en-US" i="1" dirty="0">
                        <a:solidFill>
                          <a:srgbClr val="0000FF"/>
                        </a:solidFill>
                        <a:latin typeface="Cambria Math" panose="02040503050406030204" pitchFamily="18" charset="0"/>
                      </a:rPr>
                      <m:t>=0 </m:t>
                    </m:r>
                  </m:oMath>
                </a14:m>
                <a:r>
                  <a:rPr lang="en-US" altLang="en-US" dirty="0">
                    <a:latin typeface="Cambria" panose="02040503050406030204" pitchFamily="18" charset="0"/>
                    <a:ea typeface="Cambria" panose="02040503050406030204" pitchFamily="18" charset="0"/>
                  </a:rPr>
                  <a:t>case of that distribution.</a:t>
                </a:r>
              </a:p>
              <a:p>
                <a:pPr eaLnBrk="0" fontAlgn="base" hangingPunct="0">
                  <a:spcBef>
                    <a:spcPct val="0"/>
                  </a:spcBef>
                  <a:spcAft>
                    <a:spcPct val="0"/>
                  </a:spcAft>
                  <a:buFontTx/>
                  <a:buChar char="•"/>
                </a:pPr>
                <a:endParaRPr lang="en-US" altLang="en-US" dirty="0">
                  <a:latin typeface="Cambria" panose="02040503050406030204" pitchFamily="18" charset="0"/>
                  <a:ea typeface="Cambria" panose="02040503050406030204" pitchFamily="18" charset="0"/>
                </a:endParaRPr>
              </a:p>
              <a:p>
                <a:pPr eaLnBrk="0" fontAlgn="base" hangingPunct="0">
                  <a:spcBef>
                    <a:spcPct val="0"/>
                  </a:spcBef>
                  <a:spcAft>
                    <a:spcPct val="0"/>
                  </a:spcAft>
                  <a:buFontTx/>
                  <a:buChar char="•"/>
                </a:pPr>
                <a:r>
                  <a:rPr lang="en-US" altLang="en-US" dirty="0">
                    <a:latin typeface="Cambria" panose="02040503050406030204" pitchFamily="18" charset="0"/>
                    <a:ea typeface="Cambria" panose="02040503050406030204" pitchFamily="18" charset="0"/>
                  </a:rPr>
                  <a:t>Let </a:t>
                </a:r>
                <a14:m>
                  <m:oMath xmlns:m="http://schemas.openxmlformats.org/officeDocument/2006/math">
                    <m:r>
                      <a:rPr lang="en-US" altLang="en-US" i="1" dirty="0">
                        <a:solidFill>
                          <a:srgbClr val="0000FF"/>
                        </a:solidFill>
                        <a:latin typeface="Cambria Math" panose="02040503050406030204" pitchFamily="18" charset="0"/>
                      </a:rPr>
                      <m:t>𝑋</m:t>
                    </m:r>
                  </m:oMath>
                </a14:m>
                <a:r>
                  <a:rPr lang="en-US" altLang="en-US" dirty="0">
                    <a:latin typeface="Cambria" panose="02040503050406030204" pitchFamily="18" charset="0"/>
                    <a:ea typeface="Cambria" panose="02040503050406030204" pitchFamily="18" charset="0"/>
                  </a:rPr>
                  <a:t> be the number of isolated nodes in the graph. Then</a:t>
                </a:r>
              </a:p>
              <a:p>
                <a:pPr eaLnBrk="0" fontAlgn="base" hangingPunct="0">
                  <a:spcBef>
                    <a:spcPct val="0"/>
                  </a:spcBef>
                  <a:spcAft>
                    <a:spcPct val="0"/>
                  </a:spcAft>
                  <a:buFontTx/>
                  <a:buChar char="•"/>
                </a:pPr>
                <a:endParaRPr lang="en-US" altLang="en-US" dirty="0">
                  <a:latin typeface="Cambria" panose="02040503050406030204" pitchFamily="18" charset="0"/>
                  <a:ea typeface="Cambria" panose="02040503050406030204" pitchFamily="18" charset="0"/>
                </a:endParaRPr>
              </a:p>
              <a:p>
                <a:pPr eaLnBrk="0" fontAlgn="base" hangingPunct="0">
                  <a:spcBef>
                    <a:spcPct val="0"/>
                  </a:spcBef>
                  <a:spcAft>
                    <a:spcPct val="0"/>
                  </a:spcAft>
                </a:pPr>
                <a:r>
                  <a:rPr lang="en-US" altLang="en-US" dirty="0">
                    <a:latin typeface="Cambria" panose="02040503050406030204" pitchFamily="18" charset="0"/>
                    <a:ea typeface="Cambria" panose="02040503050406030204" pitchFamily="18" charset="0"/>
                  </a:rPr>
                  <a:t>               </a:t>
                </a:r>
                <a14:m>
                  <m:oMath xmlns:m="http://schemas.openxmlformats.org/officeDocument/2006/math">
                    <m:r>
                      <a:rPr lang="en-US" altLang="en-US" dirty="0">
                        <a:solidFill>
                          <a:srgbClr val="0000FF"/>
                        </a:solidFill>
                        <a:latin typeface="Cambria Math" panose="02040503050406030204" pitchFamily="18" charset="0"/>
                      </a:rPr>
                      <m:t> </m:t>
                    </m:r>
                    <m:r>
                      <a:rPr lang="en-US" altLang="en-US" i="1" dirty="0">
                        <a:solidFill>
                          <a:srgbClr val="0000FF"/>
                        </a:solidFill>
                        <a:latin typeface="Cambria Math" panose="02040503050406030204" pitchFamily="18" charset="0"/>
                      </a:rPr>
                      <m:t>𝑋</m:t>
                    </m:r>
                    <m:r>
                      <a:rPr lang="en-US" altLang="en-US" i="1" dirty="0">
                        <a:solidFill>
                          <a:srgbClr val="0000FF"/>
                        </a:solidFill>
                        <a:latin typeface="Cambria Math" panose="02040503050406030204" pitchFamily="18" charset="0"/>
                      </a:rPr>
                      <m:t>∼</m:t>
                    </m:r>
                    <m:r>
                      <a:rPr lang="en-US" altLang="en-US" i="1" dirty="0">
                        <a:solidFill>
                          <a:srgbClr val="0000FF"/>
                        </a:solidFill>
                        <a:latin typeface="Cambria Math" panose="02040503050406030204" pitchFamily="18" charset="0"/>
                      </a:rPr>
                      <m:t>𝐵𝑖𝑛𝑜𝑚𝑖𝑎𝑙</m:t>
                    </m:r>
                    <m:d>
                      <m:dPr>
                        <m:ctrlPr>
                          <a:rPr lang="en-US" altLang="en-US" i="1" dirty="0">
                            <a:solidFill>
                              <a:srgbClr val="0000FF"/>
                            </a:solidFill>
                            <a:latin typeface="Cambria Math" panose="02040503050406030204" pitchFamily="18" charset="0"/>
                          </a:rPr>
                        </m:ctrlPr>
                      </m:dPr>
                      <m:e>
                        <m:r>
                          <a:rPr lang="en-US" altLang="en-US" i="1" dirty="0">
                            <a:solidFill>
                              <a:srgbClr val="0000FF"/>
                            </a:solidFill>
                            <a:latin typeface="Cambria Math" panose="02040503050406030204" pitchFamily="18" charset="0"/>
                          </a:rPr>
                          <m:t>𝑛</m:t>
                        </m:r>
                        <m:r>
                          <a:rPr lang="en-US" altLang="en-US" i="1" dirty="0">
                            <a:solidFill>
                              <a:srgbClr val="0000FF"/>
                            </a:solidFill>
                            <a:latin typeface="Cambria Math" panose="02040503050406030204" pitchFamily="18" charset="0"/>
                          </a:rPr>
                          <m:t>−1,</m:t>
                        </m:r>
                        <m:r>
                          <a:rPr lang="en-US" altLang="en-US" i="1" dirty="0">
                            <a:solidFill>
                              <a:srgbClr val="0000FF"/>
                            </a:solidFill>
                            <a:latin typeface="Cambria Math" panose="02040503050406030204" pitchFamily="18" charset="0"/>
                          </a:rPr>
                          <m:t>𝑞</m:t>
                        </m:r>
                      </m:e>
                    </m:d>
                    <m:r>
                      <a:rPr lang="en-US" altLang="en-US" i="1" dirty="0">
                        <a:solidFill>
                          <a:srgbClr val="0000FF"/>
                        </a:solidFill>
                        <a:latin typeface="Cambria Math" panose="02040503050406030204" pitchFamily="18" charset="0"/>
                      </a:rPr>
                      <m:t>,</m:t>
                    </m:r>
                  </m:oMath>
                </a14:m>
                <a:r>
                  <a:rPr lang="en-US" altLang="en-US" dirty="0">
                    <a:solidFill>
                      <a:srgbClr val="0000FF"/>
                    </a:solidFill>
                    <a:latin typeface="Cambria" panose="02040503050406030204" pitchFamily="18" charset="0"/>
                    <a:ea typeface="Cambria" panose="02040503050406030204" pitchFamily="18" charset="0"/>
                  </a:rPr>
                  <a:t> where </a:t>
                </a:r>
                <a14:m>
                  <m:oMath xmlns:m="http://schemas.openxmlformats.org/officeDocument/2006/math">
                    <m:sSup>
                      <m:sSupPr>
                        <m:ctrlPr>
                          <a:rPr lang="en-US" i="1" dirty="0">
                            <a:solidFill>
                              <a:srgbClr val="0000FF"/>
                            </a:solidFill>
                            <a:latin typeface="Cambria Math" panose="02040503050406030204" pitchFamily="18" charset="0"/>
                          </a:rPr>
                        </m:ctrlPr>
                      </m:sSupPr>
                      <m:e>
                        <m:r>
                          <a:rPr lang="en-US" i="1" dirty="0">
                            <a:solidFill>
                              <a:srgbClr val="0000FF"/>
                            </a:solidFill>
                            <a:latin typeface="Cambria Math" panose="02040503050406030204" pitchFamily="18" charset="0"/>
                          </a:rPr>
                          <m:t>𝑞</m:t>
                        </m:r>
                        <m:r>
                          <a:rPr lang="en-US" i="1" dirty="0">
                            <a:solidFill>
                              <a:srgbClr val="0000FF"/>
                            </a:solidFill>
                            <a:latin typeface="Cambria Math" panose="02040503050406030204" pitchFamily="18" charset="0"/>
                          </a:rPr>
                          <m:t>=</m:t>
                        </m:r>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oMath>
                </a14:m>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endParaRPr lang="en-US" altLang="en-US" dirty="0">
                  <a:latin typeface="Cambria" panose="02040503050406030204" pitchFamily="18" charset="0"/>
                  <a:ea typeface="Cambria" panose="02040503050406030204" pitchFamily="18" charset="0"/>
                </a:endParaRPr>
              </a:p>
            </p:txBody>
          </p:sp>
        </mc:Choice>
        <mc:Fallback xmlns="">
          <p:sp>
            <p:nvSpPr>
              <p:cNvPr id="2" name="Rectangle 1">
                <a:extLst>
                  <a:ext uri="{FF2B5EF4-FFF2-40B4-BE49-F238E27FC236}">
                    <a16:creationId xmlns:a16="http://schemas.microsoft.com/office/drawing/2014/main" id="{44520FD3-3843-71AC-4087-7E5A837A124F}"/>
                  </a:ext>
                </a:extLst>
              </p:cNvPr>
              <p:cNvSpPr>
                <a:spLocks noRot="1" noChangeAspect="1" noMove="1" noResize="1" noEditPoints="1" noAdjustHandles="1" noChangeArrowheads="1" noChangeShapeType="1" noTextEdit="1"/>
              </p:cNvSpPr>
              <p:nvPr/>
            </p:nvSpPr>
            <p:spPr bwMode="auto">
              <a:xfrm>
                <a:off x="3486532" y="1727982"/>
                <a:ext cx="6707088" cy="2585323"/>
              </a:xfrm>
              <a:prstGeom prst="rect">
                <a:avLst/>
              </a:prstGeom>
              <a:blipFill>
                <a:blip r:embed="rId3"/>
                <a:stretch>
                  <a:fillRect l="-818" t="-9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346624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anim calcmode="lin" valueType="num">
                                      <p:cBhvr additive="base">
                                        <p:cTn id="1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95B21-D20B-D8B3-EAB0-621C01CA9FB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AF40CAD-7B6B-EA2D-703F-8923AD2C1A7A}"/>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50A6FC37-2774-7998-1476-FA17184276B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A9000B6-7663-F376-5A42-EB0D1E499389}"/>
              </a:ext>
            </a:extLst>
          </p:cNvPr>
          <p:cNvSpPr>
            <a:spLocks noGrp="1"/>
          </p:cNvSpPr>
          <p:nvPr>
            <p:ph type="sldNum" sz="quarter" idx="12"/>
          </p:nvPr>
        </p:nvSpPr>
        <p:spPr/>
        <p:txBody>
          <a:bodyPr/>
          <a:lstStyle/>
          <a:p>
            <a:fld id="{40FF48A1-BBC9-46E7-A4CC-5BFD9B1F42DF}" type="slidenum">
              <a:rPr lang="en-IN" smtClean="0"/>
              <a:pPr/>
              <a:t>50</a:t>
            </a:fld>
            <a:endParaRPr lang="en-IN"/>
          </a:p>
        </p:txBody>
      </p:sp>
      <p:sp>
        <p:nvSpPr>
          <p:cNvPr id="16" name="Title 1">
            <a:extLst>
              <a:ext uri="{FF2B5EF4-FFF2-40B4-BE49-F238E27FC236}">
                <a16:creationId xmlns:a16="http://schemas.microsoft.com/office/drawing/2014/main" id="{6A5625F8-8776-D705-1F47-C23E000E9327}"/>
              </a:ext>
            </a:extLst>
          </p:cNvPr>
          <p:cNvSpPr txBox="1">
            <a:spLocks/>
          </p:cNvSpPr>
          <p:nvPr/>
        </p:nvSpPr>
        <p:spPr>
          <a:xfrm>
            <a:off x="2999656" y="126243"/>
            <a:ext cx="6000792" cy="642942"/>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fontScale="70000" lnSpcReduction="20000"/>
          </a:bodyPr>
          <a:lstStyle/>
          <a:p>
            <a:pPr algn="ctr"/>
            <a:r>
              <a:rPr lang="en-IN" sz="3200" dirty="0">
                <a:solidFill>
                  <a:srgbClr val="FF0000"/>
                </a:solidFill>
                <a:latin typeface="Cambria" panose="02040503050406030204" pitchFamily="18" charset="0"/>
                <a:ea typeface="Cambria" panose="02040503050406030204" pitchFamily="18" charset="0"/>
              </a:rPr>
              <a:t>    </a:t>
            </a:r>
            <a:r>
              <a:rPr lang="en-IN" sz="3200" b="1" dirty="0">
                <a:solidFill>
                  <a:srgbClr val="FF0000"/>
                </a:solidFill>
                <a:latin typeface="Cambria" panose="02040503050406030204" pitchFamily="18" charset="0"/>
                <a:ea typeface="Cambria" panose="02040503050406030204" pitchFamily="18" charset="0"/>
              </a:rPr>
              <a:t>Properties of  Random Network (ER): Isolated nodes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32C736F-0F36-2BB6-A181-02DB66A12CB8}"/>
                  </a:ext>
                </a:extLst>
              </p:cNvPr>
              <p:cNvSpPr txBox="1"/>
              <p:nvPr/>
            </p:nvSpPr>
            <p:spPr>
              <a:xfrm>
                <a:off x="3863752" y="1052736"/>
                <a:ext cx="4572000" cy="369332"/>
              </a:xfrm>
              <a:prstGeom prst="rect">
                <a:avLst/>
              </a:prstGeom>
              <a:noFill/>
            </p:spPr>
            <p:txBody>
              <a:bodyPr wrap="square">
                <a:spAutoFit/>
              </a:bodyPr>
              <a:lstStyle/>
              <a:p>
                <a:pPr/>
                <a14:m>
                  <m:oMathPara xmlns:m="http://schemas.openxmlformats.org/officeDocument/2006/math">
                    <m:oMath>
                      <m:r>
                        <m:rPr>
                          <m:sty m:val="p"/>
                        </m:rPr>
                        <a:rPr lang="en-US" i="1" dirty="0">
                          <a:solidFill>
                            <a:srgbClr val="0000FF"/>
                          </a:solidFill>
                          <a:latin typeface="Cambria Math" panose="02040503050406030204" pitchFamily="18" charset="0"/>
                        </a:rPr>
                        <m:t>Pr</m:t>
                      </m:r>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𝑣</m:t>
                      </m:r>
                      <m:r>
                        <a:rPr lang="en-US" i="1"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m:t>
                      </m:r>
                      <m:r>
                        <a:rPr lang="en-US"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isolated</m:t>
                      </m:r>
                      <m:r>
                        <a:rPr lang="en-US" i="1" dirty="0">
                          <a:solidFill>
                            <a:srgbClr val="0000FF"/>
                          </a:solidFill>
                          <a:latin typeface="Cambria Math" panose="02040503050406030204" pitchFamily="18" charset="0"/>
                        </a:rPr>
                        <m:t>)=</m:t>
                      </m:r>
                      <m:sSup>
                        <m:sSupPr>
                          <m:ctrlPr>
                            <a:rPr lang="en-US" i="1" dirty="0">
                              <a:solidFill>
                                <a:srgbClr val="0000FF"/>
                              </a:solidFill>
                              <a:latin typeface="Cambria Math" panose="02040503050406030204" pitchFamily="18" charset="0"/>
                            </a:rPr>
                          </m:ctrlPr>
                        </m:sSupPr>
                        <m:e>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r>
                        <a:rPr lang="en-US" i="1" dirty="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2" name="TextBox 11">
                <a:extLst>
                  <a:ext uri="{FF2B5EF4-FFF2-40B4-BE49-F238E27FC236}">
                    <a16:creationId xmlns:a16="http://schemas.microsoft.com/office/drawing/2014/main" id="{832C736F-0F36-2BB6-A181-02DB66A12CB8}"/>
                  </a:ext>
                </a:extLst>
              </p:cNvPr>
              <p:cNvSpPr txBox="1">
                <a:spLocks noRot="1" noChangeAspect="1" noMove="1" noResize="1" noEditPoints="1" noAdjustHandles="1" noChangeArrowheads="1" noChangeShapeType="1" noTextEdit="1"/>
              </p:cNvSpPr>
              <p:nvPr/>
            </p:nvSpPr>
            <p:spPr>
              <a:xfrm>
                <a:off x="3863752" y="1052736"/>
                <a:ext cx="4572000" cy="369332"/>
              </a:xfrm>
              <a:prstGeom prst="rect">
                <a:avLst/>
              </a:prstGeom>
              <a:blipFill>
                <a:blip r:embed="rId2"/>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A531EF9-796A-AF8B-317B-520C28863565}"/>
                  </a:ext>
                </a:extLst>
              </p:cNvPr>
              <p:cNvSpPr>
                <a:spLocks noChangeArrowheads="1"/>
              </p:cNvSpPr>
              <p:nvPr/>
            </p:nvSpPr>
            <p:spPr bwMode="auto">
              <a:xfrm>
                <a:off x="1981200" y="1551615"/>
                <a:ext cx="8686800" cy="230832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altLang="en-US" dirty="0">
                    <a:latin typeface="Cambria" panose="02040503050406030204" pitchFamily="18" charset="0"/>
                    <a:ea typeface="Cambria" panose="02040503050406030204" pitchFamily="18" charset="0"/>
                  </a:rPr>
                  <a:t>The degree of </a:t>
                </a:r>
                <a14:m>
                  <m:oMath xmlns:m="http://schemas.openxmlformats.org/officeDocument/2006/math">
                    <m:r>
                      <a:rPr lang="en-US" altLang="en-US" i="1" dirty="0">
                        <a:latin typeface="Cambria Math" panose="02040503050406030204" pitchFamily="18" charset="0"/>
                      </a:rPr>
                      <m:t>𝑣</m:t>
                    </m:r>
                  </m:oMath>
                </a14:m>
                <a:r>
                  <a:rPr lang="en-US" altLang="en-US" dirty="0">
                    <a:latin typeface="Cambria" panose="02040503050406030204" pitchFamily="18" charset="0"/>
                    <a:ea typeface="Cambria" panose="02040503050406030204" pitchFamily="18" charset="0"/>
                  </a:rPr>
                  <a:t> is </a:t>
                </a:r>
                <a14:m>
                  <m:oMath xmlns:m="http://schemas.openxmlformats.org/officeDocument/2006/math">
                    <m:r>
                      <a:rPr lang="en-US" altLang="en-US" i="1" dirty="0">
                        <a:solidFill>
                          <a:srgbClr val="0000FF"/>
                        </a:solidFill>
                        <a:latin typeface="Cambria Math" panose="02040503050406030204" pitchFamily="18" charset="0"/>
                      </a:rPr>
                      <m:t>𝐵𝑖𝑛𝑜𝑚𝑖𝑎𝑙</m:t>
                    </m:r>
                    <m:r>
                      <a:rPr lang="en-US" altLang="en-US" i="1" dirty="0">
                        <a:solidFill>
                          <a:srgbClr val="0000FF"/>
                        </a:solidFill>
                        <a:latin typeface="Cambria Math" panose="02040503050406030204" pitchFamily="18" charset="0"/>
                      </a:rPr>
                      <m:t>(</m:t>
                    </m:r>
                    <m:r>
                      <a:rPr lang="en-US" altLang="en-US" i="1" dirty="0">
                        <a:solidFill>
                          <a:srgbClr val="0000FF"/>
                        </a:solidFill>
                        <a:latin typeface="Cambria Math" panose="02040503050406030204" pitchFamily="18" charset="0"/>
                      </a:rPr>
                      <m:t>𝑛</m:t>
                    </m:r>
                    <m:r>
                      <a:rPr lang="en-US" altLang="en-US" i="1" dirty="0">
                        <a:solidFill>
                          <a:srgbClr val="0000FF"/>
                        </a:solidFill>
                        <a:latin typeface="Cambria Math" panose="02040503050406030204" pitchFamily="18" charset="0"/>
                      </a:rPr>
                      <m:t>−1,</m:t>
                    </m:r>
                    <m:r>
                      <a:rPr lang="en-US" altLang="en-US" i="1" dirty="0">
                        <a:solidFill>
                          <a:srgbClr val="0000FF"/>
                        </a:solidFill>
                        <a:latin typeface="Cambria Math" panose="02040503050406030204" pitchFamily="18" charset="0"/>
                      </a:rPr>
                      <m:t>𝑝</m:t>
                    </m:r>
                    <m:r>
                      <a:rPr lang="en-US" altLang="en-US" i="1" dirty="0">
                        <a:solidFill>
                          <a:srgbClr val="0000FF"/>
                        </a:solidFill>
                        <a:latin typeface="Cambria Math" panose="02040503050406030204" pitchFamily="18" charset="0"/>
                      </a:rPr>
                      <m:t>). </m:t>
                    </m:r>
                  </m:oMath>
                </a14:m>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r>
                  <a:rPr lang="en-US" altLang="en-US" dirty="0">
                    <a:latin typeface="Cambria" panose="02040503050406030204" pitchFamily="18" charset="0"/>
                    <a:ea typeface="Cambria" panose="02040503050406030204" pitchFamily="18" charset="0"/>
                  </a:rPr>
                  <a:t>The isolated-event is the </a:t>
                </a:r>
                <a14:m>
                  <m:oMath xmlns:m="http://schemas.openxmlformats.org/officeDocument/2006/math">
                    <m:r>
                      <a:rPr lang="en-US" altLang="en-US" i="1" dirty="0">
                        <a:solidFill>
                          <a:srgbClr val="0000FF"/>
                        </a:solidFill>
                        <a:latin typeface="Cambria Math" panose="02040503050406030204" pitchFamily="18" charset="0"/>
                      </a:rPr>
                      <m:t>𝑘</m:t>
                    </m:r>
                    <m:r>
                      <a:rPr lang="en-US" altLang="en-US" i="1" dirty="0">
                        <a:solidFill>
                          <a:srgbClr val="0000FF"/>
                        </a:solidFill>
                        <a:latin typeface="Cambria Math" panose="02040503050406030204" pitchFamily="18" charset="0"/>
                      </a:rPr>
                      <m:t>=0 </m:t>
                    </m:r>
                  </m:oMath>
                </a14:m>
                <a:r>
                  <a:rPr lang="en-US" altLang="en-US" dirty="0">
                    <a:latin typeface="Cambria" panose="02040503050406030204" pitchFamily="18" charset="0"/>
                    <a:ea typeface="Cambria" panose="02040503050406030204" pitchFamily="18" charset="0"/>
                  </a:rPr>
                  <a:t>case of that distribution.</a:t>
                </a:r>
              </a:p>
              <a:p>
                <a:pPr eaLnBrk="0" fontAlgn="base" hangingPunct="0">
                  <a:spcBef>
                    <a:spcPct val="0"/>
                  </a:spcBef>
                  <a:spcAft>
                    <a:spcPct val="0"/>
                  </a:spcAft>
                  <a:buFontTx/>
                  <a:buChar char="•"/>
                </a:pPr>
                <a:endParaRPr lang="en-US" altLang="en-US" dirty="0">
                  <a:latin typeface="Cambria" panose="02040503050406030204" pitchFamily="18" charset="0"/>
                  <a:ea typeface="Cambria" panose="02040503050406030204" pitchFamily="18" charset="0"/>
                </a:endParaRPr>
              </a:p>
              <a:p>
                <a:pPr eaLnBrk="0" fontAlgn="base" hangingPunct="0">
                  <a:spcBef>
                    <a:spcPct val="0"/>
                  </a:spcBef>
                  <a:spcAft>
                    <a:spcPct val="0"/>
                  </a:spcAft>
                  <a:buFontTx/>
                  <a:buChar char="•"/>
                </a:pPr>
                <a:r>
                  <a:rPr lang="en-US" altLang="en-US" dirty="0">
                    <a:latin typeface="Cambria" panose="02040503050406030204" pitchFamily="18" charset="0"/>
                    <a:ea typeface="Cambria" panose="02040503050406030204" pitchFamily="18" charset="0"/>
                  </a:rPr>
                  <a:t>Let </a:t>
                </a:r>
                <a14:m>
                  <m:oMath xmlns:m="http://schemas.openxmlformats.org/officeDocument/2006/math">
                    <m:r>
                      <a:rPr lang="en-US" altLang="en-US" i="1" dirty="0">
                        <a:solidFill>
                          <a:srgbClr val="0000FF"/>
                        </a:solidFill>
                        <a:latin typeface="Cambria Math" panose="02040503050406030204" pitchFamily="18" charset="0"/>
                      </a:rPr>
                      <m:t>𝑋</m:t>
                    </m:r>
                  </m:oMath>
                </a14:m>
                <a:r>
                  <a:rPr lang="en-US" altLang="en-US" dirty="0">
                    <a:latin typeface="Cambria" panose="02040503050406030204" pitchFamily="18" charset="0"/>
                    <a:ea typeface="Cambria" panose="02040503050406030204" pitchFamily="18" charset="0"/>
                  </a:rPr>
                  <a:t> be the number of isolated nodes in the graph. Then</a:t>
                </a:r>
              </a:p>
              <a:p>
                <a:pPr eaLnBrk="0" fontAlgn="base" hangingPunct="0">
                  <a:spcBef>
                    <a:spcPct val="0"/>
                  </a:spcBef>
                  <a:spcAft>
                    <a:spcPct val="0"/>
                  </a:spcAft>
                  <a:buFontTx/>
                  <a:buChar char="•"/>
                </a:pPr>
                <a:endParaRPr lang="en-US" altLang="en-US" dirty="0">
                  <a:latin typeface="Cambria" panose="02040503050406030204" pitchFamily="18" charset="0"/>
                  <a:ea typeface="Cambria" panose="02040503050406030204" pitchFamily="18" charset="0"/>
                </a:endParaRPr>
              </a:p>
              <a:p>
                <a:pPr eaLnBrk="0" fontAlgn="base" hangingPunct="0">
                  <a:spcBef>
                    <a:spcPct val="0"/>
                  </a:spcBef>
                  <a:spcAft>
                    <a:spcPct val="0"/>
                  </a:spcAft>
                </a:pPr>
                <a:r>
                  <a:rPr lang="en-US" altLang="en-US" dirty="0">
                    <a:latin typeface="Cambria" panose="02040503050406030204" pitchFamily="18" charset="0"/>
                    <a:ea typeface="Cambria" panose="02040503050406030204" pitchFamily="18" charset="0"/>
                  </a:rPr>
                  <a:t>               </a:t>
                </a:r>
                <a14:m>
                  <m:oMath xmlns:m="http://schemas.openxmlformats.org/officeDocument/2006/math">
                    <m:r>
                      <a:rPr lang="en-US" altLang="en-US" dirty="0">
                        <a:solidFill>
                          <a:srgbClr val="0000FF"/>
                        </a:solidFill>
                        <a:latin typeface="Cambria Math" panose="02040503050406030204" pitchFamily="18" charset="0"/>
                      </a:rPr>
                      <m:t> </m:t>
                    </m:r>
                    <m:r>
                      <a:rPr lang="en-US" altLang="en-US" i="1" dirty="0">
                        <a:solidFill>
                          <a:srgbClr val="0000FF"/>
                        </a:solidFill>
                        <a:latin typeface="Cambria Math" panose="02040503050406030204" pitchFamily="18" charset="0"/>
                      </a:rPr>
                      <m:t>𝑋</m:t>
                    </m:r>
                    <m:r>
                      <a:rPr lang="en-US" altLang="en-US" i="1" dirty="0">
                        <a:solidFill>
                          <a:srgbClr val="0000FF"/>
                        </a:solidFill>
                        <a:latin typeface="Cambria Math" panose="02040503050406030204" pitchFamily="18" charset="0"/>
                      </a:rPr>
                      <m:t>∼</m:t>
                    </m:r>
                    <m:r>
                      <a:rPr lang="en-US" altLang="en-US" i="1" dirty="0">
                        <a:solidFill>
                          <a:srgbClr val="0000FF"/>
                        </a:solidFill>
                        <a:latin typeface="Cambria Math" panose="02040503050406030204" pitchFamily="18" charset="0"/>
                      </a:rPr>
                      <m:t>𝐵𝑖𝑛𝑜𝑚𝑖𝑎𝑙</m:t>
                    </m:r>
                    <m:d>
                      <m:dPr>
                        <m:ctrlPr>
                          <a:rPr lang="en-US" altLang="en-US" i="1" dirty="0">
                            <a:solidFill>
                              <a:srgbClr val="0000FF"/>
                            </a:solidFill>
                            <a:latin typeface="Cambria Math" panose="02040503050406030204" pitchFamily="18" charset="0"/>
                          </a:rPr>
                        </m:ctrlPr>
                      </m:dPr>
                      <m:e>
                        <m:r>
                          <a:rPr lang="en-US" altLang="en-US" i="1" dirty="0">
                            <a:solidFill>
                              <a:srgbClr val="0000FF"/>
                            </a:solidFill>
                            <a:latin typeface="Cambria Math" panose="02040503050406030204" pitchFamily="18" charset="0"/>
                          </a:rPr>
                          <m:t>𝑛</m:t>
                        </m:r>
                        <m:r>
                          <a:rPr lang="en-US" altLang="en-US" i="1" dirty="0">
                            <a:solidFill>
                              <a:srgbClr val="0000FF"/>
                            </a:solidFill>
                            <a:latin typeface="Cambria Math" panose="02040503050406030204" pitchFamily="18" charset="0"/>
                          </a:rPr>
                          <m:t>−1,</m:t>
                        </m:r>
                        <m:r>
                          <a:rPr lang="en-US" altLang="en-US" i="1" dirty="0">
                            <a:solidFill>
                              <a:srgbClr val="0000FF"/>
                            </a:solidFill>
                            <a:latin typeface="Cambria Math" panose="02040503050406030204" pitchFamily="18" charset="0"/>
                          </a:rPr>
                          <m:t>𝑞</m:t>
                        </m:r>
                      </m:e>
                    </m:d>
                    <m:r>
                      <a:rPr lang="en-US" altLang="en-US" i="1" dirty="0">
                        <a:solidFill>
                          <a:srgbClr val="0000FF"/>
                        </a:solidFill>
                        <a:latin typeface="Cambria Math" panose="02040503050406030204" pitchFamily="18" charset="0"/>
                      </a:rPr>
                      <m:t>,</m:t>
                    </m:r>
                  </m:oMath>
                </a14:m>
                <a:r>
                  <a:rPr lang="en-US" altLang="en-US" dirty="0">
                    <a:solidFill>
                      <a:srgbClr val="0000FF"/>
                    </a:solidFill>
                    <a:latin typeface="Cambria" panose="02040503050406030204" pitchFamily="18" charset="0"/>
                    <a:ea typeface="Cambria" panose="02040503050406030204" pitchFamily="18" charset="0"/>
                  </a:rPr>
                  <a:t> where </a:t>
                </a:r>
                <a14:m>
                  <m:oMath xmlns:m="http://schemas.openxmlformats.org/officeDocument/2006/math">
                    <m:sSup>
                      <m:sSupPr>
                        <m:ctrlPr>
                          <a:rPr lang="en-US" i="1" dirty="0">
                            <a:solidFill>
                              <a:srgbClr val="0000FF"/>
                            </a:solidFill>
                            <a:latin typeface="Cambria Math" panose="02040503050406030204" pitchFamily="18" charset="0"/>
                          </a:rPr>
                        </m:ctrlPr>
                      </m:sSupPr>
                      <m:e>
                        <m:r>
                          <a:rPr lang="en-US" i="1" dirty="0">
                            <a:solidFill>
                              <a:srgbClr val="0000FF"/>
                            </a:solidFill>
                            <a:latin typeface="Cambria Math" panose="02040503050406030204" pitchFamily="18" charset="0"/>
                          </a:rPr>
                          <m:t>𝑞</m:t>
                        </m:r>
                        <m:r>
                          <a:rPr lang="en-US" i="1" dirty="0">
                            <a:solidFill>
                              <a:srgbClr val="0000FF"/>
                            </a:solidFill>
                            <a:latin typeface="Cambria Math" panose="02040503050406030204" pitchFamily="18" charset="0"/>
                          </a:rPr>
                          <m:t>=</m:t>
                        </m:r>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oMath>
                </a14:m>
                <a:endParaRPr lang="en-US" altLang="en-US" dirty="0">
                  <a:solidFill>
                    <a:srgbClr val="0000FF"/>
                  </a:solidFill>
                  <a:latin typeface="Cambria" panose="02040503050406030204" pitchFamily="18" charset="0"/>
                  <a:ea typeface="Cambria" panose="02040503050406030204" pitchFamily="18" charset="0"/>
                </a:endParaRPr>
              </a:p>
            </p:txBody>
          </p:sp>
        </mc:Choice>
        <mc:Fallback xmlns="">
          <p:sp>
            <p:nvSpPr>
              <p:cNvPr id="2" name="Rectangle 1">
                <a:extLst>
                  <a:ext uri="{FF2B5EF4-FFF2-40B4-BE49-F238E27FC236}">
                    <a16:creationId xmlns:a16="http://schemas.microsoft.com/office/drawing/2014/main" id="{8A531EF9-796A-AF8B-317B-520C28863565}"/>
                  </a:ext>
                </a:extLst>
              </p:cNvPr>
              <p:cNvSpPr>
                <a:spLocks noRot="1" noChangeAspect="1" noMove="1" noResize="1" noEditPoints="1" noAdjustHandles="1" noChangeArrowheads="1" noChangeShapeType="1" noTextEdit="1"/>
              </p:cNvSpPr>
              <p:nvPr/>
            </p:nvSpPr>
            <p:spPr bwMode="auto">
              <a:xfrm>
                <a:off x="1981200" y="1551615"/>
                <a:ext cx="8686800" cy="2308324"/>
              </a:xfrm>
              <a:prstGeom prst="rect">
                <a:avLst/>
              </a:prstGeom>
              <a:blipFill>
                <a:blip r:embed="rId3"/>
                <a:stretch>
                  <a:fillRect l="-561" t="-1323" b="-343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CF5D0EE-61A0-85C6-7DEB-0D6C6E3E45D9}"/>
                  </a:ext>
                </a:extLst>
              </p:cNvPr>
              <p:cNvSpPr txBox="1"/>
              <p:nvPr/>
            </p:nvSpPr>
            <p:spPr>
              <a:xfrm>
                <a:off x="3189388" y="4531266"/>
                <a:ext cx="4942315" cy="369332"/>
              </a:xfrm>
              <a:prstGeom prst="rect">
                <a:avLst/>
              </a:prstGeom>
              <a:noFill/>
            </p:spPr>
            <p:txBody>
              <a:bodyPr wrap="none" rtlCol="0">
                <a:spAutoFit/>
              </a:bodyPr>
              <a:lstStyle/>
              <a:p>
                <a:r>
                  <a:rPr lang="en-US" dirty="0">
                    <a:latin typeface="Cambria" panose="02040503050406030204" pitchFamily="18" charset="0"/>
                    <a:ea typeface="Cambria" panose="02040503050406030204" pitchFamily="18" charset="0"/>
                  </a:rPr>
                  <a:t>Thus, </a:t>
                </a:r>
                <a14:m>
                  <m:oMath xmlns:m="http://schemas.openxmlformats.org/officeDocument/2006/math">
                    <m:r>
                      <a:rPr lang="en-US" i="1">
                        <a:solidFill>
                          <a:srgbClr val="0000FF"/>
                        </a:solidFill>
                        <a:latin typeface="Cambria Math" panose="02040503050406030204" pitchFamily="18" charset="0"/>
                      </a:rPr>
                      <m:t>𝐸</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𝑋</m:t>
                        </m:r>
                      </m:e>
                    </m:d>
                    <m:r>
                      <a:rPr lang="en-US" i="1">
                        <a:solidFill>
                          <a:srgbClr val="0000FF"/>
                        </a:solidFill>
                        <a:latin typeface="Cambria Math" panose="02040503050406030204" pitchFamily="18" charset="0"/>
                      </a:rPr>
                      <m:t>=</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−1</m:t>
                        </m:r>
                      </m:e>
                    </m:d>
                    <m:r>
                      <a:rPr lang="en-US" i="1">
                        <a:solidFill>
                          <a:srgbClr val="0000FF"/>
                        </a:solidFill>
                        <a:latin typeface="Cambria Math" panose="02040503050406030204" pitchFamily="18" charset="0"/>
                      </a:rPr>
                      <m:t>𝑞</m:t>
                    </m:r>
                    <m:r>
                      <a:rPr lang="en-US" i="1">
                        <a:solidFill>
                          <a:srgbClr val="0000FF"/>
                        </a:solidFill>
                        <a:latin typeface="Cambria Math" panose="02040503050406030204" pitchFamily="18" charset="0"/>
                      </a:rPr>
                      <m:t> </m:t>
                    </m:r>
                  </m:oMath>
                </a14:m>
                <a:r>
                  <a:rPr lang="en-IN" dirty="0">
                    <a:solidFill>
                      <a:srgbClr val="0000FF"/>
                    </a:solidFill>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and </a:t>
                </a:r>
                <a14:m>
                  <m:oMath xmlns:m="http://schemas.openxmlformats.org/officeDocument/2006/math">
                    <m:r>
                      <a:rPr lang="en-US" i="1">
                        <a:solidFill>
                          <a:srgbClr val="0000FF"/>
                        </a:solidFill>
                        <a:latin typeface="Cambria Math" panose="02040503050406030204" pitchFamily="18" charset="0"/>
                      </a:rPr>
                      <m:t>𝑉𝑎𝑟</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𝑋</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𝑛𝑞</m:t>
                    </m:r>
                    <m:r>
                      <a:rPr lang="en-US" i="1">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𝑞</m:t>
                    </m:r>
                    <m:r>
                      <a:rPr lang="en-US" i="1">
                        <a:solidFill>
                          <a:srgbClr val="0000FF"/>
                        </a:solidFill>
                        <a:latin typeface="Cambria Math" panose="02040503050406030204" pitchFamily="18" charset="0"/>
                      </a:rPr>
                      <m:t>)</m:t>
                    </m:r>
                  </m:oMath>
                </a14:m>
                <a:endParaRPr lang="en-IN"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1CF5D0EE-61A0-85C6-7DEB-0D6C6E3E45D9}"/>
                  </a:ext>
                </a:extLst>
              </p:cNvPr>
              <p:cNvSpPr txBox="1">
                <a:spLocks noRot="1" noChangeAspect="1" noMove="1" noResize="1" noEditPoints="1" noAdjustHandles="1" noChangeArrowheads="1" noChangeShapeType="1" noTextEdit="1"/>
              </p:cNvSpPr>
              <p:nvPr/>
            </p:nvSpPr>
            <p:spPr>
              <a:xfrm>
                <a:off x="3189388" y="4531266"/>
                <a:ext cx="4942315" cy="369332"/>
              </a:xfrm>
              <a:prstGeom prst="rect">
                <a:avLst/>
              </a:prstGeom>
              <a:blipFill>
                <a:blip r:embed="rId4"/>
                <a:stretch>
                  <a:fillRect l="-986" t="-9836" r="-370" b="-22951"/>
                </a:stretch>
              </a:blipFill>
            </p:spPr>
            <p:txBody>
              <a:bodyPr/>
              <a:lstStyle/>
              <a:p>
                <a:r>
                  <a:rPr lang="en-IN">
                    <a:noFill/>
                  </a:rPr>
                  <a:t> </a:t>
                </a:r>
              </a:p>
            </p:txBody>
          </p:sp>
        </mc:Fallback>
      </mc:AlternateContent>
    </p:spTree>
    <p:extLst>
      <p:ext uri="{BB962C8B-B14F-4D97-AF65-F5344CB8AC3E}">
        <p14:creationId xmlns:p14="http://schemas.microsoft.com/office/powerpoint/2010/main" val="1456114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9299D-F585-C58B-9571-E4403281046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61941BC-53B2-7229-B068-A224D4B0AFFA}"/>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EAAA350E-4DD8-F5D3-0149-3FC432428129}"/>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1551801B-6169-3822-E3AA-D962C58757FA}"/>
              </a:ext>
            </a:extLst>
          </p:cNvPr>
          <p:cNvSpPr>
            <a:spLocks noGrp="1"/>
          </p:cNvSpPr>
          <p:nvPr>
            <p:ph type="sldNum" sz="quarter" idx="12"/>
          </p:nvPr>
        </p:nvSpPr>
        <p:spPr/>
        <p:txBody>
          <a:bodyPr/>
          <a:lstStyle/>
          <a:p>
            <a:fld id="{40FF48A1-BBC9-46E7-A4CC-5BFD9B1F42DF}" type="slidenum">
              <a:rPr lang="en-IN" smtClean="0"/>
              <a:pPr/>
              <a:t>51</a:t>
            </a:fld>
            <a:endParaRPr lang="en-IN"/>
          </a:p>
        </p:txBody>
      </p:sp>
      <p:sp>
        <p:nvSpPr>
          <p:cNvPr id="16" name="Title 1">
            <a:extLst>
              <a:ext uri="{FF2B5EF4-FFF2-40B4-BE49-F238E27FC236}">
                <a16:creationId xmlns:a16="http://schemas.microsoft.com/office/drawing/2014/main" id="{C3223DB1-3C98-9206-6822-11C4BC3B957F}"/>
              </a:ext>
            </a:extLst>
          </p:cNvPr>
          <p:cNvSpPr txBox="1">
            <a:spLocks/>
          </p:cNvSpPr>
          <p:nvPr/>
        </p:nvSpPr>
        <p:spPr>
          <a:xfrm>
            <a:off x="2999656" y="126243"/>
            <a:ext cx="6000792" cy="642942"/>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fontScale="70000" lnSpcReduction="20000"/>
          </a:bodyPr>
          <a:lstStyle/>
          <a:p>
            <a:pPr algn="ctr"/>
            <a:r>
              <a:rPr lang="en-IN" sz="3200" dirty="0">
                <a:solidFill>
                  <a:srgbClr val="FF0000"/>
                </a:solidFill>
                <a:latin typeface="Cambria" panose="02040503050406030204" pitchFamily="18" charset="0"/>
                <a:ea typeface="Cambria" panose="02040503050406030204" pitchFamily="18" charset="0"/>
              </a:rPr>
              <a:t>    </a:t>
            </a:r>
            <a:r>
              <a:rPr lang="en-IN" sz="3200" b="1" dirty="0">
                <a:solidFill>
                  <a:srgbClr val="FF0000"/>
                </a:solidFill>
                <a:latin typeface="Cambria" panose="02040503050406030204" pitchFamily="18" charset="0"/>
                <a:ea typeface="Cambria" panose="02040503050406030204" pitchFamily="18" charset="0"/>
              </a:rPr>
              <a:t>Properties of  Random Network (ER): Isolated nodes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AB98143-2B6E-999A-12F0-BF9D91FC23FB}"/>
                  </a:ext>
                </a:extLst>
              </p:cNvPr>
              <p:cNvSpPr txBox="1"/>
              <p:nvPr/>
            </p:nvSpPr>
            <p:spPr>
              <a:xfrm>
                <a:off x="3863752" y="1052736"/>
                <a:ext cx="4572000" cy="369332"/>
              </a:xfrm>
              <a:prstGeom prst="rect">
                <a:avLst/>
              </a:prstGeom>
              <a:noFill/>
            </p:spPr>
            <p:txBody>
              <a:bodyPr wrap="square">
                <a:spAutoFit/>
              </a:bodyPr>
              <a:lstStyle/>
              <a:p>
                <a:pPr/>
                <a14:m>
                  <m:oMathPara xmlns:m="http://schemas.openxmlformats.org/officeDocument/2006/math">
                    <m:oMath>
                      <m:r>
                        <m:rPr>
                          <m:sty m:val="p"/>
                        </m:rPr>
                        <a:rPr lang="en-US" i="1" dirty="0">
                          <a:solidFill>
                            <a:srgbClr val="0000FF"/>
                          </a:solidFill>
                          <a:latin typeface="Cambria Math" panose="02040503050406030204" pitchFamily="18" charset="0"/>
                        </a:rPr>
                        <m:t>Pr</m:t>
                      </m:r>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𝑣</m:t>
                      </m:r>
                      <m:r>
                        <a:rPr lang="en-US" i="1"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m:t>
                      </m:r>
                      <m:r>
                        <a:rPr lang="en-US"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isolated</m:t>
                      </m:r>
                      <m:r>
                        <a:rPr lang="en-US" i="1" dirty="0">
                          <a:solidFill>
                            <a:srgbClr val="0000FF"/>
                          </a:solidFill>
                          <a:latin typeface="Cambria Math" panose="02040503050406030204" pitchFamily="18" charset="0"/>
                        </a:rPr>
                        <m:t>)=</m:t>
                      </m:r>
                      <m:sSup>
                        <m:sSupPr>
                          <m:ctrlPr>
                            <a:rPr lang="en-US" i="1" dirty="0">
                              <a:solidFill>
                                <a:srgbClr val="0000FF"/>
                              </a:solidFill>
                              <a:latin typeface="Cambria Math" panose="02040503050406030204" pitchFamily="18" charset="0"/>
                            </a:rPr>
                          </m:ctrlPr>
                        </m:sSupPr>
                        <m:e>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r>
                        <a:rPr lang="en-US" i="1" dirty="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2" name="TextBox 11">
                <a:extLst>
                  <a:ext uri="{FF2B5EF4-FFF2-40B4-BE49-F238E27FC236}">
                    <a16:creationId xmlns:a16="http://schemas.microsoft.com/office/drawing/2014/main" id="{FAB98143-2B6E-999A-12F0-BF9D91FC23FB}"/>
                  </a:ext>
                </a:extLst>
              </p:cNvPr>
              <p:cNvSpPr txBox="1">
                <a:spLocks noRot="1" noChangeAspect="1" noMove="1" noResize="1" noEditPoints="1" noAdjustHandles="1" noChangeArrowheads="1" noChangeShapeType="1" noTextEdit="1"/>
              </p:cNvSpPr>
              <p:nvPr/>
            </p:nvSpPr>
            <p:spPr>
              <a:xfrm>
                <a:off x="3863752" y="1052736"/>
                <a:ext cx="4572000" cy="369332"/>
              </a:xfrm>
              <a:prstGeom prst="rect">
                <a:avLst/>
              </a:prstGeom>
              <a:blipFill>
                <a:blip r:embed="rId2"/>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2762F26-F707-26DA-434D-FD846A05026D}"/>
                  </a:ext>
                </a:extLst>
              </p:cNvPr>
              <p:cNvSpPr>
                <a:spLocks noChangeArrowheads="1"/>
              </p:cNvSpPr>
              <p:nvPr/>
            </p:nvSpPr>
            <p:spPr bwMode="auto">
              <a:xfrm>
                <a:off x="1981200" y="2244111"/>
                <a:ext cx="8686800" cy="923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altLang="en-US" dirty="0">
                    <a:latin typeface="Cambria" panose="02040503050406030204" pitchFamily="18" charset="0"/>
                    <a:ea typeface="Cambria" panose="02040503050406030204" pitchFamily="18" charset="0"/>
                  </a:rPr>
                  <a:t>The degree of </a:t>
                </a:r>
                <a14:m>
                  <m:oMath xmlns:m="http://schemas.openxmlformats.org/officeDocument/2006/math">
                    <m:r>
                      <a:rPr lang="en-US" altLang="en-US" i="1" dirty="0">
                        <a:latin typeface="Cambria Math" panose="02040503050406030204" pitchFamily="18" charset="0"/>
                      </a:rPr>
                      <m:t>𝑣</m:t>
                    </m:r>
                  </m:oMath>
                </a14:m>
                <a:r>
                  <a:rPr lang="en-US" altLang="en-US" dirty="0">
                    <a:latin typeface="Cambria" panose="02040503050406030204" pitchFamily="18" charset="0"/>
                    <a:ea typeface="Cambria" panose="02040503050406030204" pitchFamily="18" charset="0"/>
                  </a:rPr>
                  <a:t> is </a:t>
                </a:r>
                <a14:m>
                  <m:oMath xmlns:m="http://schemas.openxmlformats.org/officeDocument/2006/math">
                    <m:r>
                      <a:rPr lang="en-US" altLang="en-US" i="1" dirty="0">
                        <a:solidFill>
                          <a:srgbClr val="0000FF"/>
                        </a:solidFill>
                        <a:latin typeface="Cambria Math" panose="02040503050406030204" pitchFamily="18" charset="0"/>
                      </a:rPr>
                      <m:t>𝐵𝑖𝑛𝑜𝑚𝑖𝑎𝑙</m:t>
                    </m:r>
                    <m:r>
                      <a:rPr lang="en-US" altLang="en-US" i="1" dirty="0">
                        <a:solidFill>
                          <a:srgbClr val="0000FF"/>
                        </a:solidFill>
                        <a:latin typeface="Cambria Math" panose="02040503050406030204" pitchFamily="18" charset="0"/>
                      </a:rPr>
                      <m:t>(</m:t>
                    </m:r>
                    <m:r>
                      <a:rPr lang="en-US" altLang="en-US" i="1" dirty="0">
                        <a:solidFill>
                          <a:srgbClr val="0000FF"/>
                        </a:solidFill>
                        <a:latin typeface="Cambria Math" panose="02040503050406030204" pitchFamily="18" charset="0"/>
                      </a:rPr>
                      <m:t>𝑛</m:t>
                    </m:r>
                    <m:r>
                      <a:rPr lang="en-US" altLang="en-US" i="1" dirty="0">
                        <a:solidFill>
                          <a:srgbClr val="0000FF"/>
                        </a:solidFill>
                        <a:latin typeface="Cambria Math" panose="02040503050406030204" pitchFamily="18" charset="0"/>
                      </a:rPr>
                      <m:t>−1,</m:t>
                    </m:r>
                    <m:r>
                      <a:rPr lang="en-US" altLang="en-US" i="1" dirty="0">
                        <a:solidFill>
                          <a:srgbClr val="0000FF"/>
                        </a:solidFill>
                        <a:latin typeface="Cambria Math" panose="02040503050406030204" pitchFamily="18" charset="0"/>
                      </a:rPr>
                      <m:t>𝑝</m:t>
                    </m:r>
                    <m:r>
                      <a:rPr lang="en-US" altLang="en-US" i="1" dirty="0">
                        <a:solidFill>
                          <a:srgbClr val="0000FF"/>
                        </a:solidFill>
                        <a:latin typeface="Cambria Math" panose="02040503050406030204" pitchFamily="18" charset="0"/>
                      </a:rPr>
                      <m:t>). </m:t>
                    </m:r>
                  </m:oMath>
                </a14:m>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endParaRPr lang="en-US" altLang="en-US" dirty="0">
                  <a:latin typeface="Cambria" panose="02040503050406030204" pitchFamily="18" charset="0"/>
                  <a:ea typeface="Cambria" panose="02040503050406030204" pitchFamily="18" charset="0"/>
                </a:endParaRPr>
              </a:p>
              <a:p>
                <a:pPr eaLnBrk="0" fontAlgn="base" hangingPunct="0">
                  <a:spcBef>
                    <a:spcPct val="0"/>
                  </a:spcBef>
                  <a:spcAft>
                    <a:spcPct val="0"/>
                  </a:spcAft>
                </a:pPr>
                <a:r>
                  <a:rPr lang="en-US" altLang="en-US" dirty="0">
                    <a:latin typeface="Cambria" panose="02040503050406030204" pitchFamily="18" charset="0"/>
                    <a:ea typeface="Cambria" panose="02040503050406030204" pitchFamily="18" charset="0"/>
                  </a:rPr>
                  <a:t>    And  </a:t>
                </a:r>
                <a14:m>
                  <m:oMath xmlns:m="http://schemas.openxmlformats.org/officeDocument/2006/math">
                    <m:r>
                      <a:rPr lang="en-US" altLang="en-US" dirty="0">
                        <a:solidFill>
                          <a:srgbClr val="0000FF"/>
                        </a:solidFill>
                        <a:latin typeface="Cambria Math" panose="02040503050406030204" pitchFamily="18" charset="0"/>
                      </a:rPr>
                      <m:t> </m:t>
                    </m:r>
                    <m:r>
                      <a:rPr lang="en-US" altLang="en-US" i="1" dirty="0">
                        <a:solidFill>
                          <a:srgbClr val="0000FF"/>
                        </a:solidFill>
                        <a:latin typeface="Cambria Math" panose="02040503050406030204" pitchFamily="18" charset="0"/>
                      </a:rPr>
                      <m:t>𝑋</m:t>
                    </m:r>
                    <m:r>
                      <a:rPr lang="en-US" altLang="en-US" i="1" dirty="0">
                        <a:solidFill>
                          <a:srgbClr val="0000FF"/>
                        </a:solidFill>
                        <a:latin typeface="Cambria Math" panose="02040503050406030204" pitchFamily="18" charset="0"/>
                      </a:rPr>
                      <m:t>∼</m:t>
                    </m:r>
                    <m:r>
                      <a:rPr lang="en-US" altLang="en-US" i="1" dirty="0">
                        <a:solidFill>
                          <a:srgbClr val="0000FF"/>
                        </a:solidFill>
                        <a:latin typeface="Cambria Math" panose="02040503050406030204" pitchFamily="18" charset="0"/>
                      </a:rPr>
                      <m:t>𝐵𝑖𝑛𝑜𝑚𝑖𝑎𝑙</m:t>
                    </m:r>
                    <m:d>
                      <m:dPr>
                        <m:ctrlPr>
                          <a:rPr lang="en-US" altLang="en-US" i="1" dirty="0">
                            <a:solidFill>
                              <a:srgbClr val="0000FF"/>
                            </a:solidFill>
                            <a:latin typeface="Cambria Math" panose="02040503050406030204" pitchFamily="18" charset="0"/>
                          </a:rPr>
                        </m:ctrlPr>
                      </m:dPr>
                      <m:e>
                        <m:r>
                          <a:rPr lang="en-US" altLang="en-US" i="1" dirty="0">
                            <a:solidFill>
                              <a:srgbClr val="0000FF"/>
                            </a:solidFill>
                            <a:latin typeface="Cambria Math" panose="02040503050406030204" pitchFamily="18" charset="0"/>
                          </a:rPr>
                          <m:t>𝑛</m:t>
                        </m:r>
                        <m:r>
                          <a:rPr lang="en-US" altLang="en-US" i="1" dirty="0">
                            <a:solidFill>
                              <a:srgbClr val="0000FF"/>
                            </a:solidFill>
                            <a:latin typeface="Cambria Math" panose="02040503050406030204" pitchFamily="18" charset="0"/>
                          </a:rPr>
                          <m:t>−1,</m:t>
                        </m:r>
                        <m:r>
                          <a:rPr lang="en-US" altLang="en-US" i="1" dirty="0">
                            <a:solidFill>
                              <a:srgbClr val="0000FF"/>
                            </a:solidFill>
                            <a:latin typeface="Cambria Math" panose="02040503050406030204" pitchFamily="18" charset="0"/>
                          </a:rPr>
                          <m:t>𝑞</m:t>
                        </m:r>
                      </m:e>
                    </m:d>
                    <m:r>
                      <a:rPr lang="en-US" altLang="en-US" i="1" dirty="0">
                        <a:solidFill>
                          <a:srgbClr val="0000FF"/>
                        </a:solidFill>
                        <a:latin typeface="Cambria Math" panose="02040503050406030204" pitchFamily="18" charset="0"/>
                      </a:rPr>
                      <m:t>,</m:t>
                    </m:r>
                  </m:oMath>
                </a14:m>
                <a:r>
                  <a:rPr lang="en-US" altLang="en-US" dirty="0">
                    <a:solidFill>
                      <a:srgbClr val="0000FF"/>
                    </a:solidFill>
                    <a:latin typeface="Cambria" panose="02040503050406030204" pitchFamily="18" charset="0"/>
                    <a:ea typeface="Cambria" panose="02040503050406030204" pitchFamily="18" charset="0"/>
                  </a:rPr>
                  <a:t> where </a:t>
                </a:r>
                <a14:m>
                  <m:oMath xmlns:m="http://schemas.openxmlformats.org/officeDocument/2006/math">
                    <m:sSup>
                      <m:sSupPr>
                        <m:ctrlPr>
                          <a:rPr lang="en-US" i="1" dirty="0">
                            <a:solidFill>
                              <a:srgbClr val="0000FF"/>
                            </a:solidFill>
                            <a:latin typeface="Cambria Math" panose="02040503050406030204" pitchFamily="18" charset="0"/>
                          </a:rPr>
                        </m:ctrlPr>
                      </m:sSupPr>
                      <m:e>
                        <m:r>
                          <a:rPr lang="en-US" i="1" dirty="0">
                            <a:solidFill>
                              <a:srgbClr val="0000FF"/>
                            </a:solidFill>
                            <a:latin typeface="Cambria Math" panose="02040503050406030204" pitchFamily="18" charset="0"/>
                          </a:rPr>
                          <m:t>𝑞</m:t>
                        </m:r>
                        <m:r>
                          <a:rPr lang="en-US" i="1" dirty="0">
                            <a:solidFill>
                              <a:srgbClr val="0000FF"/>
                            </a:solidFill>
                            <a:latin typeface="Cambria Math" panose="02040503050406030204" pitchFamily="18" charset="0"/>
                          </a:rPr>
                          <m:t>=</m:t>
                        </m:r>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oMath>
                </a14:m>
                <a:endParaRPr lang="en-US" altLang="en-US" dirty="0">
                  <a:solidFill>
                    <a:srgbClr val="0000FF"/>
                  </a:solidFill>
                  <a:latin typeface="Cambria" panose="02040503050406030204" pitchFamily="18" charset="0"/>
                  <a:ea typeface="Cambria" panose="02040503050406030204" pitchFamily="18" charset="0"/>
                </a:endParaRPr>
              </a:p>
            </p:txBody>
          </p:sp>
        </mc:Choice>
        <mc:Fallback xmlns="">
          <p:sp>
            <p:nvSpPr>
              <p:cNvPr id="2" name="Rectangle 1">
                <a:extLst>
                  <a:ext uri="{FF2B5EF4-FFF2-40B4-BE49-F238E27FC236}">
                    <a16:creationId xmlns:a16="http://schemas.microsoft.com/office/drawing/2014/main" id="{12762F26-F707-26DA-434D-FD846A05026D}"/>
                  </a:ext>
                </a:extLst>
              </p:cNvPr>
              <p:cNvSpPr>
                <a:spLocks noRot="1" noChangeAspect="1" noMove="1" noResize="1" noEditPoints="1" noAdjustHandles="1" noChangeArrowheads="1" noChangeShapeType="1" noTextEdit="1"/>
              </p:cNvSpPr>
              <p:nvPr/>
            </p:nvSpPr>
            <p:spPr bwMode="auto">
              <a:xfrm>
                <a:off x="1981200" y="2244111"/>
                <a:ext cx="8686800" cy="923330"/>
              </a:xfrm>
              <a:prstGeom prst="rect">
                <a:avLst/>
              </a:prstGeom>
              <a:blipFill>
                <a:blip r:embed="rId3"/>
                <a:stretch>
                  <a:fillRect l="-491" t="-3947" b="-921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25A00CC-92E7-C073-EC5C-316D53BD7CA5}"/>
                  </a:ext>
                </a:extLst>
              </p:cNvPr>
              <p:cNvSpPr txBox="1"/>
              <p:nvPr/>
            </p:nvSpPr>
            <p:spPr>
              <a:xfrm>
                <a:off x="2351585" y="3324636"/>
                <a:ext cx="5022465" cy="369332"/>
              </a:xfrm>
              <a:prstGeom prst="rect">
                <a:avLst/>
              </a:prstGeom>
              <a:noFill/>
            </p:spPr>
            <p:txBody>
              <a:bodyPr wrap="none" rtlCol="0">
                <a:spAutoFit/>
              </a:bodyPr>
              <a:lstStyle/>
              <a:p>
                <a:r>
                  <a:rPr lang="en-US" dirty="0">
                    <a:latin typeface="Cambria" panose="02040503050406030204" pitchFamily="18" charset="0"/>
                    <a:ea typeface="Cambria" panose="02040503050406030204" pitchFamily="18" charset="0"/>
                  </a:rPr>
                  <a:t>Thus, </a:t>
                </a:r>
                <a14:m>
                  <m:oMath xmlns:m="http://schemas.openxmlformats.org/officeDocument/2006/math">
                    <m:r>
                      <a:rPr lang="en-US" b="1" i="1">
                        <a:solidFill>
                          <a:srgbClr val="0000FF"/>
                        </a:solidFill>
                        <a:latin typeface="Cambria Math" panose="02040503050406030204" pitchFamily="18" charset="0"/>
                      </a:rPr>
                      <m:t>𝑬</m:t>
                    </m:r>
                    <m:d>
                      <m:dPr>
                        <m:ctrlPr>
                          <a:rPr lang="en-US" b="1" i="1">
                            <a:solidFill>
                              <a:srgbClr val="0000FF"/>
                            </a:solidFill>
                            <a:latin typeface="Cambria Math" panose="02040503050406030204" pitchFamily="18" charset="0"/>
                          </a:rPr>
                        </m:ctrlPr>
                      </m:dPr>
                      <m:e>
                        <m:r>
                          <a:rPr lang="en-US" b="1" i="1">
                            <a:solidFill>
                              <a:srgbClr val="0000FF"/>
                            </a:solidFill>
                            <a:latin typeface="Cambria Math" panose="02040503050406030204" pitchFamily="18" charset="0"/>
                          </a:rPr>
                          <m:t>𝑿</m:t>
                        </m:r>
                      </m:e>
                    </m:d>
                    <m:r>
                      <a:rPr lang="en-US" b="1" i="1">
                        <a:solidFill>
                          <a:srgbClr val="0000FF"/>
                        </a:solidFill>
                        <a:latin typeface="Cambria Math" panose="02040503050406030204" pitchFamily="18" charset="0"/>
                      </a:rPr>
                      <m:t>=</m:t>
                    </m:r>
                    <m:d>
                      <m:dPr>
                        <m:ctrlPr>
                          <a:rPr lang="en-US" b="1" i="1">
                            <a:solidFill>
                              <a:srgbClr val="0000FF"/>
                            </a:solidFill>
                            <a:latin typeface="Cambria Math" panose="02040503050406030204" pitchFamily="18" charset="0"/>
                          </a:rPr>
                        </m:ctrlPr>
                      </m:dPr>
                      <m:e>
                        <m:r>
                          <a:rPr lang="en-US" b="1" i="1">
                            <a:solidFill>
                              <a:srgbClr val="0000FF"/>
                            </a:solidFill>
                            <a:latin typeface="Cambria Math" panose="02040503050406030204" pitchFamily="18" charset="0"/>
                          </a:rPr>
                          <m:t>𝒏</m:t>
                        </m:r>
                        <m:r>
                          <a:rPr lang="en-US" b="1" i="1">
                            <a:solidFill>
                              <a:srgbClr val="0000FF"/>
                            </a:solidFill>
                            <a:latin typeface="Cambria Math" panose="02040503050406030204" pitchFamily="18" charset="0"/>
                          </a:rPr>
                          <m:t>−</m:t>
                        </m:r>
                        <m:r>
                          <a:rPr lang="en-US" b="1" i="1">
                            <a:solidFill>
                              <a:srgbClr val="0000FF"/>
                            </a:solidFill>
                            <a:latin typeface="Cambria Math" panose="02040503050406030204" pitchFamily="18" charset="0"/>
                          </a:rPr>
                          <m:t>𝟏</m:t>
                        </m:r>
                      </m:e>
                    </m:d>
                    <m:r>
                      <a:rPr lang="en-US" b="1" i="1">
                        <a:solidFill>
                          <a:srgbClr val="0000FF"/>
                        </a:solidFill>
                        <a:latin typeface="Cambria Math" panose="02040503050406030204" pitchFamily="18" charset="0"/>
                      </a:rPr>
                      <m:t>𝒒</m:t>
                    </m:r>
                    <m:r>
                      <a:rPr lang="en-US" b="1" i="1">
                        <a:solidFill>
                          <a:srgbClr val="0000FF"/>
                        </a:solidFill>
                        <a:latin typeface="Cambria Math" panose="02040503050406030204" pitchFamily="18" charset="0"/>
                      </a:rPr>
                      <m:t> </m:t>
                    </m:r>
                  </m:oMath>
                </a14:m>
                <a:r>
                  <a:rPr lang="en-IN" b="1" dirty="0">
                    <a:solidFill>
                      <a:srgbClr val="0000FF"/>
                    </a:solidFill>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and </a:t>
                </a:r>
                <a14:m>
                  <m:oMath xmlns:m="http://schemas.openxmlformats.org/officeDocument/2006/math">
                    <m:r>
                      <a:rPr lang="en-US" i="1">
                        <a:solidFill>
                          <a:srgbClr val="0000FF"/>
                        </a:solidFill>
                        <a:latin typeface="Cambria Math" panose="02040503050406030204" pitchFamily="18" charset="0"/>
                      </a:rPr>
                      <m:t>𝑉𝑎𝑟</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𝑋</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𝑛𝑞</m:t>
                    </m:r>
                    <m:r>
                      <a:rPr lang="en-US" i="1">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𝑞</m:t>
                    </m:r>
                    <m:r>
                      <a:rPr lang="en-US" i="1">
                        <a:solidFill>
                          <a:srgbClr val="0000FF"/>
                        </a:solidFill>
                        <a:latin typeface="Cambria Math" panose="02040503050406030204" pitchFamily="18" charset="0"/>
                      </a:rPr>
                      <m:t>)</m:t>
                    </m:r>
                  </m:oMath>
                </a14:m>
                <a:endParaRPr lang="en-IN"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225A00CC-92E7-C073-EC5C-316D53BD7CA5}"/>
                  </a:ext>
                </a:extLst>
              </p:cNvPr>
              <p:cNvSpPr txBox="1">
                <a:spLocks noRot="1" noChangeAspect="1" noMove="1" noResize="1" noEditPoints="1" noAdjustHandles="1" noChangeArrowheads="1" noChangeShapeType="1" noTextEdit="1"/>
              </p:cNvSpPr>
              <p:nvPr/>
            </p:nvSpPr>
            <p:spPr>
              <a:xfrm>
                <a:off x="2351585" y="3324636"/>
                <a:ext cx="5022465" cy="369332"/>
              </a:xfrm>
              <a:prstGeom prst="rect">
                <a:avLst/>
              </a:prstGeom>
              <a:blipFill>
                <a:blip r:embed="rId4"/>
                <a:stretch>
                  <a:fillRect l="-1092" t="-9836" b="-229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88669F-5DD2-5B17-A97C-D64F2CDA05C7}"/>
                  </a:ext>
                </a:extLst>
              </p:cNvPr>
              <p:cNvSpPr txBox="1"/>
              <p:nvPr/>
            </p:nvSpPr>
            <p:spPr>
              <a:xfrm>
                <a:off x="1990318" y="4272394"/>
                <a:ext cx="7634074" cy="1040606"/>
              </a:xfrm>
              <a:prstGeom prst="rect">
                <a:avLst/>
              </a:prstGeom>
              <a:noFill/>
            </p:spPr>
            <p:txBody>
              <a:bodyPr wrap="square">
                <a:spAutoFit/>
              </a:bodyPr>
              <a:lstStyle/>
              <a:p>
                <a:pPr algn="ctr">
                  <a:buNone/>
                </a:pPr>
                <a:r>
                  <a:rPr lang="en-IN" b="1" dirty="0">
                    <a:latin typeface="Cambria" panose="02040503050406030204" pitchFamily="18" charset="0"/>
                    <a:ea typeface="Cambria" panose="02040503050406030204" pitchFamily="18" charset="0"/>
                  </a:rPr>
                  <a:t>Poisson / asymptotic approximations.</a:t>
                </a:r>
                <a:r>
                  <a:rPr lang="en-IN" dirty="0">
                    <a:latin typeface="Cambria" panose="02040503050406030204" pitchFamily="18" charset="0"/>
                    <a:ea typeface="Cambria" panose="02040503050406030204" pitchFamily="18" charset="0"/>
                  </a:rPr>
                  <a:t> If </a:t>
                </a:r>
                <a14:m>
                  <m:oMath xmlns:m="http://schemas.openxmlformats.org/officeDocument/2006/math">
                    <m:r>
                      <a:rPr lang="en-IN" i="1" dirty="0">
                        <a:solidFill>
                          <a:srgbClr val="0000FF"/>
                        </a:solidFill>
                        <a:latin typeface="Cambria Math" panose="02040503050406030204" pitchFamily="18" charset="0"/>
                      </a:rPr>
                      <m:t>𝑝</m:t>
                    </m:r>
                    <m:r>
                      <a:rPr lang="en-IN" i="1" dirty="0">
                        <a:solidFill>
                          <a:srgbClr val="0000FF"/>
                        </a:solidFill>
                        <a:latin typeface="Cambria Math" panose="02040503050406030204" pitchFamily="18" charset="0"/>
                      </a:rPr>
                      <m:t>=</m:t>
                    </m:r>
                    <m:f>
                      <m:fPr>
                        <m:ctrlPr>
                          <a:rPr lang="en-US" i="1" dirty="0">
                            <a:solidFill>
                              <a:srgbClr val="0000FF"/>
                            </a:solidFill>
                            <a:latin typeface="Cambria Math" panose="02040503050406030204" pitchFamily="18" charset="0"/>
                          </a:rPr>
                        </m:ctrlPr>
                      </m:fPr>
                      <m:num>
                        <m:r>
                          <a:rPr lang="en-US" i="1" dirty="0">
                            <a:solidFill>
                              <a:srgbClr val="0000FF"/>
                            </a:solidFill>
                            <a:latin typeface="Cambria Math" panose="02040503050406030204" pitchFamily="18" charset="0"/>
                          </a:rPr>
                          <m:t>𝑐</m:t>
                        </m:r>
                      </m:num>
                      <m:den>
                        <m:r>
                          <a:rPr lang="en-US" i="1" dirty="0">
                            <a:solidFill>
                              <a:srgbClr val="0000FF"/>
                            </a:solidFill>
                            <a:latin typeface="Cambria Math" panose="02040503050406030204" pitchFamily="18" charset="0"/>
                          </a:rPr>
                          <m:t>𝑛</m:t>
                        </m:r>
                      </m:den>
                    </m:f>
                    <m:r>
                      <a:rPr lang="en-US" i="1" dirty="0">
                        <a:solidFill>
                          <a:srgbClr val="0000FF"/>
                        </a:solidFill>
                        <a:latin typeface="Cambria Math" panose="02040503050406030204" pitchFamily="18" charset="0"/>
                      </a:rPr>
                      <m:t>(</m:t>
                    </m:r>
                    <m:r>
                      <m:rPr>
                        <m:sty m:val="p"/>
                      </m:rPr>
                      <a:rPr lang="en-IN" dirty="0">
                        <a:solidFill>
                          <a:srgbClr val="0000FF"/>
                        </a:solidFill>
                        <a:latin typeface="Cambria Math" panose="02040503050406030204" pitchFamily="18" charset="0"/>
                      </a:rPr>
                      <m:t>constant</m:t>
                    </m:r>
                    <m:r>
                      <a:rPr lang="en-IN" i="1" dirty="0">
                        <a:solidFill>
                          <a:srgbClr val="0000FF"/>
                        </a:solidFill>
                        <a:latin typeface="Cambria Math" panose="02040503050406030204" pitchFamily="18" charset="0"/>
                      </a:rPr>
                      <m:t> </m:t>
                    </m:r>
                    <m:r>
                      <a:rPr lang="en-IN" i="1" dirty="0">
                        <a:solidFill>
                          <a:srgbClr val="0000FF"/>
                        </a:solidFill>
                        <a:latin typeface="Cambria Math" panose="02040503050406030204" pitchFamily="18" charset="0"/>
                      </a:rPr>
                      <m:t>𝑐</m:t>
                    </m:r>
                    <m:r>
                      <a:rPr lang="en-IN" i="1" dirty="0">
                        <a:solidFill>
                          <a:srgbClr val="0000FF"/>
                        </a:solidFill>
                        <a:latin typeface="Cambria Math" panose="02040503050406030204" pitchFamily="18" charset="0"/>
                      </a:rPr>
                      <m:t>&gt;0)</m:t>
                    </m:r>
                  </m:oMath>
                </a14:m>
                <a:r>
                  <a:rPr lang="en-IN" dirty="0">
                    <a:latin typeface="Cambria" panose="02040503050406030204" pitchFamily="18" charset="0"/>
                    <a:ea typeface="Cambria" panose="02040503050406030204" pitchFamily="18" charset="0"/>
                  </a:rPr>
                  <a:t>, then</a:t>
                </a:r>
              </a:p>
              <a:p>
                <a:pPr algn="ctr">
                  <a:buNone/>
                </a:pPr>
                <a:endParaRPr lang="en-IN" dirty="0">
                  <a:latin typeface="Cambria" panose="02040503050406030204" pitchFamily="18" charset="0"/>
                  <a:ea typeface="Cambria" panose="02040503050406030204" pitchFamily="18" charset="0"/>
                </a:endParaRPr>
              </a:p>
              <a:p>
                <a:pPr algn="ctr">
                  <a:buNone/>
                </a:pPr>
                <a14:m>
                  <m:oMath xmlns:m="http://schemas.openxmlformats.org/officeDocument/2006/math">
                    <m:sSup>
                      <m:sSupPr>
                        <m:ctrlPr>
                          <a:rPr lang="en-US" i="1" dirty="0">
                            <a:solidFill>
                              <a:srgbClr val="0000FF"/>
                            </a:solidFill>
                            <a:latin typeface="Cambria Math" panose="02040503050406030204" pitchFamily="18" charset="0"/>
                          </a:rPr>
                        </m:ctrlPr>
                      </m:sSupPr>
                      <m:e>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r>
                      <a:rPr lang="en-US" i="1" dirty="0">
                        <a:solidFill>
                          <a:srgbClr val="0000FF"/>
                        </a:solidFill>
                        <a:latin typeface="Cambria Math" panose="02040503050406030204" pitchFamily="18" charset="0"/>
                      </a:rPr>
                      <m:t>∼</m:t>
                    </m:r>
                    <m:sSup>
                      <m:sSupPr>
                        <m:ctrlPr>
                          <a:rPr lang="en-US" i="1" dirty="0">
                            <a:solidFill>
                              <a:srgbClr val="0000FF"/>
                            </a:solidFill>
                            <a:latin typeface="Cambria Math" panose="02040503050406030204" pitchFamily="18" charset="0"/>
                          </a:rPr>
                        </m:ctrlPr>
                      </m:sSupPr>
                      <m:e>
                        <m:r>
                          <a:rPr lang="en-US" i="1" dirty="0">
                            <a:solidFill>
                              <a:srgbClr val="0000FF"/>
                            </a:solidFill>
                            <a:latin typeface="Cambria Math" panose="02040503050406030204" pitchFamily="18" charset="0"/>
                          </a:rPr>
                          <m:t>𝑒</m:t>
                        </m:r>
                      </m:e>
                      <m:sup>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𝑐</m:t>
                        </m:r>
                      </m:sup>
                    </m:sSup>
                  </m:oMath>
                </a14:m>
                <a:r>
                  <a:rPr lang="en-IN" dirty="0">
                    <a:latin typeface="Cambria" panose="02040503050406030204" pitchFamily="18" charset="0"/>
                    <a:ea typeface="Cambria" panose="02040503050406030204" pitchFamily="18" charset="0"/>
                  </a:rPr>
                  <a:t>.</a:t>
                </a:r>
              </a:p>
            </p:txBody>
          </p:sp>
        </mc:Choice>
        <mc:Fallback xmlns="">
          <p:sp>
            <p:nvSpPr>
              <p:cNvPr id="8" name="TextBox 7">
                <a:extLst>
                  <a:ext uri="{FF2B5EF4-FFF2-40B4-BE49-F238E27FC236}">
                    <a16:creationId xmlns:a16="http://schemas.microsoft.com/office/drawing/2014/main" id="{4488669F-5DD2-5B17-A97C-D64F2CDA05C7}"/>
                  </a:ext>
                </a:extLst>
              </p:cNvPr>
              <p:cNvSpPr txBox="1">
                <a:spLocks noRot="1" noChangeAspect="1" noMove="1" noResize="1" noEditPoints="1" noAdjustHandles="1" noChangeArrowheads="1" noChangeShapeType="1" noTextEdit="1"/>
              </p:cNvSpPr>
              <p:nvPr/>
            </p:nvSpPr>
            <p:spPr>
              <a:xfrm>
                <a:off x="1990318" y="4272394"/>
                <a:ext cx="7634074" cy="1040606"/>
              </a:xfrm>
              <a:prstGeom prst="rect">
                <a:avLst/>
              </a:prstGeom>
              <a:blipFill>
                <a:blip r:embed="rId5"/>
                <a:stretch>
                  <a:fillRect t="-1170" b="-5848"/>
                </a:stretch>
              </a:blipFill>
            </p:spPr>
            <p:txBody>
              <a:bodyPr/>
              <a:lstStyle/>
              <a:p>
                <a:r>
                  <a:rPr lang="en-IN">
                    <a:noFill/>
                  </a:rPr>
                  <a:t> </a:t>
                </a:r>
              </a:p>
            </p:txBody>
          </p:sp>
        </mc:Fallback>
      </mc:AlternateContent>
    </p:spTree>
    <p:extLst>
      <p:ext uri="{BB962C8B-B14F-4D97-AF65-F5344CB8AC3E}">
        <p14:creationId xmlns:p14="http://schemas.microsoft.com/office/powerpoint/2010/main" val="338032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413E6-3A0E-F2E3-FDAA-C0DF320F839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A68C05-0CDA-AB2A-CA90-1AB595E6649E}"/>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13FD5AEE-D9FE-A2BD-D62B-54FF0B5AB70B}"/>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67D5A502-C5C2-A797-55BF-B294571EDD1E}"/>
              </a:ext>
            </a:extLst>
          </p:cNvPr>
          <p:cNvSpPr>
            <a:spLocks noGrp="1"/>
          </p:cNvSpPr>
          <p:nvPr>
            <p:ph type="sldNum" sz="quarter" idx="12"/>
          </p:nvPr>
        </p:nvSpPr>
        <p:spPr/>
        <p:txBody>
          <a:bodyPr/>
          <a:lstStyle/>
          <a:p>
            <a:fld id="{40FF48A1-BBC9-46E7-A4CC-5BFD9B1F42DF}" type="slidenum">
              <a:rPr lang="en-IN" smtClean="0"/>
              <a:pPr/>
              <a:t>52</a:t>
            </a:fld>
            <a:endParaRPr lang="en-IN" dirty="0"/>
          </a:p>
        </p:txBody>
      </p:sp>
      <p:sp>
        <p:nvSpPr>
          <p:cNvPr id="16" name="Title 1">
            <a:extLst>
              <a:ext uri="{FF2B5EF4-FFF2-40B4-BE49-F238E27FC236}">
                <a16:creationId xmlns:a16="http://schemas.microsoft.com/office/drawing/2014/main" id="{3272885E-DB64-84CA-866F-F48CD7A65794}"/>
              </a:ext>
            </a:extLst>
          </p:cNvPr>
          <p:cNvSpPr txBox="1">
            <a:spLocks/>
          </p:cNvSpPr>
          <p:nvPr/>
        </p:nvSpPr>
        <p:spPr>
          <a:xfrm>
            <a:off x="2999656" y="126243"/>
            <a:ext cx="6000792" cy="642942"/>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fontScale="70000" lnSpcReduction="20000"/>
          </a:bodyPr>
          <a:lstStyle/>
          <a:p>
            <a:pPr algn="ctr"/>
            <a:r>
              <a:rPr lang="en-IN" sz="3200" dirty="0">
                <a:solidFill>
                  <a:srgbClr val="FF0000"/>
                </a:solidFill>
                <a:latin typeface="Cambria" panose="02040503050406030204" pitchFamily="18" charset="0"/>
                <a:ea typeface="Cambria" panose="02040503050406030204" pitchFamily="18" charset="0"/>
              </a:rPr>
              <a:t>    </a:t>
            </a:r>
            <a:r>
              <a:rPr lang="en-IN" sz="3200" b="1" dirty="0">
                <a:solidFill>
                  <a:srgbClr val="FF0000"/>
                </a:solidFill>
                <a:latin typeface="Cambria" panose="02040503050406030204" pitchFamily="18" charset="0"/>
                <a:ea typeface="Cambria" panose="02040503050406030204" pitchFamily="18" charset="0"/>
              </a:rPr>
              <a:t>Properties of  Random Network (ER): Isolated nodes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AA91C7A-0DCC-B544-4752-73E19F9E5892}"/>
                  </a:ext>
                </a:extLst>
              </p:cNvPr>
              <p:cNvSpPr txBox="1"/>
              <p:nvPr/>
            </p:nvSpPr>
            <p:spPr>
              <a:xfrm>
                <a:off x="3863752" y="1052736"/>
                <a:ext cx="4572000" cy="369332"/>
              </a:xfrm>
              <a:prstGeom prst="rect">
                <a:avLst/>
              </a:prstGeom>
              <a:noFill/>
            </p:spPr>
            <p:txBody>
              <a:bodyPr wrap="square">
                <a:spAutoFit/>
              </a:bodyPr>
              <a:lstStyle/>
              <a:p>
                <a:pPr/>
                <a14:m>
                  <m:oMathPara xmlns:m="http://schemas.openxmlformats.org/officeDocument/2006/math">
                    <m:oMath>
                      <m:r>
                        <m:rPr>
                          <m:sty m:val="p"/>
                        </m:rPr>
                        <a:rPr lang="en-US" i="1" dirty="0">
                          <a:solidFill>
                            <a:srgbClr val="0000FF"/>
                          </a:solidFill>
                          <a:latin typeface="Cambria Math" panose="02040503050406030204" pitchFamily="18" charset="0"/>
                        </a:rPr>
                        <m:t>Pr</m:t>
                      </m:r>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𝑣</m:t>
                      </m:r>
                      <m:r>
                        <a:rPr lang="en-US" i="1"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m:t>
                      </m:r>
                      <m:r>
                        <a:rPr lang="en-US" dirty="0">
                          <a:solidFill>
                            <a:srgbClr val="0000FF"/>
                          </a:solidFill>
                          <a:latin typeface="Cambria Math" panose="02040503050406030204" pitchFamily="18" charset="0"/>
                        </a:rPr>
                        <m:t> </m:t>
                      </m:r>
                      <m:r>
                        <m:rPr>
                          <m:sty m:val="p"/>
                        </m:rPr>
                        <a:rPr lang="en-US" dirty="0">
                          <a:solidFill>
                            <a:srgbClr val="0000FF"/>
                          </a:solidFill>
                          <a:latin typeface="Cambria Math" panose="02040503050406030204" pitchFamily="18" charset="0"/>
                        </a:rPr>
                        <m:t>isolated</m:t>
                      </m:r>
                      <m:r>
                        <a:rPr lang="en-US" i="1" dirty="0">
                          <a:solidFill>
                            <a:srgbClr val="0000FF"/>
                          </a:solidFill>
                          <a:latin typeface="Cambria Math" panose="02040503050406030204" pitchFamily="18" charset="0"/>
                        </a:rPr>
                        <m:t>)=</m:t>
                      </m:r>
                      <m:sSup>
                        <m:sSupPr>
                          <m:ctrlPr>
                            <a:rPr lang="en-US" i="1" dirty="0">
                              <a:solidFill>
                                <a:srgbClr val="0000FF"/>
                              </a:solidFill>
                              <a:latin typeface="Cambria Math" panose="02040503050406030204" pitchFamily="18" charset="0"/>
                            </a:rPr>
                          </m:ctrlPr>
                        </m:sSupPr>
                        <m:e>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r>
                        <a:rPr lang="en-US" i="1" dirty="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2" name="TextBox 11">
                <a:extLst>
                  <a:ext uri="{FF2B5EF4-FFF2-40B4-BE49-F238E27FC236}">
                    <a16:creationId xmlns:a16="http://schemas.microsoft.com/office/drawing/2014/main" id="{0AA91C7A-0DCC-B544-4752-73E19F9E5892}"/>
                  </a:ext>
                </a:extLst>
              </p:cNvPr>
              <p:cNvSpPr txBox="1">
                <a:spLocks noRot="1" noChangeAspect="1" noMove="1" noResize="1" noEditPoints="1" noAdjustHandles="1" noChangeArrowheads="1" noChangeShapeType="1" noTextEdit="1"/>
              </p:cNvSpPr>
              <p:nvPr/>
            </p:nvSpPr>
            <p:spPr>
              <a:xfrm>
                <a:off x="3863752" y="1052736"/>
                <a:ext cx="4572000" cy="369332"/>
              </a:xfrm>
              <a:prstGeom prst="rect">
                <a:avLst/>
              </a:prstGeom>
              <a:blipFill>
                <a:blip r:embed="rId2"/>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DED7520-2669-70E6-C92A-34BCBFBB90F6}"/>
                  </a:ext>
                </a:extLst>
              </p:cNvPr>
              <p:cNvSpPr>
                <a:spLocks noChangeArrowheads="1"/>
              </p:cNvSpPr>
              <p:nvPr/>
            </p:nvSpPr>
            <p:spPr bwMode="auto">
              <a:xfrm>
                <a:off x="2000592" y="1575880"/>
                <a:ext cx="8686800" cy="923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altLang="en-US" dirty="0">
                    <a:latin typeface="Cambria" panose="02040503050406030204" pitchFamily="18" charset="0"/>
                    <a:ea typeface="Cambria" panose="02040503050406030204" pitchFamily="18" charset="0"/>
                  </a:rPr>
                  <a:t>The degree of </a:t>
                </a:r>
                <a14:m>
                  <m:oMath xmlns:m="http://schemas.openxmlformats.org/officeDocument/2006/math">
                    <m:r>
                      <a:rPr lang="en-US" altLang="en-US" i="1" dirty="0">
                        <a:latin typeface="Cambria Math" panose="02040503050406030204" pitchFamily="18" charset="0"/>
                      </a:rPr>
                      <m:t>𝑣</m:t>
                    </m:r>
                  </m:oMath>
                </a14:m>
                <a:r>
                  <a:rPr lang="en-US" altLang="en-US" dirty="0">
                    <a:latin typeface="Cambria" panose="02040503050406030204" pitchFamily="18" charset="0"/>
                    <a:ea typeface="Cambria" panose="02040503050406030204" pitchFamily="18" charset="0"/>
                  </a:rPr>
                  <a:t> is </a:t>
                </a:r>
                <a14:m>
                  <m:oMath xmlns:m="http://schemas.openxmlformats.org/officeDocument/2006/math">
                    <m:r>
                      <a:rPr lang="en-US" altLang="en-US" i="1" dirty="0">
                        <a:solidFill>
                          <a:srgbClr val="0000FF"/>
                        </a:solidFill>
                        <a:latin typeface="Cambria Math" panose="02040503050406030204" pitchFamily="18" charset="0"/>
                      </a:rPr>
                      <m:t>𝐵𝑖𝑛𝑜𝑚𝑖𝑎𝑙</m:t>
                    </m:r>
                    <m:r>
                      <a:rPr lang="en-US" altLang="en-US" i="1" dirty="0">
                        <a:solidFill>
                          <a:srgbClr val="0000FF"/>
                        </a:solidFill>
                        <a:latin typeface="Cambria Math" panose="02040503050406030204" pitchFamily="18" charset="0"/>
                      </a:rPr>
                      <m:t>(</m:t>
                    </m:r>
                    <m:r>
                      <a:rPr lang="en-US" altLang="en-US" i="1" dirty="0">
                        <a:solidFill>
                          <a:srgbClr val="0000FF"/>
                        </a:solidFill>
                        <a:latin typeface="Cambria Math" panose="02040503050406030204" pitchFamily="18" charset="0"/>
                      </a:rPr>
                      <m:t>𝑛</m:t>
                    </m:r>
                    <m:r>
                      <a:rPr lang="en-US" altLang="en-US" i="1" dirty="0">
                        <a:solidFill>
                          <a:srgbClr val="0000FF"/>
                        </a:solidFill>
                        <a:latin typeface="Cambria Math" panose="02040503050406030204" pitchFamily="18" charset="0"/>
                      </a:rPr>
                      <m:t>−1,</m:t>
                    </m:r>
                    <m:r>
                      <a:rPr lang="en-US" altLang="en-US" i="1" dirty="0">
                        <a:solidFill>
                          <a:srgbClr val="0000FF"/>
                        </a:solidFill>
                        <a:latin typeface="Cambria Math" panose="02040503050406030204" pitchFamily="18" charset="0"/>
                      </a:rPr>
                      <m:t>𝑝</m:t>
                    </m:r>
                    <m:r>
                      <a:rPr lang="en-US" altLang="en-US" i="1" dirty="0">
                        <a:solidFill>
                          <a:srgbClr val="0000FF"/>
                        </a:solidFill>
                        <a:latin typeface="Cambria Math" panose="02040503050406030204" pitchFamily="18" charset="0"/>
                      </a:rPr>
                      <m:t>). </m:t>
                    </m:r>
                  </m:oMath>
                </a14:m>
                <a:endParaRPr lang="en-US" altLang="en-US" dirty="0">
                  <a:solidFill>
                    <a:srgbClr val="0000FF"/>
                  </a:solidFill>
                  <a:latin typeface="Cambria" panose="02040503050406030204" pitchFamily="18" charset="0"/>
                  <a:ea typeface="Cambria" panose="02040503050406030204" pitchFamily="18" charset="0"/>
                </a:endParaRPr>
              </a:p>
              <a:p>
                <a:pPr eaLnBrk="0" fontAlgn="base" hangingPunct="0">
                  <a:spcBef>
                    <a:spcPct val="0"/>
                  </a:spcBef>
                  <a:spcAft>
                    <a:spcPct val="0"/>
                  </a:spcAft>
                </a:pPr>
                <a:endParaRPr lang="en-US" altLang="en-US" dirty="0">
                  <a:latin typeface="Cambria" panose="02040503050406030204" pitchFamily="18" charset="0"/>
                  <a:ea typeface="Cambria" panose="02040503050406030204" pitchFamily="18" charset="0"/>
                </a:endParaRPr>
              </a:p>
              <a:p>
                <a:pPr eaLnBrk="0" fontAlgn="base" hangingPunct="0">
                  <a:spcBef>
                    <a:spcPct val="0"/>
                  </a:spcBef>
                  <a:spcAft>
                    <a:spcPct val="0"/>
                  </a:spcAft>
                </a:pPr>
                <a:r>
                  <a:rPr lang="en-US" altLang="en-US" dirty="0">
                    <a:latin typeface="Cambria" panose="02040503050406030204" pitchFamily="18" charset="0"/>
                    <a:ea typeface="Cambria" panose="02040503050406030204" pitchFamily="18" charset="0"/>
                  </a:rPr>
                  <a:t>    And  </a:t>
                </a:r>
                <a14:m>
                  <m:oMath xmlns:m="http://schemas.openxmlformats.org/officeDocument/2006/math">
                    <m:r>
                      <a:rPr lang="en-US" altLang="en-US" dirty="0">
                        <a:solidFill>
                          <a:srgbClr val="0000FF"/>
                        </a:solidFill>
                        <a:latin typeface="Cambria Math" panose="02040503050406030204" pitchFamily="18" charset="0"/>
                      </a:rPr>
                      <m:t> </m:t>
                    </m:r>
                    <m:r>
                      <a:rPr lang="en-US" altLang="en-US" i="1" dirty="0">
                        <a:solidFill>
                          <a:srgbClr val="0000FF"/>
                        </a:solidFill>
                        <a:latin typeface="Cambria Math" panose="02040503050406030204" pitchFamily="18" charset="0"/>
                      </a:rPr>
                      <m:t>𝑋</m:t>
                    </m:r>
                    <m:r>
                      <a:rPr lang="en-US" altLang="en-US" i="1" dirty="0">
                        <a:solidFill>
                          <a:srgbClr val="0000FF"/>
                        </a:solidFill>
                        <a:latin typeface="Cambria Math" panose="02040503050406030204" pitchFamily="18" charset="0"/>
                      </a:rPr>
                      <m:t>∼</m:t>
                    </m:r>
                    <m:r>
                      <a:rPr lang="en-US" altLang="en-US" i="1" dirty="0">
                        <a:solidFill>
                          <a:srgbClr val="0000FF"/>
                        </a:solidFill>
                        <a:latin typeface="Cambria Math" panose="02040503050406030204" pitchFamily="18" charset="0"/>
                      </a:rPr>
                      <m:t>𝐵𝑖𝑛𝑜𝑚𝑖𝑎𝑙</m:t>
                    </m:r>
                    <m:d>
                      <m:dPr>
                        <m:ctrlPr>
                          <a:rPr lang="en-US" altLang="en-US" i="1" dirty="0">
                            <a:solidFill>
                              <a:srgbClr val="0000FF"/>
                            </a:solidFill>
                            <a:latin typeface="Cambria Math" panose="02040503050406030204" pitchFamily="18" charset="0"/>
                          </a:rPr>
                        </m:ctrlPr>
                      </m:dPr>
                      <m:e>
                        <m:r>
                          <a:rPr lang="en-US" altLang="en-US" i="1" dirty="0">
                            <a:solidFill>
                              <a:srgbClr val="0000FF"/>
                            </a:solidFill>
                            <a:latin typeface="Cambria Math" panose="02040503050406030204" pitchFamily="18" charset="0"/>
                          </a:rPr>
                          <m:t>𝑛</m:t>
                        </m:r>
                        <m:r>
                          <a:rPr lang="en-US" altLang="en-US" i="1" dirty="0">
                            <a:solidFill>
                              <a:srgbClr val="0000FF"/>
                            </a:solidFill>
                            <a:latin typeface="Cambria Math" panose="02040503050406030204" pitchFamily="18" charset="0"/>
                          </a:rPr>
                          <m:t>−1,</m:t>
                        </m:r>
                        <m:r>
                          <a:rPr lang="en-US" altLang="en-US" i="1" dirty="0">
                            <a:solidFill>
                              <a:srgbClr val="0000FF"/>
                            </a:solidFill>
                            <a:latin typeface="Cambria Math" panose="02040503050406030204" pitchFamily="18" charset="0"/>
                          </a:rPr>
                          <m:t>𝑞</m:t>
                        </m:r>
                      </m:e>
                    </m:d>
                    <m:r>
                      <a:rPr lang="en-US" altLang="en-US" i="1" dirty="0">
                        <a:solidFill>
                          <a:srgbClr val="0000FF"/>
                        </a:solidFill>
                        <a:latin typeface="Cambria Math" panose="02040503050406030204" pitchFamily="18" charset="0"/>
                      </a:rPr>
                      <m:t>,</m:t>
                    </m:r>
                  </m:oMath>
                </a14:m>
                <a:r>
                  <a:rPr lang="en-US" altLang="en-US" dirty="0">
                    <a:solidFill>
                      <a:srgbClr val="0000FF"/>
                    </a:solidFill>
                    <a:latin typeface="Cambria" panose="02040503050406030204" pitchFamily="18" charset="0"/>
                    <a:ea typeface="Cambria" panose="02040503050406030204" pitchFamily="18" charset="0"/>
                  </a:rPr>
                  <a:t> where </a:t>
                </a:r>
                <a14:m>
                  <m:oMath xmlns:m="http://schemas.openxmlformats.org/officeDocument/2006/math">
                    <m:sSup>
                      <m:sSupPr>
                        <m:ctrlPr>
                          <a:rPr lang="en-US" i="1" dirty="0">
                            <a:solidFill>
                              <a:srgbClr val="0000FF"/>
                            </a:solidFill>
                            <a:latin typeface="Cambria Math" panose="02040503050406030204" pitchFamily="18" charset="0"/>
                          </a:rPr>
                        </m:ctrlPr>
                      </m:sSupPr>
                      <m:e>
                        <m:r>
                          <a:rPr lang="en-US" i="1" dirty="0">
                            <a:solidFill>
                              <a:srgbClr val="0000FF"/>
                            </a:solidFill>
                            <a:latin typeface="Cambria Math" panose="02040503050406030204" pitchFamily="18" charset="0"/>
                          </a:rPr>
                          <m:t>𝑞</m:t>
                        </m:r>
                        <m:r>
                          <a:rPr lang="en-US" i="1" dirty="0">
                            <a:solidFill>
                              <a:srgbClr val="0000FF"/>
                            </a:solidFill>
                            <a:latin typeface="Cambria Math" panose="02040503050406030204" pitchFamily="18" charset="0"/>
                          </a:rPr>
                          <m:t>=</m:t>
                        </m:r>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oMath>
                </a14:m>
                <a:endParaRPr lang="en-US" altLang="en-US" dirty="0">
                  <a:solidFill>
                    <a:srgbClr val="0000FF"/>
                  </a:solidFill>
                  <a:latin typeface="Cambria" panose="02040503050406030204" pitchFamily="18" charset="0"/>
                  <a:ea typeface="Cambria" panose="02040503050406030204" pitchFamily="18" charset="0"/>
                </a:endParaRPr>
              </a:p>
            </p:txBody>
          </p:sp>
        </mc:Choice>
        <mc:Fallback xmlns="">
          <p:sp>
            <p:nvSpPr>
              <p:cNvPr id="2" name="Rectangle 1">
                <a:extLst>
                  <a:ext uri="{FF2B5EF4-FFF2-40B4-BE49-F238E27FC236}">
                    <a16:creationId xmlns:a16="http://schemas.microsoft.com/office/drawing/2014/main" id="{ADED7520-2669-70E6-C92A-34BCBFBB90F6}"/>
                  </a:ext>
                </a:extLst>
              </p:cNvPr>
              <p:cNvSpPr>
                <a:spLocks noRot="1" noChangeAspect="1" noMove="1" noResize="1" noEditPoints="1" noAdjustHandles="1" noChangeArrowheads="1" noChangeShapeType="1" noTextEdit="1"/>
              </p:cNvSpPr>
              <p:nvPr/>
            </p:nvSpPr>
            <p:spPr bwMode="auto">
              <a:xfrm>
                <a:off x="2000592" y="1575880"/>
                <a:ext cx="8686800" cy="923330"/>
              </a:xfrm>
              <a:prstGeom prst="rect">
                <a:avLst/>
              </a:prstGeom>
              <a:blipFill>
                <a:blip r:embed="rId3"/>
                <a:stretch>
                  <a:fillRect l="-491" t="-3974" b="-927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B9E8B31-E0F3-9B96-1E52-D47FE979F619}"/>
                  </a:ext>
                </a:extLst>
              </p:cNvPr>
              <p:cNvSpPr txBox="1"/>
              <p:nvPr/>
            </p:nvSpPr>
            <p:spPr>
              <a:xfrm>
                <a:off x="2370977" y="2656405"/>
                <a:ext cx="5022465" cy="369332"/>
              </a:xfrm>
              <a:prstGeom prst="rect">
                <a:avLst/>
              </a:prstGeom>
              <a:noFill/>
            </p:spPr>
            <p:txBody>
              <a:bodyPr wrap="none" rtlCol="0">
                <a:spAutoFit/>
              </a:bodyPr>
              <a:lstStyle/>
              <a:p>
                <a:r>
                  <a:rPr lang="en-US" dirty="0">
                    <a:latin typeface="Cambria" panose="02040503050406030204" pitchFamily="18" charset="0"/>
                    <a:ea typeface="Cambria" panose="02040503050406030204" pitchFamily="18" charset="0"/>
                  </a:rPr>
                  <a:t>Thus, </a:t>
                </a:r>
                <a14:m>
                  <m:oMath xmlns:m="http://schemas.openxmlformats.org/officeDocument/2006/math">
                    <m:r>
                      <a:rPr lang="en-US" b="1" i="1">
                        <a:solidFill>
                          <a:srgbClr val="0000FF"/>
                        </a:solidFill>
                        <a:latin typeface="Cambria Math" panose="02040503050406030204" pitchFamily="18" charset="0"/>
                      </a:rPr>
                      <m:t>𝑬</m:t>
                    </m:r>
                    <m:d>
                      <m:dPr>
                        <m:ctrlPr>
                          <a:rPr lang="en-US" b="1" i="1">
                            <a:solidFill>
                              <a:srgbClr val="0000FF"/>
                            </a:solidFill>
                            <a:latin typeface="Cambria Math" panose="02040503050406030204" pitchFamily="18" charset="0"/>
                          </a:rPr>
                        </m:ctrlPr>
                      </m:dPr>
                      <m:e>
                        <m:r>
                          <a:rPr lang="en-US" b="1" i="1">
                            <a:solidFill>
                              <a:srgbClr val="0000FF"/>
                            </a:solidFill>
                            <a:latin typeface="Cambria Math" panose="02040503050406030204" pitchFamily="18" charset="0"/>
                          </a:rPr>
                          <m:t>𝑿</m:t>
                        </m:r>
                      </m:e>
                    </m:d>
                    <m:r>
                      <a:rPr lang="en-US" b="1" i="1">
                        <a:solidFill>
                          <a:srgbClr val="0000FF"/>
                        </a:solidFill>
                        <a:latin typeface="Cambria Math" panose="02040503050406030204" pitchFamily="18" charset="0"/>
                      </a:rPr>
                      <m:t>=</m:t>
                    </m:r>
                    <m:d>
                      <m:dPr>
                        <m:ctrlPr>
                          <a:rPr lang="en-US" b="1" i="1">
                            <a:solidFill>
                              <a:srgbClr val="0000FF"/>
                            </a:solidFill>
                            <a:latin typeface="Cambria Math" panose="02040503050406030204" pitchFamily="18" charset="0"/>
                          </a:rPr>
                        </m:ctrlPr>
                      </m:dPr>
                      <m:e>
                        <m:r>
                          <a:rPr lang="en-US" b="1" i="1">
                            <a:solidFill>
                              <a:srgbClr val="0000FF"/>
                            </a:solidFill>
                            <a:latin typeface="Cambria Math" panose="02040503050406030204" pitchFamily="18" charset="0"/>
                          </a:rPr>
                          <m:t>𝒏</m:t>
                        </m:r>
                        <m:r>
                          <a:rPr lang="en-US" b="1" i="1">
                            <a:solidFill>
                              <a:srgbClr val="0000FF"/>
                            </a:solidFill>
                            <a:latin typeface="Cambria Math" panose="02040503050406030204" pitchFamily="18" charset="0"/>
                          </a:rPr>
                          <m:t>−</m:t>
                        </m:r>
                        <m:r>
                          <a:rPr lang="en-US" b="1" i="1">
                            <a:solidFill>
                              <a:srgbClr val="0000FF"/>
                            </a:solidFill>
                            <a:latin typeface="Cambria Math" panose="02040503050406030204" pitchFamily="18" charset="0"/>
                          </a:rPr>
                          <m:t>𝟏</m:t>
                        </m:r>
                      </m:e>
                    </m:d>
                    <m:r>
                      <a:rPr lang="en-US" b="1" i="1">
                        <a:solidFill>
                          <a:srgbClr val="0000FF"/>
                        </a:solidFill>
                        <a:latin typeface="Cambria Math" panose="02040503050406030204" pitchFamily="18" charset="0"/>
                      </a:rPr>
                      <m:t>𝒒</m:t>
                    </m:r>
                    <m:r>
                      <a:rPr lang="en-US" b="1" i="1">
                        <a:solidFill>
                          <a:srgbClr val="0000FF"/>
                        </a:solidFill>
                        <a:latin typeface="Cambria Math" panose="02040503050406030204" pitchFamily="18" charset="0"/>
                      </a:rPr>
                      <m:t> </m:t>
                    </m:r>
                  </m:oMath>
                </a14:m>
                <a:r>
                  <a:rPr lang="en-IN" b="1" dirty="0">
                    <a:solidFill>
                      <a:srgbClr val="0000FF"/>
                    </a:solidFill>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and </a:t>
                </a:r>
                <a14:m>
                  <m:oMath xmlns:m="http://schemas.openxmlformats.org/officeDocument/2006/math">
                    <m:r>
                      <a:rPr lang="en-US" i="1">
                        <a:solidFill>
                          <a:srgbClr val="0000FF"/>
                        </a:solidFill>
                        <a:latin typeface="Cambria Math" panose="02040503050406030204" pitchFamily="18" charset="0"/>
                      </a:rPr>
                      <m:t>𝑉𝑎𝑟</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𝑋</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𝑛𝑞</m:t>
                    </m:r>
                    <m:r>
                      <a:rPr lang="en-US" i="1">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𝑞</m:t>
                    </m:r>
                    <m:r>
                      <a:rPr lang="en-US" i="1">
                        <a:solidFill>
                          <a:srgbClr val="0000FF"/>
                        </a:solidFill>
                        <a:latin typeface="Cambria Math" panose="02040503050406030204" pitchFamily="18" charset="0"/>
                      </a:rPr>
                      <m:t>)</m:t>
                    </m:r>
                  </m:oMath>
                </a14:m>
                <a:endParaRPr lang="en-IN"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EB9E8B31-E0F3-9B96-1E52-D47FE979F619}"/>
                  </a:ext>
                </a:extLst>
              </p:cNvPr>
              <p:cNvSpPr txBox="1">
                <a:spLocks noRot="1" noChangeAspect="1" noMove="1" noResize="1" noEditPoints="1" noAdjustHandles="1" noChangeArrowheads="1" noChangeShapeType="1" noTextEdit="1"/>
              </p:cNvSpPr>
              <p:nvPr/>
            </p:nvSpPr>
            <p:spPr>
              <a:xfrm>
                <a:off x="2370977" y="2656405"/>
                <a:ext cx="5022465" cy="369332"/>
              </a:xfrm>
              <a:prstGeom prst="rect">
                <a:avLst/>
              </a:prstGeom>
              <a:blipFill>
                <a:blip r:embed="rId4"/>
                <a:stretch>
                  <a:fillRect l="-1092" t="-11667"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F53AB16-9605-29A5-0E8F-82261E11D617}"/>
                  </a:ext>
                </a:extLst>
              </p:cNvPr>
              <p:cNvSpPr txBox="1"/>
              <p:nvPr/>
            </p:nvSpPr>
            <p:spPr>
              <a:xfrm>
                <a:off x="1703512" y="3130134"/>
                <a:ext cx="7634074" cy="1040606"/>
              </a:xfrm>
              <a:prstGeom prst="rect">
                <a:avLst/>
              </a:prstGeom>
              <a:noFill/>
            </p:spPr>
            <p:txBody>
              <a:bodyPr wrap="square">
                <a:spAutoFit/>
              </a:bodyPr>
              <a:lstStyle/>
              <a:p>
                <a:pPr algn="ctr">
                  <a:buNone/>
                </a:pPr>
                <a:r>
                  <a:rPr lang="en-IN" b="1" dirty="0">
                    <a:latin typeface="Cambria" panose="02040503050406030204" pitchFamily="18" charset="0"/>
                    <a:ea typeface="Cambria" panose="02040503050406030204" pitchFamily="18" charset="0"/>
                  </a:rPr>
                  <a:t>Poisson / asymptotic approximations.</a:t>
                </a:r>
                <a:r>
                  <a:rPr lang="en-IN" dirty="0">
                    <a:latin typeface="Cambria" panose="02040503050406030204" pitchFamily="18" charset="0"/>
                    <a:ea typeface="Cambria" panose="02040503050406030204" pitchFamily="18" charset="0"/>
                  </a:rPr>
                  <a:t> If </a:t>
                </a:r>
                <a14:m>
                  <m:oMath xmlns:m="http://schemas.openxmlformats.org/officeDocument/2006/math">
                    <m:r>
                      <a:rPr lang="en-IN" i="1" dirty="0">
                        <a:solidFill>
                          <a:srgbClr val="0000FF"/>
                        </a:solidFill>
                        <a:latin typeface="Cambria Math" panose="02040503050406030204" pitchFamily="18" charset="0"/>
                      </a:rPr>
                      <m:t>𝑝</m:t>
                    </m:r>
                    <m:r>
                      <a:rPr lang="en-IN" i="1" dirty="0">
                        <a:solidFill>
                          <a:srgbClr val="0000FF"/>
                        </a:solidFill>
                        <a:latin typeface="Cambria Math" panose="02040503050406030204" pitchFamily="18" charset="0"/>
                      </a:rPr>
                      <m:t>=</m:t>
                    </m:r>
                    <m:f>
                      <m:fPr>
                        <m:ctrlPr>
                          <a:rPr lang="en-US" i="1" dirty="0">
                            <a:solidFill>
                              <a:srgbClr val="0000FF"/>
                            </a:solidFill>
                            <a:latin typeface="Cambria Math" panose="02040503050406030204" pitchFamily="18" charset="0"/>
                          </a:rPr>
                        </m:ctrlPr>
                      </m:fPr>
                      <m:num>
                        <m:r>
                          <a:rPr lang="en-US" i="1" dirty="0">
                            <a:solidFill>
                              <a:srgbClr val="0000FF"/>
                            </a:solidFill>
                            <a:latin typeface="Cambria Math" panose="02040503050406030204" pitchFamily="18" charset="0"/>
                          </a:rPr>
                          <m:t>𝑐</m:t>
                        </m:r>
                      </m:num>
                      <m:den>
                        <m:r>
                          <a:rPr lang="en-US" i="1" dirty="0">
                            <a:solidFill>
                              <a:srgbClr val="0000FF"/>
                            </a:solidFill>
                            <a:latin typeface="Cambria Math" panose="02040503050406030204" pitchFamily="18" charset="0"/>
                          </a:rPr>
                          <m:t>𝑛</m:t>
                        </m:r>
                      </m:den>
                    </m:f>
                    <m:r>
                      <a:rPr lang="en-US" i="1" dirty="0">
                        <a:solidFill>
                          <a:srgbClr val="0000FF"/>
                        </a:solidFill>
                        <a:latin typeface="Cambria Math" panose="02040503050406030204" pitchFamily="18" charset="0"/>
                      </a:rPr>
                      <m:t>(</m:t>
                    </m:r>
                    <m:r>
                      <m:rPr>
                        <m:sty m:val="p"/>
                      </m:rPr>
                      <a:rPr lang="en-IN" dirty="0">
                        <a:solidFill>
                          <a:srgbClr val="0000FF"/>
                        </a:solidFill>
                        <a:latin typeface="Cambria Math" panose="02040503050406030204" pitchFamily="18" charset="0"/>
                      </a:rPr>
                      <m:t>constant</m:t>
                    </m:r>
                    <m:r>
                      <a:rPr lang="en-IN" i="1" dirty="0">
                        <a:solidFill>
                          <a:srgbClr val="0000FF"/>
                        </a:solidFill>
                        <a:latin typeface="Cambria Math" panose="02040503050406030204" pitchFamily="18" charset="0"/>
                      </a:rPr>
                      <m:t> </m:t>
                    </m:r>
                    <m:r>
                      <a:rPr lang="en-IN" i="1" dirty="0">
                        <a:solidFill>
                          <a:srgbClr val="0000FF"/>
                        </a:solidFill>
                        <a:latin typeface="Cambria Math" panose="02040503050406030204" pitchFamily="18" charset="0"/>
                      </a:rPr>
                      <m:t>𝑐</m:t>
                    </m:r>
                    <m:r>
                      <a:rPr lang="en-IN" i="1" dirty="0">
                        <a:solidFill>
                          <a:srgbClr val="0000FF"/>
                        </a:solidFill>
                        <a:latin typeface="Cambria Math" panose="02040503050406030204" pitchFamily="18" charset="0"/>
                      </a:rPr>
                      <m:t>&gt;0)</m:t>
                    </m:r>
                  </m:oMath>
                </a14:m>
                <a:r>
                  <a:rPr lang="en-IN" dirty="0">
                    <a:latin typeface="Cambria" panose="02040503050406030204" pitchFamily="18" charset="0"/>
                    <a:ea typeface="Cambria" panose="02040503050406030204" pitchFamily="18" charset="0"/>
                  </a:rPr>
                  <a:t>, then</a:t>
                </a:r>
              </a:p>
              <a:p>
                <a:pPr algn="ctr">
                  <a:buNone/>
                </a:pPr>
                <a:endParaRPr lang="en-IN" dirty="0">
                  <a:latin typeface="Cambria" panose="02040503050406030204" pitchFamily="18" charset="0"/>
                  <a:ea typeface="Cambria" panose="02040503050406030204" pitchFamily="18" charset="0"/>
                </a:endParaRPr>
              </a:p>
              <a:p>
                <a:pPr algn="ctr">
                  <a:buNone/>
                </a:pPr>
                <a14:m>
                  <m:oMath xmlns:m="http://schemas.openxmlformats.org/officeDocument/2006/math">
                    <m:sSup>
                      <m:sSupPr>
                        <m:ctrlPr>
                          <a:rPr lang="en-US" i="1" dirty="0">
                            <a:solidFill>
                              <a:srgbClr val="0000FF"/>
                            </a:solidFill>
                            <a:latin typeface="Cambria Math" panose="02040503050406030204" pitchFamily="18" charset="0"/>
                          </a:rPr>
                        </m:ctrlPr>
                      </m:sSupPr>
                      <m:e>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r>
                      <a:rPr lang="en-US" i="1" dirty="0">
                        <a:solidFill>
                          <a:srgbClr val="0000FF"/>
                        </a:solidFill>
                        <a:latin typeface="Cambria Math" panose="02040503050406030204" pitchFamily="18" charset="0"/>
                      </a:rPr>
                      <m:t>∼</m:t>
                    </m:r>
                    <m:sSup>
                      <m:sSupPr>
                        <m:ctrlPr>
                          <a:rPr lang="en-US" i="1" dirty="0">
                            <a:solidFill>
                              <a:srgbClr val="0000FF"/>
                            </a:solidFill>
                            <a:latin typeface="Cambria Math" panose="02040503050406030204" pitchFamily="18" charset="0"/>
                          </a:rPr>
                        </m:ctrlPr>
                      </m:sSupPr>
                      <m:e>
                        <m:r>
                          <a:rPr lang="en-US" i="1" dirty="0">
                            <a:solidFill>
                              <a:srgbClr val="0000FF"/>
                            </a:solidFill>
                            <a:latin typeface="Cambria Math" panose="02040503050406030204" pitchFamily="18" charset="0"/>
                          </a:rPr>
                          <m:t>𝑒</m:t>
                        </m:r>
                      </m:e>
                      <m:sup>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𝑐</m:t>
                        </m:r>
                      </m:sup>
                    </m:sSup>
                  </m:oMath>
                </a14:m>
                <a:r>
                  <a:rPr lang="en-IN" dirty="0">
                    <a:latin typeface="Cambria" panose="02040503050406030204" pitchFamily="18" charset="0"/>
                    <a:ea typeface="Cambria" panose="02040503050406030204" pitchFamily="18" charset="0"/>
                  </a:rPr>
                  <a:t>.</a:t>
                </a:r>
              </a:p>
            </p:txBody>
          </p:sp>
        </mc:Choice>
        <mc:Fallback xmlns="">
          <p:sp>
            <p:nvSpPr>
              <p:cNvPr id="8" name="TextBox 7">
                <a:extLst>
                  <a:ext uri="{FF2B5EF4-FFF2-40B4-BE49-F238E27FC236}">
                    <a16:creationId xmlns:a16="http://schemas.microsoft.com/office/drawing/2014/main" id="{9F53AB16-9605-29A5-0E8F-82261E11D617}"/>
                  </a:ext>
                </a:extLst>
              </p:cNvPr>
              <p:cNvSpPr txBox="1">
                <a:spLocks noRot="1" noChangeAspect="1" noMove="1" noResize="1" noEditPoints="1" noAdjustHandles="1" noChangeArrowheads="1" noChangeShapeType="1" noTextEdit="1"/>
              </p:cNvSpPr>
              <p:nvPr/>
            </p:nvSpPr>
            <p:spPr>
              <a:xfrm>
                <a:off x="1703512" y="3130134"/>
                <a:ext cx="7634074" cy="1040606"/>
              </a:xfrm>
              <a:prstGeom prst="rect">
                <a:avLst/>
              </a:prstGeom>
              <a:blipFill>
                <a:blip r:embed="rId5"/>
                <a:stretch>
                  <a:fillRect t="-585" b="-58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C5CD6B8-7B5A-349F-57AB-6F5C236136AF}"/>
                  </a:ext>
                </a:extLst>
              </p:cNvPr>
              <p:cNvSpPr txBox="1"/>
              <p:nvPr/>
            </p:nvSpPr>
            <p:spPr>
              <a:xfrm>
                <a:off x="2760274" y="4500154"/>
                <a:ext cx="5675478" cy="369332"/>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latin typeface="Cambria" panose="02040503050406030204" pitchFamily="18" charset="0"/>
                    <a:ea typeface="Cambria" panose="02040503050406030204" pitchFamily="18" charset="0"/>
                  </a:rPr>
                  <a:t> Then, </a:t>
                </a:r>
                <a14:m>
                  <m:oMath xmlns:m="http://schemas.openxmlformats.org/officeDocument/2006/math">
                    <m:r>
                      <a:rPr lang="en-US" i="1">
                        <a:solidFill>
                          <a:srgbClr val="0000FF"/>
                        </a:solidFill>
                        <a:latin typeface="Cambria Math" panose="02040503050406030204" pitchFamily="18" charset="0"/>
                      </a:rPr>
                      <m:t>𝐸</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𝑋</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sSup>
                      <m:sSupPr>
                        <m:ctrlPr>
                          <a:rPr lang="en-US" i="1" dirty="0">
                            <a:solidFill>
                              <a:srgbClr val="0000FF"/>
                            </a:solidFill>
                            <a:latin typeface="Cambria Math" panose="02040503050406030204" pitchFamily="18" charset="0"/>
                          </a:rPr>
                        </m:ctrlPr>
                      </m:sSupPr>
                      <m:e>
                        <m:d>
                          <m:dPr>
                            <m:ctrlPr>
                              <a:rPr lang="en-US" i="1" dirty="0">
                                <a:solidFill>
                                  <a:srgbClr val="0000FF"/>
                                </a:solidFill>
                                <a:latin typeface="Cambria Math" panose="02040503050406030204" pitchFamily="18" charset="0"/>
                              </a:rPr>
                            </m:ctrlPr>
                          </m:dPr>
                          <m:e>
                            <m:r>
                              <a:rPr lang="en-US" i="1" dirty="0">
                                <a:solidFill>
                                  <a:srgbClr val="0000FF"/>
                                </a:solidFill>
                                <a:latin typeface="Cambria Math" panose="02040503050406030204" pitchFamily="18" charset="0"/>
                              </a:rPr>
                              <m:t>1−</m:t>
                            </m:r>
                            <m:r>
                              <a:rPr lang="en-US" i="1" dirty="0">
                                <a:solidFill>
                                  <a:srgbClr val="0000FF"/>
                                </a:solidFill>
                                <a:latin typeface="Cambria Math" panose="02040503050406030204" pitchFamily="18" charset="0"/>
                              </a:rPr>
                              <m:t>𝑝</m:t>
                            </m:r>
                          </m:e>
                        </m:d>
                      </m:e>
                      <m:sup>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−1</m:t>
                        </m:r>
                      </m:sup>
                    </m:s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𝑐</m:t>
                        </m:r>
                      </m:sup>
                    </m:s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𝑛𝑝</m:t>
                        </m:r>
                      </m:sup>
                    </m:sSup>
                  </m:oMath>
                </a14:m>
                <a:endParaRPr lang="en-IN" dirty="0">
                  <a:latin typeface="Cambria" panose="02040503050406030204" pitchFamily="18" charset="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1C5CD6B8-7B5A-349F-57AB-6F5C236136AF}"/>
                  </a:ext>
                </a:extLst>
              </p:cNvPr>
              <p:cNvSpPr txBox="1">
                <a:spLocks noRot="1" noChangeAspect="1" noMove="1" noResize="1" noEditPoints="1" noAdjustHandles="1" noChangeArrowheads="1" noChangeShapeType="1" noTextEdit="1"/>
              </p:cNvSpPr>
              <p:nvPr/>
            </p:nvSpPr>
            <p:spPr>
              <a:xfrm>
                <a:off x="2760274" y="4500154"/>
                <a:ext cx="5675478" cy="369332"/>
              </a:xfrm>
              <a:prstGeom prst="rect">
                <a:avLst/>
              </a:prstGeom>
              <a:blipFill>
                <a:blip r:embed="rId6"/>
                <a:stretch>
                  <a:fillRect l="-107" t="-9677" b="-20968"/>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0BC972A-57EF-7294-2AA5-4439057EA732}"/>
                  </a:ext>
                </a:extLst>
              </p:cNvPr>
              <p:cNvSpPr txBox="1"/>
              <p:nvPr/>
            </p:nvSpPr>
            <p:spPr>
              <a:xfrm>
                <a:off x="1893587" y="5282120"/>
                <a:ext cx="8619796" cy="1132554"/>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If </a:t>
                </a:r>
                <a14:m>
                  <m:oMath xmlns:m="http://schemas.openxmlformats.org/officeDocument/2006/math">
                    <m:r>
                      <a:rPr lang="en-US" i="1">
                        <a:solidFill>
                          <a:srgbClr val="0000FF"/>
                        </a:solidFill>
                        <a:latin typeface="Cambria Math" panose="02040503050406030204" pitchFamily="18" charset="0"/>
                      </a:rPr>
                      <m:t>𝑐</m:t>
                    </m:r>
                    <m:r>
                      <a:rPr lang="en-US" i="1">
                        <a:solidFill>
                          <a:srgbClr val="0000FF"/>
                        </a:solidFill>
                        <a:latin typeface="Cambria Math" panose="02040503050406030204" pitchFamily="18" charset="0"/>
                      </a:rPr>
                      <m:t>=</m:t>
                    </m:r>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𝑛</m:t>
                        </m:r>
                      </m:e>
                    </m:func>
                    <m:r>
                      <a:rPr lang="en-US" i="1">
                        <a:latin typeface="Cambria Math" panose="02040503050406030204" pitchFamily="18" charset="0"/>
                      </a:rPr>
                      <m:t>;  </m:t>
                    </m:r>
                  </m:oMath>
                </a14:m>
                <a:r>
                  <a:rPr lang="en-IN" dirty="0">
                    <a:latin typeface="Cambria" panose="02040503050406030204" pitchFamily="18" charset="0"/>
                    <a:ea typeface="Cambria" panose="02040503050406030204" pitchFamily="18" charset="0"/>
                  </a:rPr>
                  <a:t>then </a:t>
                </a:r>
                <a14:m>
                  <m:oMath xmlns:m="http://schemas.openxmlformats.org/officeDocument/2006/math">
                    <m:r>
                      <a:rPr lang="en-US" i="1">
                        <a:solidFill>
                          <a:srgbClr val="0000FF"/>
                        </a:solidFill>
                        <a:latin typeface="Cambria Math" panose="02040503050406030204" pitchFamily="18" charset="0"/>
                      </a:rPr>
                      <m:t>𝐸</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𝑥</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e>
                        </m:func>
                      </m:sup>
                    </m:sSup>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𝑛</m:t>
                        </m:r>
                      </m:num>
                      <m:den>
                        <m:r>
                          <a:rPr lang="en-US" i="1">
                            <a:solidFill>
                              <a:srgbClr val="0000FF"/>
                            </a:solidFill>
                            <a:latin typeface="Cambria Math" panose="02040503050406030204" pitchFamily="18" charset="0"/>
                          </a:rPr>
                          <m:t>𝑛</m:t>
                        </m:r>
                      </m:den>
                    </m:f>
                    <m:r>
                      <a:rPr lang="en-US" i="1">
                        <a:solidFill>
                          <a:srgbClr val="0000FF"/>
                        </a:solidFill>
                        <a:latin typeface="Cambria Math" panose="02040503050406030204" pitchFamily="18" charset="0"/>
                      </a:rPr>
                      <m:t>=1</m:t>
                    </m:r>
                  </m:oMath>
                </a14:m>
                <a:r>
                  <a:rPr lang="en-IN" dirty="0">
                    <a:solidFill>
                      <a:srgbClr val="0000FF"/>
                    </a:solidFill>
                    <a:latin typeface="Cambria" panose="02040503050406030204" pitchFamily="18" charset="0"/>
                    <a:ea typeface="Cambria" panose="02040503050406030204" pitchFamily="18" charset="0"/>
                  </a:rPr>
                  <a:t>   </a:t>
                </a:r>
                <a:r>
                  <a:rPr lang="en-IN" b="1" dirty="0">
                    <a:latin typeface="Cambria" panose="02040503050406030204" pitchFamily="18" charset="0"/>
                    <a:ea typeface="Cambria" panose="02040503050406030204" pitchFamily="18" charset="0"/>
                  </a:rPr>
                  <a:t>(Fewer isolated nodes)           </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If </a:t>
                </a:r>
                <a14:m>
                  <m:oMath xmlns:m="http://schemas.openxmlformats.org/officeDocument/2006/math">
                    <m:r>
                      <a:rPr lang="en-US" i="1">
                        <a:solidFill>
                          <a:srgbClr val="0000FF"/>
                        </a:solidFill>
                        <a:latin typeface="Cambria Math" panose="02040503050406030204" pitchFamily="18" charset="0"/>
                      </a:rPr>
                      <m:t>𝑐</m:t>
                    </m:r>
                    <m:r>
                      <a:rPr lang="en-US" i="1">
                        <a:solidFill>
                          <a:srgbClr val="0000FF"/>
                        </a:solidFill>
                        <a:latin typeface="Cambria Math" panose="02040503050406030204" pitchFamily="18" charset="0"/>
                      </a:rPr>
                      <m:t>=2</m:t>
                    </m:r>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𝑛</m:t>
                        </m:r>
                      </m:e>
                    </m:func>
                    <m:r>
                      <a:rPr lang="en-US" i="1">
                        <a:solidFill>
                          <a:srgbClr val="0000FF"/>
                        </a:solidFill>
                        <a:latin typeface="Cambria Math" panose="02040503050406030204" pitchFamily="18" charset="0"/>
                      </a:rPr>
                      <m:t>;  </m:t>
                    </m:r>
                  </m:oMath>
                </a14:m>
                <a:r>
                  <a:rPr lang="en-IN" dirty="0">
                    <a:latin typeface="Cambria" panose="02040503050406030204" pitchFamily="18" charset="0"/>
                    <a:ea typeface="Cambria" panose="02040503050406030204" pitchFamily="18" charset="0"/>
                  </a:rPr>
                  <a:t>then </a:t>
                </a:r>
                <a14:m>
                  <m:oMath xmlns:m="http://schemas.openxmlformats.org/officeDocument/2006/math">
                    <m:r>
                      <a:rPr lang="en-US" i="1">
                        <a:solidFill>
                          <a:srgbClr val="0000FF"/>
                        </a:solidFill>
                        <a:latin typeface="Cambria Math" panose="02040503050406030204" pitchFamily="18" charset="0"/>
                      </a:rPr>
                      <m:t>𝐸</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𝑥</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𝑛</m:t>
                                </m:r>
                              </m:e>
                              <m:sup>
                                <m:r>
                                  <a:rPr lang="en-US" i="1">
                                    <a:solidFill>
                                      <a:srgbClr val="0000FF"/>
                                    </a:solidFill>
                                    <a:latin typeface="Cambria Math" panose="02040503050406030204" pitchFamily="18" charset="0"/>
                                  </a:rPr>
                                  <m:t>2</m:t>
                                </m:r>
                              </m:sup>
                            </m:sSup>
                            <m:r>
                              <a:rPr lang="en-US" i="1">
                                <a:solidFill>
                                  <a:srgbClr val="0000FF"/>
                                </a:solidFill>
                                <a:latin typeface="Cambria Math" panose="02040503050406030204" pitchFamily="18" charset="0"/>
                              </a:rPr>
                              <m:t>  </m:t>
                            </m:r>
                          </m:e>
                        </m:func>
                      </m:sup>
                    </m:sSup>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𝑛</m:t>
                        </m:r>
                      </m:num>
                      <m:den>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𝑛</m:t>
                            </m:r>
                          </m:e>
                          <m:sup>
                            <m:r>
                              <a:rPr lang="en-US" i="1">
                                <a:solidFill>
                                  <a:srgbClr val="0000FF"/>
                                </a:solidFill>
                                <a:latin typeface="Cambria Math" panose="02040503050406030204" pitchFamily="18" charset="0"/>
                              </a:rPr>
                              <m:t>2</m:t>
                            </m:r>
                          </m:sup>
                        </m:sSup>
                      </m:den>
                    </m:f>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1 </m:t>
                        </m:r>
                      </m:num>
                      <m:den>
                        <m:r>
                          <a:rPr lang="en-US" i="1">
                            <a:solidFill>
                              <a:srgbClr val="0000FF"/>
                            </a:solidFill>
                            <a:latin typeface="Cambria Math" panose="02040503050406030204" pitchFamily="18" charset="0"/>
                          </a:rPr>
                          <m:t>𝑛</m:t>
                        </m:r>
                      </m:den>
                    </m:f>
                    <m:r>
                      <a:rPr lang="en-US" i="1">
                        <a:solidFill>
                          <a:srgbClr val="0000FF"/>
                        </a:solidFill>
                        <a:latin typeface="Cambria Math" panose="02040503050406030204" pitchFamily="18" charset="0"/>
                      </a:rPr>
                      <m:t>→0</m:t>
                    </m:r>
                    <m:r>
                      <a:rPr lang="en-US" i="1">
                        <a:latin typeface="Cambria Math" panose="02040503050406030204" pitchFamily="18" charset="0"/>
                      </a:rPr>
                      <m:t> </m:t>
                    </m:r>
                  </m:oMath>
                </a14:m>
                <a:r>
                  <a:rPr lang="en-IN" dirty="0">
                    <a:latin typeface="Cambria" panose="02040503050406030204" pitchFamily="18" charset="0"/>
                    <a:ea typeface="Cambria" panose="02040503050406030204" pitchFamily="18" charset="0"/>
                  </a:rPr>
                  <a:t> if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oMath>
                </a14:m>
                <a:r>
                  <a:rPr lang="en-IN" dirty="0">
                    <a:latin typeface="Cambria" panose="02040503050406030204" pitchFamily="18" charset="0"/>
                    <a:ea typeface="Cambria" panose="02040503050406030204" pitchFamily="18" charset="0"/>
                  </a:rPr>
                  <a:t> </a:t>
                </a:r>
                <a:r>
                  <a:rPr lang="en-IN" b="1" dirty="0">
                    <a:latin typeface="Cambria" panose="02040503050406030204" pitchFamily="18" charset="0"/>
                    <a:ea typeface="Cambria" panose="02040503050406030204" pitchFamily="18" charset="0"/>
                  </a:rPr>
                  <a:t>(No isolated nodes) </a:t>
                </a:r>
                <a:endParaRPr lang="en-IN"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p:txBody>
          </p:sp>
        </mc:Choice>
        <mc:Fallback xmlns="">
          <p:sp>
            <p:nvSpPr>
              <p:cNvPr id="13" name="TextBox 12">
                <a:extLst>
                  <a:ext uri="{FF2B5EF4-FFF2-40B4-BE49-F238E27FC236}">
                    <a16:creationId xmlns:a16="http://schemas.microsoft.com/office/drawing/2014/main" id="{F0BC972A-57EF-7294-2AA5-4439057EA732}"/>
                  </a:ext>
                </a:extLst>
              </p:cNvPr>
              <p:cNvSpPr txBox="1">
                <a:spLocks noRot="1" noChangeAspect="1" noMove="1" noResize="1" noEditPoints="1" noAdjustHandles="1" noChangeArrowheads="1" noChangeShapeType="1" noTextEdit="1"/>
              </p:cNvSpPr>
              <p:nvPr/>
            </p:nvSpPr>
            <p:spPr>
              <a:xfrm>
                <a:off x="1893587" y="5282120"/>
                <a:ext cx="8619796" cy="1132554"/>
              </a:xfrm>
              <a:prstGeom prst="rect">
                <a:avLst/>
              </a:prstGeom>
              <a:blipFill>
                <a:blip r:embed="rId7"/>
                <a:stretch>
                  <a:fillRect l="-495" t="-538"/>
                </a:stretch>
              </a:blipFill>
            </p:spPr>
            <p:txBody>
              <a:bodyPr/>
              <a:lstStyle/>
              <a:p>
                <a:r>
                  <a:rPr lang="en-IN">
                    <a:noFill/>
                  </a:rPr>
                  <a:t> </a:t>
                </a:r>
              </a:p>
            </p:txBody>
          </p:sp>
        </mc:Fallback>
      </mc:AlternateContent>
    </p:spTree>
    <p:extLst>
      <p:ext uri="{BB962C8B-B14F-4D97-AF65-F5344CB8AC3E}">
        <p14:creationId xmlns:p14="http://schemas.microsoft.com/office/powerpoint/2010/main" val="247671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anim calcmode="lin" valueType="num">
                                      <p:cBhvr additive="base">
                                        <p:cTn id="1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1" end="1"/>
                                            </p:txEl>
                                          </p:spTgt>
                                        </p:tgtEl>
                                        <p:attrNameLst>
                                          <p:attrName>style.visibility</p:attrName>
                                        </p:attrNameLst>
                                      </p:cBhvr>
                                      <p:to>
                                        <p:strVal val="visible"/>
                                      </p:to>
                                    </p:set>
                                    <p:anim calcmode="lin" valueType="num">
                                      <p:cBhvr additive="base">
                                        <p:cTn id="19"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C62395E-75A8-EA50-9373-BB5C20443D4D}"/>
              </a:ext>
            </a:extLst>
          </p:cNvPr>
          <p:cNvSpPr>
            <a:spLocks noGrp="1"/>
          </p:cNvSpPr>
          <p:nvPr>
            <p:ph type="dt" sz="half" idx="10"/>
          </p:nvPr>
        </p:nvSpPr>
        <p:spPr/>
        <p:txBody>
          <a:bodyPr/>
          <a:lstStyle/>
          <a:p>
            <a:fld id="{41BE646C-3CC9-4ED9-BCDC-2A56D5AA3539}" type="datetime1">
              <a:rPr lang="en-US" smtClean="0"/>
              <a:t>9/10/2026</a:t>
            </a:fld>
            <a:endParaRPr lang="en-IN"/>
          </a:p>
        </p:txBody>
      </p:sp>
      <p:sp>
        <p:nvSpPr>
          <p:cNvPr id="5" name="Footer Placeholder 4">
            <a:extLst>
              <a:ext uri="{FF2B5EF4-FFF2-40B4-BE49-F238E27FC236}">
                <a16:creationId xmlns:a16="http://schemas.microsoft.com/office/drawing/2014/main" id="{0956D50D-36F4-05BF-5118-8ED9AD29BF16}"/>
              </a:ext>
            </a:extLst>
          </p:cNvPr>
          <p:cNvSpPr>
            <a:spLocks noGrp="1"/>
          </p:cNvSpPr>
          <p:nvPr>
            <p:ph type="ftr" sz="quarter" idx="11"/>
          </p:nvPr>
        </p:nvSpPr>
        <p:spPr/>
        <p:txBody>
          <a:bodyPr/>
          <a:lstStyle/>
          <a:p>
            <a:r>
              <a:rPr lang="en-IN"/>
              <a:t>C.H, CCNSB</a:t>
            </a:r>
          </a:p>
        </p:txBody>
      </p:sp>
      <p:sp>
        <p:nvSpPr>
          <p:cNvPr id="6" name="Slide Number Placeholder 5">
            <a:extLst>
              <a:ext uri="{FF2B5EF4-FFF2-40B4-BE49-F238E27FC236}">
                <a16:creationId xmlns:a16="http://schemas.microsoft.com/office/drawing/2014/main" id="{CA03B918-BDD5-8587-DA9E-D17DA43D0F30}"/>
              </a:ext>
            </a:extLst>
          </p:cNvPr>
          <p:cNvSpPr>
            <a:spLocks noGrp="1"/>
          </p:cNvSpPr>
          <p:nvPr>
            <p:ph type="sldNum" sz="quarter" idx="12"/>
          </p:nvPr>
        </p:nvSpPr>
        <p:spPr/>
        <p:txBody>
          <a:bodyPr/>
          <a:lstStyle/>
          <a:p>
            <a:fld id="{40FF48A1-BBC9-46E7-A4CC-5BFD9B1F42DF}" type="slidenum">
              <a:rPr lang="en-IN" smtClean="0"/>
              <a:pPr/>
              <a:t>53</a:t>
            </a:fld>
            <a:endParaRPr lang="en-IN"/>
          </a:p>
        </p:txBody>
      </p:sp>
      <p:sp>
        <p:nvSpPr>
          <p:cNvPr id="7" name="Title 1">
            <a:extLst>
              <a:ext uri="{FF2B5EF4-FFF2-40B4-BE49-F238E27FC236}">
                <a16:creationId xmlns:a16="http://schemas.microsoft.com/office/drawing/2014/main" id="{11B60FD9-565F-25B3-0C94-6B5ED1CB5AA5}"/>
              </a:ext>
            </a:extLst>
          </p:cNvPr>
          <p:cNvSpPr txBox="1">
            <a:spLocks/>
          </p:cNvSpPr>
          <p:nvPr/>
        </p:nvSpPr>
        <p:spPr>
          <a:xfrm>
            <a:off x="2999656" y="126243"/>
            <a:ext cx="6000792" cy="642942"/>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fontScale="70000" lnSpcReduction="20000"/>
          </a:bodyPr>
          <a:lstStyle/>
          <a:p>
            <a:pPr algn="ctr"/>
            <a:r>
              <a:rPr lang="en-IN" sz="3200" dirty="0">
                <a:solidFill>
                  <a:srgbClr val="FF0000"/>
                </a:solidFill>
                <a:latin typeface="Cambria" panose="02040503050406030204" pitchFamily="18" charset="0"/>
                <a:ea typeface="Cambria" panose="02040503050406030204" pitchFamily="18" charset="0"/>
              </a:rPr>
              <a:t>    </a:t>
            </a:r>
            <a:r>
              <a:rPr lang="en-IN" sz="3200" b="1" dirty="0">
                <a:solidFill>
                  <a:srgbClr val="FF0000"/>
                </a:solidFill>
                <a:latin typeface="Cambria" panose="02040503050406030204" pitchFamily="18" charset="0"/>
                <a:ea typeface="Cambria" panose="02040503050406030204" pitchFamily="18" charset="0"/>
              </a:rPr>
              <a:t>Properties of  Random Network (ER): Isolated nodes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6A878C8-C03C-E638-2012-5FCFF4E32400}"/>
                  </a:ext>
                </a:extLst>
              </p:cNvPr>
              <p:cNvSpPr txBox="1"/>
              <p:nvPr/>
            </p:nvSpPr>
            <p:spPr>
              <a:xfrm>
                <a:off x="3359696" y="1196752"/>
                <a:ext cx="4572000" cy="504946"/>
              </a:xfrm>
              <a:prstGeom prst="rect">
                <a:avLst/>
              </a:prstGeom>
              <a:noFill/>
            </p:spPr>
            <p:txBody>
              <a:bodyPr wrap="square">
                <a:spAutoFit/>
              </a:bodyPr>
              <a:lstStyle/>
              <a:p>
                <a:pPr>
                  <a:buNone/>
                </a:pPr>
                <a:r>
                  <a:rPr lang="en-IN" b="1" dirty="0">
                    <a:latin typeface="Cambria" panose="02040503050406030204" pitchFamily="18" charset="0"/>
                    <a:ea typeface="Cambria" panose="02040503050406030204" pitchFamily="18" charset="0"/>
                  </a:rPr>
                  <a:t>Insert </a:t>
                </a:r>
                <a14:m>
                  <m:oMath xmlns:m="http://schemas.openxmlformats.org/officeDocument/2006/math">
                    <m:r>
                      <a:rPr lang="en-IN" i="1">
                        <a:solidFill>
                          <a:srgbClr val="0000FF"/>
                        </a:solidFill>
                        <a:latin typeface="Cambria Math" panose="02040503050406030204" pitchFamily="18" charset="0"/>
                      </a:rPr>
                      <m:t>𝑝</m:t>
                    </m:r>
                    <m:r>
                      <a:rPr lang="en-IN">
                        <a:solidFill>
                          <a:srgbClr val="0000FF"/>
                        </a:solidFill>
                        <a:latin typeface="Cambria Math" panose="02040503050406030204" pitchFamily="18" charset="0"/>
                      </a:rPr>
                      <m:t>=</m:t>
                    </m:r>
                    <m:f>
                      <m:fPr>
                        <m:ctrlPr>
                          <a:rPr lang="en-IN" i="1">
                            <a:solidFill>
                              <a:srgbClr val="0000FF"/>
                            </a:solidFill>
                            <a:latin typeface="Cambria Math" panose="02040503050406030204" pitchFamily="18" charset="0"/>
                          </a:rPr>
                        </m:ctrlPr>
                      </m:fPr>
                      <m:num>
                        <m:func>
                          <m:funcPr>
                            <m:ctrlPr>
                              <a:rPr lang="en-IN">
                                <a:solidFill>
                                  <a:srgbClr val="0000FF"/>
                                </a:solidFill>
                                <a:latin typeface="Cambria Math" panose="02040503050406030204" pitchFamily="18" charset="0"/>
                              </a:rPr>
                            </m:ctrlPr>
                          </m:funcPr>
                          <m:fName>
                            <m:r>
                              <m:rPr>
                                <m:sty m:val="p"/>
                              </m:rPr>
                              <a:rPr lang="en-IN">
                                <a:solidFill>
                                  <a:srgbClr val="0000FF"/>
                                </a:solidFill>
                                <a:latin typeface="Cambria Math" panose="02040503050406030204" pitchFamily="18" charset="0"/>
                              </a:rPr>
                              <m:t>l</m:t>
                            </m:r>
                            <m:r>
                              <a:rPr lang="en-US" i="1">
                                <a:solidFill>
                                  <a:srgbClr val="0000FF"/>
                                </a:solidFill>
                                <a:latin typeface="Cambria Math" panose="02040503050406030204" pitchFamily="18" charset="0"/>
                              </a:rPr>
                              <m:t>𝑛</m:t>
                            </m:r>
                          </m:fName>
                          <m:e>
                            <m:r>
                              <a:rPr lang="ar-AE" i="1">
                                <a:solidFill>
                                  <a:srgbClr val="0000FF"/>
                                </a:solidFill>
                                <a:latin typeface="Cambria Math" panose="02040503050406030204" pitchFamily="18" charset="0"/>
                              </a:rPr>
                              <m:t>𝑛</m:t>
                            </m:r>
                          </m:e>
                        </m:func>
                        <m:r>
                          <a:rPr lang="ar-AE">
                            <a:solidFill>
                              <a:srgbClr val="0000FF"/>
                            </a:solidFill>
                            <a:latin typeface="Cambria Math" panose="02040503050406030204" pitchFamily="18" charset="0"/>
                          </a:rPr>
                          <m:t>+</m:t>
                        </m:r>
                        <m:r>
                          <a:rPr lang="ar-AE" i="1">
                            <a:solidFill>
                              <a:srgbClr val="0000FF"/>
                            </a:solidFill>
                            <a:latin typeface="Cambria Math" panose="02040503050406030204" pitchFamily="18" charset="0"/>
                          </a:rPr>
                          <m:t>𝜔</m:t>
                        </m:r>
                        <m:d>
                          <m:dPr>
                            <m:ctrlPr>
                              <a:rPr lang="ar-AE" i="1">
                                <a:solidFill>
                                  <a:srgbClr val="0000FF"/>
                                </a:solidFill>
                                <a:latin typeface="Cambria Math" panose="02040503050406030204" pitchFamily="18" charset="0"/>
                              </a:rPr>
                            </m:ctrlPr>
                          </m:dPr>
                          <m:e>
                            <m:r>
                              <a:rPr lang="ar-AE" i="1">
                                <a:solidFill>
                                  <a:srgbClr val="0000FF"/>
                                </a:solidFill>
                                <a:latin typeface="Cambria Math" panose="02040503050406030204" pitchFamily="18" charset="0"/>
                              </a:rPr>
                              <m:t>𝑛</m:t>
                            </m:r>
                          </m:e>
                        </m:d>
                      </m:num>
                      <m:den>
                        <m:r>
                          <a:rPr lang="ar-AE" i="1">
                            <a:solidFill>
                              <a:srgbClr val="0000FF"/>
                            </a:solidFill>
                            <a:latin typeface="Cambria Math" panose="02040503050406030204" pitchFamily="18" charset="0"/>
                          </a:rPr>
                          <m:t>𝑛</m:t>
                        </m:r>
                      </m:den>
                    </m:f>
                  </m:oMath>
                </a14:m>
                <a:endParaRPr lang="ar-AE" b="1" dirty="0">
                  <a:latin typeface="Cambria" panose="02040503050406030204" pitchFamily="18" charset="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66A878C8-C03C-E638-2012-5FCFF4E32400}"/>
                  </a:ext>
                </a:extLst>
              </p:cNvPr>
              <p:cNvSpPr txBox="1">
                <a:spLocks noRot="1" noChangeAspect="1" noMove="1" noResize="1" noEditPoints="1" noAdjustHandles="1" noChangeArrowheads="1" noChangeShapeType="1" noTextEdit="1"/>
              </p:cNvSpPr>
              <p:nvPr/>
            </p:nvSpPr>
            <p:spPr>
              <a:xfrm>
                <a:off x="3359696" y="1196752"/>
                <a:ext cx="4572000" cy="504946"/>
              </a:xfrm>
              <a:prstGeom prst="rect">
                <a:avLst/>
              </a:prstGeom>
              <a:blipFill>
                <a:blip r:embed="rId2"/>
                <a:stretch>
                  <a:fillRect l="-1067" b="-481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CBDBF21-8A91-9929-415B-14682F36EF13}"/>
                  </a:ext>
                </a:extLst>
              </p:cNvPr>
              <p:cNvSpPr txBox="1"/>
              <p:nvPr/>
            </p:nvSpPr>
            <p:spPr>
              <a:xfrm>
                <a:off x="6481345" y="1196752"/>
                <a:ext cx="3191710" cy="369332"/>
              </a:xfrm>
              <a:prstGeom prst="rect">
                <a:avLst/>
              </a:prstGeom>
              <a:noFill/>
            </p:spPr>
            <p:txBody>
              <a:bodyPr wrap="square">
                <a:spAutoFit/>
              </a:bodyPr>
              <a:lstStyle/>
              <a:p>
                <a:pPr/>
                <a14:m>
                  <m:oMathPara xmlns:m="http://schemas.openxmlformats.org/officeDocument/2006/math">
                    <m:oMath>
                      <m:r>
                        <a:rPr lang="en-US" i="1">
                          <a:solidFill>
                            <a:srgbClr val="0000FF"/>
                          </a:solidFill>
                          <a:latin typeface="Cambria Math" panose="02040503050406030204" pitchFamily="18" charset="0"/>
                        </a:rPr>
                        <m:t>𝐸</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𝑋</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𝑐</m:t>
                          </m:r>
                        </m:sup>
                      </m:s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𝑛𝑝</m:t>
                          </m:r>
                        </m:sup>
                      </m:sSup>
                    </m:oMath>
                  </m:oMathPara>
                </a14:m>
                <a:endParaRPr lang="en-IN" dirty="0">
                  <a:latin typeface="Cambria" panose="02040503050406030204" pitchFamily="18" charset="0"/>
                  <a:ea typeface="Cambria" panose="02040503050406030204" pitchFamily="18" charset="0"/>
                </a:endParaRPr>
              </a:p>
            </p:txBody>
          </p:sp>
        </mc:Choice>
        <mc:Fallback xmlns="">
          <p:sp>
            <p:nvSpPr>
              <p:cNvPr id="10" name="TextBox 9">
                <a:extLst>
                  <a:ext uri="{FF2B5EF4-FFF2-40B4-BE49-F238E27FC236}">
                    <a16:creationId xmlns:a16="http://schemas.microsoft.com/office/drawing/2014/main" id="{BCBDBF21-8A91-9929-415B-14682F36EF13}"/>
                  </a:ext>
                </a:extLst>
              </p:cNvPr>
              <p:cNvSpPr txBox="1">
                <a:spLocks noRot="1" noChangeAspect="1" noMove="1" noResize="1" noEditPoints="1" noAdjustHandles="1" noChangeArrowheads="1" noChangeShapeType="1" noTextEdit="1"/>
              </p:cNvSpPr>
              <p:nvPr/>
            </p:nvSpPr>
            <p:spPr>
              <a:xfrm>
                <a:off x="6481345" y="1196752"/>
                <a:ext cx="3191710"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DD72415-CF06-D509-A3D7-D40F091F4FA3}"/>
                  </a:ext>
                </a:extLst>
              </p:cNvPr>
              <p:cNvSpPr txBox="1"/>
              <p:nvPr/>
            </p:nvSpPr>
            <p:spPr>
              <a:xfrm>
                <a:off x="1775520" y="2204865"/>
                <a:ext cx="8784976" cy="704745"/>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Here </a:t>
                </a:r>
                <a14:m>
                  <m:oMath xmlns:m="http://schemas.openxmlformats.org/officeDocument/2006/math">
                    <m:r>
                      <a:rPr lang="en-IN" i="1">
                        <a:solidFill>
                          <a:srgbClr val="0000FF"/>
                        </a:solidFill>
                        <a:latin typeface="Cambria Math" panose="02040503050406030204" pitchFamily="18" charset="0"/>
                      </a:rPr>
                      <m:t>𝜔</m:t>
                    </m:r>
                    <m:d>
                      <m:dPr>
                        <m:ctrlPr>
                          <a:rPr lang="ar-AE" i="1">
                            <a:solidFill>
                              <a:srgbClr val="0000FF"/>
                            </a:solidFill>
                            <a:latin typeface="Cambria Math" panose="02040503050406030204" pitchFamily="18" charset="0"/>
                          </a:rPr>
                        </m:ctrlPr>
                      </m:dPr>
                      <m:e>
                        <m:r>
                          <a:rPr lang="ar-AE" i="1">
                            <a:solidFill>
                              <a:srgbClr val="0000FF"/>
                            </a:solidFill>
                            <a:latin typeface="Cambria Math" panose="02040503050406030204" pitchFamily="18" charset="0"/>
                          </a:rPr>
                          <m:t>𝑛</m:t>
                        </m:r>
                      </m:e>
                    </m:d>
                  </m:oMath>
                </a14:m>
                <a:r>
                  <a:rPr lang="en-IN" dirty="0">
                    <a:latin typeface="Cambria" panose="02040503050406030204" pitchFamily="18" charset="0"/>
                    <a:ea typeface="Cambria" panose="02040503050406030204" pitchFamily="18" charset="0"/>
                  </a:rPr>
                  <a:t>is any function that grows slowly or quickly, but </a:t>
                </a:r>
                <a:r>
                  <a:rPr lang="en-IN" b="1" dirty="0">
                    <a:latin typeface="Cambria" panose="02040503050406030204" pitchFamily="18" charset="0"/>
                    <a:ea typeface="Cambria" panose="02040503050406030204" pitchFamily="18" charset="0"/>
                  </a:rPr>
                  <a:t>tends to infinity as </a:t>
                </a:r>
                <a14:m>
                  <m:oMath xmlns:m="http://schemas.openxmlformats.org/officeDocument/2006/math">
                    <m:r>
                      <a:rPr lang="en-US" i="1" dirty="0">
                        <a:latin typeface="Cambria Math" panose="02040503050406030204" pitchFamily="18" charset="0"/>
                      </a:rPr>
                      <m:t>𝑛</m:t>
                    </m:r>
                    <m:r>
                      <a:rPr lang="en-US" i="1" dirty="0">
                        <a:latin typeface="Cambria Math" panose="02040503050406030204" pitchFamily="18" charset="0"/>
                      </a:rPr>
                      <m:t>→∞ </m:t>
                    </m:r>
                  </m:oMath>
                </a14:m>
                <a:r>
                  <a:rPr lang="en-IN" dirty="0">
                    <a:latin typeface="Cambria" panose="02040503050406030204" pitchFamily="18" charset="0"/>
                    <a:ea typeface="Cambria" panose="02040503050406030204" pitchFamily="18" charset="0"/>
                  </a:rPr>
                  <a:t> (e.g., </a:t>
                </a:r>
                <a14:m>
                  <m:oMath xmlns:m="http://schemas.openxmlformats.org/officeDocument/2006/math">
                    <m:func>
                      <m:funcPr>
                        <m:ctrlPr>
                          <a:rPr lang="en-IN" i="1">
                            <a:solidFill>
                              <a:srgbClr val="0000FF"/>
                            </a:solidFill>
                            <a:latin typeface="Cambria Math" panose="02040503050406030204" pitchFamily="18" charset="0"/>
                          </a:rPr>
                        </m:ctrlPr>
                      </m:funcPr>
                      <m:fName>
                        <m:func>
                          <m:funcPr>
                            <m:ctrlPr>
                              <a:rPr lang="en-IN">
                                <a:solidFill>
                                  <a:srgbClr val="0000FF"/>
                                </a:solidFill>
                                <a:latin typeface="Cambria Math" panose="02040503050406030204" pitchFamily="18" charset="0"/>
                              </a:rPr>
                            </m:ctrlPr>
                          </m:funcPr>
                          <m:fName>
                            <m:r>
                              <m:rPr>
                                <m:sty m:val="p"/>
                              </m:rPr>
                              <a:rPr lang="en-IN">
                                <a:solidFill>
                                  <a:srgbClr val="0000FF"/>
                                </a:solidFill>
                                <a:latin typeface="Cambria Math" panose="02040503050406030204" pitchFamily="18" charset="0"/>
                              </a:rPr>
                              <m:t>log</m:t>
                            </m:r>
                          </m:fName>
                          <m:e>
                            <m:r>
                              <m:rPr>
                                <m:sty m:val="p"/>
                              </m:rPr>
                              <a:rPr lang="en-IN">
                                <a:solidFill>
                                  <a:srgbClr val="0000FF"/>
                                </a:solidFill>
                                <a:latin typeface="Cambria Math" panose="02040503050406030204" pitchFamily="18" charset="0"/>
                              </a:rPr>
                              <m:t>log</m:t>
                            </m:r>
                          </m:e>
                        </m:func>
                      </m:fName>
                      <m:e>
                        <m:r>
                          <a:rPr lang="ar-AE" i="1">
                            <a:solidFill>
                              <a:srgbClr val="0000FF"/>
                            </a:solidFill>
                            <a:latin typeface="Cambria Math" panose="02040503050406030204" pitchFamily="18" charset="0"/>
                          </a:rPr>
                          <m:t>𝑛</m:t>
                        </m:r>
                      </m:e>
                    </m:func>
                  </m:oMath>
                </a14:m>
                <a:r>
                  <a:rPr lang="ar-AE" dirty="0">
                    <a:solidFill>
                      <a:srgbClr val="0000FF"/>
                    </a:solidFill>
                    <a:latin typeface="Cambria" panose="02040503050406030204" pitchFamily="18" charset="0"/>
                    <a:ea typeface="Cambria" panose="02040503050406030204" pitchFamily="18" charset="0"/>
                  </a:rPr>
                  <a:t>, </a:t>
                </a:r>
                <a14:m>
                  <m:oMath xmlns:m="http://schemas.openxmlformats.org/officeDocument/2006/math">
                    <m:rad>
                      <m:radPr>
                        <m:degHide m:val="on"/>
                        <m:ctrlPr>
                          <a:rPr lang="ar-AE" i="1">
                            <a:solidFill>
                              <a:srgbClr val="0000FF"/>
                            </a:solidFill>
                            <a:latin typeface="Cambria Math" panose="02040503050406030204" pitchFamily="18" charset="0"/>
                          </a:rPr>
                        </m:ctrlPr>
                      </m:radPr>
                      <m:deg/>
                      <m:e>
                        <m:func>
                          <m:funcPr>
                            <m:ctrlPr>
                              <a:rPr lang="en-IN">
                                <a:solidFill>
                                  <a:srgbClr val="0000FF"/>
                                </a:solidFill>
                                <a:latin typeface="Cambria Math" panose="02040503050406030204" pitchFamily="18" charset="0"/>
                              </a:rPr>
                            </m:ctrlPr>
                          </m:funcPr>
                          <m:fName>
                            <m:r>
                              <m:rPr>
                                <m:sty m:val="p"/>
                              </m:rPr>
                              <a:rPr lang="en-IN">
                                <a:solidFill>
                                  <a:srgbClr val="0000FF"/>
                                </a:solidFill>
                                <a:latin typeface="Cambria Math" panose="02040503050406030204" pitchFamily="18" charset="0"/>
                              </a:rPr>
                              <m:t>log</m:t>
                            </m:r>
                          </m:fName>
                          <m:e>
                            <m:r>
                              <a:rPr lang="ar-AE" i="1">
                                <a:solidFill>
                                  <a:srgbClr val="0000FF"/>
                                </a:solidFill>
                                <a:latin typeface="Cambria Math" panose="02040503050406030204" pitchFamily="18" charset="0"/>
                              </a:rPr>
                              <m:t>𝑛</m:t>
                            </m:r>
                          </m:e>
                        </m:func>
                      </m:e>
                    </m:rad>
                  </m:oMath>
                </a14:m>
                <a:r>
                  <a:rPr lang="ar-AE" dirty="0">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etc.).</a:t>
                </a:r>
              </a:p>
            </p:txBody>
          </p:sp>
        </mc:Choice>
        <mc:Fallback xmlns="">
          <p:sp>
            <p:nvSpPr>
              <p:cNvPr id="12" name="TextBox 11">
                <a:extLst>
                  <a:ext uri="{FF2B5EF4-FFF2-40B4-BE49-F238E27FC236}">
                    <a16:creationId xmlns:a16="http://schemas.microsoft.com/office/drawing/2014/main" id="{3DD72415-CF06-D509-A3D7-D40F091F4FA3}"/>
                  </a:ext>
                </a:extLst>
              </p:cNvPr>
              <p:cNvSpPr txBox="1">
                <a:spLocks noRot="1" noChangeAspect="1" noMove="1" noResize="1" noEditPoints="1" noAdjustHandles="1" noChangeArrowheads="1" noChangeShapeType="1" noTextEdit="1"/>
              </p:cNvSpPr>
              <p:nvPr/>
            </p:nvSpPr>
            <p:spPr>
              <a:xfrm>
                <a:off x="1775520" y="2204865"/>
                <a:ext cx="8784976" cy="704745"/>
              </a:xfrm>
              <a:prstGeom prst="rect">
                <a:avLst/>
              </a:prstGeom>
              <a:blipFill>
                <a:blip r:embed="rId4"/>
                <a:stretch>
                  <a:fillRect l="-555" t="-6087" b="-113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9677578-C06D-FC8E-3B86-70E8FA48076E}"/>
                  </a:ext>
                </a:extLst>
              </p:cNvPr>
              <p:cNvSpPr txBox="1"/>
              <p:nvPr/>
            </p:nvSpPr>
            <p:spPr>
              <a:xfrm>
                <a:off x="2952953" y="3144234"/>
                <a:ext cx="7056784" cy="492379"/>
              </a:xfrm>
              <a:prstGeom prst="rect">
                <a:avLst/>
              </a:prstGeom>
              <a:noFill/>
            </p:spPr>
            <p:txBody>
              <a:bodyPr wrap="square">
                <a:spAutoFit/>
              </a:bodyPr>
              <a:lstStyle/>
              <a:p>
                <a14:m>
                  <m:oMath xmlns:m="http://schemas.openxmlformats.org/officeDocument/2006/math">
                    <m:r>
                      <a:rPr lang="en-US" i="1">
                        <a:solidFill>
                          <a:srgbClr val="0000FF"/>
                        </a:solidFill>
                        <a:latin typeface="Cambria Math" panose="02040503050406030204" pitchFamily="18" charset="0"/>
                      </a:rPr>
                      <m:t>𝐸</m:t>
                    </m:r>
                    <m:d>
                      <m:dPr>
                        <m:ctrlPr>
                          <a:rPr lang="en-US" i="1">
                            <a:solidFill>
                              <a:srgbClr val="0000FF"/>
                            </a:solidFill>
                            <a:latin typeface="Cambria Math" panose="02040503050406030204" pitchFamily="18" charset="0"/>
                          </a:rPr>
                        </m:ctrlPr>
                      </m:dPr>
                      <m:e>
                        <m:r>
                          <a:rPr lang="en-US" i="1">
                            <a:solidFill>
                              <a:srgbClr val="0000FF"/>
                            </a:solidFill>
                            <a:latin typeface="Cambria Math" panose="02040503050406030204" pitchFamily="18" charset="0"/>
                          </a:rPr>
                          <m:t>𝑋</m:t>
                        </m:r>
                      </m:e>
                    </m:d>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𝑛𝑝</m:t>
                        </m:r>
                      </m:sup>
                    </m:s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f>
                          <m:fPr>
                            <m:ctrlPr>
                              <a:rPr lang="en-US" i="1">
                                <a:solidFill>
                                  <a:srgbClr val="0000FF"/>
                                </a:solidFill>
                                <a:latin typeface="Cambria Math" panose="02040503050406030204" pitchFamily="18" charset="0"/>
                              </a:rPr>
                            </m:ctrlPr>
                          </m:fPr>
                          <m:num>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ar-AE" i="1">
                                    <a:solidFill>
                                      <a:srgbClr val="0000FF"/>
                                    </a:solidFill>
                                    <a:latin typeface="Cambria Math" panose="02040503050406030204" pitchFamily="18" charset="0"/>
                                  </a:rPr>
                                  <m:t>𝑛</m:t>
                                </m:r>
                              </m:e>
                            </m:func>
                            <m:r>
                              <a:rPr lang="ar-AE">
                                <a:solidFill>
                                  <a:srgbClr val="0000FF"/>
                                </a:solidFill>
                                <a:latin typeface="Cambria Math" panose="02040503050406030204" pitchFamily="18" charset="0"/>
                              </a:rPr>
                              <m:t>+</m:t>
                            </m:r>
                            <m:r>
                              <a:rPr lang="ar-AE" i="1">
                                <a:solidFill>
                                  <a:srgbClr val="0000FF"/>
                                </a:solidFill>
                                <a:latin typeface="Cambria Math" panose="02040503050406030204" pitchFamily="18" charset="0"/>
                              </a:rPr>
                              <m:t>𝜔</m:t>
                            </m:r>
                            <m:d>
                              <m:dPr>
                                <m:ctrlPr>
                                  <a:rPr lang="ar-AE" i="1">
                                    <a:solidFill>
                                      <a:srgbClr val="0000FF"/>
                                    </a:solidFill>
                                    <a:latin typeface="Cambria Math" panose="02040503050406030204" pitchFamily="18" charset="0"/>
                                  </a:rPr>
                                </m:ctrlPr>
                              </m:dPr>
                              <m:e>
                                <m:r>
                                  <a:rPr lang="ar-AE" i="1">
                                    <a:solidFill>
                                      <a:srgbClr val="0000FF"/>
                                    </a:solidFill>
                                    <a:latin typeface="Cambria Math" panose="02040503050406030204" pitchFamily="18" charset="0"/>
                                  </a:rPr>
                                  <m:t>𝑛</m:t>
                                </m:r>
                              </m:e>
                            </m:d>
                          </m:num>
                          <m:den>
                            <m:r>
                              <a:rPr lang="ar-AE" i="1">
                                <a:solidFill>
                                  <a:srgbClr val="0000FF"/>
                                </a:solidFill>
                                <a:latin typeface="Cambria Math" panose="02040503050406030204" pitchFamily="18" charset="0"/>
                              </a:rPr>
                              <m:t>𝑛</m:t>
                            </m:r>
                          </m:den>
                        </m:f>
                      </m:sup>
                    </m:s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 </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func>
                          <m:funcPr>
                            <m:ctrlPr>
                              <a:rPr lang="en-US">
                                <a:solidFill>
                                  <a:srgbClr val="0000FF"/>
                                </a:solidFill>
                                <a:latin typeface="Cambria Math" panose="02040503050406030204" pitchFamily="18" charset="0"/>
                              </a:rPr>
                            </m:ctrlPr>
                          </m:funcPr>
                          <m:fName>
                            <m:r>
                              <m:rPr>
                                <m:sty m:val="p"/>
                              </m:rPr>
                              <a:rPr lang="en-US">
                                <a:solidFill>
                                  <a:srgbClr val="0000FF"/>
                                </a:solidFill>
                                <a:latin typeface="Cambria Math" panose="02040503050406030204" pitchFamily="18" charset="0"/>
                              </a:rPr>
                              <m:t>ln</m:t>
                            </m:r>
                          </m:fName>
                          <m:e>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𝑤</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m:t>
                            </m:r>
                          </m:e>
                        </m:func>
                      </m:sup>
                    </m:sSup>
                    <m:r>
                      <a:rPr lang="en-US" i="1">
                        <a:solidFill>
                          <a:srgbClr val="0000FF"/>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𝒆</m:t>
                        </m:r>
                      </m:e>
                      <m:sup>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𝒘</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𝒏</m:t>
                        </m:r>
                        <m:r>
                          <a:rPr lang="en-US" b="1" i="1">
                            <a:solidFill>
                              <a:srgbClr val="FF0000"/>
                            </a:solidFill>
                            <a:latin typeface="Cambria Math" panose="02040503050406030204" pitchFamily="18" charset="0"/>
                          </a:rPr>
                          <m:t>)</m:t>
                        </m:r>
                      </m:sup>
                    </m:sSup>
                    <m:r>
                      <a:rPr lang="en-US" b="1">
                        <a:solidFill>
                          <a:srgbClr val="FF0000"/>
                        </a:solidFill>
                        <a:latin typeface="Cambria Math" panose="02040503050406030204" pitchFamily="18" charset="0"/>
                      </a:rPr>
                      <m:t> </m:t>
                    </m:r>
                  </m:oMath>
                </a14:m>
                <a:r>
                  <a:rPr lang="en-IN" b="1" dirty="0">
                    <a:solidFill>
                      <a:srgbClr val="FF0000"/>
                    </a:solidFill>
                    <a:latin typeface="Cambria" panose="02040503050406030204" pitchFamily="18" charset="0"/>
                    <a:ea typeface="Cambria" panose="02040503050406030204" pitchFamily="18" charset="0"/>
                  </a:rPr>
                  <a:t> </a:t>
                </a:r>
                <a:endParaRPr lang="en-IN" b="1" dirty="0">
                  <a:latin typeface="Cambria" panose="02040503050406030204" pitchFamily="18" charset="0"/>
                  <a:ea typeface="Cambria" panose="02040503050406030204" pitchFamily="18" charset="0"/>
                </a:endParaRPr>
              </a:p>
            </p:txBody>
          </p:sp>
        </mc:Choice>
        <mc:Fallback xmlns="">
          <p:sp>
            <p:nvSpPr>
              <p:cNvPr id="15" name="TextBox 14">
                <a:extLst>
                  <a:ext uri="{FF2B5EF4-FFF2-40B4-BE49-F238E27FC236}">
                    <a16:creationId xmlns:a16="http://schemas.microsoft.com/office/drawing/2014/main" id="{29677578-C06D-FC8E-3B86-70E8FA48076E}"/>
                  </a:ext>
                </a:extLst>
              </p:cNvPr>
              <p:cNvSpPr txBox="1">
                <a:spLocks noRot="1" noChangeAspect="1" noMove="1" noResize="1" noEditPoints="1" noAdjustHandles="1" noChangeArrowheads="1" noChangeShapeType="1" noTextEdit="1"/>
              </p:cNvSpPr>
              <p:nvPr/>
            </p:nvSpPr>
            <p:spPr>
              <a:xfrm>
                <a:off x="2952953" y="3144234"/>
                <a:ext cx="7056784" cy="492379"/>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0CA1D17-7A92-B8EB-D184-6D4A6854CB6C}"/>
                  </a:ext>
                </a:extLst>
              </p:cNvPr>
              <p:cNvSpPr txBox="1"/>
              <p:nvPr/>
            </p:nvSpPr>
            <p:spPr>
              <a:xfrm>
                <a:off x="2135560" y="4185994"/>
                <a:ext cx="7320876" cy="9419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latin typeface="Cambria" panose="02040503050406030204" pitchFamily="18" charset="0"/>
                    <a:ea typeface="Cambria" panose="02040503050406030204" pitchFamily="18" charset="0"/>
                  </a:rPr>
                  <a:t>If </a:t>
                </a:r>
                <a14:m>
                  <m:oMath xmlns:m="http://schemas.openxmlformats.org/officeDocument/2006/math">
                    <m:r>
                      <a:rPr lang="en-IN" i="1" dirty="0">
                        <a:solidFill>
                          <a:srgbClr val="0000FF"/>
                        </a:solidFill>
                        <a:latin typeface="Cambria Math" panose="02040503050406030204" pitchFamily="18" charset="0"/>
                      </a:rPr>
                      <m:t>𝜔</m:t>
                    </m:r>
                    <m:d>
                      <m:dPr>
                        <m:ctrlPr>
                          <a:rPr lang="ar-AE" i="1" dirty="0">
                            <a:solidFill>
                              <a:srgbClr val="0000FF"/>
                            </a:solidFill>
                            <a:latin typeface="Cambria Math" panose="02040503050406030204" pitchFamily="18" charset="0"/>
                          </a:rPr>
                        </m:ctrlPr>
                      </m:dPr>
                      <m:e>
                        <m:r>
                          <a:rPr lang="ar-AE" i="1" dirty="0">
                            <a:solidFill>
                              <a:srgbClr val="0000FF"/>
                            </a:solidFill>
                            <a:latin typeface="Cambria Math" panose="02040503050406030204" pitchFamily="18" charset="0"/>
                          </a:rPr>
                          <m:t>𝑛</m:t>
                        </m:r>
                      </m:e>
                    </m:d>
                    <m:r>
                      <a:rPr lang="en-US" i="1" dirty="0">
                        <a:solidFill>
                          <a:srgbClr val="0000FF"/>
                        </a:solidFill>
                        <a:latin typeface="Cambria Math" panose="02040503050406030204" pitchFamily="18" charset="0"/>
                      </a:rPr>
                      <m:t>→+∞</m:t>
                    </m:r>
                  </m:oMath>
                </a14:m>
                <a:r>
                  <a:rPr lang="ar-AE" dirty="0">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then </a:t>
                </a:r>
                <a14:m>
                  <m:oMath xmlns:m="http://schemas.openxmlformats.org/officeDocument/2006/math">
                    <m:sSup>
                      <m:sSupPr>
                        <m:ctrlPr>
                          <a:rPr lang="ar-AE" i="1">
                            <a:solidFill>
                              <a:srgbClr val="0000FF"/>
                            </a:solidFill>
                            <a:latin typeface="Cambria Math" panose="02040503050406030204" pitchFamily="18" charset="0"/>
                          </a:rPr>
                        </m:ctrlPr>
                      </m:sSupPr>
                      <m:e>
                        <m:r>
                          <a:rPr lang="ar-AE" i="1">
                            <a:solidFill>
                              <a:srgbClr val="0000FF"/>
                            </a:solidFill>
                            <a:latin typeface="Cambria Math" panose="02040503050406030204" pitchFamily="18" charset="0"/>
                          </a:rPr>
                          <m:t>𝑒</m:t>
                        </m:r>
                      </m:e>
                      <m:sup>
                        <m:r>
                          <a:rPr lang="ar-AE">
                            <a:solidFill>
                              <a:srgbClr val="0000FF"/>
                            </a:solidFill>
                            <a:latin typeface="Cambria Math" panose="02040503050406030204" pitchFamily="18" charset="0"/>
                          </a:rPr>
                          <m:t>−</m:t>
                        </m:r>
                        <m:r>
                          <a:rPr lang="ar-AE" i="1">
                            <a:solidFill>
                              <a:srgbClr val="0000FF"/>
                            </a:solidFill>
                            <a:latin typeface="Cambria Math" panose="02040503050406030204" pitchFamily="18" charset="0"/>
                          </a:rPr>
                          <m:t>𝜔</m:t>
                        </m:r>
                        <m:d>
                          <m:dPr>
                            <m:ctrlPr>
                              <a:rPr lang="ar-AE" i="1">
                                <a:solidFill>
                                  <a:srgbClr val="0000FF"/>
                                </a:solidFill>
                                <a:latin typeface="Cambria Math" panose="02040503050406030204" pitchFamily="18" charset="0"/>
                              </a:rPr>
                            </m:ctrlPr>
                          </m:dPr>
                          <m:e>
                            <m:r>
                              <a:rPr lang="ar-AE" i="1">
                                <a:solidFill>
                                  <a:srgbClr val="0000FF"/>
                                </a:solidFill>
                                <a:latin typeface="Cambria Math" panose="02040503050406030204" pitchFamily="18" charset="0"/>
                              </a:rPr>
                              <m:t>𝑛</m:t>
                            </m:r>
                          </m:e>
                        </m:d>
                      </m:sup>
                    </m:sSup>
                    <m:r>
                      <a:rPr lang="ar-AE">
                        <a:solidFill>
                          <a:srgbClr val="0000FF"/>
                        </a:solidFill>
                        <a:latin typeface="Cambria Math" panose="02040503050406030204" pitchFamily="18" charset="0"/>
                      </a:rPr>
                      <m:t>→0</m:t>
                    </m:r>
                  </m:oMath>
                </a14:m>
                <a:r>
                  <a:rPr lang="ar-AE" dirty="0">
                    <a:solidFill>
                      <a:srgbClr val="0000FF"/>
                    </a:solidFill>
                    <a:latin typeface="Cambria" panose="02040503050406030204" pitchFamily="18" charset="0"/>
                    <a:ea typeface="Cambria" panose="02040503050406030204" pitchFamily="18" charset="0"/>
                  </a:rPr>
                  <a:t>.</a:t>
                </a:r>
                <a:r>
                  <a:rPr lang="en-US" dirty="0">
                    <a:solidFill>
                      <a:srgbClr val="0000FF"/>
                    </a:solidFill>
                    <a:latin typeface="Cambria" panose="02040503050406030204" pitchFamily="18" charset="0"/>
                    <a:ea typeface="Cambria" panose="02040503050406030204" pitchFamily="18" charset="0"/>
                  </a:rPr>
                  <a:t> </a:t>
                </a:r>
                <a:r>
                  <a:rPr lang="ar-AE" dirty="0">
                    <a:latin typeface="Cambria" panose="02040503050406030204" pitchFamily="18" charset="0"/>
                    <a:ea typeface="Cambria" panose="02040503050406030204" pitchFamily="18" charset="0"/>
                  </a:rPr>
                  <a:t>⇒</a:t>
                </a:r>
                <a:r>
                  <a:rPr lang="ar-AE" dirty="0">
                    <a:solidFill>
                      <a:srgbClr val="0000FF"/>
                    </a:solidFill>
                    <a:latin typeface="Cambria" panose="02040503050406030204" pitchFamily="18" charset="0"/>
                    <a:ea typeface="Cambria" panose="02040503050406030204" pitchFamily="18" charset="0"/>
                  </a:rPr>
                  <a:t> </a:t>
                </a:r>
                <a14:m>
                  <m:oMath xmlns:m="http://schemas.openxmlformats.org/officeDocument/2006/math">
                    <m:r>
                      <a:rPr lang="ar-AE">
                        <a:solidFill>
                          <a:srgbClr val="0000FF"/>
                        </a:solidFill>
                        <a:latin typeface="Cambria Math" panose="02040503050406030204" pitchFamily="18" charset="0"/>
                      </a:rPr>
                      <m:t>𝔼</m:t>
                    </m:r>
                    <m:d>
                      <m:dPr>
                        <m:begChr m:val="["/>
                        <m:endChr m:val="]"/>
                        <m:ctrlPr>
                          <a:rPr lang="ar-AE" i="1">
                            <a:solidFill>
                              <a:srgbClr val="0000FF"/>
                            </a:solidFill>
                            <a:latin typeface="Cambria Math" panose="02040503050406030204" pitchFamily="18" charset="0"/>
                          </a:rPr>
                        </m:ctrlPr>
                      </m:dPr>
                      <m:e>
                        <m:r>
                          <a:rPr lang="ar-AE" i="1">
                            <a:solidFill>
                              <a:srgbClr val="0000FF"/>
                            </a:solidFill>
                            <a:latin typeface="Cambria Math" panose="02040503050406030204" pitchFamily="18" charset="0"/>
                          </a:rPr>
                          <m:t>𝑋</m:t>
                        </m:r>
                      </m:e>
                    </m:d>
                    <m:r>
                      <a:rPr lang="ar-AE">
                        <a:solidFill>
                          <a:srgbClr val="0000FF"/>
                        </a:solidFill>
                        <a:latin typeface="Cambria Math" panose="02040503050406030204" pitchFamily="18" charset="0"/>
                      </a:rPr>
                      <m:t>→0</m:t>
                    </m:r>
                  </m:oMath>
                </a14:m>
                <a:r>
                  <a:rPr lang="ar-AE" dirty="0">
                    <a:latin typeface="Cambria" panose="02040503050406030204" pitchFamily="18" charset="0"/>
                    <a:ea typeface="Cambria" panose="02040503050406030204" pitchFamily="18" charset="0"/>
                  </a:rPr>
                  <a:t>.</a:t>
                </a:r>
                <a:br>
                  <a:rPr lang="ar-AE" dirty="0">
                    <a:latin typeface="Cambria" panose="02040503050406030204" pitchFamily="18" charset="0"/>
                    <a:ea typeface="Cambria" panose="02040503050406030204" pitchFamily="18" charset="0"/>
                  </a:rPr>
                </a:br>
                <a:r>
                  <a:rPr lang="ar-AE" dirty="0">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With high probability, there are </a:t>
                </a:r>
                <a:r>
                  <a:rPr lang="en-IN" b="1" dirty="0">
                    <a:latin typeface="Cambria" panose="02040503050406030204" pitchFamily="18" charset="0"/>
                    <a:ea typeface="Cambria" panose="02040503050406030204" pitchFamily="18" charset="0"/>
                  </a:rPr>
                  <a:t>no isolated vertices</a:t>
                </a:r>
                <a:r>
                  <a:rPr lang="en-IN" dirty="0">
                    <a:latin typeface="Cambria" panose="02040503050406030204" pitchFamily="18" charset="0"/>
                    <a:ea typeface="Cambria" panose="02040503050406030204" pitchFamily="18" charset="0"/>
                  </a:rPr>
                  <a:t>.</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Graph becomes connected.</a:t>
                </a:r>
              </a:p>
            </p:txBody>
          </p:sp>
        </mc:Choice>
        <mc:Fallback xmlns="">
          <p:sp>
            <p:nvSpPr>
              <p:cNvPr id="17" name="TextBox 16">
                <a:extLst>
                  <a:ext uri="{FF2B5EF4-FFF2-40B4-BE49-F238E27FC236}">
                    <a16:creationId xmlns:a16="http://schemas.microsoft.com/office/drawing/2014/main" id="{80CA1D17-7A92-B8EB-D184-6D4A6854CB6C}"/>
                  </a:ext>
                </a:extLst>
              </p:cNvPr>
              <p:cNvSpPr txBox="1">
                <a:spLocks noRot="1" noChangeAspect="1" noMove="1" noResize="1" noEditPoints="1" noAdjustHandles="1" noChangeArrowheads="1" noChangeShapeType="1" noTextEdit="1"/>
              </p:cNvSpPr>
              <p:nvPr/>
            </p:nvSpPr>
            <p:spPr>
              <a:xfrm>
                <a:off x="2135560" y="4185994"/>
                <a:ext cx="7320876" cy="941925"/>
              </a:xfrm>
              <a:prstGeom prst="rect">
                <a:avLst/>
              </a:prstGeom>
              <a:blipFill>
                <a:blip r:embed="rId6"/>
                <a:stretch>
                  <a:fillRect l="-665" t="-1282" b="-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B24CDB8-1F07-9476-8B17-3D9783C2EF73}"/>
                  </a:ext>
                </a:extLst>
              </p:cNvPr>
              <p:cNvSpPr txBox="1"/>
              <p:nvPr/>
            </p:nvSpPr>
            <p:spPr>
              <a:xfrm>
                <a:off x="2135560" y="5267811"/>
                <a:ext cx="8532440" cy="9419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latin typeface="Cambria" panose="02040503050406030204" pitchFamily="18" charset="0"/>
                    <a:ea typeface="Cambria" panose="02040503050406030204" pitchFamily="18" charset="0"/>
                  </a:rPr>
                  <a:t>If </a:t>
                </a:r>
                <a14:m>
                  <m:oMath xmlns:m="http://schemas.openxmlformats.org/officeDocument/2006/math">
                    <m:r>
                      <a:rPr lang="en-IN" i="1" dirty="0">
                        <a:solidFill>
                          <a:srgbClr val="0000FF"/>
                        </a:solidFill>
                        <a:latin typeface="Cambria Math" panose="02040503050406030204" pitchFamily="18" charset="0"/>
                      </a:rPr>
                      <m:t>𝜔</m:t>
                    </m:r>
                    <m:d>
                      <m:dPr>
                        <m:ctrlPr>
                          <a:rPr lang="ar-AE" i="1" dirty="0">
                            <a:solidFill>
                              <a:srgbClr val="0000FF"/>
                            </a:solidFill>
                            <a:latin typeface="Cambria Math" panose="02040503050406030204" pitchFamily="18" charset="0"/>
                          </a:rPr>
                        </m:ctrlPr>
                      </m:dPr>
                      <m:e>
                        <m:r>
                          <a:rPr lang="ar-AE" i="1" dirty="0">
                            <a:solidFill>
                              <a:srgbClr val="0000FF"/>
                            </a:solidFill>
                            <a:latin typeface="Cambria Math" panose="02040503050406030204" pitchFamily="18" charset="0"/>
                          </a:rPr>
                          <m:t>𝑛</m:t>
                        </m:r>
                      </m:e>
                    </m:d>
                    <m:r>
                      <a:rPr lang="en-US" i="1" dirty="0">
                        <a:solidFill>
                          <a:srgbClr val="0000FF"/>
                        </a:solidFill>
                        <a:latin typeface="Cambria Math" panose="02040503050406030204" pitchFamily="18" charset="0"/>
                      </a:rPr>
                      <m:t>→−∞  (</m:t>
                    </m:r>
                    <m:r>
                      <a:rPr lang="en-US" i="1" dirty="0">
                        <a:solidFill>
                          <a:srgbClr val="0000FF"/>
                        </a:solidFill>
                        <a:latin typeface="Cambria Math" panose="02040503050406030204" pitchFamily="18" charset="0"/>
                      </a:rPr>
                      <m:t>𝑠𝑎𝑦</m:t>
                    </m:r>
                    <m:r>
                      <a:rPr lang="en-US" i="1" dirty="0">
                        <a:solidFill>
                          <a:srgbClr val="0000FF"/>
                        </a:solidFill>
                        <a:latin typeface="Cambria Math" panose="02040503050406030204" pitchFamily="18" charset="0"/>
                      </a:rPr>
                      <m:t> </m:t>
                    </m:r>
                    <m:r>
                      <a:rPr lang="en-US" i="1" dirty="0">
                        <a:solidFill>
                          <a:srgbClr val="0000FF"/>
                        </a:solidFill>
                        <a:latin typeface="Cambria Math" panose="02040503050406030204" pitchFamily="18" charset="0"/>
                      </a:rPr>
                      <m:t>𝑝</m:t>
                    </m:r>
                    <m:r>
                      <a:rPr lang="en-US" i="1" dirty="0">
                        <a:solidFill>
                          <a:srgbClr val="0000FF"/>
                        </a:solidFill>
                        <a:latin typeface="Cambria Math" panose="02040503050406030204" pitchFamily="18" charset="0"/>
                      </a:rPr>
                      <m:t>=</m:t>
                    </m:r>
                    <m:func>
                      <m:funcPr>
                        <m:ctrlPr>
                          <a:rPr lang="en-US" i="1" dirty="0">
                            <a:solidFill>
                              <a:srgbClr val="0000FF"/>
                            </a:solidFill>
                            <a:latin typeface="Cambria Math" panose="02040503050406030204" pitchFamily="18" charset="0"/>
                          </a:rPr>
                        </m:ctrlPr>
                      </m:funcPr>
                      <m:fName>
                        <m:r>
                          <a:rPr lang="en-US" i="1" dirty="0">
                            <a:solidFill>
                              <a:srgbClr val="0000FF"/>
                            </a:solidFill>
                            <a:latin typeface="Cambria Math" panose="02040503050406030204" pitchFamily="18" charset="0"/>
                          </a:rPr>
                          <m:t>(</m:t>
                        </m:r>
                        <m:r>
                          <m:rPr>
                            <m:sty m:val="p"/>
                          </m:rPr>
                          <a:rPr lang="en-US" dirty="0">
                            <a:solidFill>
                              <a:srgbClr val="0000FF"/>
                            </a:solidFill>
                            <a:latin typeface="Cambria Math" panose="02040503050406030204" pitchFamily="18" charset="0"/>
                          </a:rPr>
                          <m:t>ln</m:t>
                        </m:r>
                      </m:fName>
                      <m:e>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 −</m:t>
                        </m:r>
                        <m:func>
                          <m:funcPr>
                            <m:ctrlPr>
                              <a:rPr lang="en-US" dirty="0">
                                <a:solidFill>
                                  <a:srgbClr val="0000FF"/>
                                </a:solidFill>
                                <a:latin typeface="Cambria Math" panose="02040503050406030204" pitchFamily="18" charset="0"/>
                              </a:rPr>
                            </m:ctrlPr>
                          </m:funcPr>
                          <m:fName>
                            <m:r>
                              <m:rPr>
                                <m:sty m:val="p"/>
                              </m:rPr>
                              <a:rPr lang="en-US" dirty="0">
                                <a:solidFill>
                                  <a:srgbClr val="0000FF"/>
                                </a:solidFill>
                                <a:latin typeface="Cambria Math" panose="02040503050406030204" pitchFamily="18" charset="0"/>
                              </a:rPr>
                              <m:t>ln</m:t>
                            </m:r>
                          </m:fName>
                          <m:e>
                            <m:func>
                              <m:funcPr>
                                <m:ctrlPr>
                                  <a:rPr lang="en-US" dirty="0">
                                    <a:solidFill>
                                      <a:srgbClr val="0000FF"/>
                                    </a:solidFill>
                                    <a:latin typeface="Cambria Math" panose="02040503050406030204" pitchFamily="18" charset="0"/>
                                  </a:rPr>
                                </m:ctrlPr>
                              </m:funcPr>
                              <m:fName>
                                <m:r>
                                  <m:rPr>
                                    <m:sty m:val="p"/>
                                  </m:rPr>
                                  <a:rPr lang="en-US" dirty="0">
                                    <a:solidFill>
                                      <a:srgbClr val="0000FF"/>
                                    </a:solidFill>
                                    <a:latin typeface="Cambria Math" panose="02040503050406030204" pitchFamily="18" charset="0"/>
                                  </a:rPr>
                                  <m:t>ln</m:t>
                                </m:r>
                              </m:fName>
                              <m:e>
                                <m:r>
                                  <a:rPr lang="en-US" i="1" dirty="0">
                                    <a:solidFill>
                                      <a:srgbClr val="0000FF"/>
                                    </a:solidFill>
                                    <a:latin typeface="Cambria Math" panose="02040503050406030204" pitchFamily="18" charset="0"/>
                                  </a:rPr>
                                  <m:t>𝑛</m:t>
                                </m:r>
                                <m:r>
                                  <a:rPr lang="en-US" i="1" dirty="0">
                                    <a:solidFill>
                                      <a:srgbClr val="0000FF"/>
                                    </a:solidFill>
                                    <a:latin typeface="Cambria Math" panose="02040503050406030204" pitchFamily="18" charset="0"/>
                                  </a:rPr>
                                  <m:t>)/</m:t>
                                </m:r>
                                <m:r>
                                  <a:rPr lang="en-US" i="1" dirty="0">
                                    <a:solidFill>
                                      <a:srgbClr val="0000FF"/>
                                    </a:solidFill>
                                    <a:latin typeface="Cambria Math" panose="02040503050406030204" pitchFamily="18" charset="0"/>
                                  </a:rPr>
                                  <m:t>𝑛</m:t>
                                </m:r>
                              </m:e>
                            </m:func>
                          </m:e>
                        </m:func>
                      </m:e>
                    </m:func>
                    <m:r>
                      <a:rPr lang="en-US" i="1" dirty="0">
                        <a:solidFill>
                          <a:srgbClr val="0000FF"/>
                        </a:solidFill>
                        <a:latin typeface="Cambria Math" panose="02040503050406030204" pitchFamily="18" charset="0"/>
                      </a:rPr>
                      <m:t>)</m:t>
                    </m:r>
                  </m:oMath>
                </a14:m>
                <a:r>
                  <a:rPr lang="ar-AE" dirty="0">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then </a:t>
                </a:r>
                <a14:m>
                  <m:oMath xmlns:m="http://schemas.openxmlformats.org/officeDocument/2006/math">
                    <m:sSup>
                      <m:sSupPr>
                        <m:ctrlPr>
                          <a:rPr lang="ar-AE" i="1">
                            <a:solidFill>
                              <a:srgbClr val="0000FF"/>
                            </a:solidFill>
                            <a:latin typeface="Cambria Math" panose="02040503050406030204" pitchFamily="18" charset="0"/>
                          </a:rPr>
                        </m:ctrlPr>
                      </m:sSupPr>
                      <m:e>
                        <m:r>
                          <a:rPr lang="ar-AE" i="1">
                            <a:solidFill>
                              <a:srgbClr val="0000FF"/>
                            </a:solidFill>
                            <a:latin typeface="Cambria Math" panose="02040503050406030204" pitchFamily="18" charset="0"/>
                          </a:rPr>
                          <m:t>𝑒</m:t>
                        </m:r>
                      </m:e>
                      <m:sup>
                        <m:r>
                          <a:rPr lang="ar-AE">
                            <a:solidFill>
                              <a:srgbClr val="0000FF"/>
                            </a:solidFill>
                            <a:latin typeface="Cambria Math" panose="02040503050406030204" pitchFamily="18" charset="0"/>
                          </a:rPr>
                          <m:t>−</m:t>
                        </m:r>
                        <m:r>
                          <a:rPr lang="ar-AE" i="1">
                            <a:solidFill>
                              <a:srgbClr val="0000FF"/>
                            </a:solidFill>
                            <a:latin typeface="Cambria Math" panose="02040503050406030204" pitchFamily="18" charset="0"/>
                          </a:rPr>
                          <m:t>𝜔</m:t>
                        </m:r>
                        <m:d>
                          <m:dPr>
                            <m:ctrlPr>
                              <a:rPr lang="ar-AE" i="1">
                                <a:solidFill>
                                  <a:srgbClr val="0000FF"/>
                                </a:solidFill>
                                <a:latin typeface="Cambria Math" panose="02040503050406030204" pitchFamily="18" charset="0"/>
                              </a:rPr>
                            </m:ctrlPr>
                          </m:dPr>
                          <m:e>
                            <m:r>
                              <a:rPr lang="ar-AE" i="1">
                                <a:solidFill>
                                  <a:srgbClr val="0000FF"/>
                                </a:solidFill>
                                <a:latin typeface="Cambria Math" panose="02040503050406030204" pitchFamily="18" charset="0"/>
                              </a:rPr>
                              <m:t>𝑛</m:t>
                            </m:r>
                          </m:e>
                        </m:d>
                      </m:sup>
                    </m:sSup>
                    <m:r>
                      <a:rPr lang="ar-AE">
                        <a:solidFill>
                          <a:srgbClr val="0000FF"/>
                        </a:solidFill>
                        <a:latin typeface="Cambria Math" panose="02040503050406030204" pitchFamily="18" charset="0"/>
                      </a:rPr>
                      <m:t>→</m:t>
                    </m:r>
                    <m:r>
                      <m:rPr>
                        <m:lit/>
                      </m:rPr>
                      <a:rPr lang="en-US">
                        <a:solidFill>
                          <a:srgbClr val="0000FF"/>
                        </a:solidFill>
                        <a:latin typeface="Cambria Math" panose="02040503050406030204" pitchFamily="18" charset="0"/>
                      </a:rPr>
                      <m:t>+</m:t>
                    </m:r>
                    <m:r>
                      <a:rPr lang="en-US" i="1">
                        <a:solidFill>
                          <a:srgbClr val="0000FF"/>
                        </a:solidFill>
                        <a:latin typeface="Cambria Math" panose="02040503050406030204" pitchFamily="18" charset="0"/>
                      </a:rPr>
                      <m:t>∞</m:t>
                    </m:r>
                  </m:oMath>
                </a14:m>
                <a:r>
                  <a:rPr lang="ar-AE" dirty="0">
                    <a:solidFill>
                      <a:srgbClr val="0000FF"/>
                    </a:solidFill>
                    <a:latin typeface="Cambria" panose="02040503050406030204" pitchFamily="18" charset="0"/>
                    <a:ea typeface="Cambria" panose="02040503050406030204" pitchFamily="18" charset="0"/>
                  </a:rPr>
                  <a:t>.</a:t>
                </a:r>
                <a:r>
                  <a:rPr lang="en-US" dirty="0">
                    <a:solidFill>
                      <a:srgbClr val="0000FF"/>
                    </a:solidFill>
                    <a:latin typeface="Cambria" panose="02040503050406030204" pitchFamily="18" charset="0"/>
                    <a:ea typeface="Cambria" panose="02040503050406030204" pitchFamily="18" charset="0"/>
                  </a:rPr>
                  <a:t> </a:t>
                </a:r>
                <a:r>
                  <a:rPr lang="ar-AE" dirty="0">
                    <a:latin typeface="Cambria" panose="02040503050406030204" pitchFamily="18" charset="0"/>
                    <a:ea typeface="Cambria" panose="02040503050406030204" pitchFamily="18" charset="0"/>
                  </a:rPr>
                  <a:t>⇒</a:t>
                </a:r>
                <a:r>
                  <a:rPr lang="ar-AE" dirty="0">
                    <a:solidFill>
                      <a:srgbClr val="0000FF"/>
                    </a:solidFill>
                    <a:latin typeface="Cambria" panose="02040503050406030204" pitchFamily="18" charset="0"/>
                    <a:ea typeface="Cambria" panose="02040503050406030204" pitchFamily="18" charset="0"/>
                  </a:rPr>
                  <a:t> </a:t>
                </a:r>
                <a14:m>
                  <m:oMath xmlns:m="http://schemas.openxmlformats.org/officeDocument/2006/math">
                    <m:r>
                      <a:rPr lang="ar-AE">
                        <a:solidFill>
                          <a:srgbClr val="0000FF"/>
                        </a:solidFill>
                        <a:latin typeface="Cambria Math" panose="02040503050406030204" pitchFamily="18" charset="0"/>
                      </a:rPr>
                      <m:t>𝔼</m:t>
                    </m:r>
                    <m:d>
                      <m:dPr>
                        <m:begChr m:val="["/>
                        <m:endChr m:val="]"/>
                        <m:ctrlPr>
                          <a:rPr lang="ar-AE" i="1">
                            <a:solidFill>
                              <a:srgbClr val="0000FF"/>
                            </a:solidFill>
                            <a:latin typeface="Cambria Math" panose="02040503050406030204" pitchFamily="18" charset="0"/>
                          </a:rPr>
                        </m:ctrlPr>
                      </m:dPr>
                      <m:e>
                        <m:r>
                          <a:rPr lang="ar-AE" i="1">
                            <a:solidFill>
                              <a:srgbClr val="0000FF"/>
                            </a:solidFill>
                            <a:latin typeface="Cambria Math" panose="02040503050406030204" pitchFamily="18" charset="0"/>
                          </a:rPr>
                          <m:t>𝑋</m:t>
                        </m:r>
                      </m:e>
                    </m:d>
                    <m:r>
                      <a:rPr lang="en-US">
                        <a:solidFill>
                          <a:srgbClr val="0000FF"/>
                        </a:solidFill>
                        <a:latin typeface="Cambria Math" panose="02040503050406030204" pitchFamily="18" charset="0"/>
                      </a:rPr>
                      <m:t>=</m:t>
                    </m:r>
                    <m:r>
                      <m:rPr>
                        <m:sty m:val="p"/>
                      </m:rPr>
                      <a:rPr lang="en-US">
                        <a:solidFill>
                          <a:srgbClr val="0000FF"/>
                        </a:solidFill>
                        <a:latin typeface="Cambria Math" panose="02040503050406030204" pitchFamily="18" charset="0"/>
                      </a:rPr>
                      <m:t>ln</m:t>
                    </m:r>
                    <m:r>
                      <a:rPr lang="en-US">
                        <a:solidFill>
                          <a:srgbClr val="0000FF"/>
                        </a:solidFill>
                        <a:latin typeface="Cambria Math" panose="02040503050406030204" pitchFamily="18" charset="0"/>
                      </a:rPr>
                      <m:t> </m:t>
                    </m:r>
                    <m:r>
                      <m:rPr>
                        <m:sty m:val="p"/>
                      </m:rPr>
                      <a:rPr lang="en-US">
                        <a:solidFill>
                          <a:srgbClr val="0000FF"/>
                        </a:solidFill>
                        <a:latin typeface="Cambria Math" panose="02040503050406030204" pitchFamily="18" charset="0"/>
                      </a:rPr>
                      <m:t>n</m:t>
                    </m:r>
                    <m:r>
                      <a:rPr lang="en-US" i="1">
                        <a:solidFill>
                          <a:srgbClr val="0000FF"/>
                        </a:solidFill>
                        <a:latin typeface="Cambria Math" panose="02040503050406030204" pitchFamily="18" charset="0"/>
                      </a:rPr>
                      <m:t>→</m:t>
                    </m:r>
                    <m:r>
                      <a:rPr lang="en-US">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m:t>
                    </m:r>
                  </m:oMath>
                </a14:m>
                <a:r>
                  <a:rPr lang="ar-AE" dirty="0">
                    <a:latin typeface="Cambria" panose="02040503050406030204" pitchFamily="18" charset="0"/>
                    <a:ea typeface="Cambria" panose="02040503050406030204" pitchFamily="18" charset="0"/>
                  </a:rPr>
                  <a:t>.</a:t>
                </a:r>
                <a:br>
                  <a:rPr lang="ar-AE" dirty="0">
                    <a:latin typeface="Cambria" panose="02040503050406030204" pitchFamily="18" charset="0"/>
                    <a:ea typeface="Cambria" panose="02040503050406030204" pitchFamily="18" charset="0"/>
                  </a:rPr>
                </a:br>
                <a:r>
                  <a:rPr lang="ar-AE" dirty="0">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Many isolated </a:t>
                </a:r>
                <a:r>
                  <a:rPr lang="en-IN" b="1" dirty="0">
                    <a:latin typeface="Cambria" panose="02040503050406030204" pitchFamily="18" charset="0"/>
                    <a:ea typeface="Cambria" panose="02040503050406030204" pitchFamily="18" charset="0"/>
                  </a:rPr>
                  <a:t>vertices</a:t>
                </a:r>
                <a:r>
                  <a:rPr lang="en-IN" dirty="0">
                    <a:latin typeface="Cambria" panose="02040503050406030204" pitchFamily="18" charset="0"/>
                    <a:ea typeface="Cambria" panose="02040503050406030204" pitchFamily="18" charset="0"/>
                  </a:rPr>
                  <a:t>. </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Graph becomes disconnected.</a:t>
                </a:r>
              </a:p>
            </p:txBody>
          </p:sp>
        </mc:Choice>
        <mc:Fallback xmlns="">
          <p:sp>
            <p:nvSpPr>
              <p:cNvPr id="18" name="TextBox 17">
                <a:extLst>
                  <a:ext uri="{FF2B5EF4-FFF2-40B4-BE49-F238E27FC236}">
                    <a16:creationId xmlns:a16="http://schemas.microsoft.com/office/drawing/2014/main" id="{4B24CDB8-1F07-9476-8B17-3D9783C2EF73}"/>
                  </a:ext>
                </a:extLst>
              </p:cNvPr>
              <p:cNvSpPr txBox="1">
                <a:spLocks noRot="1" noChangeAspect="1" noMove="1" noResize="1" noEditPoints="1" noAdjustHandles="1" noChangeArrowheads="1" noChangeShapeType="1" noTextEdit="1"/>
              </p:cNvSpPr>
              <p:nvPr/>
            </p:nvSpPr>
            <p:spPr>
              <a:xfrm>
                <a:off x="2135560" y="5267811"/>
                <a:ext cx="8532440" cy="941925"/>
              </a:xfrm>
              <a:prstGeom prst="rect">
                <a:avLst/>
              </a:prstGeom>
              <a:blipFill>
                <a:blip r:embed="rId7"/>
                <a:stretch>
                  <a:fillRect l="-571" t="-637" b="-7643"/>
                </a:stretch>
              </a:blipFill>
            </p:spPr>
            <p:txBody>
              <a:bodyPr/>
              <a:lstStyle/>
              <a:p>
                <a:r>
                  <a:rPr lang="en-IN">
                    <a:noFill/>
                  </a:rPr>
                  <a:t> </a:t>
                </a:r>
              </a:p>
            </p:txBody>
          </p:sp>
        </mc:Fallback>
      </mc:AlternateContent>
    </p:spTree>
    <p:extLst>
      <p:ext uri="{BB962C8B-B14F-4D97-AF65-F5344CB8AC3E}">
        <p14:creationId xmlns:p14="http://schemas.microsoft.com/office/powerpoint/2010/main" val="105442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FD8FA-E8FC-91D0-26C0-E1219D4796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4448FE-EB62-E594-025C-AFAE7F2F8B4B}"/>
              </a:ext>
            </a:extLst>
          </p:cNvPr>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a:extLst>
              <a:ext uri="{FF2B5EF4-FFF2-40B4-BE49-F238E27FC236}">
                <a16:creationId xmlns:a16="http://schemas.microsoft.com/office/drawing/2014/main" id="{1FC2CA2D-7ADB-98BF-6736-A6C154A6E98C}"/>
              </a:ext>
            </a:extLst>
          </p:cNvPr>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Proof via isolated nodes — Steps 1 and 2</a:t>
            </a:r>
            <a:endParaRPr lang="en-US" sz="2900" dirty="0"/>
          </a:p>
        </p:txBody>
      </p:sp>
      <p:sp>
        <p:nvSpPr>
          <p:cNvPr id="4" name="Text 2">
            <a:extLst>
              <a:ext uri="{FF2B5EF4-FFF2-40B4-BE49-F238E27FC236}">
                <a16:creationId xmlns:a16="http://schemas.microsoft.com/office/drawing/2014/main" id="{61BA46B4-E837-A2C0-6A28-C5E4DF43A4D6}"/>
              </a:ext>
            </a:extLst>
          </p:cNvPr>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14</a:t>
            </a:r>
            <a:endParaRPr lang="en-US" sz="1050" dirty="0"/>
          </a:p>
        </p:txBody>
      </p:sp>
      <p:sp>
        <p:nvSpPr>
          <p:cNvPr id="5" name="Text 3">
            <a:extLst>
              <a:ext uri="{FF2B5EF4-FFF2-40B4-BE49-F238E27FC236}">
                <a16:creationId xmlns:a16="http://schemas.microsoft.com/office/drawing/2014/main" id="{8DF1BF0F-4638-BD0C-C53A-D44F60E654AC}"/>
              </a:ext>
            </a:extLst>
          </p:cNvPr>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sp>
        <p:nvSpPr>
          <p:cNvPr id="6" name="Shape 4">
            <a:extLst>
              <a:ext uri="{FF2B5EF4-FFF2-40B4-BE49-F238E27FC236}">
                <a16:creationId xmlns:a16="http://schemas.microsoft.com/office/drawing/2014/main" id="{DFBEBC57-9033-A85E-5CE5-7EAB4BFE3317}"/>
              </a:ext>
            </a:extLst>
          </p:cNvPr>
          <p:cNvSpPr/>
          <p:nvPr/>
        </p:nvSpPr>
        <p:spPr>
          <a:xfrm>
            <a:off x="585216" y="1225296"/>
            <a:ext cx="329184" cy="329184"/>
          </a:xfrm>
          <a:prstGeom prst="ellipse">
            <a:avLst/>
          </a:prstGeom>
          <a:solidFill>
            <a:srgbClr val="0E6F66"/>
          </a:solidFill>
          <a:ln w="12700">
            <a:solidFill>
              <a:srgbClr val="0E6F66"/>
            </a:solidFill>
            <a:prstDash val="solid"/>
          </a:ln>
        </p:spPr>
        <p:txBody>
          <a:bodyPr/>
          <a:lstStyle/>
          <a:p>
            <a:endParaRPr lang="en-IN"/>
          </a:p>
        </p:txBody>
      </p:sp>
      <p:sp>
        <p:nvSpPr>
          <p:cNvPr id="7" name="Text 5">
            <a:extLst>
              <a:ext uri="{FF2B5EF4-FFF2-40B4-BE49-F238E27FC236}">
                <a16:creationId xmlns:a16="http://schemas.microsoft.com/office/drawing/2014/main" id="{78ECCC0F-978A-AA59-0453-378FD08D6DAC}"/>
              </a:ext>
            </a:extLst>
          </p:cNvPr>
          <p:cNvSpPr txBox="1"/>
          <p:nvPr/>
        </p:nvSpPr>
        <p:spPr>
          <a:xfrm>
            <a:off x="585216" y="122986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a:extLst>
              <a:ext uri="{FF2B5EF4-FFF2-40B4-BE49-F238E27FC236}">
                <a16:creationId xmlns:a16="http://schemas.microsoft.com/office/drawing/2014/main" id="{DD61B36A-93D0-46A3-0217-521AF14544A6}"/>
              </a:ext>
            </a:extLst>
          </p:cNvPr>
          <p:cNvSpPr txBox="1"/>
          <p:nvPr/>
        </p:nvSpPr>
        <p:spPr>
          <a:xfrm>
            <a:off x="1060704" y="1197864"/>
            <a:ext cx="35661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Probability a given node is isolated</a:t>
            </a:r>
            <a:endParaRPr lang="en-US" sz="1350" dirty="0"/>
          </a:p>
        </p:txBody>
      </p:sp>
      <p:pic>
        <p:nvPicPr>
          <p:cNvPr id="9" name="Image 0" descr="/home/claude/eq/iso_p.png">
            <a:extLst>
              <a:ext uri="{FF2B5EF4-FFF2-40B4-BE49-F238E27FC236}">
                <a16:creationId xmlns:a16="http://schemas.microsoft.com/office/drawing/2014/main" id="{5876A31B-FEA4-2141-DE7C-CD73E470C6E2}"/>
              </a:ext>
            </a:extLst>
          </p:cNvPr>
          <p:cNvPicPr>
            <a:picLocks noChangeAspect="1"/>
          </p:cNvPicPr>
          <p:nvPr/>
        </p:nvPicPr>
        <p:blipFill>
          <a:blip r:embed="rId3"/>
          <a:stretch>
            <a:fillRect/>
          </a:stretch>
        </p:blipFill>
        <p:spPr>
          <a:xfrm>
            <a:off x="4764024" y="1152144"/>
            <a:ext cx="3841376" cy="457200"/>
          </a:xfrm>
          <a:prstGeom prst="rect">
            <a:avLst/>
          </a:prstGeom>
        </p:spPr>
      </p:pic>
      <p:sp>
        <p:nvSpPr>
          <p:cNvPr id="10" name="Shape 7">
            <a:extLst>
              <a:ext uri="{FF2B5EF4-FFF2-40B4-BE49-F238E27FC236}">
                <a16:creationId xmlns:a16="http://schemas.microsoft.com/office/drawing/2014/main" id="{BC9ADA49-E842-DD33-F073-DB18A494174F}"/>
              </a:ext>
            </a:extLst>
          </p:cNvPr>
          <p:cNvSpPr/>
          <p:nvPr/>
        </p:nvSpPr>
        <p:spPr>
          <a:xfrm>
            <a:off x="566928" y="1773936"/>
            <a:ext cx="11064240" cy="640080"/>
          </a:xfrm>
          <a:prstGeom prst="roundRect">
            <a:avLst>
              <a:gd name="adj" fmla="val 8571"/>
            </a:avLst>
          </a:prstGeom>
          <a:solidFill>
            <a:srgbClr val="F4F6F9"/>
          </a:solidFill>
          <a:ln w="12700">
            <a:solidFill>
              <a:srgbClr val="333333"/>
            </a:solidFill>
            <a:prstDash val="solid"/>
          </a:ln>
        </p:spPr>
        <p:txBody>
          <a:bodyPr/>
          <a:lstStyle/>
          <a:p>
            <a:endParaRPr lang="en-IN"/>
          </a:p>
        </p:txBody>
      </p:sp>
      <p:pic>
        <p:nvPicPr>
          <p:cNvPr id="11" name="Image 1" descr="/home/claude/eq/iso_expand.png">
            <a:extLst>
              <a:ext uri="{FF2B5EF4-FFF2-40B4-BE49-F238E27FC236}">
                <a16:creationId xmlns:a16="http://schemas.microsoft.com/office/drawing/2014/main" id="{0808BFA8-3E17-291A-CBB7-01B3AF37260B}"/>
              </a:ext>
            </a:extLst>
          </p:cNvPr>
          <p:cNvPicPr>
            <a:picLocks noChangeAspect="1"/>
          </p:cNvPicPr>
          <p:nvPr/>
        </p:nvPicPr>
        <p:blipFill>
          <a:blip r:embed="rId4"/>
          <a:stretch>
            <a:fillRect/>
          </a:stretch>
        </p:blipFill>
        <p:spPr>
          <a:xfrm>
            <a:off x="1148307" y="1828800"/>
            <a:ext cx="9901482" cy="530352"/>
          </a:xfrm>
          <a:prstGeom prst="rect">
            <a:avLst/>
          </a:prstGeom>
        </p:spPr>
      </p:pic>
      <p:sp>
        <p:nvSpPr>
          <p:cNvPr id="12" name="Text 8">
            <a:extLst>
              <a:ext uri="{FF2B5EF4-FFF2-40B4-BE49-F238E27FC236}">
                <a16:creationId xmlns:a16="http://schemas.microsoft.com/office/drawing/2014/main" id="{BB0EF51D-6629-F043-FC61-DCDBC2A6C72C}"/>
              </a:ext>
            </a:extLst>
          </p:cNvPr>
          <p:cNvSpPr txBox="1"/>
          <p:nvPr/>
        </p:nvSpPr>
        <p:spPr>
          <a:xfrm>
            <a:off x="566928" y="2505456"/>
            <a:ext cx="11064240" cy="256032"/>
          </a:xfrm>
          <a:prstGeom prst="rect">
            <a:avLst/>
          </a:prstGeom>
          <a:noFill/>
          <a:ln/>
        </p:spPr>
        <p:txBody>
          <a:bodyPr wrap="square" lIns="0" tIns="0" rIns="0" bIns="0" rtlCol="0" anchor="ctr"/>
          <a:lstStyle/>
          <a:p>
            <a:pPr marL="0" indent="0">
              <a:buNone/>
            </a:pPr>
            <a:r>
              <a:rPr lang="en-US" sz="1200" i="1" dirty="0">
                <a:solidFill>
                  <a:srgbClr val="6B7684"/>
                </a:solidFill>
                <a:latin typeface="Calibri" pitchFamily="34" charset="0"/>
                <a:ea typeface="Calibri" pitchFamily="34" charset="-122"/>
                <a:cs typeface="Calibri" pitchFamily="34" charset="-120"/>
              </a:rPr>
              <a:t>Note (n−1)p ≈ pn to leading order in the sparse regime; the correction is O(p) = O(ln n / n) and vanishes.</a:t>
            </a:r>
            <a:endParaRPr lang="en-US" sz="1200" dirty="0"/>
          </a:p>
        </p:txBody>
      </p:sp>
      <p:sp>
        <p:nvSpPr>
          <p:cNvPr id="13" name="Shape 9">
            <a:extLst>
              <a:ext uri="{FF2B5EF4-FFF2-40B4-BE49-F238E27FC236}">
                <a16:creationId xmlns:a16="http://schemas.microsoft.com/office/drawing/2014/main" id="{77595BC8-80D8-C8C8-3D3C-9D04041C0B4A}"/>
              </a:ext>
            </a:extLst>
          </p:cNvPr>
          <p:cNvSpPr/>
          <p:nvPr/>
        </p:nvSpPr>
        <p:spPr>
          <a:xfrm>
            <a:off x="585216" y="2944368"/>
            <a:ext cx="329184" cy="329184"/>
          </a:xfrm>
          <a:prstGeom prst="ellipse">
            <a:avLst/>
          </a:prstGeom>
          <a:solidFill>
            <a:srgbClr val="0E6F66"/>
          </a:solidFill>
          <a:ln w="12700">
            <a:solidFill>
              <a:srgbClr val="0E6F66"/>
            </a:solidFill>
            <a:prstDash val="solid"/>
          </a:ln>
        </p:spPr>
        <p:txBody>
          <a:bodyPr/>
          <a:lstStyle/>
          <a:p>
            <a:endParaRPr lang="en-IN"/>
          </a:p>
        </p:txBody>
      </p:sp>
      <p:sp>
        <p:nvSpPr>
          <p:cNvPr id="14" name="Text 10">
            <a:extLst>
              <a:ext uri="{FF2B5EF4-FFF2-40B4-BE49-F238E27FC236}">
                <a16:creationId xmlns:a16="http://schemas.microsoft.com/office/drawing/2014/main" id="{0C7B27F8-0749-AB26-150A-B2124093A6DA}"/>
              </a:ext>
            </a:extLst>
          </p:cNvPr>
          <p:cNvSpPr txBox="1"/>
          <p:nvPr/>
        </p:nvSpPr>
        <p:spPr>
          <a:xfrm>
            <a:off x="585216" y="294894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1">
            <a:extLst>
              <a:ext uri="{FF2B5EF4-FFF2-40B4-BE49-F238E27FC236}">
                <a16:creationId xmlns:a16="http://schemas.microsoft.com/office/drawing/2014/main" id="{E7D393BE-3A7E-7323-D897-08BA02A715B5}"/>
              </a:ext>
            </a:extLst>
          </p:cNvPr>
          <p:cNvSpPr txBox="1"/>
          <p:nvPr/>
        </p:nvSpPr>
        <p:spPr>
          <a:xfrm>
            <a:off x="1060704" y="2916936"/>
            <a:ext cx="35661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Expected number of isolated nodes</a:t>
            </a:r>
            <a:endParaRPr lang="en-US" sz="1350" dirty="0"/>
          </a:p>
        </p:txBody>
      </p:sp>
      <p:pic>
        <p:nvPicPr>
          <p:cNvPr id="16" name="Image 2" descr="/home/claude/eq/iso_EX.png">
            <a:extLst>
              <a:ext uri="{FF2B5EF4-FFF2-40B4-BE49-F238E27FC236}">
                <a16:creationId xmlns:a16="http://schemas.microsoft.com/office/drawing/2014/main" id="{4CE37B73-F466-AFFE-E083-06D684C7CBD5}"/>
              </a:ext>
            </a:extLst>
          </p:cNvPr>
          <p:cNvPicPr>
            <a:picLocks noChangeAspect="1"/>
          </p:cNvPicPr>
          <p:nvPr/>
        </p:nvPicPr>
        <p:blipFill>
          <a:blip r:embed="rId5"/>
          <a:stretch>
            <a:fillRect/>
          </a:stretch>
        </p:blipFill>
        <p:spPr>
          <a:xfrm>
            <a:off x="4764024" y="2871216"/>
            <a:ext cx="4399908" cy="457200"/>
          </a:xfrm>
          <a:prstGeom prst="rect">
            <a:avLst/>
          </a:prstGeom>
        </p:spPr>
      </p:pic>
      <p:sp>
        <p:nvSpPr>
          <p:cNvPr id="17" name="Shape 12">
            <a:extLst>
              <a:ext uri="{FF2B5EF4-FFF2-40B4-BE49-F238E27FC236}">
                <a16:creationId xmlns:a16="http://schemas.microsoft.com/office/drawing/2014/main" id="{46FF51D9-2E02-2890-EF4E-1EFDD3894BF8}"/>
              </a:ext>
            </a:extLst>
          </p:cNvPr>
          <p:cNvSpPr/>
          <p:nvPr/>
        </p:nvSpPr>
        <p:spPr>
          <a:xfrm>
            <a:off x="566928" y="3529584"/>
            <a:ext cx="11064240" cy="786384"/>
          </a:xfrm>
          <a:prstGeom prst="roundRect">
            <a:avLst>
              <a:gd name="adj" fmla="val 6977"/>
            </a:avLst>
          </a:prstGeom>
          <a:solidFill>
            <a:srgbClr val="E4F0EE"/>
          </a:solidFill>
          <a:ln w="15875">
            <a:solidFill>
              <a:srgbClr val="0E6F66"/>
            </a:solidFill>
            <a:prstDash val="solid"/>
          </a:ln>
        </p:spPr>
        <p:txBody>
          <a:bodyPr/>
          <a:lstStyle/>
          <a:p>
            <a:endParaRPr lang="en-IN"/>
          </a:p>
        </p:txBody>
      </p:sp>
      <p:sp>
        <p:nvSpPr>
          <p:cNvPr id="18" name="Text 13">
            <a:extLst>
              <a:ext uri="{FF2B5EF4-FFF2-40B4-BE49-F238E27FC236}">
                <a16:creationId xmlns:a16="http://schemas.microsoft.com/office/drawing/2014/main" id="{2AAD6477-7739-8040-C341-7BA58871FB4A}"/>
              </a:ext>
            </a:extLst>
          </p:cNvPr>
          <p:cNvSpPr txBox="1"/>
          <p:nvPr/>
        </p:nvSpPr>
        <p:spPr>
          <a:xfrm>
            <a:off x="804672" y="3529584"/>
            <a:ext cx="10588752" cy="786384"/>
          </a:xfrm>
          <a:prstGeom prst="rect">
            <a:avLst/>
          </a:prstGeom>
          <a:noFill/>
          <a:ln/>
        </p:spPr>
        <p:txBody>
          <a:bodyPr wrap="square" lIns="0" tIns="0" rIns="0" bIns="0" rtlCol="0" anchor="ctr"/>
          <a:lstStyle/>
          <a:p>
            <a:pPr marL="0" indent="0">
              <a:buNone/>
            </a:pPr>
            <a:r>
              <a:rPr lang="en-US" sz="1250" dirty="0">
                <a:solidFill>
                  <a:srgbClr val="0E1B33"/>
                </a:solidFill>
                <a:latin typeface="Calibri" pitchFamily="34" charset="0"/>
                <a:ea typeface="Calibri" pitchFamily="34" charset="-122"/>
                <a:cs typeface="Calibri" pitchFamily="34" charset="-120"/>
              </a:rPr>
              <a:t>Linearity of expectation is doing real work here: the indicator variables 1[deg(v) = 0] are NOT independent — two nodes share the edge between them — but 𝔼 is linear regardless of dependence. Dependence only matters later, in Step 4, when we need the full distribution of X rather than its mean.</a:t>
            </a:r>
            <a:endParaRPr lang="en-US" sz="1250" dirty="0"/>
          </a:p>
        </p:txBody>
      </p:sp>
      <p:sp>
        <p:nvSpPr>
          <p:cNvPr id="19" name="Text 14">
            <a:extLst>
              <a:ext uri="{FF2B5EF4-FFF2-40B4-BE49-F238E27FC236}">
                <a16:creationId xmlns:a16="http://schemas.microsoft.com/office/drawing/2014/main" id="{C6881C6D-377A-0BBD-783F-46FBF8CC9D7F}"/>
              </a:ext>
            </a:extLst>
          </p:cNvPr>
          <p:cNvSpPr txBox="1"/>
          <p:nvPr/>
        </p:nvSpPr>
        <p:spPr>
          <a:xfrm>
            <a:off x="566928" y="4498848"/>
            <a:ext cx="11064240" cy="292608"/>
          </a:xfrm>
          <a:prstGeom prst="rect">
            <a:avLst/>
          </a:prstGeom>
          <a:noFill/>
          <a:ln/>
        </p:spPr>
        <p:txBody>
          <a:bodyPr wrap="square" lIns="0" tIns="0" rIns="0" bIns="0" rtlCol="0" anchor="ctr"/>
          <a:lstStyle/>
          <a:p>
            <a:pPr marL="0" indent="0">
              <a:buNone/>
            </a:pPr>
            <a:r>
              <a:rPr lang="en-US" sz="1700" b="1" dirty="0">
                <a:solidFill>
                  <a:srgbClr val="0E1B33"/>
                </a:solidFill>
                <a:latin typeface="Cambria" pitchFamily="34" charset="0"/>
                <a:ea typeface="Cambria" pitchFamily="34" charset="-122"/>
                <a:cs typeface="Cambria" pitchFamily="34" charset="-120"/>
              </a:rPr>
              <a:t>Where the mean crosses one</a:t>
            </a:r>
            <a:endParaRPr lang="en-US" sz="1700" dirty="0"/>
          </a:p>
        </p:txBody>
      </p:sp>
      <p:sp>
        <p:nvSpPr>
          <p:cNvPr id="20" name="Shape 15">
            <a:extLst>
              <a:ext uri="{FF2B5EF4-FFF2-40B4-BE49-F238E27FC236}">
                <a16:creationId xmlns:a16="http://schemas.microsoft.com/office/drawing/2014/main" id="{57D0A5BA-DB5E-2CAE-7A21-472A8564BA3E}"/>
              </a:ext>
            </a:extLst>
          </p:cNvPr>
          <p:cNvSpPr/>
          <p:nvPr/>
        </p:nvSpPr>
        <p:spPr>
          <a:xfrm>
            <a:off x="566928" y="4864608"/>
            <a:ext cx="2601468"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21" name="Text 16">
            <a:extLst>
              <a:ext uri="{FF2B5EF4-FFF2-40B4-BE49-F238E27FC236}">
                <a16:creationId xmlns:a16="http://schemas.microsoft.com/office/drawing/2014/main" id="{81465B82-9440-C534-1890-EC6781B5025B}"/>
              </a:ext>
            </a:extLst>
          </p:cNvPr>
          <p:cNvSpPr txBox="1"/>
          <p:nvPr/>
        </p:nvSpPr>
        <p:spPr>
          <a:xfrm>
            <a:off x="713232" y="4956048"/>
            <a:ext cx="2308860"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 10³</a:t>
            </a:r>
            <a:endParaRPr lang="en-US" sz="1300" dirty="0"/>
          </a:p>
        </p:txBody>
      </p:sp>
      <p:sp>
        <p:nvSpPr>
          <p:cNvPr id="22" name="Text 17">
            <a:extLst>
              <a:ext uri="{FF2B5EF4-FFF2-40B4-BE49-F238E27FC236}">
                <a16:creationId xmlns:a16="http://schemas.microsoft.com/office/drawing/2014/main" id="{9DE4FDA0-75B9-AD05-887E-AE2E8F972D72}"/>
              </a:ext>
            </a:extLst>
          </p:cNvPr>
          <p:cNvSpPr txBox="1"/>
          <p:nvPr/>
        </p:nvSpPr>
        <p:spPr>
          <a:xfrm>
            <a:off x="713232" y="5193792"/>
            <a:ext cx="2308860" cy="219456"/>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p = 6.9 × 10⁻³</a:t>
            </a:r>
            <a:endParaRPr lang="en-US" sz="1150" dirty="0"/>
          </a:p>
        </p:txBody>
      </p:sp>
      <p:sp>
        <p:nvSpPr>
          <p:cNvPr id="23" name="Text 18">
            <a:extLst>
              <a:ext uri="{FF2B5EF4-FFF2-40B4-BE49-F238E27FC236}">
                <a16:creationId xmlns:a16="http://schemas.microsoft.com/office/drawing/2014/main" id="{EC649BFB-FC36-3A66-4C32-3DDEECC9444F}"/>
              </a:ext>
            </a:extLst>
          </p:cNvPr>
          <p:cNvSpPr txBox="1"/>
          <p:nvPr/>
        </p:nvSpPr>
        <p:spPr>
          <a:xfrm>
            <a:off x="713232" y="5431536"/>
            <a:ext cx="2308860" cy="237744"/>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𝔼[X] = 1.0</a:t>
            </a:r>
            <a:endParaRPr lang="en-US" sz="1200" dirty="0"/>
          </a:p>
        </p:txBody>
      </p:sp>
      <p:sp>
        <p:nvSpPr>
          <p:cNvPr id="24" name="Shape 19">
            <a:extLst>
              <a:ext uri="{FF2B5EF4-FFF2-40B4-BE49-F238E27FC236}">
                <a16:creationId xmlns:a16="http://schemas.microsoft.com/office/drawing/2014/main" id="{DE9BB58F-95AF-2C22-10A8-58A6B895F732}"/>
              </a:ext>
            </a:extLst>
          </p:cNvPr>
          <p:cNvSpPr/>
          <p:nvPr/>
        </p:nvSpPr>
        <p:spPr>
          <a:xfrm>
            <a:off x="3387852" y="4864608"/>
            <a:ext cx="2601468"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25" name="Text 20">
            <a:extLst>
              <a:ext uri="{FF2B5EF4-FFF2-40B4-BE49-F238E27FC236}">
                <a16:creationId xmlns:a16="http://schemas.microsoft.com/office/drawing/2014/main" id="{E566496E-349B-97D5-91DC-F556B8CF9B66}"/>
              </a:ext>
            </a:extLst>
          </p:cNvPr>
          <p:cNvSpPr txBox="1"/>
          <p:nvPr/>
        </p:nvSpPr>
        <p:spPr>
          <a:xfrm>
            <a:off x="3534156" y="4956048"/>
            <a:ext cx="2308860"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 10⁴</a:t>
            </a:r>
            <a:endParaRPr lang="en-US" sz="1300" dirty="0"/>
          </a:p>
        </p:txBody>
      </p:sp>
      <p:sp>
        <p:nvSpPr>
          <p:cNvPr id="26" name="Text 21">
            <a:extLst>
              <a:ext uri="{FF2B5EF4-FFF2-40B4-BE49-F238E27FC236}">
                <a16:creationId xmlns:a16="http://schemas.microsoft.com/office/drawing/2014/main" id="{FB70A7FE-F6B6-FB9C-1BD9-A35BCAD3757F}"/>
              </a:ext>
            </a:extLst>
          </p:cNvPr>
          <p:cNvSpPr txBox="1"/>
          <p:nvPr/>
        </p:nvSpPr>
        <p:spPr>
          <a:xfrm>
            <a:off x="3534156" y="5193792"/>
            <a:ext cx="2308860" cy="219456"/>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p = 9.2 × 10⁻⁴</a:t>
            </a:r>
            <a:endParaRPr lang="en-US" sz="1150" dirty="0"/>
          </a:p>
        </p:txBody>
      </p:sp>
      <p:sp>
        <p:nvSpPr>
          <p:cNvPr id="27" name="Text 22">
            <a:extLst>
              <a:ext uri="{FF2B5EF4-FFF2-40B4-BE49-F238E27FC236}">
                <a16:creationId xmlns:a16="http://schemas.microsoft.com/office/drawing/2014/main" id="{950ED939-A707-FA24-292C-77F1236C724A}"/>
              </a:ext>
            </a:extLst>
          </p:cNvPr>
          <p:cNvSpPr txBox="1"/>
          <p:nvPr/>
        </p:nvSpPr>
        <p:spPr>
          <a:xfrm>
            <a:off x="3534156" y="5431536"/>
            <a:ext cx="2308860" cy="237744"/>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𝔼[X] = 1.0</a:t>
            </a:r>
            <a:endParaRPr lang="en-US" sz="1200" dirty="0"/>
          </a:p>
        </p:txBody>
      </p:sp>
      <p:sp>
        <p:nvSpPr>
          <p:cNvPr id="28" name="Shape 23">
            <a:extLst>
              <a:ext uri="{FF2B5EF4-FFF2-40B4-BE49-F238E27FC236}">
                <a16:creationId xmlns:a16="http://schemas.microsoft.com/office/drawing/2014/main" id="{12C02EB2-72B3-E715-9B51-787CFCA38865}"/>
              </a:ext>
            </a:extLst>
          </p:cNvPr>
          <p:cNvSpPr/>
          <p:nvPr/>
        </p:nvSpPr>
        <p:spPr>
          <a:xfrm>
            <a:off x="6208776" y="4864608"/>
            <a:ext cx="2601468"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29" name="Text 24">
            <a:extLst>
              <a:ext uri="{FF2B5EF4-FFF2-40B4-BE49-F238E27FC236}">
                <a16:creationId xmlns:a16="http://schemas.microsoft.com/office/drawing/2014/main" id="{BC514CC7-E6BE-9313-2733-3A18DC79B550}"/>
              </a:ext>
            </a:extLst>
          </p:cNvPr>
          <p:cNvSpPr txBox="1"/>
          <p:nvPr/>
        </p:nvSpPr>
        <p:spPr>
          <a:xfrm>
            <a:off x="6355080" y="4956048"/>
            <a:ext cx="2308860"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 10⁶</a:t>
            </a:r>
            <a:endParaRPr lang="en-US" sz="1300" dirty="0"/>
          </a:p>
        </p:txBody>
      </p:sp>
      <p:sp>
        <p:nvSpPr>
          <p:cNvPr id="30" name="Text 25">
            <a:extLst>
              <a:ext uri="{FF2B5EF4-FFF2-40B4-BE49-F238E27FC236}">
                <a16:creationId xmlns:a16="http://schemas.microsoft.com/office/drawing/2014/main" id="{C1C52EC8-0381-3EA6-55FA-71CB0BF0D322}"/>
              </a:ext>
            </a:extLst>
          </p:cNvPr>
          <p:cNvSpPr txBox="1"/>
          <p:nvPr/>
        </p:nvSpPr>
        <p:spPr>
          <a:xfrm>
            <a:off x="6355080" y="5193792"/>
            <a:ext cx="2308860" cy="219456"/>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p = 1.4 × 10⁻⁵</a:t>
            </a:r>
            <a:endParaRPr lang="en-US" sz="1150" dirty="0"/>
          </a:p>
        </p:txBody>
      </p:sp>
      <p:sp>
        <p:nvSpPr>
          <p:cNvPr id="31" name="Text 26">
            <a:extLst>
              <a:ext uri="{FF2B5EF4-FFF2-40B4-BE49-F238E27FC236}">
                <a16:creationId xmlns:a16="http://schemas.microsoft.com/office/drawing/2014/main" id="{E1CCED89-D551-85A8-9653-B60B5260C248}"/>
              </a:ext>
            </a:extLst>
          </p:cNvPr>
          <p:cNvSpPr txBox="1"/>
          <p:nvPr/>
        </p:nvSpPr>
        <p:spPr>
          <a:xfrm>
            <a:off x="6355080" y="5431536"/>
            <a:ext cx="2308860" cy="237744"/>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𝔼[X] = 1.0</a:t>
            </a:r>
            <a:endParaRPr lang="en-US" sz="1200" dirty="0"/>
          </a:p>
        </p:txBody>
      </p:sp>
      <p:sp>
        <p:nvSpPr>
          <p:cNvPr id="32" name="Shape 27">
            <a:extLst>
              <a:ext uri="{FF2B5EF4-FFF2-40B4-BE49-F238E27FC236}">
                <a16:creationId xmlns:a16="http://schemas.microsoft.com/office/drawing/2014/main" id="{0A1E6516-9A30-1686-D2B7-D7AD13E40D3C}"/>
              </a:ext>
            </a:extLst>
          </p:cNvPr>
          <p:cNvSpPr/>
          <p:nvPr/>
        </p:nvSpPr>
        <p:spPr>
          <a:xfrm>
            <a:off x="9029700" y="4864608"/>
            <a:ext cx="2601468"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33" name="Text 28">
            <a:extLst>
              <a:ext uri="{FF2B5EF4-FFF2-40B4-BE49-F238E27FC236}">
                <a16:creationId xmlns:a16="http://schemas.microsoft.com/office/drawing/2014/main" id="{71AB8495-69B0-439C-7612-FA3781580A5D}"/>
              </a:ext>
            </a:extLst>
          </p:cNvPr>
          <p:cNvSpPr txBox="1"/>
          <p:nvPr/>
        </p:nvSpPr>
        <p:spPr>
          <a:xfrm>
            <a:off x="9176004" y="4956048"/>
            <a:ext cx="2308860"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 10⁹</a:t>
            </a:r>
            <a:endParaRPr lang="en-US" sz="1300" dirty="0"/>
          </a:p>
        </p:txBody>
      </p:sp>
      <p:sp>
        <p:nvSpPr>
          <p:cNvPr id="34" name="Text 29">
            <a:extLst>
              <a:ext uri="{FF2B5EF4-FFF2-40B4-BE49-F238E27FC236}">
                <a16:creationId xmlns:a16="http://schemas.microsoft.com/office/drawing/2014/main" id="{DB0BC2BE-5977-8DB9-6FED-B7C09ABFDBC7}"/>
              </a:ext>
            </a:extLst>
          </p:cNvPr>
          <p:cNvSpPr txBox="1"/>
          <p:nvPr/>
        </p:nvSpPr>
        <p:spPr>
          <a:xfrm>
            <a:off x="9176004" y="5193792"/>
            <a:ext cx="2308860" cy="219456"/>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p = 2.1 × 10⁻⁸</a:t>
            </a:r>
            <a:endParaRPr lang="en-US" sz="1150" dirty="0"/>
          </a:p>
        </p:txBody>
      </p:sp>
      <p:sp>
        <p:nvSpPr>
          <p:cNvPr id="35" name="Text 30">
            <a:extLst>
              <a:ext uri="{FF2B5EF4-FFF2-40B4-BE49-F238E27FC236}">
                <a16:creationId xmlns:a16="http://schemas.microsoft.com/office/drawing/2014/main" id="{538DFD6B-6DF1-FF62-C999-77BFEA66FE83}"/>
              </a:ext>
            </a:extLst>
          </p:cNvPr>
          <p:cNvSpPr txBox="1"/>
          <p:nvPr/>
        </p:nvSpPr>
        <p:spPr>
          <a:xfrm>
            <a:off x="9176004" y="5431536"/>
            <a:ext cx="2308860" cy="237744"/>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𝔼[X] = 1.0</a:t>
            </a:r>
            <a:endParaRPr lang="en-US" sz="1200" dirty="0"/>
          </a:p>
        </p:txBody>
      </p:sp>
      <p:sp>
        <p:nvSpPr>
          <p:cNvPr id="36" name="Text 31">
            <a:extLst>
              <a:ext uri="{FF2B5EF4-FFF2-40B4-BE49-F238E27FC236}">
                <a16:creationId xmlns:a16="http://schemas.microsoft.com/office/drawing/2014/main" id="{3D125C60-12AD-CCD4-8E80-B6317CB8096D}"/>
              </a:ext>
            </a:extLst>
          </p:cNvPr>
          <p:cNvSpPr txBox="1"/>
          <p:nvPr/>
        </p:nvSpPr>
        <p:spPr>
          <a:xfrm>
            <a:off x="566928" y="5870448"/>
            <a:ext cx="11064240" cy="274320"/>
          </a:xfrm>
          <a:prstGeom prst="rect">
            <a:avLst/>
          </a:prstGeom>
          <a:noFill/>
          <a:ln/>
        </p:spPr>
        <p:txBody>
          <a:bodyPr wrap="square" lIns="0" tIns="0" rIns="0" bIns="0" rtlCol="0" anchor="ctr"/>
          <a:lstStyle/>
          <a:p>
            <a:pPr marL="0" indent="0">
              <a:buNone/>
            </a:pPr>
            <a:r>
              <a:rPr lang="en-US" sz="1250" i="1" dirty="0">
                <a:solidFill>
                  <a:srgbClr val="12203A"/>
                </a:solidFill>
                <a:latin typeface="Calibri" pitchFamily="34" charset="0"/>
                <a:ea typeface="Calibri" pitchFamily="34" charset="-122"/>
                <a:cs typeface="Calibri" pitchFamily="34" charset="-120"/>
              </a:rPr>
              <a:t>At p = ln n / n the expected number of isolated vertices equals 1 for every n — the threshold is exactly where the last singleton disappears.</a:t>
            </a:r>
            <a:endParaRPr lang="en-US" sz="1250" dirty="0"/>
          </a:p>
        </p:txBody>
      </p:sp>
    </p:spTree>
    <p:extLst>
      <p:ext uri="{BB962C8B-B14F-4D97-AF65-F5344CB8AC3E}">
        <p14:creationId xmlns:p14="http://schemas.microsoft.com/office/powerpoint/2010/main" val="19238668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C0148-D5D5-0164-BABF-38097F3B76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8C0BA3-66F3-0AD8-A7C1-E5182367F81B}"/>
              </a:ext>
            </a:extLst>
          </p:cNvPr>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MECHANISM</a:t>
            </a:r>
            <a:endParaRPr lang="en-US" sz="1050" dirty="0"/>
          </a:p>
        </p:txBody>
      </p:sp>
      <p:sp>
        <p:nvSpPr>
          <p:cNvPr id="3" name="Text 1">
            <a:extLst>
              <a:ext uri="{FF2B5EF4-FFF2-40B4-BE49-F238E27FC236}">
                <a16:creationId xmlns:a16="http://schemas.microsoft.com/office/drawing/2014/main" id="{35D9E54E-3C1B-98AA-AC7F-D49439F199E0}"/>
              </a:ext>
            </a:extLst>
          </p:cNvPr>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isolated-node census across four decades of n</a:t>
            </a:r>
            <a:endParaRPr lang="en-US" sz="2900" dirty="0"/>
          </a:p>
        </p:txBody>
      </p:sp>
      <p:sp>
        <p:nvSpPr>
          <p:cNvPr id="4" name="Text 2">
            <a:extLst>
              <a:ext uri="{FF2B5EF4-FFF2-40B4-BE49-F238E27FC236}">
                <a16:creationId xmlns:a16="http://schemas.microsoft.com/office/drawing/2014/main" id="{C4292AF3-F661-8DFA-025A-E54216CE33E6}"/>
              </a:ext>
            </a:extLst>
          </p:cNvPr>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17</a:t>
            </a:r>
            <a:endParaRPr lang="en-US" sz="1050" dirty="0"/>
          </a:p>
        </p:txBody>
      </p:sp>
      <p:sp>
        <p:nvSpPr>
          <p:cNvPr id="5" name="Text 3">
            <a:extLst>
              <a:ext uri="{FF2B5EF4-FFF2-40B4-BE49-F238E27FC236}">
                <a16:creationId xmlns:a16="http://schemas.microsoft.com/office/drawing/2014/main" id="{6745A1A6-3C1A-5D7C-AFD3-9AABD5273648}"/>
              </a:ext>
            </a:extLst>
          </p:cNvPr>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pic>
        <p:nvPicPr>
          <p:cNvPr id="6" name="Image 0" descr="/home/claude/figs/08_isolated_nodes.png">
            <a:extLst>
              <a:ext uri="{FF2B5EF4-FFF2-40B4-BE49-F238E27FC236}">
                <a16:creationId xmlns:a16="http://schemas.microsoft.com/office/drawing/2014/main" id="{C68AF1AA-20AA-9470-8819-1F713AA8E506}"/>
              </a:ext>
            </a:extLst>
          </p:cNvPr>
          <p:cNvPicPr>
            <a:picLocks noChangeAspect="1"/>
          </p:cNvPicPr>
          <p:nvPr/>
        </p:nvPicPr>
        <p:blipFill>
          <a:blip r:embed="rId3"/>
          <a:stretch>
            <a:fillRect/>
          </a:stretch>
        </p:blipFill>
        <p:spPr>
          <a:xfrm>
            <a:off x="566928" y="1152144"/>
            <a:ext cx="6739055" cy="4315968"/>
          </a:xfrm>
          <a:prstGeom prst="rect">
            <a:avLst/>
          </a:prstGeom>
        </p:spPr>
      </p:pic>
      <p:sp>
        <p:nvSpPr>
          <p:cNvPr id="7" name="Shape 4">
            <a:extLst>
              <a:ext uri="{FF2B5EF4-FFF2-40B4-BE49-F238E27FC236}">
                <a16:creationId xmlns:a16="http://schemas.microsoft.com/office/drawing/2014/main" id="{946DB396-BA3D-8E9D-039A-5D52E72987AB}"/>
              </a:ext>
            </a:extLst>
          </p:cNvPr>
          <p:cNvSpPr/>
          <p:nvPr/>
        </p:nvSpPr>
        <p:spPr>
          <a:xfrm>
            <a:off x="7626096" y="1152144"/>
            <a:ext cx="4005072" cy="2670048"/>
          </a:xfrm>
          <a:prstGeom prst="roundRect">
            <a:avLst>
              <a:gd name="adj" fmla="val 2055"/>
            </a:avLst>
          </a:prstGeom>
          <a:solidFill>
            <a:srgbClr val="F4F6F9"/>
          </a:solidFill>
          <a:ln w="12700">
            <a:solidFill>
              <a:srgbClr val="333333"/>
            </a:solidFill>
            <a:prstDash val="solid"/>
          </a:ln>
        </p:spPr>
        <p:txBody>
          <a:bodyPr/>
          <a:lstStyle/>
          <a:p>
            <a:endParaRPr lang="en-IN"/>
          </a:p>
        </p:txBody>
      </p:sp>
      <p:sp>
        <p:nvSpPr>
          <p:cNvPr id="8" name="Text 5">
            <a:extLst>
              <a:ext uri="{FF2B5EF4-FFF2-40B4-BE49-F238E27FC236}">
                <a16:creationId xmlns:a16="http://schemas.microsoft.com/office/drawing/2014/main" id="{955FE7F7-C024-B091-8430-988ADA215081}"/>
              </a:ext>
            </a:extLst>
          </p:cNvPr>
          <p:cNvSpPr txBox="1"/>
          <p:nvPr/>
        </p:nvSpPr>
        <p:spPr>
          <a:xfrm>
            <a:off x="7845552" y="1298448"/>
            <a:ext cx="356616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Reading the figure</a:t>
            </a:r>
            <a:endParaRPr lang="en-US" sz="1550" dirty="0"/>
          </a:p>
        </p:txBody>
      </p:sp>
      <p:sp>
        <p:nvSpPr>
          <p:cNvPr id="9" name="Text 6">
            <a:extLst>
              <a:ext uri="{FF2B5EF4-FFF2-40B4-BE49-F238E27FC236}">
                <a16:creationId xmlns:a16="http://schemas.microsoft.com/office/drawing/2014/main" id="{D5ABFE01-771E-7D9B-C9BC-53FC2F14214D}"/>
              </a:ext>
            </a:extLst>
          </p:cNvPr>
          <p:cNvSpPr txBox="1"/>
          <p:nvPr/>
        </p:nvSpPr>
        <p:spPr>
          <a:xfrm>
            <a:off x="7845552" y="1664208"/>
            <a:ext cx="3566160" cy="2048256"/>
          </a:xfrm>
          <a:prstGeom prst="rect">
            <a:avLst/>
          </a:prstGeom>
          <a:noFill/>
          <a:ln/>
        </p:spPr>
        <p:txBody>
          <a:bodyPr wrap="square" rtlCol="0" anchor="t"/>
          <a:lstStyle/>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Each curve is 𝔼[X] = n·e^(−pn) for one value of n; the marker sits at p = ln n / n.</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Every marker lands on 𝔼[X] = 1 — the crimson line. That coincidence is the theorem.</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The fall-off is exponential in pn, so a modest increase in p past the threshold drives 𝔼[X] to essentially zero: connectivity, once achieved, is robust.</a:t>
            </a:r>
            <a:endParaRPr lang="en-US" sz="1200" dirty="0"/>
          </a:p>
        </p:txBody>
      </p:sp>
      <p:sp>
        <p:nvSpPr>
          <p:cNvPr id="10" name="Shape 7">
            <a:extLst>
              <a:ext uri="{FF2B5EF4-FFF2-40B4-BE49-F238E27FC236}">
                <a16:creationId xmlns:a16="http://schemas.microsoft.com/office/drawing/2014/main" id="{8675F13F-CCA9-3CCD-9E7B-7AD826E17EB4}"/>
              </a:ext>
            </a:extLst>
          </p:cNvPr>
          <p:cNvSpPr/>
          <p:nvPr/>
        </p:nvSpPr>
        <p:spPr>
          <a:xfrm>
            <a:off x="7626096" y="3968496"/>
            <a:ext cx="4005072" cy="1499616"/>
          </a:xfrm>
          <a:prstGeom prst="roundRect">
            <a:avLst>
              <a:gd name="adj" fmla="val 3659"/>
            </a:avLst>
          </a:prstGeom>
          <a:solidFill>
            <a:srgbClr val="FBEBE8"/>
          </a:solidFill>
          <a:ln w="15875">
            <a:solidFill>
              <a:srgbClr val="C0392B"/>
            </a:solidFill>
            <a:prstDash val="solid"/>
          </a:ln>
        </p:spPr>
        <p:txBody>
          <a:bodyPr/>
          <a:lstStyle/>
          <a:p>
            <a:endParaRPr lang="en-IN"/>
          </a:p>
        </p:txBody>
      </p:sp>
      <p:sp>
        <p:nvSpPr>
          <p:cNvPr id="11" name="Text 8">
            <a:extLst>
              <a:ext uri="{FF2B5EF4-FFF2-40B4-BE49-F238E27FC236}">
                <a16:creationId xmlns:a16="http://schemas.microsoft.com/office/drawing/2014/main" id="{D9A7EEC6-3907-697B-98EC-E19D9F774AA2}"/>
              </a:ext>
            </a:extLst>
          </p:cNvPr>
          <p:cNvSpPr txBox="1"/>
          <p:nvPr/>
        </p:nvSpPr>
        <p:spPr>
          <a:xfrm>
            <a:off x="7845552" y="4078224"/>
            <a:ext cx="356616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THE MECHANISM, STATED PLAINLY</a:t>
            </a:r>
            <a:endParaRPr lang="en-US" sz="1050" dirty="0"/>
          </a:p>
        </p:txBody>
      </p:sp>
      <p:sp>
        <p:nvSpPr>
          <p:cNvPr id="12" name="Text 9">
            <a:extLst>
              <a:ext uri="{FF2B5EF4-FFF2-40B4-BE49-F238E27FC236}">
                <a16:creationId xmlns:a16="http://schemas.microsoft.com/office/drawing/2014/main" id="{F5313FE3-4B23-01EB-542D-C5EECB84C141}"/>
              </a:ext>
            </a:extLst>
          </p:cNvPr>
          <p:cNvSpPr txBox="1"/>
          <p:nvPr/>
        </p:nvSpPr>
        <p:spPr>
          <a:xfrm>
            <a:off x="7845552" y="4352544"/>
            <a:ext cx="3566160" cy="1005840"/>
          </a:xfrm>
          <a:prstGeom prst="rect">
            <a:avLst/>
          </a:prstGeom>
          <a:noFill/>
          <a:ln/>
        </p:spPr>
        <p:txBody>
          <a:bodyPr wrap="square" lIns="0" tIns="0" rIns="0" bIns="0" rtlCol="0" anchor="ctr"/>
          <a:lstStyle/>
          <a:p>
            <a:pPr marL="0" indent="0">
              <a:lnSpc>
                <a:spcPct val="98000"/>
              </a:lnSpc>
              <a:buNone/>
            </a:pPr>
            <a:r>
              <a:rPr lang="en-US" sz="1200" dirty="0">
                <a:solidFill>
                  <a:srgbClr val="0E1B33"/>
                </a:solidFill>
                <a:latin typeface="Calibri" pitchFamily="34" charset="0"/>
                <a:ea typeface="Calibri" pitchFamily="34" charset="-122"/>
                <a:cs typeface="Calibri" pitchFamily="34" charset="-120"/>
              </a:rPr>
              <a:t>Connectivity in G(n,p) is not limited by whether the bulk of the graph is joined up — it is limited by the very last vertex that happens to draw no edges. The threshold is a statement about the extreme of a distribution, not its centre.</a:t>
            </a:r>
            <a:endParaRPr lang="en-US" sz="1200" dirty="0"/>
          </a:p>
        </p:txBody>
      </p:sp>
    </p:spTree>
    <p:extLst>
      <p:ext uri="{BB962C8B-B14F-4D97-AF65-F5344CB8AC3E}">
        <p14:creationId xmlns:p14="http://schemas.microsoft.com/office/powerpoint/2010/main" val="9865245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1D607-4BA4-0D80-0F03-2408BF69076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FA04623-12B9-947F-C9AA-23C2293E9328}"/>
              </a:ext>
            </a:extLst>
          </p:cNvPr>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COMPARISON</a:t>
            </a:r>
            <a:endParaRPr lang="en-US" sz="1050" dirty="0"/>
          </a:p>
        </p:txBody>
      </p:sp>
      <p:sp>
        <p:nvSpPr>
          <p:cNvPr id="3" name="Text 1">
            <a:extLst>
              <a:ext uri="{FF2B5EF4-FFF2-40B4-BE49-F238E27FC236}">
                <a16:creationId xmlns:a16="http://schemas.microsoft.com/office/drawing/2014/main" id="{CCE91D85-183B-145D-2377-371047132213}"/>
              </a:ext>
            </a:extLst>
          </p:cNvPr>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Two thresholds, separated by a factor of ln n</a:t>
            </a:r>
            <a:endParaRPr lang="en-US" sz="2900" dirty="0"/>
          </a:p>
        </p:txBody>
      </p:sp>
      <p:sp>
        <p:nvSpPr>
          <p:cNvPr id="4" name="Text 2">
            <a:extLst>
              <a:ext uri="{FF2B5EF4-FFF2-40B4-BE49-F238E27FC236}">
                <a16:creationId xmlns:a16="http://schemas.microsoft.com/office/drawing/2014/main" id="{6099EDFA-916E-4479-1C07-49CC9390D60E}"/>
              </a:ext>
            </a:extLst>
          </p:cNvPr>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18</a:t>
            </a:r>
            <a:endParaRPr lang="en-US" sz="1050" dirty="0"/>
          </a:p>
        </p:txBody>
      </p:sp>
      <p:sp>
        <p:nvSpPr>
          <p:cNvPr id="5" name="Text 3">
            <a:extLst>
              <a:ext uri="{FF2B5EF4-FFF2-40B4-BE49-F238E27FC236}">
                <a16:creationId xmlns:a16="http://schemas.microsoft.com/office/drawing/2014/main" id="{77AB7E63-E52F-C6DB-1339-D97060F4F9E5}"/>
              </a:ext>
            </a:extLst>
          </p:cNvPr>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pic>
        <p:nvPicPr>
          <p:cNvPr id="6" name="Image 0" descr="/home/claude/figs/09_two_thresholds.png">
            <a:extLst>
              <a:ext uri="{FF2B5EF4-FFF2-40B4-BE49-F238E27FC236}">
                <a16:creationId xmlns:a16="http://schemas.microsoft.com/office/drawing/2014/main" id="{3D41C722-C02A-AF41-7220-CD9882D0D0DD}"/>
              </a:ext>
            </a:extLst>
          </p:cNvPr>
          <p:cNvPicPr>
            <a:picLocks noChangeAspect="1"/>
          </p:cNvPicPr>
          <p:nvPr/>
        </p:nvPicPr>
        <p:blipFill>
          <a:blip r:embed="rId3"/>
          <a:stretch>
            <a:fillRect/>
          </a:stretch>
        </p:blipFill>
        <p:spPr>
          <a:xfrm>
            <a:off x="566928" y="1188720"/>
            <a:ext cx="6249349" cy="3931920"/>
          </a:xfrm>
          <a:prstGeom prst="rect">
            <a:avLst/>
          </a:prstGeom>
        </p:spPr>
      </p:pic>
      <p:pic>
        <p:nvPicPr>
          <p:cNvPr id="7" name="Image 1" descr="/home/claude/eq/two_thresh.png">
            <a:extLst>
              <a:ext uri="{FF2B5EF4-FFF2-40B4-BE49-F238E27FC236}">
                <a16:creationId xmlns:a16="http://schemas.microsoft.com/office/drawing/2014/main" id="{9A2CC331-F814-AAA8-E722-CE3E3BB88DB0}"/>
              </a:ext>
            </a:extLst>
          </p:cNvPr>
          <p:cNvPicPr>
            <a:picLocks noChangeAspect="1"/>
          </p:cNvPicPr>
          <p:nvPr/>
        </p:nvPicPr>
        <p:blipFill>
          <a:blip r:embed="rId4"/>
          <a:stretch>
            <a:fillRect/>
          </a:stretch>
        </p:blipFill>
        <p:spPr>
          <a:xfrm>
            <a:off x="2064613" y="5230368"/>
            <a:ext cx="3679750" cy="566928"/>
          </a:xfrm>
          <a:prstGeom prst="rect">
            <a:avLst/>
          </a:prstGeom>
        </p:spPr>
      </p:pic>
      <p:sp>
        <p:nvSpPr>
          <p:cNvPr id="8" name="Shape 4">
            <a:extLst>
              <a:ext uri="{FF2B5EF4-FFF2-40B4-BE49-F238E27FC236}">
                <a16:creationId xmlns:a16="http://schemas.microsoft.com/office/drawing/2014/main" id="{1A32A9DA-E700-2D9A-CB0D-23211DDD4F2F}"/>
              </a:ext>
            </a:extLst>
          </p:cNvPr>
          <p:cNvSpPr/>
          <p:nvPr/>
        </p:nvSpPr>
        <p:spPr>
          <a:xfrm>
            <a:off x="7534656" y="1188720"/>
            <a:ext cx="4096512" cy="2139696"/>
          </a:xfrm>
          <a:prstGeom prst="roundRect">
            <a:avLst>
              <a:gd name="adj" fmla="val 2564"/>
            </a:avLst>
          </a:prstGeom>
          <a:solidFill>
            <a:srgbClr val="E4F0EE"/>
          </a:solidFill>
          <a:ln w="15875">
            <a:solidFill>
              <a:srgbClr val="0E6F66"/>
            </a:solidFill>
            <a:prstDash val="solid"/>
          </a:ln>
        </p:spPr>
        <p:txBody>
          <a:bodyPr/>
          <a:lstStyle/>
          <a:p>
            <a:endParaRPr lang="en-IN"/>
          </a:p>
        </p:txBody>
      </p:sp>
      <p:sp>
        <p:nvSpPr>
          <p:cNvPr id="9" name="Text 5">
            <a:extLst>
              <a:ext uri="{FF2B5EF4-FFF2-40B4-BE49-F238E27FC236}">
                <a16:creationId xmlns:a16="http://schemas.microsoft.com/office/drawing/2014/main" id="{87539CAE-B32F-89AF-08F5-BC30D8B5A00A}"/>
              </a:ext>
            </a:extLst>
          </p:cNvPr>
          <p:cNvSpPr txBox="1"/>
          <p:nvPr/>
        </p:nvSpPr>
        <p:spPr>
          <a:xfrm>
            <a:off x="7754112" y="1298448"/>
            <a:ext cx="36576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THE SHADED BAND</a:t>
            </a:r>
            <a:endParaRPr lang="en-US" sz="1050" dirty="0"/>
          </a:p>
        </p:txBody>
      </p:sp>
      <p:sp>
        <p:nvSpPr>
          <p:cNvPr id="10" name="Text 6">
            <a:extLst>
              <a:ext uri="{FF2B5EF4-FFF2-40B4-BE49-F238E27FC236}">
                <a16:creationId xmlns:a16="http://schemas.microsoft.com/office/drawing/2014/main" id="{FEE01FD9-F242-A095-669D-E7DC88D9D10A}"/>
              </a:ext>
            </a:extLst>
          </p:cNvPr>
          <p:cNvSpPr txBox="1"/>
          <p:nvPr/>
        </p:nvSpPr>
        <p:spPr>
          <a:xfrm>
            <a:off x="7754112" y="1572768"/>
            <a:ext cx="3657600" cy="1371600"/>
          </a:xfrm>
          <a:prstGeom prst="rect">
            <a:avLst/>
          </a:prstGeom>
          <a:noFill/>
          <a:ln/>
        </p:spPr>
        <p:txBody>
          <a:bodyPr wrap="square" lIns="0" tIns="0" rIns="0" bIns="0" rtlCol="0" anchor="ctr"/>
          <a:lstStyle/>
          <a:p>
            <a:pPr marL="0" indent="0">
              <a:lnSpc>
                <a:spcPct val="100000"/>
              </a:lnSpc>
              <a:buNone/>
            </a:pPr>
            <a:r>
              <a:rPr lang="en-US" sz="1250" dirty="0">
                <a:solidFill>
                  <a:srgbClr val="0E1B33"/>
                </a:solidFill>
                <a:latin typeface="Calibri" pitchFamily="34" charset="0"/>
                <a:ea typeface="Calibri" pitchFamily="34" charset="-122"/>
                <a:cs typeface="Calibri" pitchFamily="34" charset="-120"/>
              </a:rPr>
              <a:t>Between p = 1/n and p = ln n / n the graph has a giant component containing almost every vertex — and still has isolated vertices. It is “essentially connected” and formally disconnected at the same time.</a:t>
            </a:r>
            <a:endParaRPr lang="en-US" sz="1250" dirty="0"/>
          </a:p>
        </p:txBody>
      </p:sp>
      <p:sp>
        <p:nvSpPr>
          <p:cNvPr id="11" name="Text 7">
            <a:extLst>
              <a:ext uri="{FF2B5EF4-FFF2-40B4-BE49-F238E27FC236}">
                <a16:creationId xmlns:a16="http://schemas.microsoft.com/office/drawing/2014/main" id="{9C8DF49F-95CB-ADB0-9C0A-3645C4693278}"/>
              </a:ext>
            </a:extLst>
          </p:cNvPr>
          <p:cNvSpPr txBox="1"/>
          <p:nvPr/>
        </p:nvSpPr>
        <p:spPr>
          <a:xfrm>
            <a:off x="7754112" y="2962656"/>
            <a:ext cx="3657600" cy="274320"/>
          </a:xfrm>
          <a:prstGeom prst="rect">
            <a:avLst/>
          </a:prstGeom>
          <a:noFill/>
          <a:ln/>
        </p:spPr>
        <p:txBody>
          <a:bodyPr wrap="square" lIns="0" tIns="0" rIns="0" bIns="0" rtlCol="0" anchor="ctr"/>
          <a:lstStyle/>
          <a:p>
            <a:pPr marL="0" indent="0">
              <a:buNone/>
            </a:pPr>
            <a:r>
              <a:rPr lang="en-US" sz="1200" b="1" i="1" dirty="0">
                <a:solidFill>
                  <a:srgbClr val="0E6F66"/>
                </a:solidFill>
                <a:latin typeface="Calibri" pitchFamily="34" charset="0"/>
                <a:ea typeface="Calibri" pitchFamily="34" charset="-122"/>
                <a:cs typeface="Calibri" pitchFamily="34" charset="-120"/>
              </a:rPr>
              <a:t>Real sparse networks live in this band.</a:t>
            </a:r>
            <a:endParaRPr lang="en-US" sz="1200" dirty="0"/>
          </a:p>
        </p:txBody>
      </p:sp>
      <p:sp>
        <p:nvSpPr>
          <p:cNvPr id="12" name="Shape 8">
            <a:extLst>
              <a:ext uri="{FF2B5EF4-FFF2-40B4-BE49-F238E27FC236}">
                <a16:creationId xmlns:a16="http://schemas.microsoft.com/office/drawing/2014/main" id="{1F7E2406-70F8-EEB7-DC74-052270271938}"/>
              </a:ext>
            </a:extLst>
          </p:cNvPr>
          <p:cNvSpPr/>
          <p:nvPr/>
        </p:nvSpPr>
        <p:spPr>
          <a:xfrm>
            <a:off x="7534656" y="3474720"/>
            <a:ext cx="4096512" cy="2322576"/>
          </a:xfrm>
          <a:prstGeom prst="roundRect">
            <a:avLst>
              <a:gd name="adj" fmla="val 2362"/>
            </a:avLst>
          </a:prstGeom>
          <a:solidFill>
            <a:srgbClr val="F4F6F9"/>
          </a:solidFill>
          <a:ln w="12700">
            <a:solidFill>
              <a:srgbClr val="333333"/>
            </a:solidFill>
            <a:prstDash val="solid"/>
          </a:ln>
        </p:spPr>
        <p:txBody>
          <a:bodyPr/>
          <a:lstStyle/>
          <a:p>
            <a:endParaRPr lang="en-IN"/>
          </a:p>
        </p:txBody>
      </p:sp>
      <p:sp>
        <p:nvSpPr>
          <p:cNvPr id="13" name="Text 9">
            <a:extLst>
              <a:ext uri="{FF2B5EF4-FFF2-40B4-BE49-F238E27FC236}">
                <a16:creationId xmlns:a16="http://schemas.microsoft.com/office/drawing/2014/main" id="{7EFE6CA3-77B1-759F-A8FD-B032671C9526}"/>
              </a:ext>
            </a:extLst>
          </p:cNvPr>
          <p:cNvSpPr txBox="1"/>
          <p:nvPr/>
        </p:nvSpPr>
        <p:spPr>
          <a:xfrm>
            <a:off x="7754112" y="3602736"/>
            <a:ext cx="365760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Different mechanisms entirely</a:t>
            </a:r>
            <a:endParaRPr lang="en-US" sz="1550" dirty="0"/>
          </a:p>
        </p:txBody>
      </p:sp>
      <p:graphicFrame>
        <p:nvGraphicFramePr>
          <p:cNvPr id="19" name="Table 0">
            <a:extLst>
              <a:ext uri="{FF2B5EF4-FFF2-40B4-BE49-F238E27FC236}">
                <a16:creationId xmlns:a16="http://schemas.microsoft.com/office/drawing/2014/main" id="{053FE6BB-6CCA-2D43-CE10-A1E6ABA800AD}"/>
              </a:ext>
            </a:extLst>
          </p:cNvPr>
          <p:cNvGraphicFramePr>
            <a:graphicFrameLocks noGrp="1"/>
          </p:cNvGraphicFramePr>
          <p:nvPr/>
        </p:nvGraphicFramePr>
        <p:xfrm>
          <a:off x="7754112" y="3950208"/>
          <a:ext cx="3657600" cy="1463040"/>
        </p:xfrm>
        <a:graphic>
          <a:graphicData uri="http://schemas.openxmlformats.org/drawingml/2006/table">
            <a:tbl>
              <a:tblPr/>
              <a:tblGrid>
                <a:gridCol w="12344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92608">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050" b="1" dirty="0">
                          <a:solidFill>
                            <a:srgbClr val="0E1B33"/>
                          </a:solidFill>
                          <a:latin typeface="Calibri" pitchFamily="34" charset="0"/>
                          <a:ea typeface="Calibri" pitchFamily="34" charset="-122"/>
                          <a:cs typeface="Calibri" pitchFamily="34" charset="-120"/>
                        </a:rPr>
                        <a:t>Giant</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050" b="1" dirty="0">
                          <a:solidFill>
                            <a:srgbClr val="0E1B33"/>
                          </a:solidFill>
                          <a:latin typeface="Calibri" pitchFamily="34" charset="0"/>
                          <a:ea typeface="Calibri" pitchFamily="34" charset="-122"/>
                          <a:cs typeface="Calibri" pitchFamily="34" charset="-120"/>
                        </a:rPr>
                        <a:t>Connectivity</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2608">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threshold</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⟨k⟩ = 1</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⟨k⟩ = ln n</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controlled by</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branching factor</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isolated vertices</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order</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second</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no order param.</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self-consistency</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Chen–Stein</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335096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0E34-EE1F-6EC0-0B7C-41D2C9D6D6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F28CFB8-F138-5163-910D-7C9D1A95486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200722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PHASE TRANSITIONS</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Definition 3.1 — threshold functions</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12</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sp>
        <p:nvSpPr>
          <p:cNvPr id="6" name="Text 4"/>
          <p:cNvSpPr txBox="1"/>
          <p:nvPr/>
        </p:nvSpPr>
        <p:spPr>
          <a:xfrm>
            <a:off x="566928" y="1152144"/>
            <a:ext cx="11064240" cy="310896"/>
          </a:xfrm>
          <a:prstGeom prst="rect">
            <a:avLst/>
          </a:prstGeom>
          <a:noFill/>
          <a:ln/>
        </p:spPr>
        <p:txBody>
          <a:bodyPr wrap="square" lIns="0" tIns="0" rIns="0" bIns="0" rtlCol="0" anchor="ctr"/>
          <a:lstStyle/>
          <a:p>
            <a:pPr marL="0" indent="0">
              <a:buNone/>
            </a:pPr>
            <a:r>
              <a:rPr lang="en-US" sz="1400" dirty="0">
                <a:solidFill>
                  <a:srgbClr val="12203A"/>
                </a:solidFill>
                <a:latin typeface="Calibri" pitchFamily="34" charset="0"/>
                <a:ea typeface="Calibri" pitchFamily="34" charset="-122"/>
                <a:cs typeface="Calibri" pitchFamily="34" charset="-120"/>
              </a:rPr>
              <a:t>A monotone graph property A either almost surely holds or almost surely fails, depending on how p(n) compares with a single function t(n).</a:t>
            </a:r>
            <a:endParaRPr lang="en-US" sz="1400" dirty="0"/>
          </a:p>
        </p:txBody>
      </p:sp>
      <p:sp>
        <p:nvSpPr>
          <p:cNvPr id="7" name="Shape 5"/>
          <p:cNvSpPr/>
          <p:nvPr/>
        </p:nvSpPr>
        <p:spPr>
          <a:xfrm>
            <a:off x="566928" y="1572768"/>
            <a:ext cx="5422392"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8" name="Text 6"/>
          <p:cNvSpPr txBox="1"/>
          <p:nvPr/>
        </p:nvSpPr>
        <p:spPr>
          <a:xfrm>
            <a:off x="786384" y="1682496"/>
            <a:ext cx="4937760" cy="237744"/>
          </a:xfrm>
          <a:prstGeom prst="rect">
            <a:avLst/>
          </a:prstGeom>
          <a:noFill/>
          <a:ln/>
        </p:spPr>
        <p:txBody>
          <a:bodyPr wrap="square" lIns="0" tIns="0" rIns="0" bIns="0" rtlCol="0" anchor="ctr"/>
          <a:lstStyle/>
          <a:p>
            <a:pPr marL="0" indent="0">
              <a:buNone/>
            </a:pPr>
            <a:r>
              <a:rPr lang="en-US" sz="1050" b="1" kern="0" spc="140" dirty="0">
                <a:solidFill>
                  <a:srgbClr val="6B7684"/>
                </a:solidFill>
                <a:latin typeface="Calibri" pitchFamily="34" charset="0"/>
                <a:ea typeface="Calibri" pitchFamily="34" charset="-122"/>
                <a:cs typeface="Calibri" pitchFamily="34" charset="-120"/>
              </a:rPr>
              <a:t>BELOW THE THRESHOLD</a:t>
            </a:r>
            <a:endParaRPr lang="en-US" sz="1050" dirty="0"/>
          </a:p>
        </p:txBody>
      </p:sp>
      <p:pic>
        <p:nvPicPr>
          <p:cNvPr id="9" name="Image 0" descr="/home/claude/eq/thresh_def0.png"/>
          <p:cNvPicPr>
            <a:picLocks noChangeAspect="1"/>
          </p:cNvPicPr>
          <p:nvPr/>
        </p:nvPicPr>
        <p:blipFill>
          <a:blip r:embed="rId3"/>
          <a:stretch>
            <a:fillRect/>
          </a:stretch>
        </p:blipFill>
        <p:spPr>
          <a:xfrm>
            <a:off x="2148865" y="1920240"/>
            <a:ext cx="2258518" cy="457200"/>
          </a:xfrm>
          <a:prstGeom prst="rect">
            <a:avLst/>
          </a:prstGeom>
        </p:spPr>
      </p:pic>
      <p:sp>
        <p:nvSpPr>
          <p:cNvPr id="10" name="Shape 7"/>
          <p:cNvSpPr/>
          <p:nvPr/>
        </p:nvSpPr>
        <p:spPr>
          <a:xfrm>
            <a:off x="6208776" y="1572768"/>
            <a:ext cx="5422392" cy="914400"/>
          </a:xfrm>
          <a:prstGeom prst="roundRect">
            <a:avLst>
              <a:gd name="adj" fmla="val 6000"/>
            </a:avLst>
          </a:prstGeom>
          <a:solidFill>
            <a:srgbClr val="E4F0EE"/>
          </a:solidFill>
          <a:ln w="15875">
            <a:solidFill>
              <a:srgbClr val="0E6F66"/>
            </a:solidFill>
            <a:prstDash val="solid"/>
          </a:ln>
        </p:spPr>
        <p:txBody>
          <a:bodyPr/>
          <a:lstStyle/>
          <a:p>
            <a:endParaRPr lang="en-IN"/>
          </a:p>
        </p:txBody>
      </p:sp>
      <p:sp>
        <p:nvSpPr>
          <p:cNvPr id="11" name="Text 8"/>
          <p:cNvSpPr txBox="1"/>
          <p:nvPr/>
        </p:nvSpPr>
        <p:spPr>
          <a:xfrm>
            <a:off x="6428232" y="1682496"/>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ABOVE THE THRESHOLD</a:t>
            </a:r>
            <a:endParaRPr lang="en-US" sz="1050" dirty="0"/>
          </a:p>
        </p:txBody>
      </p:sp>
      <p:pic>
        <p:nvPicPr>
          <p:cNvPr id="12" name="Image 1" descr="/home/claude/eq/thresh_def1.png"/>
          <p:cNvPicPr>
            <a:picLocks noChangeAspect="1"/>
          </p:cNvPicPr>
          <p:nvPr/>
        </p:nvPicPr>
        <p:blipFill>
          <a:blip r:embed="rId4"/>
          <a:stretch>
            <a:fillRect/>
          </a:stretch>
        </p:blipFill>
        <p:spPr>
          <a:xfrm>
            <a:off x="7745742" y="1920240"/>
            <a:ext cx="2348459" cy="457200"/>
          </a:xfrm>
          <a:prstGeom prst="rect">
            <a:avLst/>
          </a:prstGeom>
        </p:spPr>
      </p:pic>
      <p:sp>
        <p:nvSpPr>
          <p:cNvPr id="13" name="Shape 9"/>
          <p:cNvSpPr/>
          <p:nvPr/>
        </p:nvSpPr>
        <p:spPr>
          <a:xfrm>
            <a:off x="566928" y="2688336"/>
            <a:ext cx="11064240" cy="841248"/>
          </a:xfrm>
          <a:prstGeom prst="roundRect">
            <a:avLst>
              <a:gd name="adj" fmla="val 6522"/>
            </a:avLst>
          </a:prstGeom>
          <a:solidFill>
            <a:srgbClr val="FBEBE8"/>
          </a:solidFill>
          <a:ln w="15875">
            <a:solidFill>
              <a:srgbClr val="C0392B"/>
            </a:solidFill>
            <a:prstDash val="solid"/>
          </a:ln>
        </p:spPr>
        <p:txBody>
          <a:bodyPr/>
          <a:lstStyle/>
          <a:p>
            <a:endParaRPr lang="en-IN"/>
          </a:p>
        </p:txBody>
      </p:sp>
      <p:sp>
        <p:nvSpPr>
          <p:cNvPr id="14" name="Text 10"/>
          <p:cNvSpPr txBox="1"/>
          <p:nvPr/>
        </p:nvSpPr>
        <p:spPr>
          <a:xfrm>
            <a:off x="804672" y="2798064"/>
            <a:ext cx="731520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SHARPNESS</a:t>
            </a:r>
            <a:endParaRPr lang="en-US" sz="1050" dirty="0"/>
          </a:p>
        </p:txBody>
      </p:sp>
      <p:pic>
        <p:nvPicPr>
          <p:cNvPr id="15" name="Image 2" descr="/home/claude/eq/sharp_def.png"/>
          <p:cNvPicPr>
            <a:picLocks noChangeAspect="1"/>
          </p:cNvPicPr>
          <p:nvPr/>
        </p:nvPicPr>
        <p:blipFill>
          <a:blip r:embed="rId5"/>
          <a:stretch>
            <a:fillRect/>
          </a:stretch>
        </p:blipFill>
        <p:spPr>
          <a:xfrm>
            <a:off x="841248" y="3035808"/>
            <a:ext cx="4379976" cy="402336"/>
          </a:xfrm>
          <a:prstGeom prst="rect">
            <a:avLst/>
          </a:prstGeom>
        </p:spPr>
      </p:pic>
      <p:sp>
        <p:nvSpPr>
          <p:cNvPr id="16" name="Text 11"/>
          <p:cNvSpPr txBox="1"/>
          <p:nvPr/>
        </p:nvSpPr>
        <p:spPr>
          <a:xfrm>
            <a:off x="6601968" y="2688336"/>
            <a:ext cx="4937760" cy="841248"/>
          </a:xfrm>
          <a:prstGeom prst="rect">
            <a:avLst/>
          </a:prstGeom>
          <a:noFill/>
          <a:ln/>
        </p:spPr>
        <p:txBody>
          <a:bodyPr wrap="square" lIns="0" tIns="0" rIns="0" bIns="0" rtlCol="0" anchor="ctr"/>
          <a:lstStyle/>
          <a:p>
            <a:pPr marL="0" indent="0">
              <a:buNone/>
            </a:pPr>
            <a:r>
              <a:rPr lang="en-US" sz="1200" i="1" dirty="0">
                <a:solidFill>
                  <a:srgbClr val="0E1B33"/>
                </a:solidFill>
                <a:latin typeface="Calibri" pitchFamily="34" charset="0"/>
                <a:ea typeface="Calibri" pitchFamily="34" charset="-122"/>
                <a:cs typeface="Calibri" pitchFamily="34" charset="-120"/>
              </a:rPr>
              <a:t>The crossover window Δp over which ℙ(A) moves from ε to 1 − ε is asymptotically negligible compared with t(n) itself.</a:t>
            </a:r>
            <a:endParaRPr lang="en-US" sz="1200" dirty="0"/>
          </a:p>
        </p:txBody>
      </p:sp>
      <p:sp>
        <p:nvSpPr>
          <p:cNvPr id="17" name="Text 12"/>
          <p:cNvSpPr txBox="1"/>
          <p:nvPr/>
        </p:nvSpPr>
        <p:spPr>
          <a:xfrm>
            <a:off x="566928" y="3749040"/>
            <a:ext cx="11064240" cy="310896"/>
          </a:xfrm>
          <a:prstGeom prst="rect">
            <a:avLst/>
          </a:prstGeom>
          <a:noFill/>
          <a:ln/>
        </p:spPr>
        <p:txBody>
          <a:bodyPr wrap="square" lIns="0" tIns="0" rIns="0" bIns="0" rtlCol="0" anchor="ctr"/>
          <a:lstStyle/>
          <a:p>
            <a:pPr marL="0" indent="0">
              <a:buNone/>
            </a:pPr>
            <a:r>
              <a:rPr lang="en-US" sz="1800" b="1" dirty="0">
                <a:solidFill>
                  <a:srgbClr val="0E1B33"/>
                </a:solidFill>
                <a:latin typeface="Cambria" pitchFamily="34" charset="0"/>
                <a:ea typeface="Cambria" pitchFamily="34" charset="-122"/>
                <a:cs typeface="Cambria" pitchFamily="34" charset="-120"/>
              </a:rPr>
              <a:t>The physical analogy is exact, not decorative</a:t>
            </a:r>
            <a:endParaRPr lang="en-US" sz="1800" dirty="0"/>
          </a:p>
        </p:txBody>
      </p:sp>
      <p:sp>
        <p:nvSpPr>
          <p:cNvPr id="18" name="Shape 13"/>
          <p:cNvSpPr/>
          <p:nvPr/>
        </p:nvSpPr>
        <p:spPr>
          <a:xfrm>
            <a:off x="566928" y="4151376"/>
            <a:ext cx="3529584" cy="1463040"/>
          </a:xfrm>
          <a:prstGeom prst="roundRect">
            <a:avLst>
              <a:gd name="adj" fmla="val 3750"/>
            </a:avLst>
          </a:prstGeom>
          <a:solidFill>
            <a:srgbClr val="F4F6F9"/>
          </a:solidFill>
          <a:ln w="12700">
            <a:solidFill>
              <a:srgbClr val="333333"/>
            </a:solidFill>
            <a:prstDash val="solid"/>
          </a:ln>
        </p:spPr>
        <p:txBody>
          <a:bodyPr/>
          <a:lstStyle/>
          <a:p>
            <a:endParaRPr lang="en-IN"/>
          </a:p>
        </p:txBody>
      </p:sp>
      <p:sp>
        <p:nvSpPr>
          <p:cNvPr id="19" name="Shape 14"/>
          <p:cNvSpPr/>
          <p:nvPr/>
        </p:nvSpPr>
        <p:spPr>
          <a:xfrm>
            <a:off x="749808" y="4297680"/>
            <a:ext cx="274320" cy="274320"/>
          </a:xfrm>
          <a:prstGeom prst="ellipse">
            <a:avLst/>
          </a:prstGeom>
          <a:solidFill>
            <a:srgbClr val="0E6F66"/>
          </a:solidFill>
          <a:ln w="12700">
            <a:solidFill>
              <a:srgbClr val="0E6F66"/>
            </a:solidFill>
            <a:prstDash val="solid"/>
          </a:ln>
        </p:spPr>
        <p:txBody>
          <a:bodyPr/>
          <a:lstStyle/>
          <a:p>
            <a:endParaRPr lang="en-IN"/>
          </a:p>
        </p:txBody>
      </p:sp>
      <p:sp>
        <p:nvSpPr>
          <p:cNvPr id="20" name="Text 15"/>
          <p:cNvSpPr txBox="1"/>
          <p:nvPr/>
        </p:nvSpPr>
        <p:spPr>
          <a:xfrm>
            <a:off x="749808" y="4302252"/>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1</a:t>
            </a:r>
            <a:endParaRPr lang="en-US" sz="1250" dirty="0"/>
          </a:p>
        </p:txBody>
      </p:sp>
      <p:sp>
        <p:nvSpPr>
          <p:cNvPr id="21" name="Text 16"/>
          <p:cNvSpPr txBox="1"/>
          <p:nvPr/>
        </p:nvSpPr>
        <p:spPr>
          <a:xfrm>
            <a:off x="1097280" y="4279392"/>
            <a:ext cx="2798064" cy="274320"/>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Control parameter</a:t>
            </a:r>
            <a:endParaRPr lang="en-US" sz="1350" dirty="0"/>
          </a:p>
        </p:txBody>
      </p:sp>
      <p:sp>
        <p:nvSpPr>
          <p:cNvPr id="22" name="Text 17"/>
          <p:cNvSpPr txBox="1"/>
          <p:nvPr/>
        </p:nvSpPr>
        <p:spPr>
          <a:xfrm>
            <a:off x="749808" y="4645152"/>
            <a:ext cx="3163824" cy="914400"/>
          </a:xfrm>
          <a:prstGeom prst="rect">
            <a:avLst/>
          </a:prstGeom>
          <a:noFill/>
          <a:ln/>
        </p:spPr>
        <p:txBody>
          <a:bodyPr wrap="square" lIns="0" tIns="0" rIns="0" bIns="0" rtlCol="0" anchor="ctr"/>
          <a:lstStyle/>
          <a:p>
            <a:pPr marL="0" indent="0">
              <a:lnSpc>
                <a:spcPct val="98000"/>
              </a:lnSpc>
              <a:buNone/>
            </a:pPr>
            <a:r>
              <a:rPr lang="en-US" sz="1200" dirty="0">
                <a:solidFill>
                  <a:srgbClr val="12203A"/>
                </a:solidFill>
                <a:latin typeface="Calibri" pitchFamily="34" charset="0"/>
                <a:ea typeface="Calibri" pitchFamily="34" charset="-122"/>
                <a:cs typeface="Calibri" pitchFamily="34" charset="-120"/>
              </a:rPr>
              <a:t>p (or equivalently ⟨k⟩ = pn) plays the role of temperature or occupation probability.</a:t>
            </a:r>
            <a:endParaRPr lang="en-US" sz="1200" dirty="0"/>
          </a:p>
        </p:txBody>
      </p:sp>
      <p:sp>
        <p:nvSpPr>
          <p:cNvPr id="23" name="Shape 18"/>
          <p:cNvSpPr/>
          <p:nvPr/>
        </p:nvSpPr>
        <p:spPr>
          <a:xfrm>
            <a:off x="4334256" y="4151376"/>
            <a:ext cx="3529584" cy="1463040"/>
          </a:xfrm>
          <a:prstGeom prst="roundRect">
            <a:avLst>
              <a:gd name="adj" fmla="val 3750"/>
            </a:avLst>
          </a:prstGeom>
          <a:solidFill>
            <a:srgbClr val="F4F6F9"/>
          </a:solidFill>
          <a:ln w="12700">
            <a:solidFill>
              <a:srgbClr val="333333"/>
            </a:solidFill>
            <a:prstDash val="solid"/>
          </a:ln>
        </p:spPr>
        <p:txBody>
          <a:bodyPr/>
          <a:lstStyle/>
          <a:p>
            <a:endParaRPr lang="en-IN"/>
          </a:p>
        </p:txBody>
      </p:sp>
      <p:sp>
        <p:nvSpPr>
          <p:cNvPr id="24" name="Shape 19"/>
          <p:cNvSpPr/>
          <p:nvPr/>
        </p:nvSpPr>
        <p:spPr>
          <a:xfrm>
            <a:off x="4517136" y="4297680"/>
            <a:ext cx="274320" cy="274320"/>
          </a:xfrm>
          <a:prstGeom prst="ellipse">
            <a:avLst/>
          </a:prstGeom>
          <a:solidFill>
            <a:srgbClr val="0E6F66"/>
          </a:solidFill>
          <a:ln w="12700">
            <a:solidFill>
              <a:srgbClr val="0E6F66"/>
            </a:solidFill>
            <a:prstDash val="solid"/>
          </a:ln>
        </p:spPr>
        <p:txBody>
          <a:bodyPr/>
          <a:lstStyle/>
          <a:p>
            <a:endParaRPr lang="en-IN"/>
          </a:p>
        </p:txBody>
      </p:sp>
      <p:sp>
        <p:nvSpPr>
          <p:cNvPr id="25" name="Text 20"/>
          <p:cNvSpPr txBox="1"/>
          <p:nvPr/>
        </p:nvSpPr>
        <p:spPr>
          <a:xfrm>
            <a:off x="4517136" y="4302252"/>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2</a:t>
            </a:r>
            <a:endParaRPr lang="en-US" sz="1250" dirty="0"/>
          </a:p>
        </p:txBody>
      </p:sp>
      <p:sp>
        <p:nvSpPr>
          <p:cNvPr id="26" name="Text 21"/>
          <p:cNvSpPr txBox="1"/>
          <p:nvPr/>
        </p:nvSpPr>
        <p:spPr>
          <a:xfrm>
            <a:off x="4864608" y="4279392"/>
            <a:ext cx="2798064" cy="274320"/>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Order parameter</a:t>
            </a:r>
            <a:endParaRPr lang="en-US" sz="1350" dirty="0"/>
          </a:p>
        </p:txBody>
      </p:sp>
      <p:sp>
        <p:nvSpPr>
          <p:cNvPr id="27" name="Text 22"/>
          <p:cNvSpPr txBox="1"/>
          <p:nvPr/>
        </p:nvSpPr>
        <p:spPr>
          <a:xfrm>
            <a:off x="4517136" y="4645152"/>
            <a:ext cx="3163824" cy="914400"/>
          </a:xfrm>
          <a:prstGeom prst="rect">
            <a:avLst/>
          </a:prstGeom>
          <a:noFill/>
          <a:ln/>
        </p:spPr>
        <p:txBody>
          <a:bodyPr wrap="square" lIns="0" tIns="0" rIns="0" bIns="0" rtlCol="0" anchor="ctr"/>
          <a:lstStyle/>
          <a:p>
            <a:pPr marL="0" indent="0">
              <a:lnSpc>
                <a:spcPct val="98000"/>
              </a:lnSpc>
              <a:buNone/>
            </a:pPr>
            <a:r>
              <a:rPr lang="en-US" sz="1200" dirty="0">
                <a:solidFill>
                  <a:srgbClr val="12203A"/>
                </a:solidFill>
                <a:latin typeface="Calibri" pitchFamily="34" charset="0"/>
                <a:ea typeface="Calibri" pitchFamily="34" charset="-122"/>
                <a:cs typeface="Calibri" pitchFamily="34" charset="-120"/>
              </a:rPr>
              <a:t>The giant-component fraction S is the magnetisation analogue: zero in one phase, non-zero in the other.</a:t>
            </a:r>
            <a:endParaRPr lang="en-US" sz="1200" dirty="0"/>
          </a:p>
        </p:txBody>
      </p:sp>
      <p:sp>
        <p:nvSpPr>
          <p:cNvPr id="28" name="Shape 23"/>
          <p:cNvSpPr/>
          <p:nvPr/>
        </p:nvSpPr>
        <p:spPr>
          <a:xfrm>
            <a:off x="8101584" y="4151376"/>
            <a:ext cx="3529584" cy="1463040"/>
          </a:xfrm>
          <a:prstGeom prst="roundRect">
            <a:avLst>
              <a:gd name="adj" fmla="val 3750"/>
            </a:avLst>
          </a:prstGeom>
          <a:solidFill>
            <a:srgbClr val="F4F6F9"/>
          </a:solidFill>
          <a:ln w="12700">
            <a:solidFill>
              <a:srgbClr val="333333"/>
            </a:solidFill>
            <a:prstDash val="solid"/>
          </a:ln>
        </p:spPr>
        <p:txBody>
          <a:bodyPr/>
          <a:lstStyle/>
          <a:p>
            <a:endParaRPr lang="en-IN"/>
          </a:p>
        </p:txBody>
      </p:sp>
      <p:sp>
        <p:nvSpPr>
          <p:cNvPr id="29" name="Shape 24"/>
          <p:cNvSpPr/>
          <p:nvPr/>
        </p:nvSpPr>
        <p:spPr>
          <a:xfrm>
            <a:off x="8284464" y="4297680"/>
            <a:ext cx="274320" cy="274320"/>
          </a:xfrm>
          <a:prstGeom prst="ellipse">
            <a:avLst/>
          </a:prstGeom>
          <a:solidFill>
            <a:srgbClr val="0E6F66"/>
          </a:solidFill>
          <a:ln w="12700">
            <a:solidFill>
              <a:srgbClr val="0E6F66"/>
            </a:solidFill>
            <a:prstDash val="solid"/>
          </a:ln>
        </p:spPr>
        <p:txBody>
          <a:bodyPr/>
          <a:lstStyle/>
          <a:p>
            <a:endParaRPr lang="en-IN"/>
          </a:p>
        </p:txBody>
      </p:sp>
      <p:sp>
        <p:nvSpPr>
          <p:cNvPr id="30" name="Text 25"/>
          <p:cNvSpPr txBox="1"/>
          <p:nvPr/>
        </p:nvSpPr>
        <p:spPr>
          <a:xfrm>
            <a:off x="8284464" y="4302252"/>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3</a:t>
            </a:r>
            <a:endParaRPr lang="en-US" sz="1250" dirty="0"/>
          </a:p>
        </p:txBody>
      </p:sp>
      <p:sp>
        <p:nvSpPr>
          <p:cNvPr id="31" name="Text 26"/>
          <p:cNvSpPr txBox="1"/>
          <p:nvPr/>
        </p:nvSpPr>
        <p:spPr>
          <a:xfrm>
            <a:off x="8631936" y="4279392"/>
            <a:ext cx="2798064" cy="274320"/>
          </a:xfrm>
          <a:prstGeom prst="rect">
            <a:avLst/>
          </a:prstGeom>
          <a:noFill/>
          <a:ln/>
        </p:spPr>
        <p:txBody>
          <a:bodyPr wrap="square" lIns="0" tIns="0" rIns="0" bIns="0" rtlCol="0" anchor="ctr"/>
          <a:lstStyle/>
          <a:p>
            <a:pPr marL="0" indent="0">
              <a:buNone/>
            </a:pPr>
            <a:r>
              <a:rPr lang="en-US" sz="1350" b="1" dirty="0">
                <a:solidFill>
                  <a:srgbClr val="0E1B33"/>
                </a:solidFill>
                <a:latin typeface="Calibri" pitchFamily="34" charset="0"/>
                <a:ea typeface="Calibri" pitchFamily="34" charset="-122"/>
                <a:cs typeface="Calibri" pitchFamily="34" charset="-120"/>
              </a:rPr>
              <a:t>Thermodynamic limit</a:t>
            </a:r>
            <a:endParaRPr lang="en-US" sz="1350" dirty="0"/>
          </a:p>
        </p:txBody>
      </p:sp>
      <p:sp>
        <p:nvSpPr>
          <p:cNvPr id="32" name="Text 27"/>
          <p:cNvSpPr txBox="1"/>
          <p:nvPr/>
        </p:nvSpPr>
        <p:spPr>
          <a:xfrm>
            <a:off x="8284464" y="4645152"/>
            <a:ext cx="3163824" cy="914400"/>
          </a:xfrm>
          <a:prstGeom prst="rect">
            <a:avLst/>
          </a:prstGeom>
          <a:noFill/>
          <a:ln/>
        </p:spPr>
        <p:txBody>
          <a:bodyPr wrap="square" lIns="0" tIns="0" rIns="0" bIns="0" rtlCol="0" anchor="ctr"/>
          <a:lstStyle/>
          <a:p>
            <a:pPr marL="0" indent="0">
              <a:lnSpc>
                <a:spcPct val="98000"/>
              </a:lnSpc>
              <a:buNone/>
            </a:pPr>
            <a:r>
              <a:rPr lang="en-US" sz="1200" dirty="0">
                <a:solidFill>
                  <a:srgbClr val="12203A"/>
                </a:solidFill>
                <a:latin typeface="Calibri" pitchFamily="34" charset="0"/>
                <a:ea typeface="Calibri" pitchFamily="34" charset="-122"/>
                <a:cs typeface="Calibri" pitchFamily="34" charset="-120"/>
              </a:rPr>
              <a:t>Sharpness exists only as n → ∞. At finite n every transition is rounded — Slide 25 shows exactly how much.</a:t>
            </a:r>
            <a:endParaRPr lang="en-US" sz="1200" dirty="0"/>
          </a:p>
        </p:txBody>
      </p:sp>
    </p:spTree>
    <p:extLst>
      <p:ext uri="{BB962C8B-B14F-4D97-AF65-F5344CB8AC3E}">
        <p14:creationId xmlns:p14="http://schemas.microsoft.com/office/powerpoint/2010/main" val="707130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MAIN RESULT</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Theorem 3.1 — the connectivity threshold</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13</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sp>
        <p:nvSpPr>
          <p:cNvPr id="6" name="Shape 4"/>
          <p:cNvSpPr/>
          <p:nvPr/>
        </p:nvSpPr>
        <p:spPr>
          <a:xfrm>
            <a:off x="566928" y="1170432"/>
            <a:ext cx="11064240" cy="1481328"/>
          </a:xfrm>
          <a:prstGeom prst="roundRect">
            <a:avLst>
              <a:gd name="adj" fmla="val 3704"/>
            </a:avLst>
          </a:prstGeom>
          <a:solidFill>
            <a:srgbClr val="0E1B33"/>
          </a:solidFill>
          <a:ln w="12700">
            <a:solidFill>
              <a:srgbClr val="333333"/>
            </a:solidFill>
            <a:prstDash val="solid"/>
          </a:ln>
        </p:spPr>
        <p:txBody>
          <a:bodyPr/>
          <a:lstStyle/>
          <a:p>
            <a:endParaRPr lang="en-IN"/>
          </a:p>
        </p:txBody>
      </p:sp>
      <p:sp>
        <p:nvSpPr>
          <p:cNvPr id="7" name="Text 5"/>
          <p:cNvSpPr txBox="1"/>
          <p:nvPr/>
        </p:nvSpPr>
        <p:spPr>
          <a:xfrm>
            <a:off x="841248" y="1316736"/>
            <a:ext cx="7315200" cy="237744"/>
          </a:xfrm>
          <a:prstGeom prst="rect">
            <a:avLst/>
          </a:prstGeom>
          <a:noFill/>
          <a:ln/>
        </p:spPr>
        <p:txBody>
          <a:bodyPr wrap="square" lIns="0" tIns="0" rIns="0" bIns="0" rtlCol="0" anchor="ctr"/>
          <a:lstStyle/>
          <a:p>
            <a:pPr marL="0" indent="0">
              <a:buNone/>
            </a:pPr>
            <a:r>
              <a:rPr lang="en-US" sz="1050" b="1" kern="0" spc="140" dirty="0">
                <a:solidFill>
                  <a:srgbClr val="BFD3E6"/>
                </a:solidFill>
                <a:latin typeface="Calibri" pitchFamily="34" charset="0"/>
                <a:ea typeface="Calibri" pitchFamily="34" charset="-122"/>
                <a:cs typeface="Calibri" pitchFamily="34" charset="-120"/>
              </a:rPr>
              <a:t>THEOREM</a:t>
            </a:r>
            <a:endParaRPr lang="en-US" sz="1050" dirty="0"/>
          </a:p>
        </p:txBody>
      </p:sp>
      <p:pic>
        <p:nvPicPr>
          <p:cNvPr id="8" name="Image 0" descr="/home/claude/eq/w_conn_thm.png"/>
          <p:cNvPicPr>
            <a:picLocks noChangeAspect="1"/>
          </p:cNvPicPr>
          <p:nvPr/>
        </p:nvPicPr>
        <p:blipFill>
          <a:blip r:embed="rId3"/>
          <a:stretch>
            <a:fillRect/>
          </a:stretch>
        </p:blipFill>
        <p:spPr>
          <a:xfrm>
            <a:off x="896112" y="1609344"/>
            <a:ext cx="10424160" cy="778067"/>
          </a:xfrm>
          <a:prstGeom prst="rect">
            <a:avLst/>
          </a:prstGeom>
        </p:spPr>
      </p:pic>
      <p:sp>
        <p:nvSpPr>
          <p:cNvPr id="9" name="Text 6"/>
          <p:cNvSpPr txBox="1"/>
          <p:nvPr/>
        </p:nvSpPr>
        <p:spPr>
          <a:xfrm>
            <a:off x="566928" y="2834640"/>
            <a:ext cx="5486400" cy="292608"/>
          </a:xfrm>
          <a:prstGeom prst="rect">
            <a:avLst/>
          </a:prstGeom>
          <a:noFill/>
          <a:ln/>
        </p:spPr>
        <p:txBody>
          <a:bodyPr wrap="square" lIns="0" tIns="0" rIns="0" bIns="0" rtlCol="0" anchor="ctr"/>
          <a:lstStyle/>
          <a:p>
            <a:pPr marL="0" indent="0">
              <a:buNone/>
            </a:pPr>
            <a:r>
              <a:rPr lang="en-US" sz="1800" b="1" dirty="0">
                <a:solidFill>
                  <a:srgbClr val="0E1B33"/>
                </a:solidFill>
                <a:latin typeface="Cambria" pitchFamily="34" charset="0"/>
                <a:ea typeface="Cambria" pitchFamily="34" charset="-122"/>
                <a:cs typeface="Cambria" pitchFamily="34" charset="-120"/>
              </a:rPr>
              <a:t>The proof in one sentence</a:t>
            </a:r>
            <a:endParaRPr lang="en-US" sz="1800" dirty="0"/>
          </a:p>
        </p:txBody>
      </p:sp>
      <p:sp>
        <p:nvSpPr>
          <p:cNvPr id="10" name="Text 7"/>
          <p:cNvSpPr txBox="1"/>
          <p:nvPr/>
        </p:nvSpPr>
        <p:spPr>
          <a:xfrm>
            <a:off x="566928" y="3200400"/>
            <a:ext cx="5486400" cy="2011680"/>
          </a:xfrm>
          <a:prstGeom prst="rect">
            <a:avLst/>
          </a:prstGeom>
          <a:noFill/>
          <a:ln/>
        </p:spPr>
        <p:txBody>
          <a:bodyPr wrap="square" rtlCol="0" anchor="t"/>
          <a:lstStyle/>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In the supercritical regime the only obstruction to full connectivity is a leftover isolated vertex — every other component has already been absorbed into the giant.</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So ℙ(G disconnected) = ℙ(at least one isolated node), and the whole problem reduces to counting isolated vertices.</a:t>
            </a:r>
            <a:endParaRPr lang="en-US" sz="1300" dirty="0"/>
          </a:p>
          <a:p>
            <a:pPr marL="342900" indent="-342900">
              <a:lnSpc>
                <a:spcPct val="106000"/>
              </a:lnSpc>
              <a:spcAft>
                <a:spcPts val="900"/>
              </a:spcAft>
              <a:buSzPct val="100000"/>
              <a:buChar char="•"/>
            </a:pPr>
            <a:r>
              <a:rPr lang="en-US" sz="1300" dirty="0">
                <a:solidFill>
                  <a:srgbClr val="12203A"/>
                </a:solidFill>
                <a:latin typeface="Calibri" pitchFamily="34" charset="0"/>
                <a:ea typeface="Calibri" pitchFamily="34" charset="-122"/>
                <a:cs typeface="Calibri" pitchFamily="34" charset="-120"/>
              </a:rPr>
              <a:t>That count is asymptotically Poisson, and a Poisson variable with mean μ is zero with probability e^(−μ).</a:t>
            </a:r>
            <a:endParaRPr lang="en-US" sz="1300" dirty="0"/>
          </a:p>
        </p:txBody>
      </p:sp>
      <p:sp>
        <p:nvSpPr>
          <p:cNvPr id="11" name="Shape 8"/>
          <p:cNvSpPr/>
          <p:nvPr/>
        </p:nvSpPr>
        <p:spPr>
          <a:xfrm>
            <a:off x="6364224" y="2834640"/>
            <a:ext cx="5266944" cy="2468880"/>
          </a:xfrm>
          <a:prstGeom prst="roundRect">
            <a:avLst>
              <a:gd name="adj" fmla="val 2222"/>
            </a:avLst>
          </a:prstGeom>
          <a:solidFill>
            <a:srgbClr val="F4F6F9"/>
          </a:solidFill>
          <a:ln w="12700">
            <a:solidFill>
              <a:srgbClr val="333333"/>
            </a:solidFill>
            <a:prstDash val="solid"/>
          </a:ln>
        </p:spPr>
        <p:txBody>
          <a:bodyPr/>
          <a:lstStyle/>
          <a:p>
            <a:endParaRPr lang="en-IN"/>
          </a:p>
        </p:txBody>
      </p:sp>
      <p:sp>
        <p:nvSpPr>
          <p:cNvPr id="12" name="Text 9"/>
          <p:cNvSpPr txBox="1"/>
          <p:nvPr/>
        </p:nvSpPr>
        <p:spPr>
          <a:xfrm>
            <a:off x="6583680" y="2980944"/>
            <a:ext cx="484632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Why this equivalence is not trivial</a:t>
            </a:r>
            <a:endParaRPr lang="en-US" sz="1550" dirty="0"/>
          </a:p>
        </p:txBody>
      </p:sp>
      <p:sp>
        <p:nvSpPr>
          <p:cNvPr id="13" name="Text 10"/>
          <p:cNvSpPr txBox="1"/>
          <p:nvPr/>
        </p:nvSpPr>
        <p:spPr>
          <a:xfrm>
            <a:off x="6583680" y="3310128"/>
            <a:ext cx="4846320" cy="1847088"/>
          </a:xfrm>
          <a:prstGeom prst="rect">
            <a:avLst/>
          </a:prstGeom>
          <a:noFill/>
          <a:ln/>
        </p:spPr>
        <p:txBody>
          <a:bodyPr wrap="square" rtlCol="0" anchor="t"/>
          <a:lstStyle/>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A graph could in principle be disconnected by splitting into two large pieces, with no isolated vertex at all.</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Near p ≈ ln n / n, the probability of such a balanced split is exponentially smaller than the probability of one stray singleton — the giant component has size (1 − o(1))n well before connectivity.</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Hence “disconnected ⟺ has an isolated vertex” holds w.h.p. in this window, and the reduction is legitimate.</a:t>
            </a:r>
            <a:endParaRPr lang="en-US" sz="1200" dirty="0"/>
          </a:p>
        </p:txBody>
      </p:sp>
    </p:spTree>
    <p:extLst>
      <p:ext uri="{BB962C8B-B14F-4D97-AF65-F5344CB8AC3E}">
        <p14:creationId xmlns:p14="http://schemas.microsoft.com/office/powerpoint/2010/main" val="11911126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Proof via isolated nodes — Steps 1 and 2</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14</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sp>
        <p:nvSpPr>
          <p:cNvPr id="6" name="Shape 4"/>
          <p:cNvSpPr/>
          <p:nvPr/>
        </p:nvSpPr>
        <p:spPr>
          <a:xfrm>
            <a:off x="585216" y="1225296"/>
            <a:ext cx="329184" cy="329184"/>
          </a:xfrm>
          <a:prstGeom prst="ellipse">
            <a:avLst/>
          </a:prstGeom>
          <a:solidFill>
            <a:srgbClr val="0E6F66"/>
          </a:solidFill>
          <a:ln w="12700">
            <a:solidFill>
              <a:srgbClr val="0E6F66"/>
            </a:solidFill>
            <a:prstDash val="solid"/>
          </a:ln>
        </p:spPr>
        <p:txBody>
          <a:bodyPr/>
          <a:lstStyle/>
          <a:p>
            <a:endParaRPr lang="en-IN"/>
          </a:p>
        </p:txBody>
      </p:sp>
      <p:sp>
        <p:nvSpPr>
          <p:cNvPr id="7" name="Text 5"/>
          <p:cNvSpPr txBox="1"/>
          <p:nvPr/>
        </p:nvSpPr>
        <p:spPr>
          <a:xfrm>
            <a:off x="585216" y="122986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60704" y="1197864"/>
            <a:ext cx="35661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Probability a given node is isolated</a:t>
            </a:r>
            <a:endParaRPr lang="en-US" sz="1350" dirty="0"/>
          </a:p>
        </p:txBody>
      </p:sp>
      <p:pic>
        <p:nvPicPr>
          <p:cNvPr id="9" name="Image 0" descr="/home/claude/eq/iso_p.png"/>
          <p:cNvPicPr>
            <a:picLocks noChangeAspect="1"/>
          </p:cNvPicPr>
          <p:nvPr/>
        </p:nvPicPr>
        <p:blipFill>
          <a:blip r:embed="rId3"/>
          <a:stretch>
            <a:fillRect/>
          </a:stretch>
        </p:blipFill>
        <p:spPr>
          <a:xfrm>
            <a:off x="4764024" y="1152144"/>
            <a:ext cx="3841376" cy="457200"/>
          </a:xfrm>
          <a:prstGeom prst="rect">
            <a:avLst/>
          </a:prstGeom>
        </p:spPr>
      </p:pic>
      <p:sp>
        <p:nvSpPr>
          <p:cNvPr id="10" name="Shape 7"/>
          <p:cNvSpPr/>
          <p:nvPr/>
        </p:nvSpPr>
        <p:spPr>
          <a:xfrm>
            <a:off x="566928" y="1773936"/>
            <a:ext cx="11064240" cy="640080"/>
          </a:xfrm>
          <a:prstGeom prst="roundRect">
            <a:avLst>
              <a:gd name="adj" fmla="val 8571"/>
            </a:avLst>
          </a:prstGeom>
          <a:solidFill>
            <a:srgbClr val="F4F6F9"/>
          </a:solidFill>
          <a:ln w="12700">
            <a:solidFill>
              <a:srgbClr val="333333"/>
            </a:solidFill>
            <a:prstDash val="solid"/>
          </a:ln>
        </p:spPr>
        <p:txBody>
          <a:bodyPr/>
          <a:lstStyle/>
          <a:p>
            <a:endParaRPr lang="en-IN"/>
          </a:p>
        </p:txBody>
      </p:sp>
      <p:pic>
        <p:nvPicPr>
          <p:cNvPr id="11" name="Image 1" descr="/home/claude/eq/iso_expand.png"/>
          <p:cNvPicPr>
            <a:picLocks noChangeAspect="1"/>
          </p:cNvPicPr>
          <p:nvPr/>
        </p:nvPicPr>
        <p:blipFill>
          <a:blip r:embed="rId4"/>
          <a:stretch>
            <a:fillRect/>
          </a:stretch>
        </p:blipFill>
        <p:spPr>
          <a:xfrm>
            <a:off x="1148307" y="1828800"/>
            <a:ext cx="9901482" cy="530352"/>
          </a:xfrm>
          <a:prstGeom prst="rect">
            <a:avLst/>
          </a:prstGeom>
        </p:spPr>
      </p:pic>
      <p:sp>
        <p:nvSpPr>
          <p:cNvPr id="12" name="Text 8"/>
          <p:cNvSpPr txBox="1"/>
          <p:nvPr/>
        </p:nvSpPr>
        <p:spPr>
          <a:xfrm>
            <a:off x="566928" y="2505456"/>
            <a:ext cx="11064240" cy="256032"/>
          </a:xfrm>
          <a:prstGeom prst="rect">
            <a:avLst/>
          </a:prstGeom>
          <a:noFill/>
          <a:ln/>
        </p:spPr>
        <p:txBody>
          <a:bodyPr wrap="square" lIns="0" tIns="0" rIns="0" bIns="0" rtlCol="0" anchor="ctr"/>
          <a:lstStyle/>
          <a:p>
            <a:pPr marL="0" indent="0">
              <a:buNone/>
            </a:pPr>
            <a:r>
              <a:rPr lang="en-US" sz="1200" i="1" dirty="0">
                <a:solidFill>
                  <a:srgbClr val="6B7684"/>
                </a:solidFill>
                <a:latin typeface="Calibri" pitchFamily="34" charset="0"/>
                <a:ea typeface="Calibri" pitchFamily="34" charset="-122"/>
                <a:cs typeface="Calibri" pitchFamily="34" charset="-120"/>
              </a:rPr>
              <a:t>Note (n−1)p ≈ pn to leading order in the sparse regime; the correction is O(p) = O(ln n / n) and vanishes.</a:t>
            </a:r>
            <a:endParaRPr lang="en-US" sz="1200" dirty="0"/>
          </a:p>
        </p:txBody>
      </p:sp>
      <p:sp>
        <p:nvSpPr>
          <p:cNvPr id="13" name="Shape 9"/>
          <p:cNvSpPr/>
          <p:nvPr/>
        </p:nvSpPr>
        <p:spPr>
          <a:xfrm>
            <a:off x="585216" y="2944368"/>
            <a:ext cx="329184" cy="329184"/>
          </a:xfrm>
          <a:prstGeom prst="ellipse">
            <a:avLst/>
          </a:prstGeom>
          <a:solidFill>
            <a:srgbClr val="0E6F66"/>
          </a:solidFill>
          <a:ln w="12700">
            <a:solidFill>
              <a:srgbClr val="0E6F66"/>
            </a:solidFill>
            <a:prstDash val="solid"/>
          </a:ln>
        </p:spPr>
        <p:txBody>
          <a:bodyPr/>
          <a:lstStyle/>
          <a:p>
            <a:endParaRPr lang="en-IN"/>
          </a:p>
        </p:txBody>
      </p:sp>
      <p:sp>
        <p:nvSpPr>
          <p:cNvPr id="14" name="Text 10"/>
          <p:cNvSpPr txBox="1"/>
          <p:nvPr/>
        </p:nvSpPr>
        <p:spPr>
          <a:xfrm>
            <a:off x="585216" y="294894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1"/>
          <p:cNvSpPr txBox="1"/>
          <p:nvPr/>
        </p:nvSpPr>
        <p:spPr>
          <a:xfrm>
            <a:off x="1060704" y="2916936"/>
            <a:ext cx="35661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Expected number of isolated nodes</a:t>
            </a:r>
            <a:endParaRPr lang="en-US" sz="1350" dirty="0"/>
          </a:p>
        </p:txBody>
      </p:sp>
      <p:pic>
        <p:nvPicPr>
          <p:cNvPr id="16" name="Image 2" descr="/home/claude/eq/iso_EX.png"/>
          <p:cNvPicPr>
            <a:picLocks noChangeAspect="1"/>
          </p:cNvPicPr>
          <p:nvPr/>
        </p:nvPicPr>
        <p:blipFill>
          <a:blip r:embed="rId5"/>
          <a:stretch>
            <a:fillRect/>
          </a:stretch>
        </p:blipFill>
        <p:spPr>
          <a:xfrm>
            <a:off x="4764024" y="2871216"/>
            <a:ext cx="4399908" cy="457200"/>
          </a:xfrm>
          <a:prstGeom prst="rect">
            <a:avLst/>
          </a:prstGeom>
        </p:spPr>
      </p:pic>
      <p:sp>
        <p:nvSpPr>
          <p:cNvPr id="17" name="Shape 12"/>
          <p:cNvSpPr/>
          <p:nvPr/>
        </p:nvSpPr>
        <p:spPr>
          <a:xfrm>
            <a:off x="566928" y="3529584"/>
            <a:ext cx="11064240" cy="786384"/>
          </a:xfrm>
          <a:prstGeom prst="roundRect">
            <a:avLst>
              <a:gd name="adj" fmla="val 6977"/>
            </a:avLst>
          </a:prstGeom>
          <a:solidFill>
            <a:srgbClr val="E4F0EE"/>
          </a:solidFill>
          <a:ln w="15875">
            <a:solidFill>
              <a:srgbClr val="0E6F66"/>
            </a:solidFill>
            <a:prstDash val="solid"/>
          </a:ln>
        </p:spPr>
        <p:txBody>
          <a:bodyPr/>
          <a:lstStyle/>
          <a:p>
            <a:endParaRPr lang="en-IN"/>
          </a:p>
        </p:txBody>
      </p:sp>
      <p:sp>
        <p:nvSpPr>
          <p:cNvPr id="18" name="Text 13"/>
          <p:cNvSpPr txBox="1"/>
          <p:nvPr/>
        </p:nvSpPr>
        <p:spPr>
          <a:xfrm>
            <a:off x="804672" y="3529584"/>
            <a:ext cx="10588752" cy="786384"/>
          </a:xfrm>
          <a:prstGeom prst="rect">
            <a:avLst/>
          </a:prstGeom>
          <a:noFill/>
          <a:ln/>
        </p:spPr>
        <p:txBody>
          <a:bodyPr wrap="square" lIns="0" tIns="0" rIns="0" bIns="0" rtlCol="0" anchor="ctr"/>
          <a:lstStyle/>
          <a:p>
            <a:pPr marL="0" indent="0">
              <a:buNone/>
            </a:pPr>
            <a:r>
              <a:rPr lang="en-US" sz="1250" dirty="0">
                <a:solidFill>
                  <a:srgbClr val="0E1B33"/>
                </a:solidFill>
                <a:latin typeface="Calibri" pitchFamily="34" charset="0"/>
                <a:ea typeface="Calibri" pitchFamily="34" charset="-122"/>
                <a:cs typeface="Calibri" pitchFamily="34" charset="-120"/>
              </a:rPr>
              <a:t>Linearity of expectation is doing real work here: the indicator variables 1[deg(v) = 0] are NOT independent — two nodes share the edge between them — but 𝔼 is linear regardless of dependence. Dependence only matters later, in Step 4, when we need the full distribution of X rather than its mean.</a:t>
            </a:r>
            <a:endParaRPr lang="en-US" sz="1250" dirty="0"/>
          </a:p>
        </p:txBody>
      </p:sp>
      <p:sp>
        <p:nvSpPr>
          <p:cNvPr id="19" name="Text 14"/>
          <p:cNvSpPr txBox="1"/>
          <p:nvPr/>
        </p:nvSpPr>
        <p:spPr>
          <a:xfrm>
            <a:off x="566928" y="4498848"/>
            <a:ext cx="11064240" cy="292608"/>
          </a:xfrm>
          <a:prstGeom prst="rect">
            <a:avLst/>
          </a:prstGeom>
          <a:noFill/>
          <a:ln/>
        </p:spPr>
        <p:txBody>
          <a:bodyPr wrap="square" lIns="0" tIns="0" rIns="0" bIns="0" rtlCol="0" anchor="ctr"/>
          <a:lstStyle/>
          <a:p>
            <a:pPr marL="0" indent="0">
              <a:buNone/>
            </a:pPr>
            <a:r>
              <a:rPr lang="en-US" sz="1700" b="1" dirty="0">
                <a:solidFill>
                  <a:srgbClr val="0E1B33"/>
                </a:solidFill>
                <a:latin typeface="Cambria" pitchFamily="34" charset="0"/>
                <a:ea typeface="Cambria" pitchFamily="34" charset="-122"/>
                <a:cs typeface="Cambria" pitchFamily="34" charset="-120"/>
              </a:rPr>
              <a:t>Where the mean crosses one</a:t>
            </a:r>
            <a:endParaRPr lang="en-US" sz="1700" dirty="0"/>
          </a:p>
        </p:txBody>
      </p:sp>
      <p:sp>
        <p:nvSpPr>
          <p:cNvPr id="20" name="Shape 15"/>
          <p:cNvSpPr/>
          <p:nvPr/>
        </p:nvSpPr>
        <p:spPr>
          <a:xfrm>
            <a:off x="566928" y="4864608"/>
            <a:ext cx="2601468"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21" name="Text 16"/>
          <p:cNvSpPr txBox="1"/>
          <p:nvPr/>
        </p:nvSpPr>
        <p:spPr>
          <a:xfrm>
            <a:off x="713232" y="4956048"/>
            <a:ext cx="2308860"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 10³</a:t>
            </a:r>
            <a:endParaRPr lang="en-US" sz="1300" dirty="0"/>
          </a:p>
        </p:txBody>
      </p:sp>
      <p:sp>
        <p:nvSpPr>
          <p:cNvPr id="22" name="Text 17"/>
          <p:cNvSpPr txBox="1"/>
          <p:nvPr/>
        </p:nvSpPr>
        <p:spPr>
          <a:xfrm>
            <a:off x="713232" y="5193792"/>
            <a:ext cx="2308860" cy="219456"/>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p = 6.9 × 10⁻³</a:t>
            </a:r>
            <a:endParaRPr lang="en-US" sz="1150" dirty="0"/>
          </a:p>
        </p:txBody>
      </p:sp>
      <p:sp>
        <p:nvSpPr>
          <p:cNvPr id="23" name="Text 18"/>
          <p:cNvSpPr txBox="1"/>
          <p:nvPr/>
        </p:nvSpPr>
        <p:spPr>
          <a:xfrm>
            <a:off x="713232" y="5431536"/>
            <a:ext cx="2308860" cy="237744"/>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𝔼[X] = 1.0</a:t>
            </a:r>
            <a:endParaRPr lang="en-US" sz="1200" dirty="0"/>
          </a:p>
        </p:txBody>
      </p:sp>
      <p:sp>
        <p:nvSpPr>
          <p:cNvPr id="24" name="Shape 19"/>
          <p:cNvSpPr/>
          <p:nvPr/>
        </p:nvSpPr>
        <p:spPr>
          <a:xfrm>
            <a:off x="3387852" y="4864608"/>
            <a:ext cx="2601468"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25" name="Text 20"/>
          <p:cNvSpPr txBox="1"/>
          <p:nvPr/>
        </p:nvSpPr>
        <p:spPr>
          <a:xfrm>
            <a:off x="3534156" y="4956048"/>
            <a:ext cx="2308860"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 10⁴</a:t>
            </a:r>
            <a:endParaRPr lang="en-US" sz="1300" dirty="0"/>
          </a:p>
        </p:txBody>
      </p:sp>
      <p:sp>
        <p:nvSpPr>
          <p:cNvPr id="26" name="Text 21"/>
          <p:cNvSpPr txBox="1"/>
          <p:nvPr/>
        </p:nvSpPr>
        <p:spPr>
          <a:xfrm>
            <a:off x="3534156" y="5193792"/>
            <a:ext cx="2308860" cy="219456"/>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p = 9.2 × 10⁻⁴</a:t>
            </a:r>
            <a:endParaRPr lang="en-US" sz="1150" dirty="0"/>
          </a:p>
        </p:txBody>
      </p:sp>
      <p:sp>
        <p:nvSpPr>
          <p:cNvPr id="27" name="Text 22"/>
          <p:cNvSpPr txBox="1"/>
          <p:nvPr/>
        </p:nvSpPr>
        <p:spPr>
          <a:xfrm>
            <a:off x="3534156" y="5431536"/>
            <a:ext cx="2308860" cy="237744"/>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𝔼[X] = 1.0</a:t>
            </a:r>
            <a:endParaRPr lang="en-US" sz="1200" dirty="0"/>
          </a:p>
        </p:txBody>
      </p:sp>
      <p:sp>
        <p:nvSpPr>
          <p:cNvPr id="28" name="Shape 23"/>
          <p:cNvSpPr/>
          <p:nvPr/>
        </p:nvSpPr>
        <p:spPr>
          <a:xfrm>
            <a:off x="6208776" y="4864608"/>
            <a:ext cx="2601468"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29" name="Text 24"/>
          <p:cNvSpPr txBox="1"/>
          <p:nvPr/>
        </p:nvSpPr>
        <p:spPr>
          <a:xfrm>
            <a:off x="6355080" y="4956048"/>
            <a:ext cx="2308860"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 10⁶</a:t>
            </a:r>
            <a:endParaRPr lang="en-US" sz="1300" dirty="0"/>
          </a:p>
        </p:txBody>
      </p:sp>
      <p:sp>
        <p:nvSpPr>
          <p:cNvPr id="30" name="Text 25"/>
          <p:cNvSpPr txBox="1"/>
          <p:nvPr/>
        </p:nvSpPr>
        <p:spPr>
          <a:xfrm>
            <a:off x="6355080" y="5193792"/>
            <a:ext cx="2308860" cy="219456"/>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p = 1.4 × 10⁻⁵</a:t>
            </a:r>
            <a:endParaRPr lang="en-US" sz="1150" dirty="0"/>
          </a:p>
        </p:txBody>
      </p:sp>
      <p:sp>
        <p:nvSpPr>
          <p:cNvPr id="31" name="Text 26"/>
          <p:cNvSpPr txBox="1"/>
          <p:nvPr/>
        </p:nvSpPr>
        <p:spPr>
          <a:xfrm>
            <a:off x="6355080" y="5431536"/>
            <a:ext cx="2308860" cy="237744"/>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𝔼[X] = 1.0</a:t>
            </a:r>
            <a:endParaRPr lang="en-US" sz="1200" dirty="0"/>
          </a:p>
        </p:txBody>
      </p:sp>
      <p:sp>
        <p:nvSpPr>
          <p:cNvPr id="32" name="Shape 27"/>
          <p:cNvSpPr/>
          <p:nvPr/>
        </p:nvSpPr>
        <p:spPr>
          <a:xfrm>
            <a:off x="9029700" y="4864608"/>
            <a:ext cx="2601468" cy="914400"/>
          </a:xfrm>
          <a:prstGeom prst="roundRect">
            <a:avLst>
              <a:gd name="adj" fmla="val 6000"/>
            </a:avLst>
          </a:prstGeom>
          <a:solidFill>
            <a:srgbClr val="F4F6F9"/>
          </a:solidFill>
          <a:ln w="12700">
            <a:solidFill>
              <a:srgbClr val="333333"/>
            </a:solidFill>
            <a:prstDash val="solid"/>
          </a:ln>
        </p:spPr>
        <p:txBody>
          <a:bodyPr/>
          <a:lstStyle/>
          <a:p>
            <a:endParaRPr lang="en-IN"/>
          </a:p>
        </p:txBody>
      </p:sp>
      <p:sp>
        <p:nvSpPr>
          <p:cNvPr id="33" name="Text 28"/>
          <p:cNvSpPr txBox="1"/>
          <p:nvPr/>
        </p:nvSpPr>
        <p:spPr>
          <a:xfrm>
            <a:off x="9176004" y="4956048"/>
            <a:ext cx="2308860" cy="237744"/>
          </a:xfrm>
          <a:prstGeom prst="rect">
            <a:avLst/>
          </a:prstGeom>
          <a:noFill/>
          <a:ln/>
        </p:spPr>
        <p:txBody>
          <a:bodyPr wrap="square" lIns="0" tIns="0" rIns="0" bIns="0" rtlCol="0" anchor="ctr"/>
          <a:lstStyle/>
          <a:p>
            <a:pPr marL="0" indent="0">
              <a:buNone/>
            </a:pPr>
            <a:r>
              <a:rPr lang="en-US" sz="1300" b="1" dirty="0">
                <a:solidFill>
                  <a:srgbClr val="0E1B33"/>
                </a:solidFill>
                <a:latin typeface="Calibri" pitchFamily="34" charset="0"/>
                <a:ea typeface="Calibri" pitchFamily="34" charset="-122"/>
                <a:cs typeface="Calibri" pitchFamily="34" charset="-120"/>
              </a:rPr>
              <a:t>n = 10⁹</a:t>
            </a:r>
            <a:endParaRPr lang="en-US" sz="1300" dirty="0"/>
          </a:p>
        </p:txBody>
      </p:sp>
      <p:sp>
        <p:nvSpPr>
          <p:cNvPr id="34" name="Text 29"/>
          <p:cNvSpPr txBox="1"/>
          <p:nvPr/>
        </p:nvSpPr>
        <p:spPr>
          <a:xfrm>
            <a:off x="9176004" y="5193792"/>
            <a:ext cx="2308860" cy="219456"/>
          </a:xfrm>
          <a:prstGeom prst="rect">
            <a:avLst/>
          </a:prstGeom>
          <a:noFill/>
          <a:ln/>
        </p:spPr>
        <p:txBody>
          <a:bodyPr wrap="square" lIns="0" tIns="0" rIns="0" bIns="0" rtlCol="0" anchor="ctr"/>
          <a:lstStyle/>
          <a:p>
            <a:pPr marL="0" indent="0">
              <a:buNone/>
            </a:pPr>
            <a:r>
              <a:rPr lang="en-US" sz="1150" dirty="0">
                <a:solidFill>
                  <a:srgbClr val="6B7684"/>
                </a:solidFill>
                <a:latin typeface="Calibri" pitchFamily="34" charset="0"/>
                <a:ea typeface="Calibri" pitchFamily="34" charset="-122"/>
                <a:cs typeface="Calibri" pitchFamily="34" charset="-120"/>
              </a:rPr>
              <a:t>p = 2.1 × 10⁻⁸</a:t>
            </a:r>
            <a:endParaRPr lang="en-US" sz="1150" dirty="0"/>
          </a:p>
        </p:txBody>
      </p:sp>
      <p:sp>
        <p:nvSpPr>
          <p:cNvPr id="35" name="Text 30"/>
          <p:cNvSpPr txBox="1"/>
          <p:nvPr/>
        </p:nvSpPr>
        <p:spPr>
          <a:xfrm>
            <a:off x="9176004" y="5431536"/>
            <a:ext cx="2308860" cy="237744"/>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𝔼[X] = 1.0</a:t>
            </a:r>
            <a:endParaRPr lang="en-US" sz="1200" dirty="0"/>
          </a:p>
        </p:txBody>
      </p:sp>
      <p:sp>
        <p:nvSpPr>
          <p:cNvPr id="36" name="Text 31"/>
          <p:cNvSpPr txBox="1"/>
          <p:nvPr/>
        </p:nvSpPr>
        <p:spPr>
          <a:xfrm>
            <a:off x="566928" y="5870448"/>
            <a:ext cx="11064240" cy="274320"/>
          </a:xfrm>
          <a:prstGeom prst="rect">
            <a:avLst/>
          </a:prstGeom>
          <a:noFill/>
          <a:ln/>
        </p:spPr>
        <p:txBody>
          <a:bodyPr wrap="square" lIns="0" tIns="0" rIns="0" bIns="0" rtlCol="0" anchor="ctr"/>
          <a:lstStyle/>
          <a:p>
            <a:pPr marL="0" indent="0">
              <a:buNone/>
            </a:pPr>
            <a:r>
              <a:rPr lang="en-US" sz="1250" i="1" dirty="0">
                <a:solidFill>
                  <a:srgbClr val="12203A"/>
                </a:solidFill>
                <a:latin typeface="Calibri" pitchFamily="34" charset="0"/>
                <a:ea typeface="Calibri" pitchFamily="34" charset="-122"/>
                <a:cs typeface="Calibri" pitchFamily="34" charset="-120"/>
              </a:rPr>
              <a:t>At p = ln n / n the expected number of isolated vertices equals 1 for every n — the threshold is exactly where the last singleton disappears.</a:t>
            </a:r>
            <a:endParaRPr lang="en-US" sz="1250" dirty="0"/>
          </a:p>
        </p:txBody>
      </p:sp>
    </p:spTree>
    <p:extLst>
      <p:ext uri="{BB962C8B-B14F-4D97-AF65-F5344CB8AC3E}">
        <p14:creationId xmlns:p14="http://schemas.microsoft.com/office/powerpoint/2010/main" val="28290836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Proof — Steps 3 and 4: parameterise, then Chen–Stein</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15</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sp>
        <p:nvSpPr>
          <p:cNvPr id="6" name="Shape 4"/>
          <p:cNvSpPr/>
          <p:nvPr/>
        </p:nvSpPr>
        <p:spPr>
          <a:xfrm>
            <a:off x="585216" y="1225296"/>
            <a:ext cx="329184" cy="329184"/>
          </a:xfrm>
          <a:prstGeom prst="ellipse">
            <a:avLst/>
          </a:prstGeom>
          <a:solidFill>
            <a:srgbClr val="0E6F66"/>
          </a:solidFill>
          <a:ln w="12700">
            <a:solidFill>
              <a:srgbClr val="0E6F66"/>
            </a:solidFill>
            <a:prstDash val="solid"/>
          </a:ln>
        </p:spPr>
        <p:txBody>
          <a:bodyPr/>
          <a:lstStyle/>
          <a:p>
            <a:endParaRPr lang="en-IN"/>
          </a:p>
        </p:txBody>
      </p:sp>
      <p:sp>
        <p:nvSpPr>
          <p:cNvPr id="7" name="Text 5"/>
          <p:cNvSpPr txBox="1"/>
          <p:nvPr/>
        </p:nvSpPr>
        <p:spPr>
          <a:xfrm>
            <a:off x="585216" y="122986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8" name="Text 6"/>
          <p:cNvSpPr txBox="1"/>
          <p:nvPr/>
        </p:nvSpPr>
        <p:spPr>
          <a:xfrm>
            <a:off x="1060704" y="1197864"/>
            <a:ext cx="365760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Parameterise around the threshold</a:t>
            </a:r>
            <a:endParaRPr lang="en-US" sz="1350" dirty="0"/>
          </a:p>
        </p:txBody>
      </p:sp>
      <p:sp>
        <p:nvSpPr>
          <p:cNvPr id="9" name="Shape 7"/>
          <p:cNvSpPr/>
          <p:nvPr/>
        </p:nvSpPr>
        <p:spPr>
          <a:xfrm>
            <a:off x="566928" y="1645920"/>
            <a:ext cx="11064240" cy="713232"/>
          </a:xfrm>
          <a:prstGeom prst="roundRect">
            <a:avLst>
              <a:gd name="adj" fmla="val 7692"/>
            </a:avLst>
          </a:prstGeom>
          <a:solidFill>
            <a:srgbClr val="F4F6F9"/>
          </a:solidFill>
          <a:ln w="12700">
            <a:solidFill>
              <a:srgbClr val="333333"/>
            </a:solidFill>
            <a:prstDash val="solid"/>
          </a:ln>
        </p:spPr>
        <p:txBody>
          <a:bodyPr/>
          <a:lstStyle/>
          <a:p>
            <a:endParaRPr lang="en-IN"/>
          </a:p>
        </p:txBody>
      </p:sp>
      <p:pic>
        <p:nvPicPr>
          <p:cNvPr id="10" name="Image 0" descr="/home/claude/eq/iso_param.png"/>
          <p:cNvPicPr>
            <a:picLocks noChangeAspect="1"/>
          </p:cNvPicPr>
          <p:nvPr/>
        </p:nvPicPr>
        <p:blipFill>
          <a:blip r:embed="rId3"/>
          <a:stretch>
            <a:fillRect/>
          </a:stretch>
        </p:blipFill>
        <p:spPr>
          <a:xfrm>
            <a:off x="2063569" y="1700784"/>
            <a:ext cx="8070957" cy="603504"/>
          </a:xfrm>
          <a:prstGeom prst="rect">
            <a:avLst/>
          </a:prstGeom>
        </p:spPr>
      </p:pic>
      <p:sp>
        <p:nvSpPr>
          <p:cNvPr id="11" name="Text 8"/>
          <p:cNvSpPr txBox="1"/>
          <p:nvPr/>
        </p:nvSpPr>
        <p:spPr>
          <a:xfrm>
            <a:off x="566928" y="2432304"/>
            <a:ext cx="11064240" cy="274320"/>
          </a:xfrm>
          <a:prstGeom prst="rect">
            <a:avLst/>
          </a:prstGeom>
          <a:noFill/>
          <a:ln/>
        </p:spPr>
        <p:txBody>
          <a:bodyPr wrap="square" lIns="0" tIns="0" rIns="0" bIns="0" rtlCol="0" anchor="ctr"/>
          <a:lstStyle/>
          <a:p>
            <a:pPr marL="0" indent="0">
              <a:buNone/>
            </a:pPr>
            <a:r>
              <a:rPr lang="en-US" sz="1250" i="1" dirty="0">
                <a:solidFill>
                  <a:srgbClr val="6B7684"/>
                </a:solidFill>
                <a:latin typeface="Calibri" pitchFamily="34" charset="0"/>
                <a:ea typeface="Calibri" pitchFamily="34" charset="-122"/>
                <a:cs typeface="Calibri" pitchFamily="34" charset="-120"/>
              </a:rPr>
              <a:t>Writing p = (ln n + c)/n turns a statement about a moving threshold into a statement about a single fixed number c. The mean isolated-node count becomes n-independent: 𝔼[X] → e^(−c).</a:t>
            </a:r>
            <a:endParaRPr lang="en-US" sz="1250" dirty="0"/>
          </a:p>
        </p:txBody>
      </p:sp>
      <p:sp>
        <p:nvSpPr>
          <p:cNvPr id="12" name="Shape 9"/>
          <p:cNvSpPr/>
          <p:nvPr/>
        </p:nvSpPr>
        <p:spPr>
          <a:xfrm>
            <a:off x="585216" y="2852928"/>
            <a:ext cx="329184" cy="329184"/>
          </a:xfrm>
          <a:prstGeom prst="ellipse">
            <a:avLst/>
          </a:prstGeom>
          <a:solidFill>
            <a:srgbClr val="C0392B"/>
          </a:solidFill>
          <a:ln w="12700">
            <a:solidFill>
              <a:srgbClr val="C0392B"/>
            </a:solidFill>
            <a:prstDash val="solid"/>
          </a:ln>
        </p:spPr>
        <p:txBody>
          <a:bodyPr/>
          <a:lstStyle/>
          <a:p>
            <a:endParaRPr lang="en-IN"/>
          </a:p>
        </p:txBody>
      </p:sp>
      <p:sp>
        <p:nvSpPr>
          <p:cNvPr id="13" name="Text 10"/>
          <p:cNvSpPr txBox="1"/>
          <p:nvPr/>
        </p:nvSpPr>
        <p:spPr>
          <a:xfrm>
            <a:off x="585216" y="285750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4" name="Text 11"/>
          <p:cNvSpPr txBox="1"/>
          <p:nvPr/>
        </p:nvSpPr>
        <p:spPr>
          <a:xfrm>
            <a:off x="1060704" y="2825496"/>
            <a:ext cx="365760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Poisson approximation</a:t>
            </a:r>
            <a:endParaRPr lang="en-US" sz="1350" dirty="0"/>
          </a:p>
        </p:txBody>
      </p:sp>
      <p:sp>
        <p:nvSpPr>
          <p:cNvPr id="15" name="Shape 12"/>
          <p:cNvSpPr/>
          <p:nvPr/>
        </p:nvSpPr>
        <p:spPr>
          <a:xfrm>
            <a:off x="566928" y="3273552"/>
            <a:ext cx="6675120" cy="1280160"/>
          </a:xfrm>
          <a:prstGeom prst="roundRect">
            <a:avLst>
              <a:gd name="adj" fmla="val 4286"/>
            </a:avLst>
          </a:prstGeom>
          <a:solidFill>
            <a:srgbClr val="FBEBE8"/>
          </a:solidFill>
          <a:ln w="15875">
            <a:solidFill>
              <a:srgbClr val="C0392B"/>
            </a:solidFill>
            <a:prstDash val="solid"/>
          </a:ln>
        </p:spPr>
        <p:txBody>
          <a:bodyPr/>
          <a:lstStyle/>
          <a:p>
            <a:endParaRPr lang="en-IN"/>
          </a:p>
        </p:txBody>
      </p:sp>
      <p:pic>
        <p:nvPicPr>
          <p:cNvPr id="16" name="Image 1" descr="/home/claude/eq/chen_stein.png"/>
          <p:cNvPicPr>
            <a:picLocks noChangeAspect="1"/>
          </p:cNvPicPr>
          <p:nvPr/>
        </p:nvPicPr>
        <p:blipFill>
          <a:blip r:embed="rId4"/>
          <a:stretch>
            <a:fillRect/>
          </a:stretch>
        </p:blipFill>
        <p:spPr>
          <a:xfrm>
            <a:off x="822960" y="3474720"/>
            <a:ext cx="6163056" cy="324072"/>
          </a:xfrm>
          <a:prstGeom prst="rect">
            <a:avLst/>
          </a:prstGeom>
        </p:spPr>
      </p:pic>
      <p:sp>
        <p:nvSpPr>
          <p:cNvPr id="17" name="Text 13"/>
          <p:cNvSpPr txBox="1"/>
          <p:nvPr/>
        </p:nvSpPr>
        <p:spPr>
          <a:xfrm>
            <a:off x="822960" y="4187952"/>
            <a:ext cx="6163056" cy="256032"/>
          </a:xfrm>
          <a:prstGeom prst="rect">
            <a:avLst/>
          </a:prstGeom>
          <a:noFill/>
          <a:ln/>
        </p:spPr>
        <p:txBody>
          <a:bodyPr wrap="square" lIns="0" tIns="0" rIns="0" bIns="0" rtlCol="0" anchor="ctr"/>
          <a:lstStyle/>
          <a:p>
            <a:pPr marL="0" indent="0" algn="ctr">
              <a:buNone/>
            </a:pPr>
            <a:r>
              <a:rPr lang="en-US" sz="1150" b="1" dirty="0">
                <a:solidFill>
                  <a:srgbClr val="C0392B"/>
                </a:solidFill>
                <a:latin typeface="Calibri" pitchFamily="34" charset="0"/>
                <a:ea typeface="Calibri" pitchFamily="34" charset="-122"/>
                <a:cs typeface="Calibri" pitchFamily="34" charset="-120"/>
              </a:rPr>
              <a:t>Chen–Stein method</a:t>
            </a:r>
            <a:endParaRPr lang="en-US" sz="1150" dirty="0"/>
          </a:p>
        </p:txBody>
      </p:sp>
      <p:sp>
        <p:nvSpPr>
          <p:cNvPr id="18" name="Shape 14"/>
          <p:cNvSpPr/>
          <p:nvPr/>
        </p:nvSpPr>
        <p:spPr>
          <a:xfrm>
            <a:off x="7461504" y="3273552"/>
            <a:ext cx="4169664" cy="1280160"/>
          </a:xfrm>
          <a:prstGeom prst="roundRect">
            <a:avLst>
              <a:gd name="adj" fmla="val 4286"/>
            </a:avLst>
          </a:prstGeom>
          <a:solidFill>
            <a:srgbClr val="F4F6F9"/>
          </a:solidFill>
          <a:ln w="12700">
            <a:solidFill>
              <a:srgbClr val="333333"/>
            </a:solidFill>
            <a:prstDash val="solid"/>
          </a:ln>
        </p:spPr>
        <p:txBody>
          <a:bodyPr/>
          <a:lstStyle/>
          <a:p>
            <a:endParaRPr lang="en-IN"/>
          </a:p>
        </p:txBody>
      </p:sp>
      <p:sp>
        <p:nvSpPr>
          <p:cNvPr id="19" name="Text 15"/>
          <p:cNvSpPr txBox="1"/>
          <p:nvPr/>
        </p:nvSpPr>
        <p:spPr>
          <a:xfrm>
            <a:off x="7680960" y="3364992"/>
            <a:ext cx="3749040"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Why an approximation is needed at all</a:t>
            </a:r>
            <a:endParaRPr lang="en-US" sz="1250" dirty="0"/>
          </a:p>
        </p:txBody>
      </p:sp>
      <p:sp>
        <p:nvSpPr>
          <p:cNvPr id="20" name="Text 16"/>
          <p:cNvSpPr txBox="1"/>
          <p:nvPr/>
        </p:nvSpPr>
        <p:spPr>
          <a:xfrm>
            <a:off x="7680960" y="3639312"/>
            <a:ext cx="3749040" cy="822960"/>
          </a:xfrm>
          <a:prstGeom prst="rect">
            <a:avLst/>
          </a:prstGeom>
          <a:noFill/>
          <a:ln/>
        </p:spPr>
        <p:txBody>
          <a:bodyPr wrap="square" lIns="0" tIns="0" rIns="0" bIns="0" rtlCol="0" anchor="ctr"/>
          <a:lstStyle/>
          <a:p>
            <a:pPr marL="0" indent="0">
              <a:lnSpc>
                <a:spcPct val="98000"/>
              </a:lnSpc>
              <a:buNone/>
            </a:pPr>
            <a:r>
              <a:rPr lang="en-US" sz="1150" dirty="0">
                <a:solidFill>
                  <a:srgbClr val="12203A"/>
                </a:solidFill>
                <a:latin typeface="Calibri" pitchFamily="34" charset="0"/>
                <a:ea typeface="Calibri" pitchFamily="34" charset="-122"/>
                <a:cs typeface="Calibri" pitchFamily="34" charset="-120"/>
              </a:rPr>
              <a:t>The indicators 1[deg(v) = 0] are weakly dependent, so X is not exactly Poisson. Chen–Stein bounds the total-variation distance by O(1/n) — enough to pass to the limit.</a:t>
            </a:r>
            <a:endParaRPr lang="en-US" sz="1150" dirty="0"/>
          </a:p>
        </p:txBody>
      </p:sp>
      <p:sp>
        <p:nvSpPr>
          <p:cNvPr id="21" name="Shape 17"/>
          <p:cNvSpPr/>
          <p:nvPr/>
        </p:nvSpPr>
        <p:spPr>
          <a:xfrm>
            <a:off x="566928" y="4718304"/>
            <a:ext cx="11064240" cy="1042416"/>
          </a:xfrm>
          <a:prstGeom prst="roundRect">
            <a:avLst>
              <a:gd name="adj" fmla="val 5263"/>
            </a:avLst>
          </a:prstGeom>
          <a:solidFill>
            <a:srgbClr val="0E1B33"/>
          </a:solidFill>
          <a:ln w="12700">
            <a:solidFill>
              <a:srgbClr val="333333"/>
            </a:solidFill>
            <a:prstDash val="solid"/>
          </a:ln>
        </p:spPr>
        <p:txBody>
          <a:bodyPr/>
          <a:lstStyle/>
          <a:p>
            <a:endParaRPr lang="en-IN"/>
          </a:p>
        </p:txBody>
      </p:sp>
      <p:sp>
        <p:nvSpPr>
          <p:cNvPr id="22" name="Text 18"/>
          <p:cNvSpPr txBox="1"/>
          <p:nvPr/>
        </p:nvSpPr>
        <p:spPr>
          <a:xfrm>
            <a:off x="841248" y="4828032"/>
            <a:ext cx="7315200" cy="237744"/>
          </a:xfrm>
          <a:prstGeom prst="rect">
            <a:avLst/>
          </a:prstGeom>
          <a:noFill/>
          <a:ln/>
        </p:spPr>
        <p:txBody>
          <a:bodyPr wrap="square" lIns="0" tIns="0" rIns="0" bIns="0" rtlCol="0" anchor="ctr"/>
          <a:lstStyle/>
          <a:p>
            <a:pPr marL="0" indent="0">
              <a:buNone/>
            </a:pPr>
            <a:r>
              <a:rPr lang="en-US" sz="1050" b="1" kern="0" spc="140" dirty="0">
                <a:solidFill>
                  <a:srgbClr val="BFD3E6"/>
                </a:solidFill>
                <a:latin typeface="Calibri" pitchFamily="34" charset="0"/>
                <a:ea typeface="Calibri" pitchFamily="34" charset="-122"/>
                <a:cs typeface="Calibri" pitchFamily="34" charset="-120"/>
              </a:rPr>
              <a:t>THE TWO TAILS</a:t>
            </a:r>
            <a:endParaRPr lang="en-US" sz="1050" dirty="0"/>
          </a:p>
        </p:txBody>
      </p:sp>
      <p:pic>
        <p:nvPicPr>
          <p:cNvPr id="23" name="Image 2" descr="/home/claude/eq/w_conn_limits.png"/>
          <p:cNvPicPr>
            <a:picLocks noChangeAspect="1"/>
          </p:cNvPicPr>
          <p:nvPr/>
        </p:nvPicPr>
        <p:blipFill>
          <a:blip r:embed="rId5"/>
          <a:stretch>
            <a:fillRect/>
          </a:stretch>
        </p:blipFill>
        <p:spPr>
          <a:xfrm>
            <a:off x="896112" y="5084064"/>
            <a:ext cx="10424160" cy="425279"/>
          </a:xfrm>
          <a:prstGeom prst="rect">
            <a:avLst/>
          </a:prstGeom>
        </p:spPr>
      </p:pic>
    </p:spTree>
    <p:extLst>
      <p:ext uri="{BB962C8B-B14F-4D97-AF65-F5344CB8AC3E}">
        <p14:creationId xmlns:p14="http://schemas.microsoft.com/office/powerpoint/2010/main" val="14557975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RESULT</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Step 5: the double-exponential window, verified</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16</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pic>
        <p:nvPicPr>
          <p:cNvPr id="6" name="Image 0" descr="/home/claude/figs/07_connectivity_prob.png"/>
          <p:cNvPicPr>
            <a:picLocks noChangeAspect="1"/>
          </p:cNvPicPr>
          <p:nvPr/>
        </p:nvPicPr>
        <p:blipFill>
          <a:blip r:embed="rId3"/>
          <a:stretch>
            <a:fillRect/>
          </a:stretch>
        </p:blipFill>
        <p:spPr>
          <a:xfrm>
            <a:off x="566928" y="1152144"/>
            <a:ext cx="6670662" cy="4297680"/>
          </a:xfrm>
          <a:prstGeom prst="rect">
            <a:avLst/>
          </a:prstGeom>
        </p:spPr>
      </p:pic>
      <p:sp>
        <p:nvSpPr>
          <p:cNvPr id="7" name="Shape 4"/>
          <p:cNvSpPr/>
          <p:nvPr/>
        </p:nvSpPr>
        <p:spPr>
          <a:xfrm>
            <a:off x="7589520" y="1152144"/>
            <a:ext cx="4041648" cy="2286000"/>
          </a:xfrm>
          <a:prstGeom prst="roundRect">
            <a:avLst>
              <a:gd name="adj" fmla="val 2400"/>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808976" y="1280160"/>
            <a:ext cx="361188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What the curve says</a:t>
            </a:r>
            <a:endParaRPr lang="en-US" sz="1550" dirty="0"/>
          </a:p>
        </p:txBody>
      </p:sp>
      <p:sp>
        <p:nvSpPr>
          <p:cNvPr id="9" name="Text 6"/>
          <p:cNvSpPr txBox="1"/>
          <p:nvPr/>
        </p:nvSpPr>
        <p:spPr>
          <a:xfrm>
            <a:off x="7808976" y="1645920"/>
            <a:ext cx="3611880" cy="1700784"/>
          </a:xfrm>
          <a:prstGeom prst="rect">
            <a:avLst/>
          </a:prstGeom>
          <a:noFill/>
          <a:ln/>
        </p:spPr>
        <p:txBody>
          <a:bodyPr wrap="square" rtlCol="0" anchor="t"/>
          <a:lstStyle/>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At c = 0, i.e. p = ln n / n exactly, ℙ(connected) = e^(−1) = 0.368 — the threshold is not where the graph connects, it is where connecting becomes an even bet.</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Simulation at n = 300, 1000, 3000 collapses onto the same curve: the c-parameterisation captures the entire finite-size dependence.</a:t>
            </a:r>
            <a:endParaRPr lang="en-US" sz="1200" dirty="0"/>
          </a:p>
        </p:txBody>
      </p:sp>
      <p:sp>
        <p:nvSpPr>
          <p:cNvPr id="10" name="Shape 7"/>
          <p:cNvSpPr/>
          <p:nvPr/>
        </p:nvSpPr>
        <p:spPr>
          <a:xfrm>
            <a:off x="7589520" y="3584448"/>
            <a:ext cx="1911096"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11" name="Text 8"/>
          <p:cNvSpPr txBox="1"/>
          <p:nvPr/>
        </p:nvSpPr>
        <p:spPr>
          <a:xfrm>
            <a:off x="7699248" y="3712464"/>
            <a:ext cx="1691640" cy="566928"/>
          </a:xfrm>
          <a:prstGeom prst="rect">
            <a:avLst/>
          </a:prstGeom>
          <a:noFill/>
          <a:ln/>
        </p:spPr>
        <p:txBody>
          <a:bodyPr wrap="square" lIns="0" tIns="0" rIns="0" bIns="0" rtlCol="0" anchor="ctr"/>
          <a:lstStyle/>
          <a:p>
            <a:pPr marL="0" indent="0" algn="ctr">
              <a:buNone/>
            </a:pPr>
            <a:r>
              <a:rPr lang="en-US" sz="3000" b="1" dirty="0">
                <a:solidFill>
                  <a:srgbClr val="C0392B"/>
                </a:solidFill>
                <a:latin typeface="Cambria" pitchFamily="34" charset="0"/>
                <a:ea typeface="Cambria" pitchFamily="34" charset="-122"/>
                <a:cs typeface="Cambria" pitchFamily="34" charset="-120"/>
              </a:rPr>
              <a:t>0.368</a:t>
            </a:r>
            <a:endParaRPr lang="en-US" sz="3000" dirty="0"/>
          </a:p>
        </p:txBody>
      </p:sp>
      <p:sp>
        <p:nvSpPr>
          <p:cNvPr id="12" name="Text 9"/>
          <p:cNvSpPr txBox="1"/>
          <p:nvPr/>
        </p:nvSpPr>
        <p:spPr>
          <a:xfrm>
            <a:off x="7699248" y="4279392"/>
            <a:ext cx="1691640" cy="347472"/>
          </a:xfrm>
          <a:prstGeom prst="rect">
            <a:avLst/>
          </a:prstGeom>
          <a:noFill/>
          <a:ln/>
        </p:spPr>
        <p:txBody>
          <a:bodyPr wrap="square" lIns="0" tIns="0" rIns="0" bIns="0" rtlCol="0" anchor="t"/>
          <a:lstStyle/>
          <a:p>
            <a:pPr marL="0" indent="0" algn="ctr">
              <a:buNone/>
            </a:pPr>
            <a:r>
              <a:rPr lang="en-US" sz="1150" dirty="0">
                <a:solidFill>
                  <a:srgbClr val="6B7684"/>
                </a:solidFill>
                <a:latin typeface="Calibri" pitchFamily="34" charset="0"/>
                <a:ea typeface="Calibri" pitchFamily="34" charset="-122"/>
                <a:cs typeface="Calibri" pitchFamily="34" charset="-120"/>
              </a:rPr>
              <a:t>ℙ at c = 0</a:t>
            </a:r>
            <a:endParaRPr lang="en-US" sz="1150" dirty="0"/>
          </a:p>
        </p:txBody>
      </p:sp>
      <p:sp>
        <p:nvSpPr>
          <p:cNvPr id="13" name="Shape 10"/>
          <p:cNvSpPr/>
          <p:nvPr/>
        </p:nvSpPr>
        <p:spPr>
          <a:xfrm>
            <a:off x="9720072" y="3584448"/>
            <a:ext cx="1911096" cy="1133856"/>
          </a:xfrm>
          <a:prstGeom prst="roundRect">
            <a:avLst>
              <a:gd name="adj" fmla="val 4839"/>
            </a:avLst>
          </a:prstGeom>
          <a:solidFill>
            <a:srgbClr val="F4F6F9"/>
          </a:solidFill>
          <a:ln w="12700">
            <a:solidFill>
              <a:srgbClr val="333333"/>
            </a:solidFill>
            <a:prstDash val="solid"/>
          </a:ln>
        </p:spPr>
        <p:txBody>
          <a:bodyPr/>
          <a:lstStyle/>
          <a:p>
            <a:endParaRPr lang="en-IN"/>
          </a:p>
        </p:txBody>
      </p:sp>
      <p:sp>
        <p:nvSpPr>
          <p:cNvPr id="14" name="Text 11"/>
          <p:cNvSpPr txBox="1"/>
          <p:nvPr/>
        </p:nvSpPr>
        <p:spPr>
          <a:xfrm>
            <a:off x="9829800" y="3712464"/>
            <a:ext cx="1691640" cy="566928"/>
          </a:xfrm>
          <a:prstGeom prst="rect">
            <a:avLst/>
          </a:prstGeom>
          <a:noFill/>
          <a:ln/>
        </p:spPr>
        <p:txBody>
          <a:bodyPr wrap="square" lIns="0" tIns="0" rIns="0" bIns="0" rtlCol="0" anchor="ctr"/>
          <a:lstStyle/>
          <a:p>
            <a:pPr marL="0" indent="0" algn="ctr">
              <a:buNone/>
            </a:pPr>
            <a:r>
              <a:rPr lang="en-US" sz="3000" b="1" dirty="0">
                <a:solidFill>
                  <a:srgbClr val="0E1B33"/>
                </a:solidFill>
                <a:latin typeface="Cambria" pitchFamily="34" charset="0"/>
                <a:ea typeface="Cambria" pitchFamily="34" charset="-122"/>
                <a:cs typeface="Cambria" pitchFamily="34" charset="-120"/>
              </a:rPr>
              <a:t>≈ 9</a:t>
            </a:r>
            <a:endParaRPr lang="en-US" sz="3000" dirty="0"/>
          </a:p>
        </p:txBody>
      </p:sp>
      <p:sp>
        <p:nvSpPr>
          <p:cNvPr id="15" name="Text 12"/>
          <p:cNvSpPr txBox="1"/>
          <p:nvPr/>
        </p:nvSpPr>
        <p:spPr>
          <a:xfrm>
            <a:off x="9829800" y="4279392"/>
            <a:ext cx="1691640" cy="347472"/>
          </a:xfrm>
          <a:prstGeom prst="rect">
            <a:avLst/>
          </a:prstGeom>
          <a:noFill/>
          <a:ln/>
        </p:spPr>
        <p:txBody>
          <a:bodyPr wrap="square" lIns="0" tIns="0" rIns="0" bIns="0" rtlCol="0" anchor="t"/>
          <a:lstStyle/>
          <a:p>
            <a:pPr marL="0" indent="0" algn="ctr">
              <a:buNone/>
            </a:pPr>
            <a:r>
              <a:rPr lang="en-US" sz="1150" dirty="0">
                <a:solidFill>
                  <a:srgbClr val="6B7684"/>
                </a:solidFill>
                <a:latin typeface="Calibri" pitchFamily="34" charset="0"/>
                <a:ea typeface="Calibri" pitchFamily="34" charset="-122"/>
                <a:cs typeface="Calibri" pitchFamily="34" charset="-120"/>
              </a:rPr>
              <a:t>width in c</a:t>
            </a:r>
            <a:endParaRPr lang="en-US" sz="1150" dirty="0"/>
          </a:p>
        </p:txBody>
      </p:sp>
      <p:sp>
        <p:nvSpPr>
          <p:cNvPr id="16" name="Shape 13"/>
          <p:cNvSpPr/>
          <p:nvPr/>
        </p:nvSpPr>
        <p:spPr>
          <a:xfrm>
            <a:off x="7589520" y="4882896"/>
            <a:ext cx="4041648" cy="896112"/>
          </a:xfrm>
          <a:prstGeom prst="roundRect">
            <a:avLst>
              <a:gd name="adj" fmla="val 6122"/>
            </a:avLst>
          </a:prstGeom>
          <a:solidFill>
            <a:srgbClr val="E4F0EE"/>
          </a:solidFill>
          <a:ln w="12700">
            <a:solidFill>
              <a:srgbClr val="333333"/>
            </a:solidFill>
            <a:prstDash val="solid"/>
          </a:ln>
        </p:spPr>
        <p:txBody>
          <a:bodyPr/>
          <a:lstStyle/>
          <a:p>
            <a:endParaRPr lang="en-IN"/>
          </a:p>
        </p:txBody>
      </p:sp>
      <p:sp>
        <p:nvSpPr>
          <p:cNvPr id="17" name="Text 14"/>
          <p:cNvSpPr txBox="1"/>
          <p:nvPr/>
        </p:nvSpPr>
        <p:spPr>
          <a:xfrm>
            <a:off x="7808976" y="4882896"/>
            <a:ext cx="3611880" cy="896112"/>
          </a:xfrm>
          <a:prstGeom prst="rect">
            <a:avLst/>
          </a:prstGeom>
          <a:noFill/>
          <a:ln/>
        </p:spPr>
        <p:txBody>
          <a:bodyPr wrap="square" lIns="0" tIns="0" rIns="0" bIns="0" rtlCol="0" anchor="ctr"/>
          <a:lstStyle/>
          <a:p>
            <a:pPr marL="0" indent="0">
              <a:buNone/>
            </a:pPr>
            <a:r>
              <a:rPr lang="en-US" sz="1200" i="1" dirty="0">
                <a:solidFill>
                  <a:srgbClr val="0E1B33"/>
                </a:solidFill>
                <a:latin typeface="Calibri" pitchFamily="34" charset="0"/>
                <a:ea typeface="Calibri" pitchFamily="34" charset="-122"/>
                <a:cs typeface="Calibri" pitchFamily="34" charset="-120"/>
              </a:rPr>
              <a:t>The window in p has width ≈ 9/n, while t(n) = ln n / n. The ratio 9/ln n → 0 — this is what “sharp” means, quantitatively.</a:t>
            </a:r>
            <a:endParaRPr lang="en-US" sz="1200" dirty="0"/>
          </a:p>
        </p:txBody>
      </p:sp>
    </p:spTree>
    <p:extLst>
      <p:ext uri="{BB962C8B-B14F-4D97-AF65-F5344CB8AC3E}">
        <p14:creationId xmlns:p14="http://schemas.microsoft.com/office/powerpoint/2010/main" val="18955292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MECHANISM</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isolated-node census across four decades of n</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17</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pic>
        <p:nvPicPr>
          <p:cNvPr id="6" name="Image 0" descr="/home/claude/figs/08_isolated_nodes.png"/>
          <p:cNvPicPr>
            <a:picLocks noChangeAspect="1"/>
          </p:cNvPicPr>
          <p:nvPr/>
        </p:nvPicPr>
        <p:blipFill>
          <a:blip r:embed="rId3"/>
          <a:stretch>
            <a:fillRect/>
          </a:stretch>
        </p:blipFill>
        <p:spPr>
          <a:xfrm>
            <a:off x="566928" y="1152144"/>
            <a:ext cx="6739055" cy="4315968"/>
          </a:xfrm>
          <a:prstGeom prst="rect">
            <a:avLst/>
          </a:prstGeom>
        </p:spPr>
      </p:pic>
      <p:sp>
        <p:nvSpPr>
          <p:cNvPr id="7" name="Shape 4"/>
          <p:cNvSpPr/>
          <p:nvPr/>
        </p:nvSpPr>
        <p:spPr>
          <a:xfrm>
            <a:off x="7626096" y="1152144"/>
            <a:ext cx="4005072" cy="2670048"/>
          </a:xfrm>
          <a:prstGeom prst="roundRect">
            <a:avLst>
              <a:gd name="adj" fmla="val 2055"/>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845552" y="1298448"/>
            <a:ext cx="356616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Reading the figure</a:t>
            </a:r>
            <a:endParaRPr lang="en-US" sz="1550" dirty="0"/>
          </a:p>
        </p:txBody>
      </p:sp>
      <p:sp>
        <p:nvSpPr>
          <p:cNvPr id="9" name="Text 6"/>
          <p:cNvSpPr txBox="1"/>
          <p:nvPr/>
        </p:nvSpPr>
        <p:spPr>
          <a:xfrm>
            <a:off x="7845552" y="1664208"/>
            <a:ext cx="3566160" cy="2048256"/>
          </a:xfrm>
          <a:prstGeom prst="rect">
            <a:avLst/>
          </a:prstGeom>
          <a:noFill/>
          <a:ln/>
        </p:spPr>
        <p:txBody>
          <a:bodyPr wrap="square" rtlCol="0" anchor="t"/>
          <a:lstStyle/>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Each curve is 𝔼[X] = n·e^(−pn) for one value of n; the marker sits at p = ln n / n.</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Every marker lands on 𝔼[X] = 1 — the crimson line. That coincidence is the theorem.</a:t>
            </a:r>
            <a:endParaRPr lang="en-US" sz="1200" dirty="0"/>
          </a:p>
          <a:p>
            <a:pPr marL="342900" indent="-342900">
              <a:lnSpc>
                <a:spcPct val="106000"/>
              </a:lnSpc>
              <a:spcAft>
                <a:spcPts val="900"/>
              </a:spcAft>
              <a:buSzPct val="100000"/>
              <a:buChar char="•"/>
            </a:pPr>
            <a:r>
              <a:rPr lang="en-US" sz="1200" dirty="0">
                <a:solidFill>
                  <a:srgbClr val="12203A"/>
                </a:solidFill>
                <a:latin typeface="Calibri" pitchFamily="34" charset="0"/>
                <a:ea typeface="Calibri" pitchFamily="34" charset="-122"/>
                <a:cs typeface="Calibri" pitchFamily="34" charset="-120"/>
              </a:rPr>
              <a:t>The fall-off is exponential in pn, so a modest increase in p past the threshold drives 𝔼[X] to essentially zero: connectivity, once achieved, is robust.</a:t>
            </a:r>
            <a:endParaRPr lang="en-US" sz="1200" dirty="0"/>
          </a:p>
        </p:txBody>
      </p:sp>
      <p:sp>
        <p:nvSpPr>
          <p:cNvPr id="10" name="Shape 7"/>
          <p:cNvSpPr/>
          <p:nvPr/>
        </p:nvSpPr>
        <p:spPr>
          <a:xfrm>
            <a:off x="7626096" y="3968496"/>
            <a:ext cx="4005072" cy="1499616"/>
          </a:xfrm>
          <a:prstGeom prst="roundRect">
            <a:avLst>
              <a:gd name="adj" fmla="val 3659"/>
            </a:avLst>
          </a:prstGeom>
          <a:solidFill>
            <a:srgbClr val="FBEBE8"/>
          </a:solidFill>
          <a:ln w="15875">
            <a:solidFill>
              <a:srgbClr val="C0392B"/>
            </a:solidFill>
            <a:prstDash val="solid"/>
          </a:ln>
        </p:spPr>
        <p:txBody>
          <a:bodyPr/>
          <a:lstStyle/>
          <a:p>
            <a:endParaRPr lang="en-IN"/>
          </a:p>
        </p:txBody>
      </p:sp>
      <p:sp>
        <p:nvSpPr>
          <p:cNvPr id="11" name="Text 8"/>
          <p:cNvSpPr txBox="1"/>
          <p:nvPr/>
        </p:nvSpPr>
        <p:spPr>
          <a:xfrm>
            <a:off x="7845552" y="4078224"/>
            <a:ext cx="356616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THE MECHANISM, STATED PLAINLY</a:t>
            </a:r>
            <a:endParaRPr lang="en-US" sz="1050" dirty="0"/>
          </a:p>
        </p:txBody>
      </p:sp>
      <p:sp>
        <p:nvSpPr>
          <p:cNvPr id="12" name="Text 9"/>
          <p:cNvSpPr txBox="1"/>
          <p:nvPr/>
        </p:nvSpPr>
        <p:spPr>
          <a:xfrm>
            <a:off x="7845552" y="4352544"/>
            <a:ext cx="3566160" cy="1005840"/>
          </a:xfrm>
          <a:prstGeom prst="rect">
            <a:avLst/>
          </a:prstGeom>
          <a:noFill/>
          <a:ln/>
        </p:spPr>
        <p:txBody>
          <a:bodyPr wrap="square" lIns="0" tIns="0" rIns="0" bIns="0" rtlCol="0" anchor="ctr"/>
          <a:lstStyle/>
          <a:p>
            <a:pPr marL="0" indent="0">
              <a:lnSpc>
                <a:spcPct val="98000"/>
              </a:lnSpc>
              <a:buNone/>
            </a:pPr>
            <a:r>
              <a:rPr lang="en-US" sz="1200" dirty="0">
                <a:solidFill>
                  <a:srgbClr val="0E1B33"/>
                </a:solidFill>
                <a:latin typeface="Calibri" pitchFamily="34" charset="0"/>
                <a:ea typeface="Calibri" pitchFamily="34" charset="-122"/>
                <a:cs typeface="Calibri" pitchFamily="34" charset="-120"/>
              </a:rPr>
              <a:t>Connectivity in G(n,p) is not limited by whether the bulk of the graph is joined up — it is limited by the very last vertex that happens to draw no edges. The threshold is a statement about the extreme of a distribution, not its centre.</a:t>
            </a:r>
            <a:endParaRPr lang="en-US" sz="1200" dirty="0"/>
          </a:p>
        </p:txBody>
      </p:sp>
    </p:spTree>
    <p:extLst>
      <p:ext uri="{BB962C8B-B14F-4D97-AF65-F5344CB8AC3E}">
        <p14:creationId xmlns:p14="http://schemas.microsoft.com/office/powerpoint/2010/main" val="40113266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COMPARISON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Two thresholds, separated by a factor of ln n</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18</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II  ·  Thresholds and Connectivity</a:t>
            </a:r>
            <a:endParaRPr lang="en-US" sz="1000" dirty="0"/>
          </a:p>
        </p:txBody>
      </p:sp>
      <p:pic>
        <p:nvPicPr>
          <p:cNvPr id="6" name="Image 0" descr="/home/claude/figs/09_two_thresholds.png"/>
          <p:cNvPicPr>
            <a:picLocks noChangeAspect="1"/>
          </p:cNvPicPr>
          <p:nvPr/>
        </p:nvPicPr>
        <p:blipFill>
          <a:blip r:embed="rId3"/>
          <a:stretch>
            <a:fillRect/>
          </a:stretch>
        </p:blipFill>
        <p:spPr>
          <a:xfrm>
            <a:off x="566928" y="1188720"/>
            <a:ext cx="6249349" cy="3931920"/>
          </a:xfrm>
          <a:prstGeom prst="rect">
            <a:avLst/>
          </a:prstGeom>
        </p:spPr>
      </p:pic>
      <p:pic>
        <p:nvPicPr>
          <p:cNvPr id="7" name="Image 1" descr="/home/claude/eq/two_thresh.png"/>
          <p:cNvPicPr>
            <a:picLocks noChangeAspect="1"/>
          </p:cNvPicPr>
          <p:nvPr/>
        </p:nvPicPr>
        <p:blipFill>
          <a:blip r:embed="rId4"/>
          <a:stretch>
            <a:fillRect/>
          </a:stretch>
        </p:blipFill>
        <p:spPr>
          <a:xfrm>
            <a:off x="2064613" y="5230368"/>
            <a:ext cx="3679750" cy="566928"/>
          </a:xfrm>
          <a:prstGeom prst="rect">
            <a:avLst/>
          </a:prstGeom>
        </p:spPr>
      </p:pic>
      <p:sp>
        <p:nvSpPr>
          <p:cNvPr id="8" name="Shape 4"/>
          <p:cNvSpPr/>
          <p:nvPr/>
        </p:nvSpPr>
        <p:spPr>
          <a:xfrm>
            <a:off x="7534656" y="1188720"/>
            <a:ext cx="4096512" cy="2139696"/>
          </a:xfrm>
          <a:prstGeom prst="roundRect">
            <a:avLst>
              <a:gd name="adj" fmla="val 2564"/>
            </a:avLst>
          </a:prstGeom>
          <a:solidFill>
            <a:srgbClr val="E4F0EE"/>
          </a:solidFill>
          <a:ln w="15875">
            <a:solidFill>
              <a:srgbClr val="0E6F66"/>
            </a:solidFill>
            <a:prstDash val="solid"/>
          </a:ln>
        </p:spPr>
        <p:txBody>
          <a:bodyPr/>
          <a:lstStyle/>
          <a:p>
            <a:endParaRPr lang="en-IN"/>
          </a:p>
        </p:txBody>
      </p:sp>
      <p:sp>
        <p:nvSpPr>
          <p:cNvPr id="9" name="Text 5"/>
          <p:cNvSpPr txBox="1"/>
          <p:nvPr/>
        </p:nvSpPr>
        <p:spPr>
          <a:xfrm>
            <a:off x="7754112" y="1298448"/>
            <a:ext cx="36576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THE SHADED BAND</a:t>
            </a:r>
            <a:endParaRPr lang="en-US" sz="1050" dirty="0"/>
          </a:p>
        </p:txBody>
      </p:sp>
      <p:sp>
        <p:nvSpPr>
          <p:cNvPr id="10" name="Text 6"/>
          <p:cNvSpPr txBox="1"/>
          <p:nvPr/>
        </p:nvSpPr>
        <p:spPr>
          <a:xfrm>
            <a:off x="7754112" y="1572768"/>
            <a:ext cx="3657600" cy="1371600"/>
          </a:xfrm>
          <a:prstGeom prst="rect">
            <a:avLst/>
          </a:prstGeom>
          <a:noFill/>
          <a:ln/>
        </p:spPr>
        <p:txBody>
          <a:bodyPr wrap="square" lIns="0" tIns="0" rIns="0" bIns="0" rtlCol="0" anchor="ctr"/>
          <a:lstStyle/>
          <a:p>
            <a:pPr marL="0" indent="0">
              <a:lnSpc>
                <a:spcPct val="100000"/>
              </a:lnSpc>
              <a:buNone/>
            </a:pPr>
            <a:r>
              <a:rPr lang="en-US" sz="1250" dirty="0">
                <a:solidFill>
                  <a:srgbClr val="0E1B33"/>
                </a:solidFill>
                <a:latin typeface="Calibri" pitchFamily="34" charset="0"/>
                <a:ea typeface="Calibri" pitchFamily="34" charset="-122"/>
                <a:cs typeface="Calibri" pitchFamily="34" charset="-120"/>
              </a:rPr>
              <a:t>Between p = 1/n and p = ln n / n the graph has a giant component containing almost every vertex — and still has isolated vertices. It is “essentially connected” and formally disconnected at the same time.</a:t>
            </a:r>
            <a:endParaRPr lang="en-US" sz="1250" dirty="0"/>
          </a:p>
        </p:txBody>
      </p:sp>
      <p:sp>
        <p:nvSpPr>
          <p:cNvPr id="11" name="Text 7"/>
          <p:cNvSpPr txBox="1"/>
          <p:nvPr/>
        </p:nvSpPr>
        <p:spPr>
          <a:xfrm>
            <a:off x="7754112" y="2962656"/>
            <a:ext cx="3657600" cy="274320"/>
          </a:xfrm>
          <a:prstGeom prst="rect">
            <a:avLst/>
          </a:prstGeom>
          <a:noFill/>
          <a:ln/>
        </p:spPr>
        <p:txBody>
          <a:bodyPr wrap="square" lIns="0" tIns="0" rIns="0" bIns="0" rtlCol="0" anchor="ctr"/>
          <a:lstStyle/>
          <a:p>
            <a:pPr marL="0" indent="0">
              <a:buNone/>
            </a:pPr>
            <a:r>
              <a:rPr lang="en-US" sz="1200" b="1" i="1" dirty="0">
                <a:solidFill>
                  <a:srgbClr val="0E6F66"/>
                </a:solidFill>
                <a:latin typeface="Calibri" pitchFamily="34" charset="0"/>
                <a:ea typeface="Calibri" pitchFamily="34" charset="-122"/>
                <a:cs typeface="Calibri" pitchFamily="34" charset="-120"/>
              </a:rPr>
              <a:t>Real sparse networks live in this band.</a:t>
            </a:r>
            <a:endParaRPr lang="en-US" sz="1200" dirty="0"/>
          </a:p>
        </p:txBody>
      </p:sp>
      <p:sp>
        <p:nvSpPr>
          <p:cNvPr id="12" name="Shape 8"/>
          <p:cNvSpPr/>
          <p:nvPr/>
        </p:nvSpPr>
        <p:spPr>
          <a:xfrm>
            <a:off x="7534656" y="3474720"/>
            <a:ext cx="4096512" cy="2322576"/>
          </a:xfrm>
          <a:prstGeom prst="roundRect">
            <a:avLst>
              <a:gd name="adj" fmla="val 2362"/>
            </a:avLst>
          </a:prstGeom>
          <a:solidFill>
            <a:srgbClr val="F4F6F9"/>
          </a:solidFill>
          <a:ln w="12700">
            <a:solidFill>
              <a:srgbClr val="333333"/>
            </a:solidFill>
            <a:prstDash val="solid"/>
          </a:ln>
        </p:spPr>
        <p:txBody>
          <a:bodyPr/>
          <a:lstStyle/>
          <a:p>
            <a:endParaRPr lang="en-IN"/>
          </a:p>
        </p:txBody>
      </p:sp>
      <p:sp>
        <p:nvSpPr>
          <p:cNvPr id="13" name="Text 9"/>
          <p:cNvSpPr txBox="1"/>
          <p:nvPr/>
        </p:nvSpPr>
        <p:spPr>
          <a:xfrm>
            <a:off x="7754112" y="3602736"/>
            <a:ext cx="3657600"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Different mechanisms entirely</a:t>
            </a:r>
            <a:endParaRPr lang="en-US" sz="1550" dirty="0"/>
          </a:p>
        </p:txBody>
      </p:sp>
      <p:graphicFrame>
        <p:nvGraphicFramePr>
          <p:cNvPr id="19" name="Table 0"/>
          <p:cNvGraphicFramePr>
            <a:graphicFrameLocks noGrp="1"/>
          </p:cNvGraphicFramePr>
          <p:nvPr/>
        </p:nvGraphicFramePr>
        <p:xfrm>
          <a:off x="7754112" y="3950208"/>
          <a:ext cx="3657600" cy="1463040"/>
        </p:xfrm>
        <a:graphic>
          <a:graphicData uri="http://schemas.openxmlformats.org/drawingml/2006/table">
            <a:tbl>
              <a:tblPr/>
              <a:tblGrid>
                <a:gridCol w="12344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92608">
                <a:tc>
                  <a:txBody>
                    <a:bodyPr/>
                    <a:lstStyle/>
                    <a:p>
                      <a:pPr marL="0" indent="0">
                        <a:buNone/>
                      </a:pP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050" b="1" dirty="0">
                          <a:solidFill>
                            <a:srgbClr val="0E1B33"/>
                          </a:solidFill>
                          <a:latin typeface="Calibri" pitchFamily="34" charset="0"/>
                          <a:ea typeface="Calibri" pitchFamily="34" charset="-122"/>
                          <a:cs typeface="Calibri" pitchFamily="34" charset="-120"/>
                        </a:rPr>
                        <a:t>Giant</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buNone/>
                      </a:pPr>
                      <a:r>
                        <a:rPr lang="en-US" sz="1050" b="1" dirty="0">
                          <a:solidFill>
                            <a:srgbClr val="0E1B33"/>
                          </a:solidFill>
                          <a:latin typeface="Calibri" pitchFamily="34" charset="0"/>
                          <a:ea typeface="Calibri" pitchFamily="34" charset="-122"/>
                          <a:cs typeface="Calibri" pitchFamily="34" charset="-120"/>
                        </a:rPr>
                        <a:t>Connectivity</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2608">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threshold</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⟨k⟩ = 1</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⟨k⟩ = ln n</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controlled by</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branching factor</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isolated vertices</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order</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second</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no order param.</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self-consistency</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050" dirty="0">
                          <a:solidFill>
                            <a:srgbClr val="12203A"/>
                          </a:solidFill>
                          <a:latin typeface="Calibri" pitchFamily="34" charset="0"/>
                          <a:ea typeface="Calibri" pitchFamily="34" charset="-122"/>
                          <a:cs typeface="Calibri" pitchFamily="34" charset="-120"/>
                        </a:rPr>
                        <a:t>Chen–Stein</a:t>
                      </a:r>
                      <a:endParaRPr lang="en-US" sz="105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854867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36">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566928" y="1773936"/>
            <a:ext cx="1225296" cy="1225296"/>
          </a:xfrm>
          <a:prstGeom prst="ellipse">
            <a:avLst/>
          </a:prstGeom>
          <a:solidFill>
            <a:srgbClr val="0E6F66"/>
          </a:solidFill>
          <a:ln w="12700">
            <a:solidFill>
              <a:srgbClr val="0E6F66"/>
            </a:solidFill>
            <a:prstDash val="solid"/>
          </a:ln>
        </p:spPr>
        <p:txBody>
          <a:bodyPr/>
          <a:lstStyle/>
          <a:p>
            <a:endParaRPr lang="en-IN"/>
          </a:p>
        </p:txBody>
      </p:sp>
      <p:sp>
        <p:nvSpPr>
          <p:cNvPr id="3" name="Text 1"/>
          <p:cNvSpPr txBox="1"/>
          <p:nvPr/>
        </p:nvSpPr>
        <p:spPr>
          <a:xfrm>
            <a:off x="566928" y="1778508"/>
            <a:ext cx="1225296" cy="1225296"/>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V</a:t>
            </a:r>
            <a:endParaRPr lang="en-US" sz="4400" dirty="0"/>
          </a:p>
        </p:txBody>
      </p:sp>
      <p:sp>
        <p:nvSpPr>
          <p:cNvPr id="4" name="Text 2"/>
          <p:cNvSpPr txBox="1"/>
          <p:nvPr/>
        </p:nvSpPr>
        <p:spPr>
          <a:xfrm>
            <a:off x="2139696" y="1481328"/>
            <a:ext cx="9692640" cy="1481328"/>
          </a:xfrm>
          <a:prstGeom prst="rect">
            <a:avLst/>
          </a:prstGeom>
          <a:noFill/>
          <a:ln/>
        </p:spPr>
        <p:txBody>
          <a:bodyPr wrap="square" lIns="0" tIns="0" rIns="0" bIns="0" rtlCol="0" anchor="ctr"/>
          <a:lstStyle/>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Subgraph</a:t>
            </a:r>
            <a:endParaRPr lang="en-US" sz="3600" dirty="0"/>
          </a:p>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Emergence</a:t>
            </a:r>
            <a:endParaRPr lang="en-US" sz="3600" dirty="0"/>
          </a:p>
        </p:txBody>
      </p:sp>
      <p:sp>
        <p:nvSpPr>
          <p:cNvPr id="5" name="Text 3"/>
          <p:cNvSpPr txBox="1"/>
          <p:nvPr/>
        </p:nvSpPr>
        <p:spPr>
          <a:xfrm>
            <a:off x="2139696" y="3163824"/>
            <a:ext cx="9509760" cy="786384"/>
          </a:xfrm>
          <a:prstGeom prst="rect">
            <a:avLst/>
          </a:prstGeom>
          <a:noFill/>
          <a:ln/>
        </p:spPr>
        <p:txBody>
          <a:bodyPr wrap="square" lIns="0" tIns="0" rIns="0" bIns="0" rtlCol="0" anchor="t"/>
          <a:lstStyle/>
          <a:p>
            <a:pPr marL="0" indent="0">
              <a:lnSpc>
                <a:spcPct val="106000"/>
              </a:lnSpc>
              <a:buNone/>
            </a:pPr>
            <a:r>
              <a:rPr lang="en-US" sz="1500" dirty="0">
                <a:solidFill>
                  <a:srgbClr val="BFD3E6"/>
                </a:solidFill>
                <a:latin typeface="Calibri" pitchFamily="34" charset="0"/>
                <a:ea typeface="Calibri" pitchFamily="34" charset="-122"/>
                <a:cs typeface="Calibri" pitchFamily="34" charset="-120"/>
              </a:rPr>
              <a:t>Threshold functions for trees, cycles and complete subgraphs · why arbitrarily large trees appear before the first cycle</a:t>
            </a:r>
            <a:endParaRPr lang="en-US" sz="1500" dirty="0"/>
          </a:p>
        </p:txBody>
      </p:sp>
      <p:pic>
        <p:nvPicPr>
          <p:cNvPr id="6" name="Image 0" descr="/home/claude/eq/w_sec5.png"/>
          <p:cNvPicPr>
            <a:picLocks noChangeAspect="1"/>
          </p:cNvPicPr>
          <p:nvPr/>
        </p:nvPicPr>
        <p:blipFill>
          <a:blip r:embed="rId3"/>
          <a:stretch>
            <a:fillRect/>
          </a:stretch>
        </p:blipFill>
        <p:spPr>
          <a:xfrm>
            <a:off x="2139696" y="4169664"/>
            <a:ext cx="8229600" cy="719022"/>
          </a:xfrm>
          <a:prstGeom prst="rect">
            <a:avLst/>
          </a:prstGeom>
        </p:spPr>
      </p:pic>
      <p:sp>
        <p:nvSpPr>
          <p:cNvPr id="7" name="Text 4"/>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36</a:t>
            </a:r>
            <a:endParaRPr lang="en-US" sz="1050" dirty="0"/>
          </a:p>
        </p:txBody>
      </p:sp>
      <p:sp>
        <p:nvSpPr>
          <p:cNvPr id="8" name="Text 5"/>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  ·  Subgraph Emergence</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Derivation: edges, trees, and cycles</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37</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  ·  Subgraph Emergence</a:t>
            </a:r>
            <a:endParaRPr lang="en-US" sz="1000" dirty="0"/>
          </a:p>
        </p:txBody>
      </p:sp>
      <p:sp>
        <p:nvSpPr>
          <p:cNvPr id="6" name="Shape 4"/>
          <p:cNvSpPr/>
          <p:nvPr/>
        </p:nvSpPr>
        <p:spPr>
          <a:xfrm>
            <a:off x="585216" y="1207008"/>
            <a:ext cx="329184" cy="329184"/>
          </a:xfrm>
          <a:prstGeom prst="ellipse">
            <a:avLst/>
          </a:prstGeom>
          <a:solidFill>
            <a:srgbClr val="0E6F66"/>
          </a:solidFill>
          <a:ln w="12700">
            <a:solidFill>
              <a:srgbClr val="0E6F66"/>
            </a:solidFill>
            <a:prstDash val="solid"/>
          </a:ln>
        </p:spPr>
        <p:txBody>
          <a:bodyPr/>
          <a:lstStyle/>
          <a:p>
            <a:endParaRPr lang="en-IN"/>
          </a:p>
        </p:txBody>
      </p:sp>
      <p:sp>
        <p:nvSpPr>
          <p:cNvPr id="7" name="Text 5"/>
          <p:cNvSpPr txBox="1"/>
          <p:nvPr/>
        </p:nvSpPr>
        <p:spPr>
          <a:xfrm>
            <a:off x="585216" y="121158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60704" y="1179576"/>
            <a:ext cx="26517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The very first edge</a:t>
            </a:r>
            <a:endParaRPr lang="en-US" sz="1350" dirty="0"/>
          </a:p>
        </p:txBody>
      </p:sp>
      <p:pic>
        <p:nvPicPr>
          <p:cNvPr id="9" name="Image 0" descr="/home/claude/eq/first_edge.png"/>
          <p:cNvPicPr>
            <a:picLocks noChangeAspect="1"/>
          </p:cNvPicPr>
          <p:nvPr/>
        </p:nvPicPr>
        <p:blipFill>
          <a:blip r:embed="rId3"/>
          <a:stretch>
            <a:fillRect/>
          </a:stretch>
        </p:blipFill>
        <p:spPr>
          <a:xfrm>
            <a:off x="3849624" y="1133856"/>
            <a:ext cx="3646714" cy="457200"/>
          </a:xfrm>
          <a:prstGeom prst="rect">
            <a:avLst/>
          </a:prstGeom>
        </p:spPr>
      </p:pic>
      <p:sp>
        <p:nvSpPr>
          <p:cNvPr id="10" name="Shape 7"/>
          <p:cNvSpPr/>
          <p:nvPr/>
        </p:nvSpPr>
        <p:spPr>
          <a:xfrm>
            <a:off x="585216" y="1773936"/>
            <a:ext cx="329184" cy="329184"/>
          </a:xfrm>
          <a:prstGeom prst="ellipse">
            <a:avLst/>
          </a:prstGeom>
          <a:solidFill>
            <a:srgbClr val="0E6F66"/>
          </a:solidFill>
          <a:ln w="12700">
            <a:solidFill>
              <a:srgbClr val="0E6F66"/>
            </a:solidFill>
            <a:prstDash val="solid"/>
          </a:ln>
        </p:spPr>
        <p:txBody>
          <a:bodyPr/>
          <a:lstStyle/>
          <a:p>
            <a:endParaRPr lang="en-IN"/>
          </a:p>
        </p:txBody>
      </p:sp>
      <p:sp>
        <p:nvSpPr>
          <p:cNvPr id="11" name="Text 8"/>
          <p:cNvSpPr txBox="1"/>
          <p:nvPr/>
        </p:nvSpPr>
        <p:spPr>
          <a:xfrm>
            <a:off x="585216" y="177850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9"/>
          <p:cNvSpPr txBox="1"/>
          <p:nvPr/>
        </p:nvSpPr>
        <p:spPr>
          <a:xfrm>
            <a:off x="1060704" y="1746504"/>
            <a:ext cx="26517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Trees on k vertices</a:t>
            </a:r>
            <a:endParaRPr lang="en-US" sz="1350" dirty="0"/>
          </a:p>
        </p:txBody>
      </p:sp>
      <p:pic>
        <p:nvPicPr>
          <p:cNvPr id="13" name="Image 1" descr="/home/claude/eq/tree_count.png"/>
          <p:cNvPicPr>
            <a:picLocks noChangeAspect="1"/>
          </p:cNvPicPr>
          <p:nvPr/>
        </p:nvPicPr>
        <p:blipFill>
          <a:blip r:embed="rId4"/>
          <a:stretch>
            <a:fillRect/>
          </a:stretch>
        </p:blipFill>
        <p:spPr>
          <a:xfrm>
            <a:off x="3849624" y="1700784"/>
            <a:ext cx="3576320" cy="512064"/>
          </a:xfrm>
          <a:prstGeom prst="rect">
            <a:avLst/>
          </a:prstGeom>
        </p:spPr>
      </p:pic>
      <p:sp>
        <p:nvSpPr>
          <p:cNvPr id="14" name="Text 10"/>
          <p:cNvSpPr txBox="1"/>
          <p:nvPr/>
        </p:nvSpPr>
        <p:spPr>
          <a:xfrm>
            <a:off x="1060704" y="2322576"/>
            <a:ext cx="10570464" cy="274320"/>
          </a:xfrm>
          <a:prstGeom prst="rect">
            <a:avLst/>
          </a:prstGeom>
          <a:noFill/>
          <a:ln/>
        </p:spPr>
        <p:txBody>
          <a:bodyPr wrap="square" lIns="0" tIns="0" rIns="0" bIns="0" rtlCol="0" anchor="ctr"/>
          <a:lstStyle/>
          <a:p>
            <a:pPr marL="0" indent="0">
              <a:buNone/>
            </a:pPr>
            <a:r>
              <a:rPr lang="en-US" sz="1250" i="1" dirty="0">
                <a:solidFill>
                  <a:srgbClr val="6B7684"/>
                </a:solidFill>
                <a:latin typeface="Calibri" pitchFamily="34" charset="0"/>
                <a:ea typeface="Calibri" pitchFamily="34" charset="-122"/>
                <a:cs typeface="Calibri" pitchFamily="34" charset="-120"/>
              </a:rPr>
              <a:t>Cayley's formula gives k^(k−2) labelled trees on k vertices; each has k − 1 edges, and there are C(n,k) ways to choose the vertex set.</a:t>
            </a:r>
            <a:endParaRPr lang="en-US" sz="1250" dirty="0"/>
          </a:p>
        </p:txBody>
      </p:sp>
      <p:sp>
        <p:nvSpPr>
          <p:cNvPr id="15" name="Shape 11"/>
          <p:cNvSpPr/>
          <p:nvPr/>
        </p:nvSpPr>
        <p:spPr>
          <a:xfrm>
            <a:off x="566928" y="2651760"/>
            <a:ext cx="11064240" cy="621792"/>
          </a:xfrm>
          <a:prstGeom prst="roundRect">
            <a:avLst>
              <a:gd name="adj" fmla="val 8824"/>
            </a:avLst>
          </a:prstGeom>
          <a:solidFill>
            <a:srgbClr val="E4F0EE"/>
          </a:solidFill>
          <a:ln w="15875">
            <a:solidFill>
              <a:srgbClr val="0E6F66"/>
            </a:solidFill>
            <a:prstDash val="solid"/>
          </a:ln>
        </p:spPr>
        <p:txBody>
          <a:bodyPr/>
          <a:lstStyle/>
          <a:p>
            <a:endParaRPr lang="en-IN"/>
          </a:p>
        </p:txBody>
      </p:sp>
      <p:pic>
        <p:nvPicPr>
          <p:cNvPr id="16" name="Image 2" descr="/home/claude/eq/tree_thresh.png"/>
          <p:cNvPicPr>
            <a:picLocks noChangeAspect="1"/>
          </p:cNvPicPr>
          <p:nvPr/>
        </p:nvPicPr>
        <p:blipFill>
          <a:blip r:embed="rId5"/>
          <a:stretch>
            <a:fillRect/>
          </a:stretch>
        </p:blipFill>
        <p:spPr>
          <a:xfrm>
            <a:off x="2988190" y="2724912"/>
            <a:ext cx="6221716" cy="475488"/>
          </a:xfrm>
          <a:prstGeom prst="rect">
            <a:avLst/>
          </a:prstGeom>
        </p:spPr>
      </p:pic>
      <p:sp>
        <p:nvSpPr>
          <p:cNvPr id="17" name="Shape 12"/>
          <p:cNvSpPr/>
          <p:nvPr/>
        </p:nvSpPr>
        <p:spPr>
          <a:xfrm>
            <a:off x="585216" y="3419856"/>
            <a:ext cx="329184" cy="329184"/>
          </a:xfrm>
          <a:prstGeom prst="ellipse">
            <a:avLst/>
          </a:prstGeom>
          <a:solidFill>
            <a:srgbClr val="0E6F66"/>
          </a:solidFill>
          <a:ln w="12700">
            <a:solidFill>
              <a:srgbClr val="0E6F66"/>
            </a:solidFill>
            <a:prstDash val="solid"/>
          </a:ln>
        </p:spPr>
        <p:txBody>
          <a:bodyPr/>
          <a:lstStyle/>
          <a:p>
            <a:endParaRPr lang="en-IN"/>
          </a:p>
        </p:txBody>
      </p:sp>
      <p:sp>
        <p:nvSpPr>
          <p:cNvPr id="18" name="Text 13"/>
          <p:cNvSpPr txBox="1"/>
          <p:nvPr/>
        </p:nvSpPr>
        <p:spPr>
          <a:xfrm>
            <a:off x="585216" y="342442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4"/>
          <p:cNvSpPr txBox="1"/>
          <p:nvPr/>
        </p:nvSpPr>
        <p:spPr>
          <a:xfrm>
            <a:off x="1060704" y="3392424"/>
            <a:ext cx="26517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Cycles of length k</a:t>
            </a:r>
            <a:endParaRPr lang="en-US" sz="1350" dirty="0"/>
          </a:p>
        </p:txBody>
      </p:sp>
      <p:pic>
        <p:nvPicPr>
          <p:cNvPr id="20" name="Image 3" descr="/home/claude/eq/cycle_thresh.png"/>
          <p:cNvPicPr>
            <a:picLocks noChangeAspect="1"/>
          </p:cNvPicPr>
          <p:nvPr/>
        </p:nvPicPr>
        <p:blipFill>
          <a:blip r:embed="rId6"/>
          <a:stretch>
            <a:fillRect/>
          </a:stretch>
        </p:blipFill>
        <p:spPr>
          <a:xfrm>
            <a:off x="3849624" y="3346704"/>
            <a:ext cx="5529202" cy="530352"/>
          </a:xfrm>
          <a:prstGeom prst="rect">
            <a:avLst/>
          </a:prstGeom>
        </p:spPr>
      </p:pic>
      <p:sp>
        <p:nvSpPr>
          <p:cNvPr id="21" name="Text 15"/>
          <p:cNvSpPr txBox="1"/>
          <p:nvPr/>
        </p:nvSpPr>
        <p:spPr>
          <a:xfrm>
            <a:off x="1060704" y="3986784"/>
            <a:ext cx="10570464" cy="274320"/>
          </a:xfrm>
          <a:prstGeom prst="rect">
            <a:avLst/>
          </a:prstGeom>
          <a:noFill/>
          <a:ln/>
        </p:spPr>
        <p:txBody>
          <a:bodyPr wrap="square" lIns="0" tIns="0" rIns="0" bIns="0" rtlCol="0" anchor="ctr"/>
          <a:lstStyle/>
          <a:p>
            <a:pPr marL="0" indent="0">
              <a:buNone/>
            </a:pPr>
            <a:r>
              <a:rPr lang="en-US" sz="1250" i="1" dirty="0">
                <a:solidFill>
                  <a:srgbClr val="6B7684"/>
                </a:solidFill>
                <a:latin typeface="Calibri" pitchFamily="34" charset="0"/>
                <a:ea typeface="Calibri" pitchFamily="34" charset="-122"/>
                <a:cs typeface="Calibri" pitchFamily="34" charset="-120"/>
              </a:rPr>
              <a:t>A cycle on k vertices needs k edges rather than k − 1 — one more edge than a tree on the same vertex set. That single extra edge is what decouples the threshold from k.</a:t>
            </a:r>
            <a:endParaRPr lang="en-US" sz="1250" dirty="0"/>
          </a:p>
        </p:txBody>
      </p:sp>
      <p:sp>
        <p:nvSpPr>
          <p:cNvPr id="22" name="Shape 16"/>
          <p:cNvSpPr/>
          <p:nvPr/>
        </p:nvSpPr>
        <p:spPr>
          <a:xfrm>
            <a:off x="566928" y="4352544"/>
            <a:ext cx="11064240" cy="950976"/>
          </a:xfrm>
          <a:prstGeom prst="roundRect">
            <a:avLst>
              <a:gd name="adj" fmla="val 5769"/>
            </a:avLst>
          </a:prstGeom>
          <a:solidFill>
            <a:srgbClr val="FBEBE8"/>
          </a:solidFill>
          <a:ln w="15875">
            <a:solidFill>
              <a:srgbClr val="C0392B"/>
            </a:solidFill>
            <a:prstDash val="solid"/>
          </a:ln>
        </p:spPr>
        <p:txBody>
          <a:bodyPr/>
          <a:lstStyle/>
          <a:p>
            <a:endParaRPr lang="en-IN"/>
          </a:p>
        </p:txBody>
      </p:sp>
      <p:sp>
        <p:nvSpPr>
          <p:cNvPr id="23" name="Text 17"/>
          <p:cNvSpPr txBox="1"/>
          <p:nvPr/>
        </p:nvSpPr>
        <p:spPr>
          <a:xfrm>
            <a:off x="786384" y="4462272"/>
            <a:ext cx="10625328"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ORDERING</a:t>
            </a:r>
            <a:endParaRPr lang="en-US" sz="1050" dirty="0"/>
          </a:p>
        </p:txBody>
      </p:sp>
      <p:pic>
        <p:nvPicPr>
          <p:cNvPr id="24" name="Image 4" descr="/home/claude/eq/ladder.png"/>
          <p:cNvPicPr>
            <a:picLocks noChangeAspect="1"/>
          </p:cNvPicPr>
          <p:nvPr/>
        </p:nvPicPr>
        <p:blipFill>
          <a:blip r:embed="rId7"/>
          <a:stretch>
            <a:fillRect/>
          </a:stretch>
        </p:blipFill>
        <p:spPr>
          <a:xfrm>
            <a:off x="3704306" y="4736592"/>
            <a:ext cx="4789485" cy="402336"/>
          </a:xfrm>
          <a:prstGeom prst="rect">
            <a:avLst/>
          </a:prstGeom>
        </p:spPr>
      </p:pic>
      <p:sp>
        <p:nvSpPr>
          <p:cNvPr id="25" name="Shape 18"/>
          <p:cNvSpPr/>
          <p:nvPr/>
        </p:nvSpPr>
        <p:spPr>
          <a:xfrm>
            <a:off x="566928" y="5431536"/>
            <a:ext cx="11064240" cy="384048"/>
          </a:xfrm>
          <a:prstGeom prst="roundRect">
            <a:avLst>
              <a:gd name="adj" fmla="val 14286"/>
            </a:avLst>
          </a:prstGeom>
          <a:solidFill>
            <a:srgbClr val="F4F6F9"/>
          </a:solidFill>
          <a:ln w="12700">
            <a:solidFill>
              <a:srgbClr val="333333"/>
            </a:solidFill>
            <a:prstDash val="solid"/>
          </a:ln>
        </p:spPr>
        <p:txBody>
          <a:bodyPr/>
          <a:lstStyle/>
          <a:p>
            <a:endParaRPr lang="en-IN"/>
          </a:p>
        </p:txBody>
      </p:sp>
      <p:sp>
        <p:nvSpPr>
          <p:cNvPr id="26" name="Text 19"/>
          <p:cNvSpPr txBox="1"/>
          <p:nvPr/>
        </p:nvSpPr>
        <p:spPr>
          <a:xfrm>
            <a:off x="804672" y="5431536"/>
            <a:ext cx="10588752" cy="384048"/>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Consequence: arbitrarily large tree components exist at densities where no cycle has yet appeared — and the first cycle arrives exactly when the giant component does, at p = 1/n.</a:t>
            </a:r>
            <a:endParaRPr lang="en-US" sz="12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SUMMARY</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threshold ladder</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38</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  ·  Subgraph Emergence</a:t>
            </a:r>
            <a:endParaRPr lang="en-US" sz="1000" dirty="0"/>
          </a:p>
        </p:txBody>
      </p:sp>
      <p:pic>
        <p:nvPicPr>
          <p:cNvPr id="6" name="Image 0" descr="/home/claude/figs/13_threshold_ladder.png"/>
          <p:cNvPicPr>
            <a:picLocks noChangeAspect="1"/>
          </p:cNvPicPr>
          <p:nvPr/>
        </p:nvPicPr>
        <p:blipFill>
          <a:blip r:embed="rId3"/>
          <a:stretch>
            <a:fillRect/>
          </a:stretch>
        </p:blipFill>
        <p:spPr>
          <a:xfrm>
            <a:off x="566928" y="1152144"/>
            <a:ext cx="6035040" cy="3310107"/>
          </a:xfrm>
          <a:prstGeom prst="rect">
            <a:avLst/>
          </a:prstGeom>
        </p:spPr>
      </p:pic>
      <p:sp>
        <p:nvSpPr>
          <p:cNvPr id="7" name="Text 4"/>
          <p:cNvSpPr txBox="1"/>
          <p:nvPr/>
        </p:nvSpPr>
        <p:spPr>
          <a:xfrm>
            <a:off x="6876288" y="1152144"/>
            <a:ext cx="4754880" cy="292608"/>
          </a:xfrm>
          <a:prstGeom prst="rect">
            <a:avLst/>
          </a:prstGeom>
          <a:noFill/>
          <a:ln/>
        </p:spPr>
        <p:txBody>
          <a:bodyPr wrap="square" lIns="0" tIns="0" rIns="0" bIns="0" rtlCol="0" anchor="ctr"/>
          <a:lstStyle/>
          <a:p>
            <a:pPr marL="0" indent="0">
              <a:buNone/>
            </a:pPr>
            <a:r>
              <a:rPr lang="en-US" sz="1600" b="1" dirty="0">
                <a:solidFill>
                  <a:srgbClr val="0E1B33"/>
                </a:solidFill>
                <a:latin typeface="Cambria" pitchFamily="34" charset="0"/>
                <a:ea typeface="Cambria" pitchFamily="34" charset="-122"/>
                <a:cs typeface="Cambria" pitchFamily="34" charset="-120"/>
              </a:rPr>
              <a:t>Threshold functions for monotone properties</a:t>
            </a:r>
            <a:endParaRPr lang="en-US" sz="1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876288" y="1499616"/>
          <a:ext cx="4754880" cy="2194560"/>
        </p:xfrm>
        <a:graphic>
          <a:graphicData uri="http://schemas.openxmlformats.org/drawingml/2006/table">
            <a:tbl>
              <a:tblPr/>
              <a:tblGrid>
                <a:gridCol w="146304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0E1B33"/>
                          </a:solidFill>
                          <a:latin typeface="Calibri" pitchFamily="34" charset="0"/>
                          <a:ea typeface="Calibri" pitchFamily="34" charset="-122"/>
                          <a:cs typeface="Calibri" pitchFamily="34" charset="-120"/>
                        </a:rPr>
                        <a:t>Property A</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tc>
                  <a:txBody>
                    <a:bodyPr/>
                    <a:lstStyle/>
                    <a:p>
                      <a:pPr marL="0" indent="0">
                        <a:buNone/>
                      </a:pPr>
                      <a:r>
                        <a:rPr lang="en-US" sz="1100" b="1" dirty="0">
                          <a:solidFill>
                            <a:srgbClr val="0E1B33"/>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tc>
                  <a:txBody>
                    <a:bodyPr/>
                    <a:lstStyle/>
                    <a:p>
                      <a:pPr marL="0" indent="0">
                        <a:buNone/>
                      </a:pPr>
                      <a:r>
                        <a:rPr lang="en-US" sz="1100" b="1" dirty="0">
                          <a:solidFill>
                            <a:srgbClr val="0E1B33"/>
                          </a:solidFill>
                          <a:latin typeface="Calibri" pitchFamily="34" charset="0"/>
                          <a:ea typeface="Calibri" pitchFamily="34" charset="-122"/>
                          <a:cs typeface="Calibri" pitchFamily="34" charset="-120"/>
                        </a:rPr>
                        <a:t>t(n)</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9"/>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First edge</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|E| ≥ 1</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n⁻²</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Tree of size k</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a k-node tree exists</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n^(−k/(k−1))</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First cycle</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a cycle of any length</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n⁻¹</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Giant component</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component of order Θ(n)</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n⁻¹</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K_r subgraph</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complete graph K_r present</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n^(−2/(r−1))</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Connectivity</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graph is fully connected</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ln n / n</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Hamiltonicity</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a Hamiltonian cycle exists</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100" dirty="0">
                          <a:solidFill>
                            <a:srgbClr val="12203A"/>
                          </a:solidFill>
                          <a:latin typeface="Calibri" pitchFamily="34" charset="0"/>
                          <a:ea typeface="Calibri" pitchFamily="34" charset="-122"/>
                          <a:cs typeface="Calibri" pitchFamily="34" charset="-120"/>
                        </a:rPr>
                        <a:t>ln n / n</a:t>
                      </a:r>
                      <a:endParaRPr lang="en-US" sz="1100" dirty="0">
                        <a:latin typeface="Calibri" charset="0"/>
                        <a:ea typeface="Calibri" charset="0"/>
                        <a:cs typeface="Calibri" charset="0"/>
                      </a:endParaRPr>
                    </a:p>
                  </a:txBody>
                  <a:tcPr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Shape 5"/>
          <p:cNvSpPr/>
          <p:nvPr/>
        </p:nvSpPr>
        <p:spPr>
          <a:xfrm>
            <a:off x="6876288" y="3749040"/>
            <a:ext cx="4754880" cy="932688"/>
          </a:xfrm>
          <a:prstGeom prst="roundRect">
            <a:avLst>
              <a:gd name="adj" fmla="val 5882"/>
            </a:avLst>
          </a:prstGeom>
          <a:solidFill>
            <a:srgbClr val="F4F6F9"/>
          </a:solidFill>
          <a:ln w="12700">
            <a:solidFill>
              <a:srgbClr val="333333"/>
            </a:solidFill>
            <a:prstDash val="solid"/>
          </a:ln>
        </p:spPr>
        <p:txBody>
          <a:bodyPr/>
          <a:lstStyle/>
          <a:p>
            <a:endParaRPr lang="en-IN"/>
          </a:p>
        </p:txBody>
      </p:sp>
      <p:sp>
        <p:nvSpPr>
          <p:cNvPr id="10" name="Text 6"/>
          <p:cNvSpPr txBox="1"/>
          <p:nvPr/>
        </p:nvSpPr>
        <p:spPr>
          <a:xfrm>
            <a:off x="7077456" y="3840480"/>
            <a:ext cx="43434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A COINCIDENCE WORTH NOTICING</a:t>
            </a:r>
            <a:endParaRPr lang="en-US" sz="1050" dirty="0"/>
          </a:p>
        </p:txBody>
      </p:sp>
      <p:sp>
        <p:nvSpPr>
          <p:cNvPr id="11" name="Text 7"/>
          <p:cNvSpPr txBox="1"/>
          <p:nvPr/>
        </p:nvSpPr>
        <p:spPr>
          <a:xfrm>
            <a:off x="7077456" y="4059936"/>
            <a:ext cx="4343400" cy="566928"/>
          </a:xfrm>
          <a:prstGeom prst="rect">
            <a:avLst/>
          </a:prstGeom>
          <a:noFill/>
          <a:ln/>
        </p:spPr>
        <p:txBody>
          <a:bodyPr wrap="square" lIns="0" tIns="0" rIns="0" bIns="0" rtlCol="0" anchor="ctr"/>
          <a:lstStyle/>
          <a:p>
            <a:pPr marL="0" indent="0">
              <a:lnSpc>
                <a:spcPct val="96000"/>
              </a:lnSpc>
              <a:buNone/>
            </a:pPr>
            <a:r>
              <a:rPr lang="en-US" sz="1150" dirty="0">
                <a:solidFill>
                  <a:srgbClr val="12203A"/>
                </a:solidFill>
                <a:latin typeface="Calibri" pitchFamily="34" charset="0"/>
                <a:ea typeface="Calibri" pitchFamily="34" charset="-122"/>
                <a:cs typeface="Calibri" pitchFamily="34" charset="-120"/>
              </a:rPr>
              <a:t>Connectivity and Hamiltonicity share the same threshold. Once the last isolated vertex is gone, a Hamiltonian cycle appears almost immediately — the obstruction to both is the same.</a:t>
            </a:r>
            <a:endParaRPr lang="en-US" sz="1150" dirty="0"/>
          </a:p>
        </p:txBody>
      </p:sp>
      <p:sp>
        <p:nvSpPr>
          <p:cNvPr id="12" name="Shape 8"/>
          <p:cNvSpPr/>
          <p:nvPr/>
        </p:nvSpPr>
        <p:spPr>
          <a:xfrm>
            <a:off x="6876288" y="4791456"/>
            <a:ext cx="4754880" cy="566928"/>
          </a:xfrm>
          <a:prstGeom prst="roundRect">
            <a:avLst>
              <a:gd name="adj" fmla="val 9677"/>
            </a:avLst>
          </a:prstGeom>
          <a:solidFill>
            <a:srgbClr val="FBEBE8"/>
          </a:solidFill>
          <a:ln w="15875">
            <a:solidFill>
              <a:srgbClr val="C0392B"/>
            </a:solidFill>
            <a:prstDash val="solid"/>
          </a:ln>
        </p:spPr>
        <p:txBody>
          <a:bodyPr/>
          <a:lstStyle/>
          <a:p>
            <a:endParaRPr lang="en-IN"/>
          </a:p>
        </p:txBody>
      </p:sp>
      <p:pic>
        <p:nvPicPr>
          <p:cNvPr id="13" name="Image 1" descr="/home/claude/eq/kr_thresh.png"/>
          <p:cNvPicPr>
            <a:picLocks noChangeAspect="1"/>
          </p:cNvPicPr>
          <p:nvPr/>
        </p:nvPicPr>
        <p:blipFill>
          <a:blip r:embed="rId4"/>
          <a:stretch>
            <a:fillRect/>
          </a:stretch>
        </p:blipFill>
        <p:spPr>
          <a:xfrm>
            <a:off x="8072259" y="4864608"/>
            <a:ext cx="2353795" cy="420624"/>
          </a:xfrm>
          <a:prstGeom prst="rect">
            <a:avLst/>
          </a:prstGeom>
        </p:spPr>
      </p:pic>
      <p:sp>
        <p:nvSpPr>
          <p:cNvPr id="14" name="Shape 9"/>
          <p:cNvSpPr/>
          <p:nvPr/>
        </p:nvSpPr>
        <p:spPr>
          <a:xfrm>
            <a:off x="566928" y="4626864"/>
            <a:ext cx="6035040" cy="1152144"/>
          </a:xfrm>
          <a:prstGeom prst="roundRect">
            <a:avLst>
              <a:gd name="adj" fmla="val 4762"/>
            </a:avLst>
          </a:prstGeom>
          <a:solidFill>
            <a:srgbClr val="F4F6F9"/>
          </a:solidFill>
          <a:ln w="12700">
            <a:solidFill>
              <a:srgbClr val="333333"/>
            </a:solidFill>
            <a:prstDash val="solid"/>
          </a:ln>
        </p:spPr>
        <p:txBody>
          <a:bodyPr/>
          <a:lstStyle/>
          <a:p>
            <a:endParaRPr lang="en-IN"/>
          </a:p>
        </p:txBody>
      </p:sp>
      <p:sp>
        <p:nvSpPr>
          <p:cNvPr id="15" name="Text 10"/>
          <p:cNvSpPr txBox="1"/>
          <p:nvPr/>
        </p:nvSpPr>
        <p:spPr>
          <a:xfrm>
            <a:off x="768096" y="4718304"/>
            <a:ext cx="5632704"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How to read the ladder</a:t>
            </a:r>
            <a:endParaRPr lang="en-US" sz="1250" dirty="0"/>
          </a:p>
        </p:txBody>
      </p:sp>
      <p:sp>
        <p:nvSpPr>
          <p:cNvPr id="16" name="Text 11"/>
          <p:cNvSpPr txBox="1"/>
          <p:nvPr/>
        </p:nvSpPr>
        <p:spPr>
          <a:xfrm>
            <a:off x="768096" y="4974336"/>
            <a:ext cx="5632704" cy="749808"/>
          </a:xfrm>
          <a:prstGeom prst="rect">
            <a:avLst/>
          </a:prstGeom>
          <a:noFill/>
          <a:ln/>
        </p:spPr>
        <p:txBody>
          <a:bodyPr wrap="square" lIns="0" tIns="0" rIns="0" bIns="0" rtlCol="0" anchor="ctr"/>
          <a:lstStyle/>
          <a:p>
            <a:pPr marL="0" indent="0">
              <a:lnSpc>
                <a:spcPct val="96000"/>
              </a:lnSpc>
              <a:buNone/>
            </a:pPr>
            <a:r>
              <a:rPr lang="en-US" sz="1100" dirty="0">
                <a:solidFill>
                  <a:srgbClr val="12203A"/>
                </a:solidFill>
                <a:latin typeface="Calibri" pitchFamily="34" charset="0"/>
                <a:ea typeface="Calibri" pitchFamily="34" charset="-122"/>
                <a:cs typeface="Calibri" pitchFamily="34" charset="-120"/>
              </a:rPr>
              <a:t>Each bar is the exponent α in t(n) = n^α. A less negative exponent means a higher critical density, so the structure appears later as p grows. Reading upward from the bottom gives the order in which structures are born: single edges, then ever-larger trees, and only at n⁻¹ the first cycle — arriving simultaneously with the giant component.</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C22D1-A860-5C70-E03E-0B41DA3D1A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533C55-7125-6687-63BE-762B738FA4CE}"/>
              </a:ext>
            </a:extLst>
          </p:cNvPr>
          <p:cNvSpPr>
            <a:spLocks noGrp="1"/>
          </p:cNvSpPr>
          <p:nvPr>
            <p:ph idx="1"/>
          </p:nvPr>
        </p:nvSpPr>
        <p:spPr/>
        <p:txBody>
          <a:bodyPr/>
          <a:lstStyle/>
          <a:p>
            <a:endParaRPr lang="en-IN"/>
          </a:p>
        </p:txBody>
      </p:sp>
      <p:sp>
        <p:nvSpPr>
          <p:cNvPr id="5" name="Text 1">
            <a:extLst>
              <a:ext uri="{FF2B5EF4-FFF2-40B4-BE49-F238E27FC236}">
                <a16:creationId xmlns:a16="http://schemas.microsoft.com/office/drawing/2014/main" id="{494BD49A-2DF5-3C78-C657-718103FAE728}"/>
              </a:ext>
            </a:extLst>
          </p:cNvPr>
          <p:cNvSpPr txBox="1"/>
          <p:nvPr/>
        </p:nvSpPr>
        <p:spPr>
          <a:xfrm>
            <a:off x="5372194" y="2387144"/>
            <a:ext cx="3939758"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Advanced Topics</a:t>
            </a:r>
            <a:endParaRPr lang="en-US" sz="2900" dirty="0"/>
          </a:p>
        </p:txBody>
      </p:sp>
    </p:spTree>
    <p:extLst>
      <p:ext uri="{BB962C8B-B14F-4D97-AF65-F5344CB8AC3E}">
        <p14:creationId xmlns:p14="http://schemas.microsoft.com/office/powerpoint/2010/main" val="32151019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39">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566928" y="1773936"/>
            <a:ext cx="1225296" cy="1225296"/>
          </a:xfrm>
          <a:prstGeom prst="ellipse">
            <a:avLst/>
          </a:prstGeom>
          <a:solidFill>
            <a:srgbClr val="0E6F66"/>
          </a:solidFill>
          <a:ln w="12700">
            <a:solidFill>
              <a:srgbClr val="0E6F66"/>
            </a:solidFill>
            <a:prstDash val="solid"/>
          </a:ln>
        </p:spPr>
        <p:txBody>
          <a:bodyPr/>
          <a:lstStyle/>
          <a:p>
            <a:endParaRPr lang="en-IN"/>
          </a:p>
        </p:txBody>
      </p:sp>
      <p:sp>
        <p:nvSpPr>
          <p:cNvPr id="3" name="Text 1"/>
          <p:cNvSpPr txBox="1"/>
          <p:nvPr/>
        </p:nvSpPr>
        <p:spPr>
          <a:xfrm>
            <a:off x="566928" y="1778508"/>
            <a:ext cx="1225296" cy="1225296"/>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VI</a:t>
            </a:r>
            <a:endParaRPr lang="en-US" sz="4400" dirty="0"/>
          </a:p>
        </p:txBody>
      </p:sp>
      <p:sp>
        <p:nvSpPr>
          <p:cNvPr id="4" name="Text 2"/>
          <p:cNvSpPr txBox="1"/>
          <p:nvPr/>
        </p:nvSpPr>
        <p:spPr>
          <a:xfrm>
            <a:off x="2139696" y="1481328"/>
            <a:ext cx="9692640" cy="1481328"/>
          </a:xfrm>
          <a:prstGeom prst="rect">
            <a:avLst/>
          </a:prstGeom>
          <a:noFill/>
          <a:ln/>
        </p:spPr>
        <p:txBody>
          <a:bodyPr wrap="square" lIns="0" tIns="0" rIns="0" bIns="0" rtlCol="0" anchor="ctr"/>
          <a:lstStyle/>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Beyond Erdős–Rényi:</a:t>
            </a:r>
            <a:endParaRPr lang="en-US" sz="3600" dirty="0"/>
          </a:p>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the Configuration Model</a:t>
            </a:r>
            <a:endParaRPr lang="en-US" sz="3600" dirty="0"/>
          </a:p>
        </p:txBody>
      </p:sp>
      <p:sp>
        <p:nvSpPr>
          <p:cNvPr id="5" name="Text 3"/>
          <p:cNvSpPr txBox="1"/>
          <p:nvPr/>
        </p:nvSpPr>
        <p:spPr>
          <a:xfrm>
            <a:off x="2139696" y="3163824"/>
            <a:ext cx="9509760" cy="786384"/>
          </a:xfrm>
          <a:prstGeom prst="rect">
            <a:avLst/>
          </a:prstGeom>
          <a:noFill/>
          <a:ln/>
        </p:spPr>
        <p:txBody>
          <a:bodyPr wrap="square" lIns="0" tIns="0" rIns="0" bIns="0" rtlCol="0" anchor="t"/>
          <a:lstStyle/>
          <a:p>
            <a:pPr marL="0" indent="0">
              <a:lnSpc>
                <a:spcPct val="106000"/>
              </a:lnSpc>
              <a:buNone/>
            </a:pPr>
            <a:r>
              <a:rPr lang="en-US" sz="1500" dirty="0">
                <a:solidFill>
                  <a:srgbClr val="BFD3E6"/>
                </a:solidFill>
                <a:latin typeface="Calibri" pitchFamily="34" charset="0"/>
                <a:ea typeface="Calibri" pitchFamily="34" charset="-122"/>
                <a:cs typeface="Calibri" pitchFamily="34" charset="-120"/>
              </a:rPr>
              <a:t>An arbitrary degree distribution · excess degree · the Molloy–Reed criterion · why scale-free networks resist immunisation</a:t>
            </a:r>
            <a:endParaRPr lang="en-US" sz="1500" dirty="0"/>
          </a:p>
        </p:txBody>
      </p:sp>
      <p:pic>
        <p:nvPicPr>
          <p:cNvPr id="6" name="Image 0" descr="/home/claude/eq/w_sec6.png"/>
          <p:cNvPicPr>
            <a:picLocks noChangeAspect="1"/>
          </p:cNvPicPr>
          <p:nvPr/>
        </p:nvPicPr>
        <p:blipFill>
          <a:blip r:embed="rId3"/>
          <a:stretch>
            <a:fillRect/>
          </a:stretch>
        </p:blipFill>
        <p:spPr>
          <a:xfrm>
            <a:off x="2139696" y="4169664"/>
            <a:ext cx="1202682" cy="804672"/>
          </a:xfrm>
          <a:prstGeom prst="rect">
            <a:avLst/>
          </a:prstGeom>
        </p:spPr>
      </p:pic>
      <p:sp>
        <p:nvSpPr>
          <p:cNvPr id="7" name="Text 4"/>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39</a:t>
            </a:r>
            <a:endParaRPr lang="en-US" sz="1050" dirty="0"/>
          </a:p>
        </p:txBody>
      </p:sp>
      <p:sp>
        <p:nvSpPr>
          <p:cNvPr id="8" name="Text 5"/>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  ·  Beyond Erdos-Renyi</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GENERALISATION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configuration model and the Molloy–Reed criterion</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40</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  ·  Beyond Erdos-Renyi</a:t>
            </a:r>
            <a:endParaRPr lang="en-US" sz="1000" dirty="0"/>
          </a:p>
        </p:txBody>
      </p:sp>
      <p:sp>
        <p:nvSpPr>
          <p:cNvPr id="6" name="Shape 4"/>
          <p:cNvSpPr/>
          <p:nvPr/>
        </p:nvSpPr>
        <p:spPr>
          <a:xfrm>
            <a:off x="566928" y="1170432"/>
            <a:ext cx="11064240" cy="859536"/>
          </a:xfrm>
          <a:prstGeom prst="roundRect">
            <a:avLst>
              <a:gd name="adj" fmla="val 6383"/>
            </a:avLst>
          </a:prstGeom>
          <a:solidFill>
            <a:srgbClr val="F4F6F9"/>
          </a:solidFill>
          <a:ln w="12700">
            <a:solidFill>
              <a:srgbClr val="333333"/>
            </a:solidFill>
            <a:prstDash val="solid"/>
          </a:ln>
        </p:spPr>
        <p:txBody>
          <a:bodyPr/>
          <a:lstStyle/>
          <a:p>
            <a:endParaRPr lang="en-IN"/>
          </a:p>
        </p:txBody>
      </p:sp>
      <p:sp>
        <p:nvSpPr>
          <p:cNvPr id="7" name="Text 5"/>
          <p:cNvSpPr txBox="1"/>
          <p:nvPr/>
        </p:nvSpPr>
        <p:spPr>
          <a:xfrm>
            <a:off x="804672" y="1261872"/>
            <a:ext cx="7315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DEFINITION 11.1 — CONFIGURATION MODEL</a:t>
            </a:r>
            <a:endParaRPr lang="en-US" sz="1050" dirty="0"/>
          </a:p>
        </p:txBody>
      </p:sp>
      <p:pic>
        <p:nvPicPr>
          <p:cNvPr id="8" name="Image 0" descr="/home/claude/eq/config_def.png"/>
          <p:cNvPicPr>
            <a:picLocks noChangeAspect="1"/>
          </p:cNvPicPr>
          <p:nvPr/>
        </p:nvPicPr>
        <p:blipFill>
          <a:blip r:embed="rId3"/>
          <a:stretch>
            <a:fillRect/>
          </a:stretch>
        </p:blipFill>
        <p:spPr>
          <a:xfrm>
            <a:off x="1906283" y="1499616"/>
            <a:ext cx="8385529" cy="438912"/>
          </a:xfrm>
          <a:prstGeom prst="rect">
            <a:avLst/>
          </a:prstGeom>
        </p:spPr>
      </p:pic>
      <p:sp>
        <p:nvSpPr>
          <p:cNvPr id="9" name="Text 6"/>
          <p:cNvSpPr txBox="1"/>
          <p:nvPr/>
        </p:nvSpPr>
        <p:spPr>
          <a:xfrm>
            <a:off x="566928" y="2194560"/>
            <a:ext cx="11064240" cy="292608"/>
          </a:xfrm>
          <a:prstGeom prst="rect">
            <a:avLst/>
          </a:prstGeom>
          <a:noFill/>
          <a:ln/>
        </p:spPr>
        <p:txBody>
          <a:bodyPr wrap="square" lIns="0" tIns="0" rIns="0" bIns="0" rtlCol="0" anchor="ctr"/>
          <a:lstStyle/>
          <a:p>
            <a:pPr marL="0" indent="0">
              <a:buNone/>
            </a:pPr>
            <a:r>
              <a:rPr lang="en-US" sz="1800" b="1" dirty="0">
                <a:solidFill>
                  <a:srgbClr val="0E1B33"/>
                </a:solidFill>
                <a:latin typeface="Cambria" pitchFamily="34" charset="0"/>
                <a:ea typeface="Cambria" pitchFamily="34" charset="-122"/>
                <a:cs typeface="Cambria" pitchFamily="34" charset="-120"/>
              </a:rPr>
              <a:t>The key structural quantity: excess degree</a:t>
            </a:r>
            <a:endParaRPr lang="en-US" sz="1800" dirty="0"/>
          </a:p>
        </p:txBody>
      </p:sp>
      <p:sp>
        <p:nvSpPr>
          <p:cNvPr id="10" name="Text 7"/>
          <p:cNvSpPr txBox="1"/>
          <p:nvPr/>
        </p:nvSpPr>
        <p:spPr>
          <a:xfrm>
            <a:off x="566928" y="2523744"/>
            <a:ext cx="11064240" cy="402336"/>
          </a:xfrm>
          <a:prstGeom prst="rect">
            <a:avLst/>
          </a:prstGeom>
          <a:noFill/>
          <a:ln/>
        </p:spPr>
        <p:txBody>
          <a:bodyPr wrap="square" lIns="0" tIns="0" rIns="0" bIns="0" rtlCol="0" anchor="ctr"/>
          <a:lstStyle/>
          <a:p>
            <a:pPr marL="0" indent="0">
              <a:lnSpc>
                <a:spcPct val="98000"/>
              </a:lnSpc>
              <a:buNone/>
            </a:pPr>
            <a:r>
              <a:rPr lang="en-US" sz="1350" dirty="0">
                <a:solidFill>
                  <a:srgbClr val="12203A"/>
                </a:solidFill>
                <a:latin typeface="Calibri" pitchFamily="34" charset="0"/>
                <a:ea typeface="Calibri" pitchFamily="34" charset="-122"/>
                <a:cs typeface="Calibri" pitchFamily="34" charset="-120"/>
              </a:rPr>
              <a:t>Arrive at a node by following an edge. The number of further edges available to continue the exploration is the excess degree — one less than the node's total degree — and it is drawn from the size-biased distribution, not from P(k).</a:t>
            </a:r>
            <a:endParaRPr lang="en-US" sz="1350" dirty="0"/>
          </a:p>
        </p:txBody>
      </p:sp>
      <p:sp>
        <p:nvSpPr>
          <p:cNvPr id="11" name="Shape 8"/>
          <p:cNvSpPr/>
          <p:nvPr/>
        </p:nvSpPr>
        <p:spPr>
          <a:xfrm>
            <a:off x="566928" y="2980944"/>
            <a:ext cx="11064240" cy="731520"/>
          </a:xfrm>
          <a:prstGeom prst="roundRect">
            <a:avLst>
              <a:gd name="adj" fmla="val 7500"/>
            </a:avLst>
          </a:prstGeom>
          <a:solidFill>
            <a:srgbClr val="E4F0EE"/>
          </a:solidFill>
          <a:ln w="15875">
            <a:solidFill>
              <a:srgbClr val="0E6F66"/>
            </a:solidFill>
            <a:prstDash val="solid"/>
          </a:ln>
        </p:spPr>
        <p:txBody>
          <a:bodyPr/>
          <a:lstStyle/>
          <a:p>
            <a:endParaRPr lang="en-IN"/>
          </a:p>
        </p:txBody>
      </p:sp>
      <p:pic>
        <p:nvPicPr>
          <p:cNvPr id="12" name="Image 1" descr="/home/claude/eq/excess.png"/>
          <p:cNvPicPr>
            <a:picLocks noChangeAspect="1"/>
          </p:cNvPicPr>
          <p:nvPr/>
        </p:nvPicPr>
        <p:blipFill>
          <a:blip r:embed="rId4"/>
          <a:stretch>
            <a:fillRect/>
          </a:stretch>
        </p:blipFill>
        <p:spPr>
          <a:xfrm>
            <a:off x="4137513" y="3072384"/>
            <a:ext cx="3923071" cy="548640"/>
          </a:xfrm>
          <a:prstGeom prst="rect">
            <a:avLst/>
          </a:prstGeom>
        </p:spPr>
      </p:pic>
      <p:sp>
        <p:nvSpPr>
          <p:cNvPr id="13" name="Text 9"/>
          <p:cNvSpPr txBox="1"/>
          <p:nvPr/>
        </p:nvSpPr>
        <p:spPr>
          <a:xfrm>
            <a:off x="566928" y="3803904"/>
            <a:ext cx="11064240" cy="274320"/>
          </a:xfrm>
          <a:prstGeom prst="rect">
            <a:avLst/>
          </a:prstGeom>
          <a:noFill/>
          <a:ln/>
        </p:spPr>
        <p:txBody>
          <a:bodyPr wrap="square" lIns="0" tIns="0" rIns="0" bIns="0" rtlCol="0" anchor="ctr"/>
          <a:lstStyle/>
          <a:p>
            <a:pPr marL="0" indent="0">
              <a:buNone/>
            </a:pPr>
            <a:r>
              <a:rPr lang="en-US" sz="1300" dirty="0">
                <a:solidFill>
                  <a:srgbClr val="12203A"/>
                </a:solidFill>
                <a:latin typeface="Calibri" pitchFamily="34" charset="0"/>
                <a:ea typeface="Calibri" pitchFamily="34" charset="-122"/>
                <a:cs typeface="Calibri" pitchFamily="34" charset="-120"/>
              </a:rPr>
              <a:t>A branching process survives when its mean offspring exceeds one. Here the offspring count is the excess degree, so a giant component exists iff ⟨k²⟩/⟨k⟩ − 1 &gt; 1:</a:t>
            </a:r>
            <a:endParaRPr lang="en-US" sz="1300" dirty="0"/>
          </a:p>
        </p:txBody>
      </p:sp>
      <p:sp>
        <p:nvSpPr>
          <p:cNvPr id="14" name="Shape 10"/>
          <p:cNvSpPr/>
          <p:nvPr/>
        </p:nvSpPr>
        <p:spPr>
          <a:xfrm>
            <a:off x="566928" y="4133088"/>
            <a:ext cx="5422392" cy="932688"/>
          </a:xfrm>
          <a:prstGeom prst="roundRect">
            <a:avLst>
              <a:gd name="adj" fmla="val 5882"/>
            </a:avLst>
          </a:prstGeom>
          <a:solidFill>
            <a:srgbClr val="FBEBE8"/>
          </a:solidFill>
          <a:ln w="15875">
            <a:solidFill>
              <a:srgbClr val="C0392B"/>
            </a:solidFill>
            <a:prstDash val="solid"/>
          </a:ln>
        </p:spPr>
        <p:txBody>
          <a:bodyPr/>
          <a:lstStyle/>
          <a:p>
            <a:endParaRPr lang="en-IN"/>
          </a:p>
        </p:txBody>
      </p:sp>
      <p:sp>
        <p:nvSpPr>
          <p:cNvPr id="15" name="Text 11"/>
          <p:cNvSpPr txBox="1"/>
          <p:nvPr/>
        </p:nvSpPr>
        <p:spPr>
          <a:xfrm>
            <a:off x="786384" y="4224528"/>
            <a:ext cx="4983480" cy="219456"/>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MOLLOY–REED CRITERION</a:t>
            </a:r>
            <a:endParaRPr lang="en-US" sz="1050" dirty="0"/>
          </a:p>
        </p:txBody>
      </p:sp>
      <p:pic>
        <p:nvPicPr>
          <p:cNvPr id="16" name="Image 2" descr="/home/claude/eq/molloy_reed.png"/>
          <p:cNvPicPr>
            <a:picLocks noChangeAspect="1"/>
          </p:cNvPicPr>
          <p:nvPr/>
        </p:nvPicPr>
        <p:blipFill>
          <a:blip r:embed="rId5"/>
          <a:stretch>
            <a:fillRect/>
          </a:stretch>
        </p:blipFill>
        <p:spPr>
          <a:xfrm>
            <a:off x="2936453" y="4462272"/>
            <a:ext cx="683342" cy="457200"/>
          </a:xfrm>
          <a:prstGeom prst="rect">
            <a:avLst/>
          </a:prstGeom>
        </p:spPr>
      </p:pic>
      <p:sp>
        <p:nvSpPr>
          <p:cNvPr id="17" name="Shape 12"/>
          <p:cNvSpPr/>
          <p:nvPr/>
        </p:nvSpPr>
        <p:spPr>
          <a:xfrm>
            <a:off x="6208776" y="4133088"/>
            <a:ext cx="5422392" cy="932688"/>
          </a:xfrm>
          <a:prstGeom prst="roundRect">
            <a:avLst>
              <a:gd name="adj" fmla="val 5882"/>
            </a:avLst>
          </a:prstGeom>
          <a:solidFill>
            <a:srgbClr val="F4F6F9"/>
          </a:solidFill>
          <a:ln w="12700">
            <a:solidFill>
              <a:srgbClr val="333333"/>
            </a:solidFill>
            <a:prstDash val="solid"/>
          </a:ln>
        </p:spPr>
        <p:txBody>
          <a:bodyPr/>
          <a:lstStyle/>
          <a:p>
            <a:endParaRPr lang="en-IN"/>
          </a:p>
        </p:txBody>
      </p:sp>
      <p:sp>
        <p:nvSpPr>
          <p:cNvPr id="18" name="Text 13"/>
          <p:cNvSpPr txBox="1"/>
          <p:nvPr/>
        </p:nvSpPr>
        <p:spPr>
          <a:xfrm>
            <a:off x="6428232" y="4224528"/>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IT REDUCES TO ⟨K⟩ = 1 FOR ER</a:t>
            </a:r>
            <a:endParaRPr lang="en-US" sz="1050" dirty="0"/>
          </a:p>
        </p:txBody>
      </p:sp>
      <p:pic>
        <p:nvPicPr>
          <p:cNvPr id="19" name="Image 3" descr="/home/claude/eq/mr_er.png"/>
          <p:cNvPicPr>
            <a:picLocks noChangeAspect="1"/>
          </p:cNvPicPr>
          <p:nvPr/>
        </p:nvPicPr>
        <p:blipFill>
          <a:blip r:embed="rId6"/>
          <a:stretch>
            <a:fillRect/>
          </a:stretch>
        </p:blipFill>
        <p:spPr>
          <a:xfrm>
            <a:off x="6428232" y="4462272"/>
            <a:ext cx="4983480" cy="468382"/>
          </a:xfrm>
          <a:prstGeom prst="rect">
            <a:avLst/>
          </a:prstGeom>
        </p:spPr>
      </p:pic>
      <p:sp>
        <p:nvSpPr>
          <p:cNvPr id="20" name="Shape 14"/>
          <p:cNvSpPr/>
          <p:nvPr/>
        </p:nvSpPr>
        <p:spPr>
          <a:xfrm>
            <a:off x="566928" y="5212080"/>
            <a:ext cx="11064240" cy="566928"/>
          </a:xfrm>
          <a:prstGeom prst="roundRect">
            <a:avLst>
              <a:gd name="adj" fmla="val 9677"/>
            </a:avLst>
          </a:prstGeom>
          <a:solidFill>
            <a:srgbClr val="F4F6F9"/>
          </a:solidFill>
          <a:ln w="12700">
            <a:solidFill>
              <a:srgbClr val="333333"/>
            </a:solidFill>
            <a:prstDash val="solid"/>
          </a:ln>
        </p:spPr>
        <p:txBody>
          <a:bodyPr/>
          <a:lstStyle/>
          <a:p>
            <a:endParaRPr lang="en-IN"/>
          </a:p>
        </p:txBody>
      </p:sp>
      <p:sp>
        <p:nvSpPr>
          <p:cNvPr id="21" name="Text 15"/>
          <p:cNvSpPr txBox="1"/>
          <p:nvPr/>
        </p:nvSpPr>
        <p:spPr>
          <a:xfrm>
            <a:off x="804672" y="5212080"/>
            <a:ext cx="10588752" cy="566928"/>
          </a:xfrm>
          <a:prstGeom prst="rect">
            <a:avLst/>
          </a:prstGeom>
          <a:noFill/>
          <a:ln/>
        </p:spPr>
        <p:txBody>
          <a:bodyPr wrap="square" lIns="0" tIns="0" rIns="0" bIns="0" rtlCol="0" anchor="ctr"/>
          <a:lstStyle/>
          <a:p>
            <a:pPr marL="0" indent="0">
              <a:buNone/>
            </a:pPr>
            <a:r>
              <a:rPr lang="en-US" sz="1250" i="1" dirty="0">
                <a:solidFill>
                  <a:srgbClr val="0E1B33"/>
                </a:solidFill>
                <a:latin typeface="Calibri" pitchFamily="34" charset="0"/>
                <a:ea typeface="Calibri" pitchFamily="34" charset="-122"/>
                <a:cs typeface="Calibri" pitchFamily="34" charset="-120"/>
              </a:rPr>
              <a:t>The criterion depends on the degree distribution only through ⟨k⟩ and ⟨k²⟩ — the first two moments. Everything about the shape of P(k) beyond its variance is irrelevant to whether a giant component exists.</a:t>
            </a:r>
            <a:endParaRPr lang="en-US" sz="12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APPLICATION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Epidemics and the failure of random immunisation</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41</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  ·  Beyond Erdos-Renyi</a:t>
            </a:r>
            <a:endParaRPr lang="en-US" sz="1000" dirty="0"/>
          </a:p>
        </p:txBody>
      </p:sp>
      <p:pic>
        <p:nvPicPr>
          <p:cNvPr id="6" name="Image 0" descr="/home/claude/figs/15_immunization.png"/>
          <p:cNvPicPr>
            <a:picLocks noChangeAspect="1"/>
          </p:cNvPicPr>
          <p:nvPr/>
        </p:nvPicPr>
        <p:blipFill>
          <a:blip r:embed="rId3"/>
          <a:stretch>
            <a:fillRect/>
          </a:stretch>
        </p:blipFill>
        <p:spPr>
          <a:xfrm>
            <a:off x="2426734" y="1207008"/>
            <a:ext cx="7344628" cy="3127248"/>
          </a:xfrm>
          <a:prstGeom prst="rect">
            <a:avLst/>
          </a:prstGeom>
        </p:spPr>
      </p:pic>
      <p:sp>
        <p:nvSpPr>
          <p:cNvPr id="7" name="Shape 4"/>
          <p:cNvSpPr/>
          <p:nvPr/>
        </p:nvSpPr>
        <p:spPr>
          <a:xfrm>
            <a:off x="566928" y="4517136"/>
            <a:ext cx="2615184" cy="1243584"/>
          </a:xfrm>
          <a:prstGeom prst="roundRect">
            <a:avLst>
              <a:gd name="adj" fmla="val 4412"/>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731520" y="4608576"/>
            <a:ext cx="22860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REPRODUCTION NUMBER</a:t>
            </a:r>
            <a:endParaRPr lang="en-US" sz="1050" dirty="0"/>
          </a:p>
        </p:txBody>
      </p:sp>
      <p:pic>
        <p:nvPicPr>
          <p:cNvPr id="9" name="Image 1" descr="/home/claude/eq/R0.png"/>
          <p:cNvPicPr>
            <a:picLocks noChangeAspect="1"/>
          </p:cNvPicPr>
          <p:nvPr/>
        </p:nvPicPr>
        <p:blipFill>
          <a:blip r:embed="rId4"/>
          <a:stretch>
            <a:fillRect/>
          </a:stretch>
        </p:blipFill>
        <p:spPr>
          <a:xfrm>
            <a:off x="946673" y="4846320"/>
            <a:ext cx="1855694" cy="457200"/>
          </a:xfrm>
          <a:prstGeom prst="rect">
            <a:avLst/>
          </a:prstGeom>
        </p:spPr>
      </p:pic>
      <p:sp>
        <p:nvSpPr>
          <p:cNvPr id="10" name="Text 6"/>
          <p:cNvSpPr txBox="1"/>
          <p:nvPr/>
        </p:nvSpPr>
        <p:spPr>
          <a:xfrm>
            <a:off x="731520" y="5394960"/>
            <a:ext cx="2286000" cy="256032"/>
          </a:xfrm>
          <a:prstGeom prst="rect">
            <a:avLst/>
          </a:prstGeom>
          <a:noFill/>
          <a:ln/>
        </p:spPr>
        <p:txBody>
          <a:bodyPr wrap="square" lIns="0" tIns="0" rIns="0" bIns="0" rtlCol="0" anchor="ctr"/>
          <a:lstStyle/>
          <a:p>
            <a:pPr marL="0" indent="0" algn="ctr">
              <a:buNone/>
            </a:pPr>
            <a:r>
              <a:rPr lang="en-US" sz="1100" i="1" dirty="0">
                <a:solidFill>
                  <a:srgbClr val="6B7684"/>
                </a:solidFill>
                <a:latin typeface="Calibri" pitchFamily="34" charset="0"/>
                <a:ea typeface="Calibri" pitchFamily="34" charset="-122"/>
                <a:cs typeface="Calibri" pitchFamily="34" charset="-120"/>
              </a:rPr>
              <a:t>Epidemic iff R₀ &gt; 1.</a:t>
            </a:r>
            <a:endParaRPr lang="en-US" sz="1100" dirty="0"/>
          </a:p>
        </p:txBody>
      </p:sp>
      <p:sp>
        <p:nvSpPr>
          <p:cNvPr id="11" name="Shape 7"/>
          <p:cNvSpPr/>
          <p:nvPr/>
        </p:nvSpPr>
        <p:spPr>
          <a:xfrm>
            <a:off x="3383280" y="4517136"/>
            <a:ext cx="2615184" cy="1243584"/>
          </a:xfrm>
          <a:prstGeom prst="roundRect">
            <a:avLst>
              <a:gd name="adj" fmla="val 4412"/>
            </a:avLst>
          </a:prstGeom>
          <a:solidFill>
            <a:srgbClr val="F4F6F9"/>
          </a:solidFill>
          <a:ln w="12700">
            <a:solidFill>
              <a:srgbClr val="333333"/>
            </a:solidFill>
            <a:prstDash val="solid"/>
          </a:ln>
        </p:spPr>
        <p:txBody>
          <a:bodyPr/>
          <a:lstStyle/>
          <a:p>
            <a:endParaRPr lang="en-IN"/>
          </a:p>
        </p:txBody>
      </p:sp>
      <p:sp>
        <p:nvSpPr>
          <p:cNvPr id="12" name="Text 8"/>
          <p:cNvSpPr txBox="1"/>
          <p:nvPr/>
        </p:nvSpPr>
        <p:spPr>
          <a:xfrm>
            <a:off x="3547872" y="4608576"/>
            <a:ext cx="22860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CRITICAL IMMUNISED FRACTION</a:t>
            </a:r>
            <a:endParaRPr lang="en-US" sz="1050" dirty="0"/>
          </a:p>
        </p:txBody>
      </p:sp>
      <p:pic>
        <p:nvPicPr>
          <p:cNvPr id="13" name="Image 2" descr="/home/claude/eq/pistar.png"/>
          <p:cNvPicPr>
            <a:picLocks noChangeAspect="1"/>
          </p:cNvPicPr>
          <p:nvPr/>
        </p:nvPicPr>
        <p:blipFill>
          <a:blip r:embed="rId5"/>
          <a:stretch>
            <a:fillRect/>
          </a:stretch>
        </p:blipFill>
        <p:spPr>
          <a:xfrm>
            <a:off x="3547872" y="4846320"/>
            <a:ext cx="2286000" cy="269374"/>
          </a:xfrm>
          <a:prstGeom prst="rect">
            <a:avLst/>
          </a:prstGeom>
        </p:spPr>
      </p:pic>
      <p:sp>
        <p:nvSpPr>
          <p:cNvPr id="14" name="Text 9"/>
          <p:cNvSpPr txBox="1"/>
          <p:nvPr/>
        </p:nvSpPr>
        <p:spPr>
          <a:xfrm>
            <a:off x="3547872" y="5394960"/>
            <a:ext cx="2286000" cy="256032"/>
          </a:xfrm>
          <a:prstGeom prst="rect">
            <a:avLst/>
          </a:prstGeom>
          <a:noFill/>
          <a:ln/>
        </p:spPr>
        <p:txBody>
          <a:bodyPr wrap="square" lIns="0" tIns="0" rIns="0" bIns="0" rtlCol="0" anchor="ctr"/>
          <a:lstStyle/>
          <a:p>
            <a:pPr marL="0" indent="0" algn="ctr">
              <a:buNone/>
            </a:pPr>
            <a:r>
              <a:rPr lang="en-US" sz="1100" i="1" dirty="0">
                <a:solidFill>
                  <a:srgbClr val="6B7684"/>
                </a:solidFill>
                <a:latin typeface="Calibri" pitchFamily="34" charset="0"/>
                <a:ea typeface="Calibri" pitchFamily="34" charset="-122"/>
                <a:cs typeface="Calibri" pitchFamily="34" charset="-120"/>
              </a:rPr>
              <a:t>⟨k⟩ = 5 ⟹ π* = 80%.</a:t>
            </a:r>
            <a:endParaRPr lang="en-US" sz="1100" dirty="0"/>
          </a:p>
        </p:txBody>
      </p:sp>
      <p:sp>
        <p:nvSpPr>
          <p:cNvPr id="15" name="Shape 10"/>
          <p:cNvSpPr/>
          <p:nvPr/>
        </p:nvSpPr>
        <p:spPr>
          <a:xfrm>
            <a:off x="6199632" y="4517136"/>
            <a:ext cx="2615184" cy="1243584"/>
          </a:xfrm>
          <a:prstGeom prst="roundRect">
            <a:avLst>
              <a:gd name="adj" fmla="val 4412"/>
            </a:avLst>
          </a:prstGeom>
          <a:solidFill>
            <a:srgbClr val="FBEBE8"/>
          </a:solidFill>
          <a:ln w="15875">
            <a:solidFill>
              <a:srgbClr val="C0392B"/>
            </a:solidFill>
            <a:prstDash val="solid"/>
          </a:ln>
        </p:spPr>
        <p:txBody>
          <a:bodyPr/>
          <a:lstStyle/>
          <a:p>
            <a:endParaRPr lang="en-IN"/>
          </a:p>
        </p:txBody>
      </p:sp>
      <p:sp>
        <p:nvSpPr>
          <p:cNvPr id="16" name="Text 11"/>
          <p:cNvSpPr txBox="1"/>
          <p:nvPr/>
        </p:nvSpPr>
        <p:spPr>
          <a:xfrm>
            <a:off x="6364224" y="4608576"/>
            <a:ext cx="228600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DIVERGENT SECOND MOMENT</a:t>
            </a:r>
            <a:endParaRPr lang="en-US" sz="1050" dirty="0"/>
          </a:p>
        </p:txBody>
      </p:sp>
      <p:pic>
        <p:nvPicPr>
          <p:cNvPr id="17" name="Image 3" descr="/home/claude/eq/sf_moment.png"/>
          <p:cNvPicPr>
            <a:picLocks noChangeAspect="1"/>
          </p:cNvPicPr>
          <p:nvPr/>
        </p:nvPicPr>
        <p:blipFill>
          <a:blip r:embed="rId6"/>
          <a:stretch>
            <a:fillRect/>
          </a:stretch>
        </p:blipFill>
        <p:spPr>
          <a:xfrm>
            <a:off x="6364224" y="4846320"/>
            <a:ext cx="2286000" cy="295694"/>
          </a:xfrm>
          <a:prstGeom prst="rect">
            <a:avLst/>
          </a:prstGeom>
        </p:spPr>
      </p:pic>
      <p:sp>
        <p:nvSpPr>
          <p:cNvPr id="18" name="Text 12"/>
          <p:cNvSpPr txBox="1"/>
          <p:nvPr/>
        </p:nvSpPr>
        <p:spPr>
          <a:xfrm>
            <a:off x="6364224" y="5394960"/>
            <a:ext cx="2286000" cy="256032"/>
          </a:xfrm>
          <a:prstGeom prst="rect">
            <a:avLst/>
          </a:prstGeom>
          <a:noFill/>
          <a:ln/>
        </p:spPr>
        <p:txBody>
          <a:bodyPr wrap="square" lIns="0" tIns="0" rIns="0" bIns="0" rtlCol="0" anchor="ctr"/>
          <a:lstStyle/>
          <a:p>
            <a:pPr marL="0" indent="0" algn="ctr">
              <a:buNone/>
            </a:pPr>
            <a:r>
              <a:rPr lang="en-US" sz="1100" i="1" dirty="0">
                <a:solidFill>
                  <a:srgbClr val="C0392B"/>
                </a:solidFill>
                <a:latin typeface="Calibri" pitchFamily="34" charset="0"/>
                <a:ea typeface="Calibri" pitchFamily="34" charset="-122"/>
                <a:cs typeface="Calibri" pitchFamily="34" charset="-120"/>
              </a:rPr>
              <a:t>⟹ π* → 1 for γ &lt; 3.</a:t>
            </a:r>
            <a:endParaRPr lang="en-US" sz="1100" dirty="0"/>
          </a:p>
        </p:txBody>
      </p:sp>
      <p:sp>
        <p:nvSpPr>
          <p:cNvPr id="19" name="Shape 13"/>
          <p:cNvSpPr/>
          <p:nvPr/>
        </p:nvSpPr>
        <p:spPr>
          <a:xfrm>
            <a:off x="9015984" y="4517136"/>
            <a:ext cx="2615184" cy="1243584"/>
          </a:xfrm>
          <a:prstGeom prst="roundRect">
            <a:avLst>
              <a:gd name="adj" fmla="val 4412"/>
            </a:avLst>
          </a:prstGeom>
          <a:solidFill>
            <a:srgbClr val="F4F6F9"/>
          </a:solidFill>
          <a:ln w="12700">
            <a:solidFill>
              <a:srgbClr val="333333"/>
            </a:solidFill>
            <a:prstDash val="solid"/>
          </a:ln>
        </p:spPr>
        <p:txBody>
          <a:bodyPr/>
          <a:lstStyle/>
          <a:p>
            <a:endParaRPr lang="en-IN"/>
          </a:p>
        </p:txBody>
      </p:sp>
      <p:sp>
        <p:nvSpPr>
          <p:cNvPr id="20" name="Text 14"/>
          <p:cNvSpPr txBox="1"/>
          <p:nvPr/>
        </p:nvSpPr>
        <p:spPr>
          <a:xfrm>
            <a:off x="9180576" y="4608576"/>
            <a:ext cx="2286000"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Robustness duality</a:t>
            </a:r>
            <a:endParaRPr lang="en-US" sz="1250" dirty="0"/>
          </a:p>
        </p:txBody>
      </p:sp>
      <p:sp>
        <p:nvSpPr>
          <p:cNvPr id="21" name="Text 15"/>
          <p:cNvSpPr txBox="1"/>
          <p:nvPr/>
        </p:nvSpPr>
        <p:spPr>
          <a:xfrm>
            <a:off x="9180576" y="4846320"/>
            <a:ext cx="2286000" cy="877824"/>
          </a:xfrm>
          <a:prstGeom prst="rect">
            <a:avLst/>
          </a:prstGeom>
          <a:noFill/>
          <a:ln/>
        </p:spPr>
        <p:txBody>
          <a:bodyPr wrap="square" lIns="0" tIns="0" rIns="0" bIns="0" rtlCol="0" anchor="ctr"/>
          <a:lstStyle/>
          <a:p>
            <a:pPr marL="0" indent="0">
              <a:lnSpc>
                <a:spcPct val="94000"/>
              </a:lnSpc>
              <a:buNone/>
            </a:pPr>
            <a:r>
              <a:rPr lang="en-US" sz="950" dirty="0">
                <a:solidFill>
                  <a:srgbClr val="12203A"/>
                </a:solidFill>
                <a:latin typeface="Calibri" pitchFamily="34" charset="0"/>
                <a:ea typeface="Calibri" pitchFamily="34" charset="-122"/>
                <a:cs typeface="Calibri" pitchFamily="34" charset="-120"/>
              </a:rPr>
              <a:t>Scale-free networks with γ &lt; 3 are extremely robust to random node failure (hubs are rare, so a random hit misses them) and extremely fragile to targeted hub removal. In G(n,p), where all degrees are similar, the two are the same.</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42">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566928" y="1773936"/>
            <a:ext cx="1225296" cy="1225296"/>
          </a:xfrm>
          <a:prstGeom prst="ellipse">
            <a:avLst/>
          </a:prstGeom>
          <a:solidFill>
            <a:srgbClr val="0E6F66"/>
          </a:solidFill>
          <a:ln w="12700">
            <a:solidFill>
              <a:srgbClr val="0E6F66"/>
            </a:solidFill>
            <a:prstDash val="solid"/>
          </a:ln>
        </p:spPr>
        <p:txBody>
          <a:bodyPr/>
          <a:lstStyle/>
          <a:p>
            <a:endParaRPr lang="en-IN"/>
          </a:p>
        </p:txBody>
      </p:sp>
      <p:sp>
        <p:nvSpPr>
          <p:cNvPr id="3" name="Text 1"/>
          <p:cNvSpPr txBox="1"/>
          <p:nvPr/>
        </p:nvSpPr>
        <p:spPr>
          <a:xfrm>
            <a:off x="566928" y="1778508"/>
            <a:ext cx="1225296" cy="1225296"/>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VII</a:t>
            </a:r>
            <a:endParaRPr lang="en-US" sz="4400" dirty="0"/>
          </a:p>
        </p:txBody>
      </p:sp>
      <p:sp>
        <p:nvSpPr>
          <p:cNvPr id="4" name="Text 2"/>
          <p:cNvSpPr txBox="1"/>
          <p:nvPr/>
        </p:nvSpPr>
        <p:spPr>
          <a:xfrm>
            <a:off x="2139696" y="1481328"/>
            <a:ext cx="9692640" cy="1481328"/>
          </a:xfrm>
          <a:prstGeom prst="rect">
            <a:avLst/>
          </a:prstGeom>
          <a:noFill/>
          <a:ln/>
        </p:spPr>
        <p:txBody>
          <a:bodyPr wrap="square" lIns="0" tIns="0" rIns="0" bIns="0" rtlCol="0" anchor="ctr"/>
          <a:lstStyle/>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The Generating</a:t>
            </a:r>
            <a:endParaRPr lang="en-US" sz="3600" dirty="0"/>
          </a:p>
          <a:p>
            <a:pPr marL="0" indent="0">
              <a:lnSpc>
                <a:spcPct val="106000"/>
              </a:lnSpc>
              <a:buNone/>
            </a:pPr>
            <a:r>
              <a:rPr lang="en-US" sz="3600" b="1" dirty="0">
                <a:solidFill>
                  <a:srgbClr val="FFFFFF"/>
                </a:solidFill>
                <a:latin typeface="Cambria" pitchFamily="34" charset="0"/>
                <a:ea typeface="Cambria" pitchFamily="34" charset="-122"/>
                <a:cs typeface="Cambria" pitchFamily="34" charset="-120"/>
              </a:rPr>
              <a:t>Function Formalism</a:t>
            </a:r>
            <a:endParaRPr lang="en-US" sz="3600" dirty="0"/>
          </a:p>
        </p:txBody>
      </p:sp>
      <p:sp>
        <p:nvSpPr>
          <p:cNvPr id="5" name="Text 3"/>
          <p:cNvSpPr txBox="1"/>
          <p:nvPr/>
        </p:nvSpPr>
        <p:spPr>
          <a:xfrm>
            <a:off x="2139696" y="3163824"/>
            <a:ext cx="9509760" cy="786384"/>
          </a:xfrm>
          <a:prstGeom prst="rect">
            <a:avLst/>
          </a:prstGeom>
          <a:noFill/>
          <a:ln/>
        </p:spPr>
        <p:txBody>
          <a:bodyPr wrap="square" lIns="0" tIns="0" rIns="0" bIns="0" rtlCol="0" anchor="t"/>
          <a:lstStyle/>
          <a:p>
            <a:pPr marL="0" indent="0">
              <a:lnSpc>
                <a:spcPct val="106000"/>
              </a:lnSpc>
              <a:buNone/>
            </a:pPr>
            <a:r>
              <a:rPr lang="en-US" sz="1500" dirty="0">
                <a:solidFill>
                  <a:srgbClr val="BFD3E6"/>
                </a:solidFill>
                <a:latin typeface="Calibri" pitchFamily="34" charset="0"/>
                <a:ea typeface="Calibri" pitchFamily="34" charset="-122"/>
                <a:cs typeface="Calibri" pitchFamily="34" charset="-120"/>
              </a:rPr>
              <a:t>The closing section: one functional equation from which the degree distribution, the mean component size, the exact component-size law, and the percolation threshold all follow</a:t>
            </a:r>
            <a:endParaRPr lang="en-US" sz="1500" dirty="0"/>
          </a:p>
        </p:txBody>
      </p:sp>
      <p:pic>
        <p:nvPicPr>
          <p:cNvPr id="6" name="Image 0" descr="/home/claude/eq/w_sec7.png"/>
          <p:cNvPicPr>
            <a:picLocks noChangeAspect="1"/>
          </p:cNvPicPr>
          <p:nvPr/>
        </p:nvPicPr>
        <p:blipFill>
          <a:blip r:embed="rId3"/>
          <a:stretch>
            <a:fillRect/>
          </a:stretch>
        </p:blipFill>
        <p:spPr>
          <a:xfrm>
            <a:off x="2139696" y="4169664"/>
            <a:ext cx="4917440" cy="804672"/>
          </a:xfrm>
          <a:prstGeom prst="rect">
            <a:avLst/>
          </a:prstGeom>
        </p:spPr>
      </p:pic>
      <p:sp>
        <p:nvSpPr>
          <p:cNvPr id="7" name="Text 4"/>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42</a:t>
            </a:r>
            <a:endParaRPr lang="en-US" sz="1050" dirty="0"/>
          </a:p>
        </p:txBody>
      </p:sp>
      <p:sp>
        <p:nvSpPr>
          <p:cNvPr id="8" name="Text 5"/>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VII  ·  Generating Functions</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OVERVIEW</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Why generating functions?</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43</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VII  ·  Generating Functions</a:t>
            </a:r>
            <a:endParaRPr lang="en-US" sz="1000" dirty="0"/>
          </a:p>
        </p:txBody>
      </p:sp>
      <p:pic>
        <p:nvPicPr>
          <p:cNvPr id="6" name="Image 0" descr="/home/claude/figs/24_pgf_map.png"/>
          <p:cNvPicPr>
            <a:picLocks noChangeAspect="1"/>
          </p:cNvPicPr>
          <p:nvPr/>
        </p:nvPicPr>
        <p:blipFill>
          <a:blip r:embed="rId3"/>
          <a:stretch>
            <a:fillRect/>
          </a:stretch>
        </p:blipFill>
        <p:spPr>
          <a:xfrm>
            <a:off x="566928" y="1207008"/>
            <a:ext cx="7680960" cy="4113086"/>
          </a:xfrm>
          <a:prstGeom prst="rect">
            <a:avLst/>
          </a:prstGeom>
        </p:spPr>
      </p:pic>
      <p:sp>
        <p:nvSpPr>
          <p:cNvPr id="7" name="Shape 4"/>
          <p:cNvSpPr/>
          <p:nvPr/>
        </p:nvSpPr>
        <p:spPr>
          <a:xfrm>
            <a:off x="8503920" y="1207008"/>
            <a:ext cx="3127248" cy="4114800"/>
          </a:xfrm>
          <a:prstGeom prst="roundRect">
            <a:avLst>
              <a:gd name="adj" fmla="val 1754"/>
            </a:avLst>
          </a:prstGeom>
          <a:solidFill>
            <a:srgbClr val="F4F6F9"/>
          </a:solidFill>
          <a:ln w="12700">
            <a:solidFill>
              <a:srgbClr val="333333"/>
            </a:solidFill>
            <a:prstDash val="solid"/>
          </a:ln>
        </p:spPr>
        <p:txBody>
          <a:bodyPr/>
          <a:lstStyle/>
          <a:p>
            <a:endParaRPr lang="en-IN"/>
          </a:p>
        </p:txBody>
      </p:sp>
      <p:sp>
        <p:nvSpPr>
          <p:cNvPr id="8" name="Text 5"/>
          <p:cNvSpPr txBox="1"/>
          <p:nvPr/>
        </p:nvSpPr>
        <p:spPr>
          <a:xfrm>
            <a:off x="8705088" y="1335024"/>
            <a:ext cx="2724912" cy="274320"/>
          </a:xfrm>
          <a:prstGeom prst="rect">
            <a:avLst/>
          </a:prstGeom>
          <a:noFill/>
          <a:ln/>
        </p:spPr>
        <p:txBody>
          <a:bodyPr wrap="square" lIns="0" tIns="0" rIns="0" bIns="0" rtlCol="0" anchor="ctr"/>
          <a:lstStyle/>
          <a:p>
            <a:pPr marL="0" indent="0">
              <a:buNone/>
            </a:pPr>
            <a:r>
              <a:rPr lang="en-US" sz="1550" b="1" dirty="0">
                <a:solidFill>
                  <a:srgbClr val="0E1B33"/>
                </a:solidFill>
                <a:latin typeface="Cambria" pitchFamily="34" charset="0"/>
                <a:ea typeface="Cambria" pitchFamily="34" charset="-122"/>
                <a:cs typeface="Cambria" pitchFamily="34" charset="-120"/>
              </a:rPr>
              <a:t>What a PGF buys you</a:t>
            </a:r>
            <a:endParaRPr lang="en-US" sz="1550" dirty="0"/>
          </a:p>
        </p:txBody>
      </p:sp>
      <p:sp>
        <p:nvSpPr>
          <p:cNvPr id="9" name="Text 6"/>
          <p:cNvSpPr txBox="1"/>
          <p:nvPr/>
        </p:nvSpPr>
        <p:spPr>
          <a:xfrm>
            <a:off x="8705088" y="1700784"/>
            <a:ext cx="2724912" cy="3529584"/>
          </a:xfrm>
          <a:prstGeom prst="rect">
            <a:avLst/>
          </a:prstGeom>
          <a:noFill/>
          <a:ln/>
        </p:spPr>
        <p:txBody>
          <a:bodyPr wrap="square" rtlCol="0" anchor="t"/>
          <a:lstStyle/>
          <a:p>
            <a:pPr marL="342900" indent="-342900">
              <a:lnSpc>
                <a:spcPct val="106000"/>
              </a:lnSpc>
              <a:spcAft>
                <a:spcPts val="900"/>
              </a:spcAft>
              <a:buSzPct val="100000"/>
              <a:buChar char="•"/>
            </a:pPr>
            <a:r>
              <a:rPr lang="en-US" sz="1150" dirty="0">
                <a:solidFill>
                  <a:srgbClr val="12203A"/>
                </a:solidFill>
                <a:latin typeface="Calibri" pitchFamily="34" charset="0"/>
                <a:ea typeface="Calibri" pitchFamily="34" charset="-122"/>
                <a:cs typeface="Calibri" pitchFamily="34" charset="-120"/>
              </a:rPr>
              <a:t>It encodes an entire probability distribution in one analytic function — no truncation, no approximation.</a:t>
            </a:r>
            <a:endParaRPr lang="en-US" sz="1150" dirty="0"/>
          </a:p>
          <a:p>
            <a:pPr marL="342900" indent="-342900">
              <a:lnSpc>
                <a:spcPct val="106000"/>
              </a:lnSpc>
              <a:spcAft>
                <a:spcPts val="900"/>
              </a:spcAft>
              <a:buSzPct val="100000"/>
              <a:buChar char="•"/>
            </a:pPr>
            <a:r>
              <a:rPr lang="en-US" sz="1150" dirty="0">
                <a:solidFill>
                  <a:srgbClr val="12203A"/>
                </a:solidFill>
                <a:latin typeface="Calibri" pitchFamily="34" charset="0"/>
                <a:ea typeface="Calibri" pitchFamily="34" charset="-122"/>
                <a:cs typeface="Calibri" pitchFamily="34" charset="-120"/>
              </a:rPr>
              <a:t>Moments become derivatives at z = 1. Convolutions become products. Recursive structures become functional equations.</a:t>
            </a:r>
            <a:endParaRPr lang="en-US" sz="1150" dirty="0"/>
          </a:p>
          <a:p>
            <a:pPr marL="342900" indent="-342900">
              <a:lnSpc>
                <a:spcPct val="106000"/>
              </a:lnSpc>
              <a:spcAft>
                <a:spcPts val="900"/>
              </a:spcAft>
              <a:buSzPct val="100000"/>
              <a:buChar char="•"/>
            </a:pPr>
            <a:r>
              <a:rPr lang="en-US" sz="1150" dirty="0">
                <a:solidFill>
                  <a:srgbClr val="12203A"/>
                </a:solidFill>
                <a:latin typeface="Calibri" pitchFamily="34" charset="0"/>
                <a:ea typeface="Calibri" pitchFamily="34" charset="-122"/>
                <a:cs typeface="Calibri" pitchFamily="34" charset="-120"/>
              </a:rPr>
              <a:t>Every heuristic in Sections I–VI — the geometric series for ⟨s⟩, the branching argument for the threshold — becomes an exact calculation.</a:t>
            </a:r>
            <a:endParaRPr lang="en-US" sz="1150" dirty="0"/>
          </a:p>
          <a:p>
            <a:pPr marL="342900" indent="-342900">
              <a:lnSpc>
                <a:spcPct val="106000"/>
              </a:lnSpc>
              <a:spcAft>
                <a:spcPts val="900"/>
              </a:spcAft>
              <a:buSzPct val="100000"/>
              <a:buChar char="•"/>
            </a:pPr>
            <a:r>
              <a:rPr lang="en-US" sz="1150" dirty="0">
                <a:solidFill>
                  <a:srgbClr val="12203A"/>
                </a:solidFill>
                <a:latin typeface="Calibri" pitchFamily="34" charset="0"/>
                <a:ea typeface="Calibri" pitchFamily="34" charset="-122"/>
                <a:cs typeface="Calibri" pitchFamily="34" charset="-120"/>
              </a:rPr>
              <a:t>And it generalises for free: replace one exponential by an arbitrary g₀(z) and the same machinery handles any degree distribution.</a:t>
            </a:r>
            <a:endParaRPr lang="en-US" sz="1150" dirty="0"/>
          </a:p>
        </p:txBody>
      </p:sp>
      <p:sp>
        <p:nvSpPr>
          <p:cNvPr id="10" name="Shape 7"/>
          <p:cNvSpPr/>
          <p:nvPr/>
        </p:nvSpPr>
        <p:spPr>
          <a:xfrm>
            <a:off x="566928" y="5504688"/>
            <a:ext cx="11064240" cy="566928"/>
          </a:xfrm>
          <a:prstGeom prst="roundRect">
            <a:avLst>
              <a:gd name="adj" fmla="val 9677"/>
            </a:avLst>
          </a:prstGeom>
          <a:solidFill>
            <a:srgbClr val="E4F0EE"/>
          </a:solidFill>
          <a:ln w="12700">
            <a:solidFill>
              <a:srgbClr val="333333"/>
            </a:solidFill>
            <a:prstDash val="solid"/>
          </a:ln>
        </p:spPr>
        <p:txBody>
          <a:bodyPr/>
          <a:lstStyle/>
          <a:p>
            <a:endParaRPr lang="en-IN"/>
          </a:p>
        </p:txBody>
      </p:sp>
      <p:sp>
        <p:nvSpPr>
          <p:cNvPr id="11" name="Text 8"/>
          <p:cNvSpPr txBox="1"/>
          <p:nvPr/>
        </p:nvSpPr>
        <p:spPr>
          <a:xfrm>
            <a:off x="768096" y="5504688"/>
            <a:ext cx="10661904" cy="566928"/>
          </a:xfrm>
          <a:prstGeom prst="rect">
            <a:avLst/>
          </a:prstGeom>
          <a:noFill/>
          <a:ln/>
        </p:spPr>
        <p:txBody>
          <a:bodyPr wrap="square" lIns="0" tIns="0" rIns="0" bIns="0" rtlCol="0" anchor="ctr"/>
          <a:lstStyle/>
          <a:p>
            <a:pPr marL="0" indent="0">
              <a:buNone/>
            </a:pPr>
            <a:r>
              <a:rPr lang="en-US" sz="1300" i="1" dirty="0">
                <a:solidFill>
                  <a:srgbClr val="0E1B33"/>
                </a:solidFill>
                <a:latin typeface="Calibri" pitchFamily="34" charset="0"/>
                <a:ea typeface="Calibri" pitchFamily="34" charset="-122"/>
                <a:cs typeface="Calibri" pitchFamily="34" charset="-120"/>
              </a:rPr>
              <a:t>The formalism is due to Newman, Strogatz and Watts (2001); the presentation here follows Newman's 2003 review.</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DEFINITION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degree generating function g₀(z)</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44</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VII  ·  Generating Functions</a:t>
            </a:r>
            <a:endParaRPr lang="en-US" sz="1000" dirty="0"/>
          </a:p>
        </p:txBody>
      </p:sp>
      <p:sp>
        <p:nvSpPr>
          <p:cNvPr id="6" name="Shape 4"/>
          <p:cNvSpPr/>
          <p:nvPr/>
        </p:nvSpPr>
        <p:spPr>
          <a:xfrm>
            <a:off x="566928" y="1170432"/>
            <a:ext cx="5422392" cy="786384"/>
          </a:xfrm>
          <a:prstGeom prst="roundRect">
            <a:avLst>
              <a:gd name="adj" fmla="val 6977"/>
            </a:avLst>
          </a:prstGeom>
          <a:solidFill>
            <a:srgbClr val="E4F0EE"/>
          </a:solidFill>
          <a:ln w="15875">
            <a:solidFill>
              <a:srgbClr val="0E6F66"/>
            </a:solidFill>
            <a:prstDash val="solid"/>
          </a:ln>
        </p:spPr>
        <p:txBody>
          <a:bodyPr/>
          <a:lstStyle/>
          <a:p>
            <a:endParaRPr lang="en-IN"/>
          </a:p>
        </p:txBody>
      </p:sp>
      <p:sp>
        <p:nvSpPr>
          <p:cNvPr id="7" name="Text 5"/>
          <p:cNvSpPr txBox="1"/>
          <p:nvPr/>
        </p:nvSpPr>
        <p:spPr>
          <a:xfrm>
            <a:off x="786384" y="1261872"/>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DEFINITION</a:t>
            </a:r>
            <a:endParaRPr lang="en-US" sz="1050" dirty="0"/>
          </a:p>
        </p:txBody>
      </p:sp>
      <p:pic>
        <p:nvPicPr>
          <p:cNvPr id="8" name="Image 0" descr="/home/claude/eq/pgf_g0.png"/>
          <p:cNvPicPr>
            <a:picLocks noChangeAspect="1"/>
          </p:cNvPicPr>
          <p:nvPr/>
        </p:nvPicPr>
        <p:blipFill>
          <a:blip r:embed="rId3"/>
          <a:stretch>
            <a:fillRect/>
          </a:stretch>
        </p:blipFill>
        <p:spPr>
          <a:xfrm>
            <a:off x="2715706" y="1481328"/>
            <a:ext cx="1124836" cy="420624"/>
          </a:xfrm>
          <a:prstGeom prst="rect">
            <a:avLst/>
          </a:prstGeom>
        </p:spPr>
      </p:pic>
      <p:sp>
        <p:nvSpPr>
          <p:cNvPr id="9" name="Shape 6"/>
          <p:cNvSpPr/>
          <p:nvPr/>
        </p:nvSpPr>
        <p:spPr>
          <a:xfrm>
            <a:off x="6208776" y="1170432"/>
            <a:ext cx="5422392" cy="786384"/>
          </a:xfrm>
          <a:prstGeom prst="roundRect">
            <a:avLst>
              <a:gd name="adj" fmla="val 6977"/>
            </a:avLst>
          </a:prstGeom>
          <a:solidFill>
            <a:srgbClr val="F4F6F9"/>
          </a:solidFill>
          <a:ln w="12700">
            <a:solidFill>
              <a:srgbClr val="333333"/>
            </a:solidFill>
            <a:prstDash val="solid"/>
          </a:ln>
        </p:spPr>
        <p:txBody>
          <a:bodyPr/>
          <a:lstStyle/>
          <a:p>
            <a:endParaRPr lang="en-IN"/>
          </a:p>
        </p:txBody>
      </p:sp>
      <p:sp>
        <p:nvSpPr>
          <p:cNvPr id="10" name="Text 7"/>
          <p:cNvSpPr txBox="1"/>
          <p:nvPr/>
        </p:nvSpPr>
        <p:spPr>
          <a:xfrm>
            <a:off x="6428232" y="1261872"/>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COMPONENT-SIZE PGF (SAME IDEA, DIFFERENT VARIABLE)</a:t>
            </a:r>
            <a:endParaRPr lang="en-US" sz="1050" dirty="0"/>
          </a:p>
        </p:txBody>
      </p:sp>
      <p:pic>
        <p:nvPicPr>
          <p:cNvPr id="11" name="Image 1" descr="/home/claude/eq/pgf_h.png"/>
          <p:cNvPicPr>
            <a:picLocks noChangeAspect="1"/>
          </p:cNvPicPr>
          <p:nvPr/>
        </p:nvPicPr>
        <p:blipFill>
          <a:blip r:embed="rId4"/>
          <a:stretch>
            <a:fillRect/>
          </a:stretch>
        </p:blipFill>
        <p:spPr>
          <a:xfrm>
            <a:off x="8099851" y="1481328"/>
            <a:ext cx="1640242" cy="420624"/>
          </a:xfrm>
          <a:prstGeom prst="rect">
            <a:avLst/>
          </a:prstGeom>
        </p:spPr>
      </p:pic>
      <p:sp>
        <p:nvSpPr>
          <p:cNvPr id="12" name="Text 8"/>
          <p:cNvSpPr txBox="1"/>
          <p:nvPr/>
        </p:nvSpPr>
        <p:spPr>
          <a:xfrm>
            <a:off x="566928" y="2084832"/>
            <a:ext cx="11064240" cy="292608"/>
          </a:xfrm>
          <a:prstGeom prst="rect">
            <a:avLst/>
          </a:prstGeom>
          <a:noFill/>
          <a:ln/>
        </p:spPr>
        <p:txBody>
          <a:bodyPr wrap="square" lIns="0" tIns="0" rIns="0" bIns="0" rtlCol="0" anchor="ctr"/>
          <a:lstStyle/>
          <a:p>
            <a:pPr marL="0" indent="0">
              <a:buNone/>
            </a:pPr>
            <a:r>
              <a:rPr lang="en-US" sz="1800" b="1" dirty="0">
                <a:solidFill>
                  <a:srgbClr val="0E1B33"/>
                </a:solidFill>
                <a:latin typeface="Cambria" pitchFamily="34" charset="0"/>
                <a:ea typeface="Cambria" pitchFamily="34" charset="-122"/>
                <a:cs typeface="Cambria" pitchFamily="34" charset="-120"/>
              </a:rPr>
              <a:t>Three properties do all the work</a:t>
            </a:r>
            <a:endParaRPr lang="en-US" sz="1800" dirty="0"/>
          </a:p>
        </p:txBody>
      </p:sp>
      <p:sp>
        <p:nvSpPr>
          <p:cNvPr id="13" name="Shape 9"/>
          <p:cNvSpPr/>
          <p:nvPr/>
        </p:nvSpPr>
        <p:spPr>
          <a:xfrm>
            <a:off x="566928" y="2432304"/>
            <a:ext cx="11064240" cy="749808"/>
          </a:xfrm>
          <a:prstGeom prst="roundRect">
            <a:avLst>
              <a:gd name="adj" fmla="val 7317"/>
            </a:avLst>
          </a:prstGeom>
          <a:solidFill>
            <a:srgbClr val="F4F6F9"/>
          </a:solidFill>
          <a:ln w="12700">
            <a:solidFill>
              <a:srgbClr val="333333"/>
            </a:solidFill>
            <a:prstDash val="solid"/>
          </a:ln>
        </p:spPr>
        <p:txBody>
          <a:bodyPr/>
          <a:lstStyle/>
          <a:p>
            <a:endParaRPr lang="en-IN"/>
          </a:p>
        </p:txBody>
      </p:sp>
      <p:sp>
        <p:nvSpPr>
          <p:cNvPr id="14" name="Text 10"/>
          <p:cNvSpPr txBox="1"/>
          <p:nvPr/>
        </p:nvSpPr>
        <p:spPr>
          <a:xfrm>
            <a:off x="804672" y="2505456"/>
            <a:ext cx="7315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1 — NORMALISATION, MOMENTS, AND COEFFICIENT EXTRACTION</a:t>
            </a:r>
            <a:endParaRPr lang="en-US" sz="1050" dirty="0"/>
          </a:p>
        </p:txBody>
      </p:sp>
      <p:pic>
        <p:nvPicPr>
          <p:cNvPr id="15" name="Image 2" descr="/home/claude/eq/pgf_g0_mom.png"/>
          <p:cNvPicPr>
            <a:picLocks noChangeAspect="1"/>
          </p:cNvPicPr>
          <p:nvPr/>
        </p:nvPicPr>
        <p:blipFill>
          <a:blip r:embed="rId5"/>
          <a:stretch>
            <a:fillRect/>
          </a:stretch>
        </p:blipFill>
        <p:spPr>
          <a:xfrm>
            <a:off x="4171188" y="2724912"/>
            <a:ext cx="3855720" cy="402336"/>
          </a:xfrm>
          <a:prstGeom prst="rect">
            <a:avLst/>
          </a:prstGeom>
        </p:spPr>
      </p:pic>
      <p:sp>
        <p:nvSpPr>
          <p:cNvPr id="16" name="Shape 11"/>
          <p:cNvSpPr/>
          <p:nvPr/>
        </p:nvSpPr>
        <p:spPr>
          <a:xfrm>
            <a:off x="566928" y="3273552"/>
            <a:ext cx="11064240" cy="676656"/>
          </a:xfrm>
          <a:prstGeom prst="roundRect">
            <a:avLst>
              <a:gd name="adj" fmla="val 8108"/>
            </a:avLst>
          </a:prstGeom>
          <a:solidFill>
            <a:srgbClr val="F4F6F9"/>
          </a:solidFill>
          <a:ln w="12700">
            <a:solidFill>
              <a:srgbClr val="333333"/>
            </a:solidFill>
            <a:prstDash val="solid"/>
          </a:ln>
        </p:spPr>
        <p:txBody>
          <a:bodyPr/>
          <a:lstStyle/>
          <a:p>
            <a:endParaRPr lang="en-IN"/>
          </a:p>
        </p:txBody>
      </p:sp>
      <p:sp>
        <p:nvSpPr>
          <p:cNvPr id="17" name="Text 12"/>
          <p:cNvSpPr txBox="1"/>
          <p:nvPr/>
        </p:nvSpPr>
        <p:spPr>
          <a:xfrm>
            <a:off x="804672" y="3346704"/>
            <a:ext cx="7315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2 — THE POWERS PROPERTY: IID SUMS BECOME PRODUCTS</a:t>
            </a:r>
            <a:endParaRPr lang="en-US" sz="1050" dirty="0"/>
          </a:p>
        </p:txBody>
      </p:sp>
      <p:pic>
        <p:nvPicPr>
          <p:cNvPr id="18" name="Image 3" descr="/home/claude/eq/pgf_powers.png"/>
          <p:cNvPicPr>
            <a:picLocks noChangeAspect="1"/>
          </p:cNvPicPr>
          <p:nvPr/>
        </p:nvPicPr>
        <p:blipFill>
          <a:blip r:embed="rId6"/>
          <a:stretch>
            <a:fillRect/>
          </a:stretch>
        </p:blipFill>
        <p:spPr>
          <a:xfrm>
            <a:off x="2505248" y="3547872"/>
            <a:ext cx="2487584" cy="384048"/>
          </a:xfrm>
          <a:prstGeom prst="rect">
            <a:avLst/>
          </a:prstGeom>
        </p:spPr>
      </p:pic>
      <p:sp>
        <p:nvSpPr>
          <p:cNvPr id="19" name="Text 13"/>
          <p:cNvSpPr txBox="1"/>
          <p:nvPr/>
        </p:nvSpPr>
        <p:spPr>
          <a:xfrm>
            <a:off x="6876288" y="3273552"/>
            <a:ext cx="4517136" cy="676656"/>
          </a:xfrm>
          <a:prstGeom prst="rect">
            <a:avLst/>
          </a:prstGeom>
          <a:noFill/>
          <a:ln/>
        </p:spPr>
        <p:txBody>
          <a:bodyPr wrap="square" lIns="0" tIns="0" rIns="0" bIns="0" rtlCol="0" anchor="ctr"/>
          <a:lstStyle/>
          <a:p>
            <a:pPr marL="0" indent="0">
              <a:buNone/>
            </a:pPr>
            <a:r>
              <a:rPr lang="en-US" sz="1150" i="1" dirty="0">
                <a:solidFill>
                  <a:srgbClr val="6B7684"/>
                </a:solidFill>
                <a:latin typeface="Calibri" pitchFamily="34" charset="0"/>
                <a:ea typeface="Calibri" pitchFamily="34" charset="-122"/>
                <a:cs typeface="Calibri" pitchFamily="34" charset="-120"/>
              </a:rPr>
              <a:t>This is why a branching exploration turns into a composition of generating functions.</a:t>
            </a:r>
            <a:endParaRPr lang="en-US" sz="1150" dirty="0"/>
          </a:p>
        </p:txBody>
      </p:sp>
      <p:sp>
        <p:nvSpPr>
          <p:cNvPr id="20" name="Shape 14"/>
          <p:cNvSpPr/>
          <p:nvPr/>
        </p:nvSpPr>
        <p:spPr>
          <a:xfrm>
            <a:off x="566928" y="4041648"/>
            <a:ext cx="11064240" cy="914400"/>
          </a:xfrm>
          <a:prstGeom prst="roundRect">
            <a:avLst>
              <a:gd name="adj" fmla="val 6000"/>
            </a:avLst>
          </a:prstGeom>
          <a:solidFill>
            <a:srgbClr val="E4F0EE"/>
          </a:solidFill>
          <a:ln w="15875">
            <a:solidFill>
              <a:srgbClr val="0E6F66"/>
            </a:solidFill>
            <a:prstDash val="solid"/>
          </a:ln>
        </p:spPr>
        <p:txBody>
          <a:bodyPr/>
          <a:lstStyle/>
          <a:p>
            <a:endParaRPr lang="en-IN"/>
          </a:p>
        </p:txBody>
      </p:sp>
      <p:sp>
        <p:nvSpPr>
          <p:cNvPr id="21" name="Text 15"/>
          <p:cNvSpPr txBox="1"/>
          <p:nvPr/>
        </p:nvSpPr>
        <p:spPr>
          <a:xfrm>
            <a:off x="804672" y="4114800"/>
            <a:ext cx="7315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3 — FOR POISSON THE SUM CLOSES IN ONE LINE</a:t>
            </a:r>
            <a:endParaRPr lang="en-US" sz="1050" dirty="0"/>
          </a:p>
        </p:txBody>
      </p:sp>
      <p:pic>
        <p:nvPicPr>
          <p:cNvPr id="22" name="Image 4" descr="/home/claude/eq/pgf_g0_pois.png"/>
          <p:cNvPicPr>
            <a:picLocks noChangeAspect="1"/>
          </p:cNvPicPr>
          <p:nvPr/>
        </p:nvPicPr>
        <p:blipFill>
          <a:blip r:embed="rId7"/>
          <a:stretch>
            <a:fillRect/>
          </a:stretch>
        </p:blipFill>
        <p:spPr>
          <a:xfrm>
            <a:off x="3934249" y="4334256"/>
            <a:ext cx="4329598" cy="548640"/>
          </a:xfrm>
          <a:prstGeom prst="rect">
            <a:avLst/>
          </a:prstGeom>
        </p:spPr>
      </p:pic>
      <p:sp>
        <p:nvSpPr>
          <p:cNvPr id="23" name="Shape 16"/>
          <p:cNvSpPr/>
          <p:nvPr/>
        </p:nvSpPr>
        <p:spPr>
          <a:xfrm>
            <a:off x="566928" y="5084064"/>
            <a:ext cx="11064240" cy="694944"/>
          </a:xfrm>
          <a:prstGeom prst="roundRect">
            <a:avLst>
              <a:gd name="adj" fmla="val 7895"/>
            </a:avLst>
          </a:prstGeom>
          <a:solidFill>
            <a:srgbClr val="FBEBE8"/>
          </a:solidFill>
          <a:ln w="15875">
            <a:solidFill>
              <a:srgbClr val="C0392B"/>
            </a:solidFill>
            <a:prstDash val="solid"/>
          </a:ln>
        </p:spPr>
        <p:txBody>
          <a:bodyPr/>
          <a:lstStyle/>
          <a:p>
            <a:endParaRPr lang="en-IN"/>
          </a:p>
        </p:txBody>
      </p:sp>
      <p:sp>
        <p:nvSpPr>
          <p:cNvPr id="24" name="Text 17"/>
          <p:cNvSpPr txBox="1"/>
          <p:nvPr/>
        </p:nvSpPr>
        <p:spPr>
          <a:xfrm>
            <a:off x="804672" y="5084064"/>
            <a:ext cx="10588752" cy="694944"/>
          </a:xfrm>
          <a:prstGeom prst="rect">
            <a:avLst/>
          </a:prstGeom>
          <a:noFill/>
          <a:ln/>
        </p:spPr>
        <p:txBody>
          <a:bodyPr wrap="square" lIns="0" tIns="0" rIns="0" bIns="0" rtlCol="0" anchor="ctr"/>
          <a:lstStyle/>
          <a:p>
            <a:pPr marL="0" indent="0">
              <a:buNone/>
            </a:pPr>
            <a:r>
              <a:rPr lang="en-US" sz="1250" dirty="0">
                <a:solidFill>
                  <a:srgbClr val="0E1B33"/>
                </a:solidFill>
                <a:latin typeface="Calibri" pitchFamily="34" charset="0"/>
                <a:ea typeface="Calibri" pitchFamily="34" charset="-122"/>
                <a:cs typeface="Calibri" pitchFamily="34" charset="-120"/>
              </a:rPr>
              <a:t>Sanity check: g₀′(z) = λe^(λ(z−1)), so g₀′(1) = λ = ⟨k⟩ ✓ and g₀″(1) + g₀′(1) = λ² + λ = ⟨k²⟩ ✓ — recovering the Poisson moments from Slide 5 without touching a factorial.</a:t>
            </a:r>
            <a:endParaRPr lang="en-US" sz="12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DEFINITION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excess-degree function g₁(z), and why ER is special</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45</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VII  ·  Generating Functions</a:t>
            </a:r>
            <a:endParaRPr lang="en-US" sz="1000" dirty="0"/>
          </a:p>
        </p:txBody>
      </p:sp>
      <p:sp>
        <p:nvSpPr>
          <p:cNvPr id="6" name="Text 4"/>
          <p:cNvSpPr txBox="1"/>
          <p:nvPr/>
        </p:nvSpPr>
        <p:spPr>
          <a:xfrm>
            <a:off x="566928" y="1152144"/>
            <a:ext cx="11064240" cy="402336"/>
          </a:xfrm>
          <a:prstGeom prst="rect">
            <a:avLst/>
          </a:prstGeom>
          <a:noFill/>
          <a:ln/>
        </p:spPr>
        <p:txBody>
          <a:bodyPr wrap="square" lIns="0" tIns="0" rIns="0" bIns="0" rtlCol="0" anchor="ctr"/>
          <a:lstStyle/>
          <a:p>
            <a:pPr marL="0" indent="0">
              <a:lnSpc>
                <a:spcPct val="98000"/>
              </a:lnSpc>
              <a:buNone/>
            </a:pPr>
            <a:r>
              <a:rPr lang="en-US" sz="1350" dirty="0">
                <a:solidFill>
                  <a:srgbClr val="12203A"/>
                </a:solidFill>
                <a:latin typeface="Calibri" pitchFamily="34" charset="0"/>
                <a:ea typeface="Calibri" pitchFamily="34" charset="-122"/>
                <a:cs typeface="Calibri" pitchFamily="34" charset="-120"/>
              </a:rPr>
              <a:t>When we follow an edge into a node, what matters is not its degree but its excess degree — the edges available to continue. The size-biased distribution q_k from Slide 32 has its own generating function:</a:t>
            </a:r>
            <a:endParaRPr lang="en-US" sz="1350" dirty="0"/>
          </a:p>
        </p:txBody>
      </p:sp>
      <p:sp>
        <p:nvSpPr>
          <p:cNvPr id="7" name="Shape 5"/>
          <p:cNvSpPr/>
          <p:nvPr/>
        </p:nvSpPr>
        <p:spPr>
          <a:xfrm>
            <a:off x="566928" y="1627632"/>
            <a:ext cx="11064240" cy="877824"/>
          </a:xfrm>
          <a:prstGeom prst="roundRect">
            <a:avLst>
              <a:gd name="adj" fmla="val 6250"/>
            </a:avLst>
          </a:prstGeom>
          <a:solidFill>
            <a:srgbClr val="F4F6F9"/>
          </a:solidFill>
          <a:ln w="12700">
            <a:solidFill>
              <a:srgbClr val="333333"/>
            </a:solidFill>
            <a:prstDash val="solid"/>
          </a:ln>
        </p:spPr>
        <p:txBody>
          <a:bodyPr/>
          <a:lstStyle/>
          <a:p>
            <a:endParaRPr lang="en-IN"/>
          </a:p>
        </p:txBody>
      </p:sp>
      <p:sp>
        <p:nvSpPr>
          <p:cNvPr id="8" name="Text 6"/>
          <p:cNvSpPr txBox="1"/>
          <p:nvPr/>
        </p:nvSpPr>
        <p:spPr>
          <a:xfrm>
            <a:off x="804672" y="1700784"/>
            <a:ext cx="73152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EXCESS-DEGREE GENERATING FUNCTION</a:t>
            </a:r>
            <a:endParaRPr lang="en-US" sz="1050" dirty="0"/>
          </a:p>
        </p:txBody>
      </p:sp>
      <p:pic>
        <p:nvPicPr>
          <p:cNvPr id="9" name="Image 0" descr="/home/claude/eq/pgf_g1.png"/>
          <p:cNvPicPr>
            <a:picLocks noChangeAspect="1"/>
          </p:cNvPicPr>
          <p:nvPr/>
        </p:nvPicPr>
        <p:blipFill>
          <a:blip r:embed="rId3"/>
          <a:stretch>
            <a:fillRect/>
          </a:stretch>
        </p:blipFill>
        <p:spPr>
          <a:xfrm>
            <a:off x="4467965" y="1920240"/>
            <a:ext cx="3262165" cy="530352"/>
          </a:xfrm>
          <a:prstGeom prst="rect">
            <a:avLst/>
          </a:prstGeom>
        </p:spPr>
      </p:pic>
      <p:sp>
        <p:nvSpPr>
          <p:cNvPr id="10" name="Shape 7"/>
          <p:cNvSpPr/>
          <p:nvPr/>
        </p:nvSpPr>
        <p:spPr>
          <a:xfrm>
            <a:off x="566928" y="2615184"/>
            <a:ext cx="5422392" cy="914400"/>
          </a:xfrm>
          <a:prstGeom prst="roundRect">
            <a:avLst>
              <a:gd name="adj" fmla="val 6000"/>
            </a:avLst>
          </a:prstGeom>
          <a:solidFill>
            <a:srgbClr val="E4F0EE"/>
          </a:solidFill>
          <a:ln w="15875">
            <a:solidFill>
              <a:srgbClr val="0E6F66"/>
            </a:solidFill>
            <a:prstDash val="solid"/>
          </a:ln>
        </p:spPr>
        <p:txBody>
          <a:bodyPr/>
          <a:lstStyle/>
          <a:p>
            <a:endParaRPr lang="en-IN"/>
          </a:p>
        </p:txBody>
      </p:sp>
      <p:sp>
        <p:nvSpPr>
          <p:cNvPr id="11" name="Text 8"/>
          <p:cNvSpPr txBox="1"/>
          <p:nvPr/>
        </p:nvSpPr>
        <p:spPr>
          <a:xfrm>
            <a:off x="786384" y="2688336"/>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FOR POISSON</a:t>
            </a:r>
            <a:endParaRPr lang="en-US" sz="1050" dirty="0"/>
          </a:p>
        </p:txBody>
      </p:sp>
      <p:pic>
        <p:nvPicPr>
          <p:cNvPr id="12" name="Image 1" descr="/home/claude/eq/pgf_g1_pois.png"/>
          <p:cNvPicPr>
            <a:picLocks noChangeAspect="1"/>
          </p:cNvPicPr>
          <p:nvPr/>
        </p:nvPicPr>
        <p:blipFill>
          <a:blip r:embed="rId4"/>
          <a:stretch>
            <a:fillRect/>
          </a:stretch>
        </p:blipFill>
        <p:spPr>
          <a:xfrm>
            <a:off x="1636961" y="2907792"/>
            <a:ext cx="3282326" cy="548640"/>
          </a:xfrm>
          <a:prstGeom prst="rect">
            <a:avLst/>
          </a:prstGeom>
        </p:spPr>
      </p:pic>
      <p:sp>
        <p:nvSpPr>
          <p:cNvPr id="13" name="Shape 9"/>
          <p:cNvSpPr/>
          <p:nvPr/>
        </p:nvSpPr>
        <p:spPr>
          <a:xfrm>
            <a:off x="6208776" y="2615184"/>
            <a:ext cx="5422392" cy="914400"/>
          </a:xfrm>
          <a:prstGeom prst="roundRect">
            <a:avLst>
              <a:gd name="adj" fmla="val 6000"/>
            </a:avLst>
          </a:prstGeom>
          <a:solidFill>
            <a:srgbClr val="FBEBE8"/>
          </a:solidFill>
          <a:ln w="15875">
            <a:solidFill>
              <a:srgbClr val="C0392B"/>
            </a:solidFill>
            <a:prstDash val="solid"/>
          </a:ln>
        </p:spPr>
        <p:txBody>
          <a:bodyPr/>
          <a:lstStyle/>
          <a:p>
            <a:endParaRPr lang="en-IN"/>
          </a:p>
        </p:txBody>
      </p:sp>
      <p:sp>
        <p:nvSpPr>
          <p:cNvPr id="14" name="Text 10"/>
          <p:cNvSpPr txBox="1"/>
          <p:nvPr/>
        </p:nvSpPr>
        <p:spPr>
          <a:xfrm>
            <a:off x="6428232" y="2688336"/>
            <a:ext cx="493776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THE STRUCTURAL REASON ER IS EASY</a:t>
            </a:r>
            <a:endParaRPr lang="en-US" sz="1050" dirty="0"/>
          </a:p>
        </p:txBody>
      </p:sp>
      <p:pic>
        <p:nvPicPr>
          <p:cNvPr id="15" name="Image 2" descr="/home/claude/eq/pgf_er_self.png"/>
          <p:cNvPicPr>
            <a:picLocks noChangeAspect="1"/>
          </p:cNvPicPr>
          <p:nvPr/>
        </p:nvPicPr>
        <p:blipFill>
          <a:blip r:embed="rId5"/>
          <a:stretch>
            <a:fillRect/>
          </a:stretch>
        </p:blipFill>
        <p:spPr>
          <a:xfrm>
            <a:off x="6428232" y="2926080"/>
            <a:ext cx="4983480" cy="331562"/>
          </a:xfrm>
          <a:prstGeom prst="rect">
            <a:avLst/>
          </a:prstGeom>
        </p:spPr>
      </p:pic>
      <p:sp>
        <p:nvSpPr>
          <p:cNvPr id="16" name="Text 11"/>
          <p:cNvSpPr txBox="1"/>
          <p:nvPr/>
        </p:nvSpPr>
        <p:spPr>
          <a:xfrm>
            <a:off x="566928" y="3675888"/>
            <a:ext cx="11064240" cy="292608"/>
          </a:xfrm>
          <a:prstGeom prst="rect">
            <a:avLst/>
          </a:prstGeom>
          <a:noFill/>
          <a:ln/>
        </p:spPr>
        <p:txBody>
          <a:bodyPr wrap="square" lIns="0" tIns="0" rIns="0" bIns="0" rtlCol="0" anchor="ctr"/>
          <a:lstStyle/>
          <a:p>
            <a:pPr marL="0" indent="0">
              <a:buNone/>
            </a:pPr>
            <a:r>
              <a:rPr lang="en-US" sz="1800" b="1" dirty="0">
                <a:solidFill>
                  <a:srgbClr val="0E1B33"/>
                </a:solidFill>
                <a:latin typeface="Cambria" pitchFamily="34" charset="0"/>
                <a:ea typeface="Cambria" pitchFamily="34" charset="-122"/>
                <a:cs typeface="Cambria" pitchFamily="34" charset="-120"/>
              </a:rPr>
              <a:t>Consequences of self-similarity</a:t>
            </a:r>
            <a:endParaRPr lang="en-US" sz="1800" dirty="0"/>
          </a:p>
        </p:txBody>
      </p:sp>
      <p:sp>
        <p:nvSpPr>
          <p:cNvPr id="17" name="Shape 12"/>
          <p:cNvSpPr/>
          <p:nvPr/>
        </p:nvSpPr>
        <p:spPr>
          <a:xfrm>
            <a:off x="566928" y="4023360"/>
            <a:ext cx="3529584" cy="1737360"/>
          </a:xfrm>
          <a:prstGeom prst="roundRect">
            <a:avLst>
              <a:gd name="adj" fmla="val 3158"/>
            </a:avLst>
          </a:prstGeom>
          <a:solidFill>
            <a:srgbClr val="F4F6F9"/>
          </a:solidFill>
          <a:ln w="12700">
            <a:solidFill>
              <a:srgbClr val="333333"/>
            </a:solidFill>
            <a:prstDash val="solid"/>
          </a:ln>
        </p:spPr>
        <p:txBody>
          <a:bodyPr/>
          <a:lstStyle/>
          <a:p>
            <a:endParaRPr lang="en-IN"/>
          </a:p>
        </p:txBody>
      </p:sp>
      <p:sp>
        <p:nvSpPr>
          <p:cNvPr id="18" name="Shape 13"/>
          <p:cNvSpPr/>
          <p:nvPr/>
        </p:nvSpPr>
        <p:spPr>
          <a:xfrm>
            <a:off x="749808" y="4151376"/>
            <a:ext cx="274320" cy="274320"/>
          </a:xfrm>
          <a:prstGeom prst="ellipse">
            <a:avLst/>
          </a:prstGeom>
          <a:solidFill>
            <a:srgbClr val="0E6F66"/>
          </a:solidFill>
          <a:ln w="12700">
            <a:solidFill>
              <a:srgbClr val="0E6F66"/>
            </a:solidFill>
            <a:prstDash val="solid"/>
          </a:ln>
        </p:spPr>
        <p:txBody>
          <a:bodyPr/>
          <a:lstStyle/>
          <a:p>
            <a:endParaRPr lang="en-IN"/>
          </a:p>
        </p:txBody>
      </p:sp>
      <p:sp>
        <p:nvSpPr>
          <p:cNvPr id="19" name="Text 14"/>
          <p:cNvSpPr txBox="1"/>
          <p:nvPr/>
        </p:nvSpPr>
        <p:spPr>
          <a:xfrm>
            <a:off x="749808" y="4155948"/>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1</a:t>
            </a:r>
            <a:endParaRPr lang="en-US" sz="1250" dirty="0"/>
          </a:p>
        </p:txBody>
      </p:sp>
      <p:sp>
        <p:nvSpPr>
          <p:cNvPr id="20" name="Text 15"/>
          <p:cNvSpPr txBox="1"/>
          <p:nvPr/>
        </p:nvSpPr>
        <p:spPr>
          <a:xfrm>
            <a:off x="1097280" y="4114800"/>
            <a:ext cx="2816352" cy="310896"/>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Node and neighbour coincide</a:t>
            </a:r>
            <a:endParaRPr lang="en-US" sz="1250" dirty="0"/>
          </a:p>
        </p:txBody>
      </p:sp>
      <p:sp>
        <p:nvSpPr>
          <p:cNvPr id="21" name="Text 16"/>
          <p:cNvSpPr txBox="1"/>
          <p:nvPr/>
        </p:nvSpPr>
        <p:spPr>
          <a:xfrm>
            <a:off x="749808" y="4517136"/>
            <a:ext cx="3163824" cy="1188720"/>
          </a:xfrm>
          <a:prstGeom prst="rect">
            <a:avLst/>
          </a:prstGeom>
          <a:noFill/>
          <a:ln/>
        </p:spPr>
        <p:txBody>
          <a:bodyPr wrap="square" lIns="0" tIns="0" rIns="0" bIns="0" rtlCol="0" anchor="ctr"/>
          <a:lstStyle/>
          <a:p>
            <a:pPr marL="0" indent="0">
              <a:lnSpc>
                <a:spcPct val="96000"/>
              </a:lnSpc>
              <a:buNone/>
            </a:pPr>
            <a:r>
              <a:rPr lang="en-US" sz="1150" dirty="0">
                <a:solidFill>
                  <a:srgbClr val="12203A"/>
                </a:solidFill>
                <a:latin typeface="Calibri" pitchFamily="34" charset="0"/>
                <a:ea typeface="Calibri" pitchFamily="34" charset="-122"/>
                <a:cs typeface="Calibri" pitchFamily="34" charset="-120"/>
              </a:rPr>
              <a:t>In G(n,p) the degree of a node reached by an edge has the same distribution as the degree of a node picked at random, minus the edge we came in on. For any other degree distribution these differ.</a:t>
            </a:r>
            <a:endParaRPr lang="en-US" sz="1150" dirty="0"/>
          </a:p>
        </p:txBody>
      </p:sp>
      <p:sp>
        <p:nvSpPr>
          <p:cNvPr id="22" name="Shape 17"/>
          <p:cNvSpPr/>
          <p:nvPr/>
        </p:nvSpPr>
        <p:spPr>
          <a:xfrm>
            <a:off x="4334256" y="4023360"/>
            <a:ext cx="3529584" cy="1737360"/>
          </a:xfrm>
          <a:prstGeom prst="roundRect">
            <a:avLst>
              <a:gd name="adj" fmla="val 3158"/>
            </a:avLst>
          </a:prstGeom>
          <a:solidFill>
            <a:srgbClr val="F4F6F9"/>
          </a:solidFill>
          <a:ln w="12700">
            <a:solidFill>
              <a:srgbClr val="333333"/>
            </a:solidFill>
            <a:prstDash val="solid"/>
          </a:ln>
        </p:spPr>
        <p:txBody>
          <a:bodyPr/>
          <a:lstStyle/>
          <a:p>
            <a:endParaRPr lang="en-IN"/>
          </a:p>
        </p:txBody>
      </p:sp>
      <p:sp>
        <p:nvSpPr>
          <p:cNvPr id="23" name="Shape 18"/>
          <p:cNvSpPr/>
          <p:nvPr/>
        </p:nvSpPr>
        <p:spPr>
          <a:xfrm>
            <a:off x="4517136" y="4151376"/>
            <a:ext cx="274320" cy="274320"/>
          </a:xfrm>
          <a:prstGeom prst="ellipse">
            <a:avLst/>
          </a:prstGeom>
          <a:solidFill>
            <a:srgbClr val="0E6F66"/>
          </a:solidFill>
          <a:ln w="12700">
            <a:solidFill>
              <a:srgbClr val="0E6F66"/>
            </a:solidFill>
            <a:prstDash val="solid"/>
          </a:ln>
        </p:spPr>
        <p:txBody>
          <a:bodyPr/>
          <a:lstStyle/>
          <a:p>
            <a:endParaRPr lang="en-IN"/>
          </a:p>
        </p:txBody>
      </p:sp>
      <p:sp>
        <p:nvSpPr>
          <p:cNvPr id="24" name="Text 19"/>
          <p:cNvSpPr txBox="1"/>
          <p:nvPr/>
        </p:nvSpPr>
        <p:spPr>
          <a:xfrm>
            <a:off x="4517136" y="4155948"/>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2</a:t>
            </a:r>
            <a:endParaRPr lang="en-US" sz="1250" dirty="0"/>
          </a:p>
        </p:txBody>
      </p:sp>
      <p:sp>
        <p:nvSpPr>
          <p:cNvPr id="25" name="Text 20"/>
          <p:cNvSpPr txBox="1"/>
          <p:nvPr/>
        </p:nvSpPr>
        <p:spPr>
          <a:xfrm>
            <a:off x="4864608" y="4114800"/>
            <a:ext cx="2816352" cy="310896"/>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One function instead of two</a:t>
            </a:r>
            <a:endParaRPr lang="en-US" sz="1250" dirty="0"/>
          </a:p>
        </p:txBody>
      </p:sp>
      <p:sp>
        <p:nvSpPr>
          <p:cNvPr id="26" name="Text 21"/>
          <p:cNvSpPr txBox="1"/>
          <p:nvPr/>
        </p:nvSpPr>
        <p:spPr>
          <a:xfrm>
            <a:off x="4517136" y="4517136"/>
            <a:ext cx="3163824" cy="1188720"/>
          </a:xfrm>
          <a:prstGeom prst="rect">
            <a:avLst/>
          </a:prstGeom>
          <a:noFill/>
          <a:ln/>
        </p:spPr>
        <p:txBody>
          <a:bodyPr wrap="square" lIns="0" tIns="0" rIns="0" bIns="0" rtlCol="0" anchor="ctr"/>
          <a:lstStyle/>
          <a:p>
            <a:pPr marL="0" indent="0">
              <a:lnSpc>
                <a:spcPct val="96000"/>
              </a:lnSpc>
              <a:buNone/>
            </a:pPr>
            <a:r>
              <a:rPr lang="en-US" sz="1150" dirty="0">
                <a:solidFill>
                  <a:srgbClr val="12203A"/>
                </a:solidFill>
                <a:latin typeface="Calibri" pitchFamily="34" charset="0"/>
                <a:ea typeface="Calibri" pitchFamily="34" charset="-122"/>
                <a:cs typeface="Calibri" pitchFamily="34" charset="-120"/>
              </a:rPr>
              <a:t>The general theory needs both g₀ and g₁ and produces two coupled equations, H₀ and H₁. For ER they collapse into a single equation in a single unknown.</a:t>
            </a:r>
            <a:endParaRPr lang="en-US" sz="1150" dirty="0"/>
          </a:p>
        </p:txBody>
      </p:sp>
      <p:sp>
        <p:nvSpPr>
          <p:cNvPr id="27" name="Shape 22"/>
          <p:cNvSpPr/>
          <p:nvPr/>
        </p:nvSpPr>
        <p:spPr>
          <a:xfrm>
            <a:off x="8101584" y="4023360"/>
            <a:ext cx="3529584" cy="1737360"/>
          </a:xfrm>
          <a:prstGeom prst="roundRect">
            <a:avLst>
              <a:gd name="adj" fmla="val 3158"/>
            </a:avLst>
          </a:prstGeom>
          <a:solidFill>
            <a:srgbClr val="F4F6F9"/>
          </a:solidFill>
          <a:ln w="12700">
            <a:solidFill>
              <a:srgbClr val="333333"/>
            </a:solidFill>
            <a:prstDash val="solid"/>
          </a:ln>
        </p:spPr>
        <p:txBody>
          <a:bodyPr/>
          <a:lstStyle/>
          <a:p>
            <a:endParaRPr lang="en-IN"/>
          </a:p>
        </p:txBody>
      </p:sp>
      <p:sp>
        <p:nvSpPr>
          <p:cNvPr id="28" name="Shape 23"/>
          <p:cNvSpPr/>
          <p:nvPr/>
        </p:nvSpPr>
        <p:spPr>
          <a:xfrm>
            <a:off x="8284464" y="4151376"/>
            <a:ext cx="274320" cy="274320"/>
          </a:xfrm>
          <a:prstGeom prst="ellipse">
            <a:avLst/>
          </a:prstGeom>
          <a:solidFill>
            <a:srgbClr val="0E6F66"/>
          </a:solidFill>
          <a:ln w="12700">
            <a:solidFill>
              <a:srgbClr val="0E6F66"/>
            </a:solidFill>
            <a:prstDash val="solid"/>
          </a:ln>
        </p:spPr>
        <p:txBody>
          <a:bodyPr/>
          <a:lstStyle/>
          <a:p>
            <a:endParaRPr lang="en-IN"/>
          </a:p>
        </p:txBody>
      </p:sp>
      <p:sp>
        <p:nvSpPr>
          <p:cNvPr id="29" name="Text 24"/>
          <p:cNvSpPr txBox="1"/>
          <p:nvPr/>
        </p:nvSpPr>
        <p:spPr>
          <a:xfrm>
            <a:off x="8284464" y="4155948"/>
            <a:ext cx="2743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3</a:t>
            </a:r>
            <a:endParaRPr lang="en-US" sz="1250" dirty="0"/>
          </a:p>
        </p:txBody>
      </p:sp>
      <p:sp>
        <p:nvSpPr>
          <p:cNvPr id="30" name="Text 25"/>
          <p:cNvSpPr txBox="1"/>
          <p:nvPr/>
        </p:nvSpPr>
        <p:spPr>
          <a:xfrm>
            <a:off x="8631936" y="4114800"/>
            <a:ext cx="2816352" cy="310896"/>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The paradox survives</a:t>
            </a:r>
            <a:endParaRPr lang="en-US" sz="1250" dirty="0"/>
          </a:p>
        </p:txBody>
      </p:sp>
      <p:sp>
        <p:nvSpPr>
          <p:cNvPr id="31" name="Text 26"/>
          <p:cNvSpPr txBox="1"/>
          <p:nvPr/>
        </p:nvSpPr>
        <p:spPr>
          <a:xfrm>
            <a:off x="8284464" y="4517136"/>
            <a:ext cx="3163824" cy="1188720"/>
          </a:xfrm>
          <a:prstGeom prst="rect">
            <a:avLst/>
          </a:prstGeom>
          <a:noFill/>
          <a:ln/>
        </p:spPr>
        <p:txBody>
          <a:bodyPr wrap="square" lIns="0" tIns="0" rIns="0" bIns="0" rtlCol="0" anchor="ctr"/>
          <a:lstStyle/>
          <a:p>
            <a:pPr marL="0" indent="0">
              <a:lnSpc>
                <a:spcPct val="96000"/>
              </a:lnSpc>
              <a:buNone/>
            </a:pPr>
            <a:r>
              <a:rPr lang="en-US" sz="1150" dirty="0">
                <a:solidFill>
                  <a:srgbClr val="12203A"/>
                </a:solidFill>
                <a:latin typeface="Calibri" pitchFamily="34" charset="0"/>
                <a:ea typeface="Calibri" pitchFamily="34" charset="-122"/>
                <a:cs typeface="Calibri" pitchFamily="34" charset="-120"/>
              </a:rPr>
              <a:t>Self-similarity of g₀ and g₁ does not abolish the friendship paradox: ⟨k_nn⟩ = ⟨k⟩ + 1 because g₁′(1) = ⟨k⟩ counts excess degree, and total degree is one more.</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functional equation for component sizes</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46</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VII  ·  Generating Functions</a:t>
            </a:r>
            <a:endParaRPr lang="en-US" sz="1000" dirty="0"/>
          </a:p>
        </p:txBody>
      </p:sp>
      <p:sp>
        <p:nvSpPr>
          <p:cNvPr id="6" name="Shape 4"/>
          <p:cNvSpPr/>
          <p:nvPr/>
        </p:nvSpPr>
        <p:spPr>
          <a:xfrm>
            <a:off x="585216" y="1225296"/>
            <a:ext cx="329184" cy="329184"/>
          </a:xfrm>
          <a:prstGeom prst="ellipse">
            <a:avLst/>
          </a:prstGeom>
          <a:solidFill>
            <a:srgbClr val="0E6F66"/>
          </a:solidFill>
          <a:ln w="12700">
            <a:solidFill>
              <a:srgbClr val="0E6F66"/>
            </a:solidFill>
            <a:prstDash val="solid"/>
          </a:ln>
        </p:spPr>
        <p:txBody>
          <a:bodyPr/>
          <a:lstStyle/>
          <a:p>
            <a:endParaRPr lang="en-IN"/>
          </a:p>
        </p:txBody>
      </p:sp>
      <p:sp>
        <p:nvSpPr>
          <p:cNvPr id="7" name="Text 5"/>
          <p:cNvSpPr txBox="1"/>
          <p:nvPr/>
        </p:nvSpPr>
        <p:spPr>
          <a:xfrm>
            <a:off x="585216" y="1229868"/>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60704" y="1197864"/>
            <a:ext cx="40233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Subcritical components are trees</a:t>
            </a:r>
            <a:endParaRPr lang="en-US" sz="1350" dirty="0"/>
          </a:p>
        </p:txBody>
      </p:sp>
      <p:pic>
        <p:nvPicPr>
          <p:cNvPr id="9" name="Image 0" descr="/home/claude/eq/pgf_tree.png"/>
          <p:cNvPicPr>
            <a:picLocks noChangeAspect="1"/>
          </p:cNvPicPr>
          <p:nvPr/>
        </p:nvPicPr>
        <p:blipFill>
          <a:blip r:embed="rId3"/>
          <a:stretch>
            <a:fillRect/>
          </a:stretch>
        </p:blipFill>
        <p:spPr>
          <a:xfrm>
            <a:off x="5230368" y="1222136"/>
            <a:ext cx="6400800" cy="298928"/>
          </a:xfrm>
          <a:prstGeom prst="rect">
            <a:avLst/>
          </a:prstGeom>
        </p:spPr>
      </p:pic>
      <p:sp>
        <p:nvSpPr>
          <p:cNvPr id="10" name="Text 7"/>
          <p:cNvSpPr txBox="1"/>
          <p:nvPr/>
        </p:nvSpPr>
        <p:spPr>
          <a:xfrm>
            <a:off x="1060704" y="1664208"/>
            <a:ext cx="10570464" cy="274320"/>
          </a:xfrm>
          <a:prstGeom prst="rect">
            <a:avLst/>
          </a:prstGeom>
          <a:noFill/>
          <a:ln/>
        </p:spPr>
        <p:txBody>
          <a:bodyPr wrap="square" lIns="0" tIns="0" rIns="0" bIns="0" rtlCol="0" anchor="ctr"/>
          <a:lstStyle/>
          <a:p>
            <a:pPr marL="0" indent="0">
              <a:buNone/>
            </a:pPr>
            <a:r>
              <a:rPr lang="en-US" sz="1250" i="1" dirty="0">
                <a:solidFill>
                  <a:srgbClr val="6B7684"/>
                </a:solidFill>
                <a:latin typeface="Calibri" pitchFamily="34" charset="0"/>
                <a:ea typeface="Calibri" pitchFamily="34" charset="-122"/>
                <a:cs typeface="Calibri" pitchFamily="34" charset="-120"/>
              </a:rPr>
              <a:t>Adding any extra edge to a tree component closes a cycle and merges it toward the giant. So below ⟨k⟩ = 1 every component of size s has exactly s − 1 edges — the fact Section V established independently.</a:t>
            </a:r>
            <a:endParaRPr lang="en-US" sz="1250" dirty="0"/>
          </a:p>
        </p:txBody>
      </p:sp>
      <p:sp>
        <p:nvSpPr>
          <p:cNvPr id="11" name="Shape 8"/>
          <p:cNvSpPr/>
          <p:nvPr/>
        </p:nvSpPr>
        <p:spPr>
          <a:xfrm>
            <a:off x="585216" y="2066544"/>
            <a:ext cx="329184" cy="329184"/>
          </a:xfrm>
          <a:prstGeom prst="ellipse">
            <a:avLst/>
          </a:prstGeom>
          <a:solidFill>
            <a:srgbClr val="0E6F66"/>
          </a:solidFill>
          <a:ln w="12700">
            <a:solidFill>
              <a:srgbClr val="0E6F66"/>
            </a:solidFill>
            <a:prstDash val="solid"/>
          </a:ln>
        </p:spPr>
        <p:txBody>
          <a:bodyPr/>
          <a:lstStyle/>
          <a:p>
            <a:endParaRPr lang="en-IN"/>
          </a:p>
        </p:txBody>
      </p:sp>
      <p:sp>
        <p:nvSpPr>
          <p:cNvPr id="12" name="Text 9"/>
          <p:cNvSpPr txBox="1"/>
          <p:nvPr/>
        </p:nvSpPr>
        <p:spPr>
          <a:xfrm>
            <a:off x="585216" y="2071116"/>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0"/>
          <p:cNvSpPr txBox="1"/>
          <p:nvPr/>
        </p:nvSpPr>
        <p:spPr>
          <a:xfrm>
            <a:off x="1060704" y="2039112"/>
            <a:ext cx="402336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Self-consistency of the branching exploration</a:t>
            </a:r>
            <a:endParaRPr lang="en-US" sz="1350" dirty="0"/>
          </a:p>
        </p:txBody>
      </p:sp>
      <p:pic>
        <p:nvPicPr>
          <p:cNvPr id="14" name="Image 1" descr="/home/claude/eq/pgf_func_why.png"/>
          <p:cNvPicPr>
            <a:picLocks noChangeAspect="1"/>
          </p:cNvPicPr>
          <p:nvPr/>
        </p:nvPicPr>
        <p:blipFill>
          <a:blip r:embed="rId4"/>
          <a:stretch>
            <a:fillRect/>
          </a:stretch>
        </p:blipFill>
        <p:spPr>
          <a:xfrm>
            <a:off x="5221224" y="1993392"/>
            <a:ext cx="6377834" cy="841248"/>
          </a:xfrm>
          <a:prstGeom prst="rect">
            <a:avLst/>
          </a:prstGeom>
        </p:spPr>
      </p:pic>
      <p:sp>
        <p:nvSpPr>
          <p:cNvPr id="15" name="Text 11"/>
          <p:cNvSpPr txBox="1"/>
          <p:nvPr/>
        </p:nvSpPr>
        <p:spPr>
          <a:xfrm>
            <a:off x="1060704" y="2962656"/>
            <a:ext cx="10570464" cy="566928"/>
          </a:xfrm>
          <a:prstGeom prst="rect">
            <a:avLst/>
          </a:prstGeom>
          <a:noFill/>
          <a:ln/>
        </p:spPr>
        <p:txBody>
          <a:bodyPr wrap="square" lIns="0" tIns="0" rIns="0" bIns="0" rtlCol="0" anchor="ctr"/>
          <a:lstStyle/>
          <a:p>
            <a:pPr marL="0" indent="0">
              <a:lnSpc>
                <a:spcPct val="98000"/>
              </a:lnSpc>
              <a:buNone/>
            </a:pPr>
            <a:r>
              <a:rPr lang="en-US" sz="1250" dirty="0">
                <a:solidFill>
                  <a:srgbClr val="12203A"/>
                </a:solidFill>
                <a:latin typeface="Calibri" pitchFamily="34" charset="0"/>
                <a:ea typeface="Calibri" pitchFamily="34" charset="-122"/>
                <a:cs typeface="Calibri" pitchFamily="34" charset="-120"/>
              </a:rPr>
              <a:t>Exploring a component from a root is a Galton–Watson process with Poisson(⟨k⟩) offspring. The size of the subtree at a node is 1 for the node itself plus the sum of its children's subtree sizes. A sum of independent contributions becomes a product of PGFs — and the number of terms is itself random and Poisson, which is precisely what g₀ evaluated at h(z) means.</a:t>
            </a:r>
            <a:endParaRPr lang="en-US" sz="1250" dirty="0"/>
          </a:p>
        </p:txBody>
      </p:sp>
      <p:sp>
        <p:nvSpPr>
          <p:cNvPr id="16" name="Shape 12"/>
          <p:cNvSpPr/>
          <p:nvPr/>
        </p:nvSpPr>
        <p:spPr>
          <a:xfrm>
            <a:off x="566928" y="3621024"/>
            <a:ext cx="11064240" cy="1225296"/>
          </a:xfrm>
          <a:prstGeom prst="roundRect">
            <a:avLst>
              <a:gd name="adj" fmla="val 4478"/>
            </a:avLst>
          </a:prstGeom>
          <a:solidFill>
            <a:srgbClr val="FBEBE8"/>
          </a:solidFill>
          <a:ln w="15875">
            <a:solidFill>
              <a:srgbClr val="C0392B"/>
            </a:solidFill>
            <a:prstDash val="solid"/>
          </a:ln>
        </p:spPr>
        <p:txBody>
          <a:bodyPr/>
          <a:lstStyle/>
          <a:p>
            <a:endParaRPr lang="en-IN"/>
          </a:p>
        </p:txBody>
      </p:sp>
      <p:sp>
        <p:nvSpPr>
          <p:cNvPr id="17" name="Text 13"/>
          <p:cNvSpPr txBox="1"/>
          <p:nvPr/>
        </p:nvSpPr>
        <p:spPr>
          <a:xfrm>
            <a:off x="786384" y="3730752"/>
            <a:ext cx="10625328"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THE CENTRAL FUNCTIONAL EQUATION</a:t>
            </a:r>
            <a:endParaRPr lang="en-US" sz="1050" dirty="0"/>
          </a:p>
        </p:txBody>
      </p:sp>
      <p:pic>
        <p:nvPicPr>
          <p:cNvPr id="18" name="Image 2" descr="/home/claude/eq/pgf_func.png"/>
          <p:cNvPicPr>
            <a:picLocks noChangeAspect="1"/>
          </p:cNvPicPr>
          <p:nvPr/>
        </p:nvPicPr>
        <p:blipFill>
          <a:blip r:embed="rId5"/>
          <a:stretch>
            <a:fillRect/>
          </a:stretch>
        </p:blipFill>
        <p:spPr>
          <a:xfrm>
            <a:off x="3953149" y="4005072"/>
            <a:ext cx="4291797" cy="676656"/>
          </a:xfrm>
          <a:prstGeom prst="rect">
            <a:avLst/>
          </a:prstGeom>
        </p:spPr>
      </p:pic>
      <p:sp>
        <p:nvSpPr>
          <p:cNvPr id="19" name="Shape 14"/>
          <p:cNvSpPr/>
          <p:nvPr/>
        </p:nvSpPr>
        <p:spPr>
          <a:xfrm>
            <a:off x="566928" y="4974336"/>
            <a:ext cx="3529584" cy="804672"/>
          </a:xfrm>
          <a:prstGeom prst="roundRect">
            <a:avLst>
              <a:gd name="adj" fmla="val 6818"/>
            </a:avLst>
          </a:prstGeom>
          <a:solidFill>
            <a:srgbClr val="F4F6F9"/>
          </a:solidFill>
          <a:ln w="12700">
            <a:solidFill>
              <a:srgbClr val="333333"/>
            </a:solidFill>
            <a:prstDash val="solid"/>
          </a:ln>
        </p:spPr>
        <p:txBody>
          <a:bodyPr/>
          <a:lstStyle/>
          <a:p>
            <a:endParaRPr lang="en-IN"/>
          </a:p>
        </p:txBody>
      </p:sp>
      <p:sp>
        <p:nvSpPr>
          <p:cNvPr id="20" name="Text 15"/>
          <p:cNvSpPr txBox="1"/>
          <p:nvPr/>
        </p:nvSpPr>
        <p:spPr>
          <a:xfrm>
            <a:off x="731520" y="5047488"/>
            <a:ext cx="3200400" cy="219456"/>
          </a:xfrm>
          <a:prstGeom prst="rect">
            <a:avLst/>
          </a:prstGeom>
          <a:noFill/>
          <a:ln/>
        </p:spPr>
        <p:txBody>
          <a:bodyPr wrap="square" lIns="0" tIns="0" rIns="0" bIns="0" rtlCol="0" anchor="ctr"/>
          <a:lstStyle/>
          <a:p>
            <a:pPr marL="0" indent="0">
              <a:buNone/>
            </a:pPr>
            <a:r>
              <a:rPr lang="en-US" sz="1200" b="1" dirty="0">
                <a:solidFill>
                  <a:srgbClr val="0E1B33"/>
                </a:solidFill>
                <a:latin typeface="Calibri" pitchFamily="34" charset="0"/>
                <a:ea typeface="Calibri" pitchFamily="34" charset="-122"/>
                <a:cs typeface="Calibri" pitchFamily="34" charset="-120"/>
              </a:rPr>
              <a:t>The factor z</a:t>
            </a:r>
            <a:endParaRPr lang="en-US" sz="1200" dirty="0"/>
          </a:p>
        </p:txBody>
      </p:sp>
      <p:sp>
        <p:nvSpPr>
          <p:cNvPr id="21" name="Text 16"/>
          <p:cNvSpPr txBox="1"/>
          <p:nvPr/>
        </p:nvSpPr>
        <p:spPr>
          <a:xfrm>
            <a:off x="731520" y="5266944"/>
            <a:ext cx="3200400" cy="475488"/>
          </a:xfrm>
          <a:prstGeom prst="rect">
            <a:avLst/>
          </a:prstGeom>
          <a:noFill/>
          <a:ln/>
        </p:spPr>
        <p:txBody>
          <a:bodyPr wrap="square" lIns="0" tIns="0" rIns="0" bIns="0" rtlCol="0" anchor="ctr"/>
          <a:lstStyle/>
          <a:p>
            <a:pPr marL="0" indent="0">
              <a:lnSpc>
                <a:spcPct val="94000"/>
              </a:lnSpc>
              <a:buNone/>
            </a:pPr>
            <a:r>
              <a:rPr lang="en-US" sz="1050" dirty="0">
                <a:solidFill>
                  <a:srgbClr val="12203A"/>
                </a:solidFill>
                <a:latin typeface="Calibri" pitchFamily="34" charset="0"/>
                <a:ea typeface="Calibri" pitchFamily="34" charset="-122"/>
                <a:cs typeface="Calibri" pitchFamily="34" charset="-120"/>
              </a:rPr>
              <a:t>Accounts for the root node itself — it contributes exactly one to the component size, hence one power of z.</a:t>
            </a:r>
            <a:endParaRPr lang="en-US" sz="1050" dirty="0"/>
          </a:p>
        </p:txBody>
      </p:sp>
      <p:sp>
        <p:nvSpPr>
          <p:cNvPr id="22" name="Shape 17"/>
          <p:cNvSpPr/>
          <p:nvPr/>
        </p:nvSpPr>
        <p:spPr>
          <a:xfrm>
            <a:off x="4334256" y="4974336"/>
            <a:ext cx="3529584" cy="804672"/>
          </a:xfrm>
          <a:prstGeom prst="roundRect">
            <a:avLst>
              <a:gd name="adj" fmla="val 6818"/>
            </a:avLst>
          </a:prstGeom>
          <a:solidFill>
            <a:srgbClr val="F4F6F9"/>
          </a:solidFill>
          <a:ln w="12700">
            <a:solidFill>
              <a:srgbClr val="333333"/>
            </a:solidFill>
            <a:prstDash val="solid"/>
          </a:ln>
        </p:spPr>
        <p:txBody>
          <a:bodyPr/>
          <a:lstStyle/>
          <a:p>
            <a:endParaRPr lang="en-IN"/>
          </a:p>
        </p:txBody>
      </p:sp>
      <p:sp>
        <p:nvSpPr>
          <p:cNvPr id="23" name="Text 18"/>
          <p:cNvSpPr txBox="1"/>
          <p:nvPr/>
        </p:nvSpPr>
        <p:spPr>
          <a:xfrm>
            <a:off x="4498848" y="5047488"/>
            <a:ext cx="3200400" cy="219456"/>
          </a:xfrm>
          <a:prstGeom prst="rect">
            <a:avLst/>
          </a:prstGeom>
          <a:noFill/>
          <a:ln/>
        </p:spPr>
        <p:txBody>
          <a:bodyPr wrap="square" lIns="0" tIns="0" rIns="0" bIns="0" rtlCol="0" anchor="ctr"/>
          <a:lstStyle/>
          <a:p>
            <a:pPr marL="0" indent="0">
              <a:buNone/>
            </a:pPr>
            <a:r>
              <a:rPr lang="en-US" sz="1200" b="1" dirty="0">
                <a:solidFill>
                  <a:srgbClr val="0E1B33"/>
                </a:solidFill>
                <a:latin typeface="Calibri" pitchFamily="34" charset="0"/>
                <a:ea typeface="Calibri" pitchFamily="34" charset="-122"/>
                <a:cs typeface="Calibri" pitchFamily="34" charset="-120"/>
              </a:rPr>
              <a:t>The exponential</a:t>
            </a:r>
            <a:endParaRPr lang="en-US" sz="1200" dirty="0"/>
          </a:p>
        </p:txBody>
      </p:sp>
      <p:sp>
        <p:nvSpPr>
          <p:cNvPr id="24" name="Text 19"/>
          <p:cNvSpPr txBox="1"/>
          <p:nvPr/>
        </p:nvSpPr>
        <p:spPr>
          <a:xfrm>
            <a:off x="4498848" y="5266944"/>
            <a:ext cx="3200400" cy="475488"/>
          </a:xfrm>
          <a:prstGeom prst="rect">
            <a:avLst/>
          </a:prstGeom>
          <a:noFill/>
          <a:ln/>
        </p:spPr>
        <p:txBody>
          <a:bodyPr wrap="square" lIns="0" tIns="0" rIns="0" bIns="0" rtlCol="0" anchor="ctr"/>
          <a:lstStyle/>
          <a:p>
            <a:pPr marL="0" indent="0">
              <a:lnSpc>
                <a:spcPct val="94000"/>
              </a:lnSpc>
              <a:buNone/>
            </a:pPr>
            <a:r>
              <a:rPr lang="en-US" sz="1050" dirty="0">
                <a:solidFill>
                  <a:srgbClr val="12203A"/>
                </a:solidFill>
                <a:latin typeface="Calibri" pitchFamily="34" charset="0"/>
                <a:ea typeface="Calibri" pitchFamily="34" charset="-122"/>
                <a:cs typeface="Calibri" pitchFamily="34" charset="-120"/>
              </a:rPr>
              <a:t>exp(⟨k⟩[h(z) − 1]) is g₀ evaluated at h(z): the PGF of a Poisson-distributed number of independent subtrees, each with PGF h(z).</a:t>
            </a:r>
            <a:endParaRPr lang="en-US" sz="1050" dirty="0"/>
          </a:p>
        </p:txBody>
      </p:sp>
      <p:sp>
        <p:nvSpPr>
          <p:cNvPr id="25" name="Shape 20"/>
          <p:cNvSpPr/>
          <p:nvPr/>
        </p:nvSpPr>
        <p:spPr>
          <a:xfrm>
            <a:off x="8101584" y="4974336"/>
            <a:ext cx="3529584" cy="804672"/>
          </a:xfrm>
          <a:prstGeom prst="roundRect">
            <a:avLst>
              <a:gd name="adj" fmla="val 6818"/>
            </a:avLst>
          </a:prstGeom>
          <a:solidFill>
            <a:srgbClr val="F4F6F9"/>
          </a:solidFill>
          <a:ln w="12700">
            <a:solidFill>
              <a:srgbClr val="333333"/>
            </a:solidFill>
            <a:prstDash val="solid"/>
          </a:ln>
        </p:spPr>
        <p:txBody>
          <a:bodyPr/>
          <a:lstStyle/>
          <a:p>
            <a:endParaRPr lang="en-IN"/>
          </a:p>
        </p:txBody>
      </p:sp>
      <p:sp>
        <p:nvSpPr>
          <p:cNvPr id="26" name="Text 21"/>
          <p:cNvSpPr txBox="1"/>
          <p:nvPr/>
        </p:nvSpPr>
        <p:spPr>
          <a:xfrm>
            <a:off x="8266176" y="5047488"/>
            <a:ext cx="3200400" cy="219456"/>
          </a:xfrm>
          <a:prstGeom prst="rect">
            <a:avLst/>
          </a:prstGeom>
          <a:noFill/>
          <a:ln/>
        </p:spPr>
        <p:txBody>
          <a:bodyPr wrap="square" lIns="0" tIns="0" rIns="0" bIns="0" rtlCol="0" anchor="ctr"/>
          <a:lstStyle/>
          <a:p>
            <a:pPr marL="0" indent="0">
              <a:buNone/>
            </a:pPr>
            <a:r>
              <a:rPr lang="en-US" sz="1200" b="1" dirty="0">
                <a:solidFill>
                  <a:srgbClr val="0E1B33"/>
                </a:solidFill>
                <a:latin typeface="Calibri" pitchFamily="34" charset="0"/>
                <a:ea typeface="Calibri" pitchFamily="34" charset="-122"/>
                <a:cs typeface="Calibri" pitchFamily="34" charset="-120"/>
              </a:rPr>
              <a:t>Why it is solvable</a:t>
            </a:r>
            <a:endParaRPr lang="en-US" sz="1200" dirty="0"/>
          </a:p>
        </p:txBody>
      </p:sp>
      <p:sp>
        <p:nvSpPr>
          <p:cNvPr id="27" name="Text 22"/>
          <p:cNvSpPr txBox="1"/>
          <p:nvPr/>
        </p:nvSpPr>
        <p:spPr>
          <a:xfrm>
            <a:off x="8266176" y="5266944"/>
            <a:ext cx="3200400" cy="475488"/>
          </a:xfrm>
          <a:prstGeom prst="rect">
            <a:avLst/>
          </a:prstGeom>
          <a:noFill/>
          <a:ln/>
        </p:spPr>
        <p:txBody>
          <a:bodyPr wrap="square" lIns="0" tIns="0" rIns="0" bIns="0" rtlCol="0" anchor="ctr"/>
          <a:lstStyle/>
          <a:p>
            <a:pPr marL="0" indent="0">
              <a:lnSpc>
                <a:spcPct val="94000"/>
              </a:lnSpc>
              <a:buNone/>
            </a:pPr>
            <a:r>
              <a:rPr lang="en-US" sz="1050" dirty="0">
                <a:solidFill>
                  <a:srgbClr val="12203A"/>
                </a:solidFill>
                <a:latin typeface="Calibri" pitchFamily="34" charset="0"/>
                <a:ea typeface="Calibri" pitchFamily="34" charset="-122"/>
                <a:cs typeface="Calibri" pitchFamily="34" charset="-120"/>
              </a:rPr>
              <a:t>h appears on both sides, but h(1) = 1 is known. Differentiating at z = 1 turns the implicit equation into a linear equation for ⟨s⟩.</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DERIVATION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Differentiate once, and ⟨s⟩ falls out</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47</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VII  ·  Generating Functions</a:t>
            </a:r>
            <a:endParaRPr lang="en-US" sz="1000" dirty="0"/>
          </a:p>
        </p:txBody>
      </p:sp>
      <p:sp>
        <p:nvSpPr>
          <p:cNvPr id="6" name="Shape 4"/>
          <p:cNvSpPr/>
          <p:nvPr/>
        </p:nvSpPr>
        <p:spPr>
          <a:xfrm>
            <a:off x="585216" y="1207008"/>
            <a:ext cx="329184" cy="329184"/>
          </a:xfrm>
          <a:prstGeom prst="ellipse">
            <a:avLst/>
          </a:prstGeom>
          <a:solidFill>
            <a:srgbClr val="0E6F66"/>
          </a:solidFill>
          <a:ln w="12700">
            <a:solidFill>
              <a:srgbClr val="0E6F66"/>
            </a:solidFill>
            <a:prstDash val="solid"/>
          </a:ln>
        </p:spPr>
        <p:txBody>
          <a:bodyPr/>
          <a:lstStyle/>
          <a:p>
            <a:endParaRPr lang="en-IN"/>
          </a:p>
        </p:txBody>
      </p:sp>
      <p:sp>
        <p:nvSpPr>
          <p:cNvPr id="7" name="Text 5"/>
          <p:cNvSpPr txBox="1"/>
          <p:nvPr/>
        </p:nvSpPr>
        <p:spPr>
          <a:xfrm>
            <a:off x="585216" y="121158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8" name="Text 6"/>
          <p:cNvSpPr txBox="1"/>
          <p:nvPr/>
        </p:nvSpPr>
        <p:spPr>
          <a:xfrm>
            <a:off x="1060704" y="1179576"/>
            <a:ext cx="457200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Differentiate implicitly (product + chain rule)</a:t>
            </a:r>
            <a:endParaRPr lang="en-US" sz="1350" dirty="0"/>
          </a:p>
        </p:txBody>
      </p:sp>
      <p:pic>
        <p:nvPicPr>
          <p:cNvPr id="9" name="Image 0" descr="/home/claude/eq/pgf_diff.png"/>
          <p:cNvPicPr>
            <a:picLocks noChangeAspect="1"/>
          </p:cNvPicPr>
          <p:nvPr/>
        </p:nvPicPr>
        <p:blipFill>
          <a:blip r:embed="rId3"/>
          <a:stretch>
            <a:fillRect/>
          </a:stretch>
        </p:blipFill>
        <p:spPr>
          <a:xfrm>
            <a:off x="5769864" y="1167903"/>
            <a:ext cx="5861304" cy="443970"/>
          </a:xfrm>
          <a:prstGeom prst="rect">
            <a:avLst/>
          </a:prstGeom>
        </p:spPr>
      </p:pic>
      <p:sp>
        <p:nvSpPr>
          <p:cNvPr id="10" name="Shape 7"/>
          <p:cNvSpPr/>
          <p:nvPr/>
        </p:nvSpPr>
        <p:spPr>
          <a:xfrm>
            <a:off x="585216" y="1847088"/>
            <a:ext cx="329184" cy="329184"/>
          </a:xfrm>
          <a:prstGeom prst="ellipse">
            <a:avLst/>
          </a:prstGeom>
          <a:solidFill>
            <a:srgbClr val="0E6F66"/>
          </a:solidFill>
          <a:ln w="12700">
            <a:solidFill>
              <a:srgbClr val="0E6F66"/>
            </a:solidFill>
            <a:prstDash val="solid"/>
          </a:ln>
        </p:spPr>
        <p:txBody>
          <a:bodyPr/>
          <a:lstStyle/>
          <a:p>
            <a:endParaRPr lang="en-IN"/>
          </a:p>
        </p:txBody>
      </p:sp>
      <p:sp>
        <p:nvSpPr>
          <p:cNvPr id="11" name="Text 8"/>
          <p:cNvSpPr txBox="1"/>
          <p:nvPr/>
        </p:nvSpPr>
        <p:spPr>
          <a:xfrm>
            <a:off x="585216" y="185166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2" name="Text 9"/>
          <p:cNvSpPr txBox="1"/>
          <p:nvPr/>
        </p:nvSpPr>
        <p:spPr>
          <a:xfrm>
            <a:off x="1060704" y="1819656"/>
            <a:ext cx="457200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Evaluate at z = 1, where h(1) = 1</a:t>
            </a:r>
            <a:endParaRPr lang="en-US" sz="1350" dirty="0"/>
          </a:p>
        </p:txBody>
      </p:sp>
      <p:pic>
        <p:nvPicPr>
          <p:cNvPr id="13" name="Image 1" descr="/home/claude/eq/pgf_at1.png"/>
          <p:cNvPicPr>
            <a:picLocks noChangeAspect="1"/>
          </p:cNvPicPr>
          <p:nvPr/>
        </p:nvPicPr>
        <p:blipFill>
          <a:blip r:embed="rId4"/>
          <a:stretch>
            <a:fillRect/>
          </a:stretch>
        </p:blipFill>
        <p:spPr>
          <a:xfrm>
            <a:off x="5769864" y="1843601"/>
            <a:ext cx="5861304" cy="336158"/>
          </a:xfrm>
          <a:prstGeom prst="rect">
            <a:avLst/>
          </a:prstGeom>
        </p:spPr>
      </p:pic>
      <p:sp>
        <p:nvSpPr>
          <p:cNvPr id="14" name="Text 10"/>
          <p:cNvSpPr txBox="1"/>
          <p:nvPr/>
        </p:nvSpPr>
        <p:spPr>
          <a:xfrm>
            <a:off x="1060704" y="2359152"/>
            <a:ext cx="10570464" cy="274320"/>
          </a:xfrm>
          <a:prstGeom prst="rect">
            <a:avLst/>
          </a:prstGeom>
          <a:noFill/>
          <a:ln/>
        </p:spPr>
        <p:txBody>
          <a:bodyPr wrap="square" lIns="0" tIns="0" rIns="0" bIns="0" rtlCol="0" anchor="ctr"/>
          <a:lstStyle/>
          <a:p>
            <a:pPr marL="0" indent="0">
              <a:buNone/>
            </a:pPr>
            <a:r>
              <a:rPr lang="en-US" sz="1250" i="1" dirty="0">
                <a:solidFill>
                  <a:srgbClr val="6B7684"/>
                </a:solidFill>
                <a:latin typeface="Calibri" pitchFamily="34" charset="0"/>
                <a:ea typeface="Calibri" pitchFamily="34" charset="-122"/>
                <a:cs typeface="Calibri" pitchFamily="34" charset="-120"/>
              </a:rPr>
              <a:t>Both exponential factors become e⁰ = 1, so the equation collapses to a linear relation in the single unknown ⟨s⟩ = h′(1).</a:t>
            </a:r>
            <a:endParaRPr lang="en-US" sz="1250" dirty="0"/>
          </a:p>
        </p:txBody>
      </p:sp>
      <p:sp>
        <p:nvSpPr>
          <p:cNvPr id="15" name="Shape 11"/>
          <p:cNvSpPr/>
          <p:nvPr/>
        </p:nvSpPr>
        <p:spPr>
          <a:xfrm>
            <a:off x="585216" y="2706624"/>
            <a:ext cx="329184" cy="329184"/>
          </a:xfrm>
          <a:prstGeom prst="ellipse">
            <a:avLst/>
          </a:prstGeom>
          <a:solidFill>
            <a:srgbClr val="C0392B"/>
          </a:solidFill>
          <a:ln w="12700">
            <a:solidFill>
              <a:srgbClr val="C0392B"/>
            </a:solidFill>
            <a:prstDash val="solid"/>
          </a:ln>
        </p:spPr>
        <p:txBody>
          <a:bodyPr/>
          <a:lstStyle/>
          <a:p>
            <a:endParaRPr lang="en-IN"/>
          </a:p>
        </p:txBody>
      </p:sp>
      <p:sp>
        <p:nvSpPr>
          <p:cNvPr id="16" name="Text 12"/>
          <p:cNvSpPr txBox="1"/>
          <p:nvPr/>
        </p:nvSpPr>
        <p:spPr>
          <a:xfrm>
            <a:off x="585216" y="2711196"/>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7" name="Text 13"/>
          <p:cNvSpPr txBox="1"/>
          <p:nvPr/>
        </p:nvSpPr>
        <p:spPr>
          <a:xfrm>
            <a:off x="1060704" y="2679192"/>
            <a:ext cx="4572000" cy="384048"/>
          </a:xfrm>
          <a:prstGeom prst="rect">
            <a:avLst/>
          </a:prstGeom>
          <a:noFill/>
          <a:ln/>
        </p:spPr>
        <p:txBody>
          <a:bodyPr wrap="square" lIns="0" tIns="0" rIns="0" bIns="0" rtlCol="0" anchor="ctr"/>
          <a:lstStyle/>
          <a:p>
            <a:pPr marL="0" indent="0">
              <a:buNone/>
            </a:pPr>
            <a:r>
              <a:rPr lang="en-US" sz="1350" b="1" dirty="0">
                <a:solidFill>
                  <a:srgbClr val="12203A"/>
                </a:solidFill>
                <a:latin typeface="Calibri" pitchFamily="34" charset="0"/>
                <a:ea typeface="Calibri" pitchFamily="34" charset="-122"/>
                <a:cs typeface="Calibri" pitchFamily="34" charset="-120"/>
              </a:rPr>
              <a:t>Solve</a:t>
            </a:r>
            <a:endParaRPr lang="en-US" sz="1350" dirty="0"/>
          </a:p>
        </p:txBody>
      </p:sp>
      <p:sp>
        <p:nvSpPr>
          <p:cNvPr id="18" name="Shape 14"/>
          <p:cNvSpPr/>
          <p:nvPr/>
        </p:nvSpPr>
        <p:spPr>
          <a:xfrm>
            <a:off x="566928" y="3127248"/>
            <a:ext cx="5422392" cy="1005840"/>
          </a:xfrm>
          <a:prstGeom prst="roundRect">
            <a:avLst>
              <a:gd name="adj" fmla="val 5455"/>
            </a:avLst>
          </a:prstGeom>
          <a:solidFill>
            <a:srgbClr val="FBEBE8"/>
          </a:solidFill>
          <a:ln w="15875">
            <a:solidFill>
              <a:srgbClr val="C0392B"/>
            </a:solidFill>
            <a:prstDash val="solid"/>
          </a:ln>
        </p:spPr>
        <p:txBody>
          <a:bodyPr/>
          <a:lstStyle/>
          <a:p>
            <a:endParaRPr lang="en-IN"/>
          </a:p>
        </p:txBody>
      </p:sp>
      <p:sp>
        <p:nvSpPr>
          <p:cNvPr id="19" name="Text 15"/>
          <p:cNvSpPr txBox="1"/>
          <p:nvPr/>
        </p:nvSpPr>
        <p:spPr>
          <a:xfrm>
            <a:off x="786384" y="3236976"/>
            <a:ext cx="498348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EXACT MEAN SMALL-COMPONENT SIZE</a:t>
            </a:r>
            <a:endParaRPr lang="en-US" sz="1050" dirty="0"/>
          </a:p>
        </p:txBody>
      </p:sp>
      <p:pic>
        <p:nvPicPr>
          <p:cNvPr id="20" name="Image 2" descr="/home/claude/eq/pgf_solve.png"/>
          <p:cNvPicPr>
            <a:picLocks noChangeAspect="1"/>
          </p:cNvPicPr>
          <p:nvPr/>
        </p:nvPicPr>
        <p:blipFill>
          <a:blip r:embed="rId5"/>
          <a:stretch>
            <a:fillRect/>
          </a:stretch>
        </p:blipFill>
        <p:spPr>
          <a:xfrm>
            <a:off x="2223951" y="3511296"/>
            <a:ext cx="2108345" cy="457200"/>
          </a:xfrm>
          <a:prstGeom prst="rect">
            <a:avLst/>
          </a:prstGeom>
        </p:spPr>
      </p:pic>
      <p:sp>
        <p:nvSpPr>
          <p:cNvPr id="21" name="Shape 16"/>
          <p:cNvSpPr/>
          <p:nvPr/>
        </p:nvSpPr>
        <p:spPr>
          <a:xfrm>
            <a:off x="6208776" y="3127248"/>
            <a:ext cx="5422392" cy="1005840"/>
          </a:xfrm>
          <a:prstGeom prst="roundRect">
            <a:avLst>
              <a:gd name="adj" fmla="val 5455"/>
            </a:avLst>
          </a:prstGeom>
          <a:solidFill>
            <a:srgbClr val="F4F6F9"/>
          </a:solidFill>
          <a:ln w="12700">
            <a:solidFill>
              <a:srgbClr val="333333"/>
            </a:solidFill>
            <a:prstDash val="solid"/>
          </a:ln>
        </p:spPr>
        <p:txBody>
          <a:bodyPr/>
          <a:lstStyle/>
          <a:p>
            <a:endParaRPr lang="en-IN"/>
          </a:p>
        </p:txBody>
      </p:sp>
      <p:sp>
        <p:nvSpPr>
          <p:cNvPr id="22" name="Text 17"/>
          <p:cNvSpPr txBox="1"/>
          <p:nvPr/>
        </p:nvSpPr>
        <p:spPr>
          <a:xfrm>
            <a:off x="6428232" y="3218688"/>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THE CRITICAL DIVERGENCE</a:t>
            </a:r>
            <a:endParaRPr lang="en-US" sz="1050" dirty="0"/>
          </a:p>
        </p:txBody>
      </p:sp>
      <p:pic>
        <p:nvPicPr>
          <p:cNvPr id="23" name="Image 3" descr="/home/claude/eq/pgf_diverge.png"/>
          <p:cNvPicPr>
            <a:picLocks noChangeAspect="1"/>
          </p:cNvPicPr>
          <p:nvPr/>
        </p:nvPicPr>
        <p:blipFill>
          <a:blip r:embed="rId6"/>
          <a:stretch>
            <a:fillRect/>
          </a:stretch>
        </p:blipFill>
        <p:spPr>
          <a:xfrm>
            <a:off x="6428232" y="3456432"/>
            <a:ext cx="4983480" cy="466884"/>
          </a:xfrm>
          <a:prstGeom prst="rect">
            <a:avLst/>
          </a:prstGeom>
        </p:spPr>
      </p:pic>
      <p:sp>
        <p:nvSpPr>
          <p:cNvPr id="24" name="Text 18"/>
          <p:cNvSpPr txBox="1"/>
          <p:nvPr/>
        </p:nvSpPr>
        <p:spPr>
          <a:xfrm>
            <a:off x="566928" y="4279392"/>
            <a:ext cx="11064240" cy="292608"/>
          </a:xfrm>
          <a:prstGeom prst="rect">
            <a:avLst/>
          </a:prstGeom>
          <a:noFill/>
          <a:ln/>
        </p:spPr>
        <p:txBody>
          <a:bodyPr wrap="square" lIns="0" tIns="0" rIns="0" bIns="0" rtlCol="0" anchor="ctr"/>
          <a:lstStyle/>
          <a:p>
            <a:pPr marL="0" indent="0">
              <a:buNone/>
            </a:pPr>
            <a:r>
              <a:rPr lang="en-US" sz="1700" b="1" dirty="0">
                <a:solidFill>
                  <a:srgbClr val="0E1B33"/>
                </a:solidFill>
                <a:latin typeface="Cambria" pitchFamily="34" charset="0"/>
                <a:ea typeface="Cambria" pitchFamily="34" charset="-122"/>
                <a:cs typeface="Cambria" pitchFamily="34" charset="-120"/>
              </a:rPr>
              <a:t>What this derivation settles</a:t>
            </a:r>
            <a:endParaRPr lang="en-US" sz="1700" dirty="0"/>
          </a:p>
        </p:txBody>
      </p:sp>
      <p:sp>
        <p:nvSpPr>
          <p:cNvPr id="25" name="Shape 19"/>
          <p:cNvSpPr/>
          <p:nvPr/>
        </p:nvSpPr>
        <p:spPr>
          <a:xfrm>
            <a:off x="566928" y="4626864"/>
            <a:ext cx="3529584" cy="1170432"/>
          </a:xfrm>
          <a:prstGeom prst="roundRect">
            <a:avLst>
              <a:gd name="adj" fmla="val 4688"/>
            </a:avLst>
          </a:prstGeom>
          <a:solidFill>
            <a:srgbClr val="E4F0EE"/>
          </a:solidFill>
          <a:ln w="15875">
            <a:solidFill>
              <a:srgbClr val="0E6F66"/>
            </a:solidFill>
            <a:prstDash val="solid"/>
          </a:ln>
        </p:spPr>
        <p:txBody>
          <a:bodyPr/>
          <a:lstStyle/>
          <a:p>
            <a:endParaRPr lang="en-IN"/>
          </a:p>
        </p:txBody>
      </p:sp>
      <p:sp>
        <p:nvSpPr>
          <p:cNvPr id="26" name="Text 20"/>
          <p:cNvSpPr txBox="1"/>
          <p:nvPr/>
        </p:nvSpPr>
        <p:spPr>
          <a:xfrm>
            <a:off x="731520" y="4700016"/>
            <a:ext cx="3200400" cy="237744"/>
          </a:xfrm>
          <a:prstGeom prst="rect">
            <a:avLst/>
          </a:prstGeom>
          <a:noFill/>
          <a:ln/>
        </p:spPr>
        <p:txBody>
          <a:bodyPr wrap="square" lIns="0" tIns="0" rIns="0" bIns="0" rtlCol="0" anchor="ctr"/>
          <a:lstStyle/>
          <a:p>
            <a:pPr marL="0" indent="0">
              <a:buNone/>
            </a:pPr>
            <a:r>
              <a:rPr lang="en-US" sz="1200" b="1" dirty="0">
                <a:solidFill>
                  <a:srgbClr val="0E6F66"/>
                </a:solidFill>
                <a:latin typeface="Calibri" pitchFamily="34" charset="0"/>
                <a:ea typeface="Calibri" pitchFamily="34" charset="-122"/>
                <a:cs typeface="Calibri" pitchFamily="34" charset="-120"/>
              </a:rPr>
              <a:t>It replaces a heuristic with a proof</a:t>
            </a:r>
            <a:endParaRPr lang="en-US" sz="1200" dirty="0"/>
          </a:p>
        </p:txBody>
      </p:sp>
      <p:sp>
        <p:nvSpPr>
          <p:cNvPr id="27" name="Text 21"/>
          <p:cNvSpPr txBox="1"/>
          <p:nvPr/>
        </p:nvSpPr>
        <p:spPr>
          <a:xfrm>
            <a:off x="731520" y="4937760"/>
            <a:ext cx="3200400" cy="804672"/>
          </a:xfrm>
          <a:prstGeom prst="rect">
            <a:avLst/>
          </a:prstGeom>
          <a:noFill/>
          <a:ln/>
        </p:spPr>
        <p:txBody>
          <a:bodyPr wrap="square" lIns="0" tIns="0" rIns="0" bIns="0" rtlCol="0" anchor="ctr"/>
          <a:lstStyle/>
          <a:p>
            <a:pPr marL="0" indent="0">
              <a:lnSpc>
                <a:spcPct val="94000"/>
              </a:lnSpc>
              <a:buNone/>
            </a:pPr>
            <a:r>
              <a:rPr lang="en-US" sz="1050" dirty="0">
                <a:solidFill>
                  <a:srgbClr val="12203A"/>
                </a:solidFill>
                <a:latin typeface="Calibri" pitchFamily="34" charset="0"/>
                <a:ea typeface="Calibri" pitchFamily="34" charset="-122"/>
                <a:cs typeface="Calibri" pitchFamily="34" charset="-120"/>
              </a:rPr>
              <a:t>Slide 27 obtained ⟨s⟩ = 1/(1 − ⟨k⟩) by summing a geometric series over branching generations — correct, but it assumed the tree structure and the independence of generations. Here both are consequences of the functional equation, not assumptions bolted on.</a:t>
            </a:r>
            <a:endParaRPr lang="en-US" sz="1050" dirty="0"/>
          </a:p>
        </p:txBody>
      </p:sp>
      <p:sp>
        <p:nvSpPr>
          <p:cNvPr id="28" name="Shape 22"/>
          <p:cNvSpPr/>
          <p:nvPr/>
        </p:nvSpPr>
        <p:spPr>
          <a:xfrm>
            <a:off x="4334256" y="4626864"/>
            <a:ext cx="3529584" cy="1170432"/>
          </a:xfrm>
          <a:prstGeom prst="roundRect">
            <a:avLst>
              <a:gd name="adj" fmla="val 4688"/>
            </a:avLst>
          </a:prstGeom>
          <a:solidFill>
            <a:srgbClr val="F4F6F9"/>
          </a:solidFill>
          <a:ln w="12700">
            <a:solidFill>
              <a:srgbClr val="333333"/>
            </a:solidFill>
            <a:prstDash val="solid"/>
          </a:ln>
        </p:spPr>
        <p:txBody>
          <a:bodyPr/>
          <a:lstStyle/>
          <a:p>
            <a:endParaRPr lang="en-IN"/>
          </a:p>
        </p:txBody>
      </p:sp>
      <p:sp>
        <p:nvSpPr>
          <p:cNvPr id="29" name="Text 23"/>
          <p:cNvSpPr txBox="1"/>
          <p:nvPr/>
        </p:nvSpPr>
        <p:spPr>
          <a:xfrm>
            <a:off x="4498848" y="4700016"/>
            <a:ext cx="3200400" cy="237744"/>
          </a:xfrm>
          <a:prstGeom prst="rect">
            <a:avLst/>
          </a:prstGeom>
          <a:noFill/>
          <a:ln/>
        </p:spPr>
        <p:txBody>
          <a:bodyPr wrap="square" lIns="0" tIns="0" rIns="0" bIns="0" rtlCol="0" anchor="ctr"/>
          <a:lstStyle/>
          <a:p>
            <a:pPr marL="0" indent="0">
              <a:buNone/>
            </a:pPr>
            <a:r>
              <a:rPr lang="en-US" sz="1200" b="1" dirty="0">
                <a:solidFill>
                  <a:srgbClr val="0E1B33"/>
                </a:solidFill>
                <a:latin typeface="Calibri" pitchFamily="34" charset="0"/>
                <a:ea typeface="Calibri" pitchFamily="34" charset="-122"/>
                <a:cs typeface="Calibri" pitchFamily="34" charset="-120"/>
              </a:rPr>
              <a:t>It locates the transition exactly</a:t>
            </a:r>
            <a:endParaRPr lang="en-US" sz="1200" dirty="0"/>
          </a:p>
        </p:txBody>
      </p:sp>
      <p:sp>
        <p:nvSpPr>
          <p:cNvPr id="30" name="Text 24"/>
          <p:cNvSpPr txBox="1"/>
          <p:nvPr/>
        </p:nvSpPr>
        <p:spPr>
          <a:xfrm>
            <a:off x="4498848" y="4937760"/>
            <a:ext cx="3200400" cy="804672"/>
          </a:xfrm>
          <a:prstGeom prst="rect">
            <a:avLst/>
          </a:prstGeom>
          <a:noFill/>
          <a:ln/>
        </p:spPr>
        <p:txBody>
          <a:bodyPr wrap="square" lIns="0" tIns="0" rIns="0" bIns="0" rtlCol="0" anchor="ctr"/>
          <a:lstStyle/>
          <a:p>
            <a:pPr marL="0" indent="0">
              <a:lnSpc>
                <a:spcPct val="94000"/>
              </a:lnSpc>
              <a:buNone/>
            </a:pPr>
            <a:r>
              <a:rPr lang="en-US" sz="1050" dirty="0">
                <a:solidFill>
                  <a:srgbClr val="12203A"/>
                </a:solidFill>
                <a:latin typeface="Calibri" pitchFamily="34" charset="0"/>
                <a:ea typeface="Calibri" pitchFamily="34" charset="-122"/>
                <a:cs typeface="Calibri" pitchFamily="34" charset="-120"/>
              </a:rPr>
              <a:t>The right-hand side has a pole at ⟨k⟩ = 1. A divergence in a mean is a sharper diagnostic than a vanishing order parameter, because it needs no arbitrary threshold to detect numerically.</a:t>
            </a:r>
            <a:endParaRPr lang="en-US" sz="1050" dirty="0"/>
          </a:p>
        </p:txBody>
      </p:sp>
      <p:sp>
        <p:nvSpPr>
          <p:cNvPr id="31" name="Shape 25"/>
          <p:cNvSpPr/>
          <p:nvPr/>
        </p:nvSpPr>
        <p:spPr>
          <a:xfrm>
            <a:off x="8101584" y="4626864"/>
            <a:ext cx="3529584" cy="1170432"/>
          </a:xfrm>
          <a:prstGeom prst="roundRect">
            <a:avLst>
              <a:gd name="adj" fmla="val 4688"/>
            </a:avLst>
          </a:prstGeom>
          <a:solidFill>
            <a:srgbClr val="F4F6F9"/>
          </a:solidFill>
          <a:ln w="12700">
            <a:solidFill>
              <a:srgbClr val="333333"/>
            </a:solidFill>
            <a:prstDash val="solid"/>
          </a:ln>
        </p:spPr>
        <p:txBody>
          <a:bodyPr/>
          <a:lstStyle/>
          <a:p>
            <a:endParaRPr lang="en-IN"/>
          </a:p>
        </p:txBody>
      </p:sp>
      <p:sp>
        <p:nvSpPr>
          <p:cNvPr id="32" name="Text 26"/>
          <p:cNvSpPr txBox="1"/>
          <p:nvPr/>
        </p:nvSpPr>
        <p:spPr>
          <a:xfrm>
            <a:off x="8266176" y="4700016"/>
            <a:ext cx="3200400" cy="237744"/>
          </a:xfrm>
          <a:prstGeom prst="rect">
            <a:avLst/>
          </a:prstGeom>
          <a:noFill/>
          <a:ln/>
        </p:spPr>
        <p:txBody>
          <a:bodyPr wrap="square" lIns="0" tIns="0" rIns="0" bIns="0" rtlCol="0" anchor="ctr"/>
          <a:lstStyle/>
          <a:p>
            <a:pPr marL="0" indent="0">
              <a:buNone/>
            </a:pPr>
            <a:r>
              <a:rPr lang="en-US" sz="1200" b="1" dirty="0">
                <a:solidFill>
                  <a:srgbClr val="0E1B33"/>
                </a:solidFill>
                <a:latin typeface="Calibri" pitchFamily="34" charset="0"/>
                <a:ea typeface="Calibri" pitchFamily="34" charset="-122"/>
                <a:cs typeface="Calibri" pitchFamily="34" charset="-120"/>
              </a:rPr>
              <a:t>It generalises immediately</a:t>
            </a:r>
            <a:endParaRPr lang="en-US" sz="1200" dirty="0"/>
          </a:p>
        </p:txBody>
      </p:sp>
      <p:sp>
        <p:nvSpPr>
          <p:cNvPr id="33" name="Text 27"/>
          <p:cNvSpPr txBox="1"/>
          <p:nvPr/>
        </p:nvSpPr>
        <p:spPr>
          <a:xfrm>
            <a:off x="8266176" y="4937760"/>
            <a:ext cx="3200400" cy="804672"/>
          </a:xfrm>
          <a:prstGeom prst="rect">
            <a:avLst/>
          </a:prstGeom>
          <a:noFill/>
          <a:ln/>
        </p:spPr>
        <p:txBody>
          <a:bodyPr wrap="square" lIns="0" tIns="0" rIns="0" bIns="0" rtlCol="0" anchor="ctr"/>
          <a:lstStyle/>
          <a:p>
            <a:pPr marL="0" indent="0">
              <a:lnSpc>
                <a:spcPct val="94000"/>
              </a:lnSpc>
              <a:buNone/>
            </a:pPr>
            <a:r>
              <a:rPr lang="en-US" sz="1050" dirty="0">
                <a:solidFill>
                  <a:srgbClr val="12203A"/>
                </a:solidFill>
                <a:latin typeface="Calibri" pitchFamily="34" charset="0"/>
                <a:ea typeface="Calibri" pitchFamily="34" charset="-122"/>
                <a:cs typeface="Calibri" pitchFamily="34" charset="-120"/>
              </a:rPr>
              <a:t>Nothing in Steps 3–5 used the Poisson form except g₀(x) = e^(⟨k⟩(x−1)). Replace it by an arbitrary g₀ and Slide 49 gives the general answer.</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EXACT DISTRIBUTION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Extracting the coefficients: the Borel–Tanner law</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48</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VII  ·  Generating Functions</a:t>
            </a:r>
            <a:endParaRPr lang="en-US" sz="1000" dirty="0"/>
          </a:p>
        </p:txBody>
      </p:sp>
      <p:sp>
        <p:nvSpPr>
          <p:cNvPr id="6" name="Text 4"/>
          <p:cNvSpPr txBox="1"/>
          <p:nvPr/>
        </p:nvSpPr>
        <p:spPr>
          <a:xfrm>
            <a:off x="566928" y="1152144"/>
            <a:ext cx="11064240" cy="292608"/>
          </a:xfrm>
          <a:prstGeom prst="rect">
            <a:avLst/>
          </a:prstGeom>
          <a:noFill/>
          <a:ln/>
        </p:spPr>
        <p:txBody>
          <a:bodyPr wrap="square" lIns="0" tIns="0" rIns="0" bIns="0" rtlCol="0" anchor="ctr"/>
          <a:lstStyle/>
          <a:p>
            <a:pPr marL="0" indent="0">
              <a:buNone/>
            </a:pPr>
            <a:r>
              <a:rPr lang="en-US" sz="1350" dirty="0">
                <a:solidFill>
                  <a:srgbClr val="12203A"/>
                </a:solidFill>
                <a:latin typeface="Calibri" pitchFamily="34" charset="0"/>
                <a:ea typeface="Calibri" pitchFamily="34" charset="-122"/>
                <a:cs typeface="Calibri" pitchFamily="34" charset="-120"/>
              </a:rPr>
              <a:t>h′(1) gave a mean. Lagrange inversion applied to h(z) = z·e^(⟨k⟩[h(z)−1]) gives every coefficient in closed form — the complete component-size distribution, not just its first moment.</a:t>
            </a:r>
            <a:endParaRPr lang="en-US" sz="1350" dirty="0"/>
          </a:p>
        </p:txBody>
      </p:sp>
      <p:sp>
        <p:nvSpPr>
          <p:cNvPr id="7" name="Shape 5"/>
          <p:cNvSpPr/>
          <p:nvPr/>
        </p:nvSpPr>
        <p:spPr>
          <a:xfrm>
            <a:off x="566928" y="1536192"/>
            <a:ext cx="5422392" cy="1042416"/>
          </a:xfrm>
          <a:prstGeom prst="roundRect">
            <a:avLst>
              <a:gd name="adj" fmla="val 5263"/>
            </a:avLst>
          </a:prstGeom>
          <a:solidFill>
            <a:srgbClr val="FBEBE8"/>
          </a:solidFill>
          <a:ln w="15875">
            <a:solidFill>
              <a:srgbClr val="C0392B"/>
            </a:solidFill>
            <a:prstDash val="solid"/>
          </a:ln>
        </p:spPr>
        <p:txBody>
          <a:bodyPr/>
          <a:lstStyle/>
          <a:p>
            <a:endParaRPr lang="en-IN"/>
          </a:p>
        </p:txBody>
      </p:sp>
      <p:sp>
        <p:nvSpPr>
          <p:cNvPr id="8" name="Text 6"/>
          <p:cNvSpPr txBox="1"/>
          <p:nvPr/>
        </p:nvSpPr>
        <p:spPr>
          <a:xfrm>
            <a:off x="786384" y="1645920"/>
            <a:ext cx="498348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PROBABILITY A RANDOM VERTEX SITS IN A COMPONENT OF SIZE S</a:t>
            </a:r>
            <a:endParaRPr lang="en-US" sz="1050" dirty="0"/>
          </a:p>
        </p:txBody>
      </p:sp>
      <p:pic>
        <p:nvPicPr>
          <p:cNvPr id="9" name="Image 0" descr="/home/claude/eq/borel_tanner.png"/>
          <p:cNvPicPr>
            <a:picLocks noChangeAspect="1"/>
          </p:cNvPicPr>
          <p:nvPr/>
        </p:nvPicPr>
        <p:blipFill>
          <a:blip r:embed="rId3"/>
          <a:stretch>
            <a:fillRect/>
          </a:stretch>
        </p:blipFill>
        <p:spPr>
          <a:xfrm>
            <a:off x="2444220" y="1920240"/>
            <a:ext cx="1667807" cy="493776"/>
          </a:xfrm>
          <a:prstGeom prst="rect">
            <a:avLst/>
          </a:prstGeom>
        </p:spPr>
      </p:pic>
      <p:sp>
        <p:nvSpPr>
          <p:cNvPr id="10" name="Shape 7"/>
          <p:cNvSpPr/>
          <p:nvPr/>
        </p:nvSpPr>
        <p:spPr>
          <a:xfrm>
            <a:off x="6208776" y="1536192"/>
            <a:ext cx="5422392" cy="1042416"/>
          </a:xfrm>
          <a:prstGeom prst="roundRect">
            <a:avLst>
              <a:gd name="adj" fmla="val 5263"/>
            </a:avLst>
          </a:prstGeom>
          <a:solidFill>
            <a:srgbClr val="F4F6F9"/>
          </a:solidFill>
          <a:ln w="12700">
            <a:solidFill>
              <a:srgbClr val="333333"/>
            </a:solidFill>
            <a:prstDash val="solid"/>
          </a:ln>
        </p:spPr>
        <p:txBody>
          <a:bodyPr/>
          <a:lstStyle/>
          <a:p>
            <a:endParaRPr lang="en-IN"/>
          </a:p>
        </p:txBody>
      </p:sp>
      <p:sp>
        <p:nvSpPr>
          <p:cNvPr id="11" name="Text 8"/>
          <p:cNvSpPr txBox="1"/>
          <p:nvPr/>
        </p:nvSpPr>
        <p:spPr>
          <a:xfrm>
            <a:off x="6428232" y="1609344"/>
            <a:ext cx="493776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CONSISTENCY CHECKS</a:t>
            </a:r>
            <a:endParaRPr lang="en-US" sz="1050" dirty="0"/>
          </a:p>
        </p:txBody>
      </p:sp>
      <p:pic>
        <p:nvPicPr>
          <p:cNvPr id="12" name="Image 1" descr="/home/claude/eq/bt_checks.png"/>
          <p:cNvPicPr>
            <a:picLocks noChangeAspect="1"/>
          </p:cNvPicPr>
          <p:nvPr/>
        </p:nvPicPr>
        <p:blipFill>
          <a:blip r:embed="rId4"/>
          <a:stretch>
            <a:fillRect/>
          </a:stretch>
        </p:blipFill>
        <p:spPr>
          <a:xfrm>
            <a:off x="7072884" y="1810512"/>
            <a:ext cx="3694176" cy="402336"/>
          </a:xfrm>
          <a:prstGeom prst="rect">
            <a:avLst/>
          </a:prstGeom>
        </p:spPr>
      </p:pic>
      <p:sp>
        <p:nvSpPr>
          <p:cNvPr id="13" name="Text 9"/>
          <p:cNvSpPr txBox="1"/>
          <p:nvPr/>
        </p:nvSpPr>
        <p:spPr>
          <a:xfrm>
            <a:off x="6428232" y="2249424"/>
            <a:ext cx="4983480" cy="274320"/>
          </a:xfrm>
          <a:prstGeom prst="rect">
            <a:avLst/>
          </a:prstGeom>
          <a:noFill/>
          <a:ln/>
        </p:spPr>
        <p:txBody>
          <a:bodyPr wrap="square" lIns="0" tIns="0" rIns="0" bIns="0" rtlCol="0" anchor="ctr"/>
          <a:lstStyle/>
          <a:p>
            <a:pPr marL="0" indent="0">
              <a:buNone/>
            </a:pPr>
            <a:r>
              <a:rPr lang="en-US" sz="1050" i="1" dirty="0">
                <a:solidFill>
                  <a:srgbClr val="6B7684"/>
                </a:solidFill>
                <a:latin typeface="Calibri" pitchFamily="34" charset="0"/>
                <a:ea typeface="Calibri" pitchFamily="34" charset="-122"/>
                <a:cs typeface="Calibri" pitchFamily="34" charset="-120"/>
              </a:rPr>
              <a:t>π₁ = e^(−⟨k⟩) is the isolated-node probability of Section II; π₂ = ⟨k⟩e^(−2⟨k⟩) matches a direct count.</a:t>
            </a:r>
            <a:endParaRPr lang="en-US" sz="1050" dirty="0"/>
          </a:p>
        </p:txBody>
      </p:sp>
      <p:pic>
        <p:nvPicPr>
          <p:cNvPr id="14" name="Image 2" descr="/home/claude/figs/17_pgf_coefficients.png"/>
          <p:cNvPicPr>
            <a:picLocks noChangeAspect="1"/>
          </p:cNvPicPr>
          <p:nvPr/>
        </p:nvPicPr>
        <p:blipFill>
          <a:blip r:embed="rId5"/>
          <a:stretch>
            <a:fillRect/>
          </a:stretch>
        </p:blipFill>
        <p:spPr>
          <a:xfrm>
            <a:off x="566928" y="2688336"/>
            <a:ext cx="7119272" cy="3108960"/>
          </a:xfrm>
          <a:prstGeom prst="rect">
            <a:avLst/>
          </a:prstGeom>
        </p:spPr>
      </p:pic>
      <p:sp>
        <p:nvSpPr>
          <p:cNvPr id="15" name="Shape 10"/>
          <p:cNvSpPr/>
          <p:nvPr/>
        </p:nvSpPr>
        <p:spPr>
          <a:xfrm>
            <a:off x="8202168" y="2688336"/>
            <a:ext cx="3429000" cy="3108960"/>
          </a:xfrm>
          <a:prstGeom prst="roundRect">
            <a:avLst>
              <a:gd name="adj" fmla="val 1765"/>
            </a:avLst>
          </a:prstGeom>
          <a:solidFill>
            <a:srgbClr val="E4F0EE"/>
          </a:solidFill>
          <a:ln w="15875">
            <a:solidFill>
              <a:srgbClr val="0E6F66"/>
            </a:solidFill>
            <a:prstDash val="solid"/>
          </a:ln>
        </p:spPr>
        <p:txBody>
          <a:bodyPr/>
          <a:lstStyle/>
          <a:p>
            <a:endParaRPr lang="en-IN"/>
          </a:p>
        </p:txBody>
      </p:sp>
      <p:sp>
        <p:nvSpPr>
          <p:cNvPr id="16" name="Text 11"/>
          <p:cNvSpPr txBox="1"/>
          <p:nvPr/>
        </p:nvSpPr>
        <p:spPr>
          <a:xfrm>
            <a:off x="8403336" y="2798064"/>
            <a:ext cx="301752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NUMERICAL VERIFICATION</a:t>
            </a:r>
            <a:endParaRPr lang="en-US" sz="1050" dirty="0"/>
          </a:p>
        </p:txBody>
      </p:sp>
      <p:sp>
        <p:nvSpPr>
          <p:cNvPr id="17" name="Text 12"/>
          <p:cNvSpPr txBox="1"/>
          <p:nvPr/>
        </p:nvSpPr>
        <p:spPr>
          <a:xfrm>
            <a:off x="8403336" y="3072384"/>
            <a:ext cx="3017520" cy="2615184"/>
          </a:xfrm>
          <a:prstGeom prst="rect">
            <a:avLst/>
          </a:prstGeom>
          <a:noFill/>
          <a:ln/>
        </p:spPr>
        <p:txBody>
          <a:bodyPr wrap="square" rtlCol="0" anchor="t"/>
          <a:lstStyle/>
          <a:p>
            <a:pPr marL="342900" indent="-342900">
              <a:lnSpc>
                <a:spcPct val="106000"/>
              </a:lnSpc>
              <a:spcAft>
                <a:spcPts val="800"/>
              </a:spcAft>
              <a:buSzPct val="100000"/>
              <a:buChar char="•"/>
            </a:pPr>
            <a:r>
              <a:rPr lang="en-US" sz="1150" dirty="0">
                <a:solidFill>
                  <a:srgbClr val="12203A"/>
                </a:solidFill>
                <a:latin typeface="Calibri" pitchFamily="34" charset="0"/>
                <a:ea typeface="Calibri" pitchFamily="34" charset="-122"/>
                <a:cs typeface="Calibri" pitchFamily="34" charset="-120"/>
              </a:rPr>
              <a:t>Summing s·π_s at ⟨k⟩ = 0.8 returns 5.0000000 — exactly 1/(1 − 0.8). The coefficient formula and the h′(1) calculation agree to machine precision.</a:t>
            </a:r>
            <a:endParaRPr lang="en-US" sz="1150" dirty="0"/>
          </a:p>
          <a:p>
            <a:pPr marL="342900" indent="-342900">
              <a:lnSpc>
                <a:spcPct val="106000"/>
              </a:lnSpc>
              <a:spcAft>
                <a:spcPts val="800"/>
              </a:spcAft>
              <a:buSzPct val="100000"/>
              <a:buChar char="•"/>
            </a:pPr>
            <a:r>
              <a:rPr lang="en-US" sz="1150" dirty="0">
                <a:solidFill>
                  <a:srgbClr val="12203A"/>
                </a:solidFill>
                <a:latin typeface="Calibri" pitchFamily="34" charset="0"/>
                <a:ea typeface="Calibri" pitchFamily="34" charset="-122"/>
                <a:cs typeface="Calibri" pitchFamily="34" charset="-120"/>
              </a:rPr>
              <a:t>Σ π_s = 1.0000000 for ⟨k⟩ &lt; 1: below the threshold every vertex is in some finite component, and the PGF accounts for all of them.</a:t>
            </a:r>
            <a:endParaRPr lang="en-US" sz="1150" dirty="0"/>
          </a:p>
          <a:p>
            <a:pPr marL="342900" indent="-342900">
              <a:lnSpc>
                <a:spcPct val="106000"/>
              </a:lnSpc>
              <a:spcAft>
                <a:spcPts val="800"/>
              </a:spcAft>
              <a:buSzPct val="100000"/>
              <a:buChar char="•"/>
            </a:pPr>
            <a:r>
              <a:rPr lang="en-US" sz="1150" dirty="0">
                <a:solidFill>
                  <a:srgbClr val="12203A"/>
                </a:solidFill>
                <a:latin typeface="Calibri" pitchFamily="34" charset="0"/>
                <a:ea typeface="Calibri" pitchFamily="34" charset="-122"/>
                <a:cs typeface="Calibri" pitchFamily="34" charset="-120"/>
              </a:rPr>
              <a:t>Right panel: theory against a direct component census on a 40,000-node graph at ⟨k⟩ = 0.8, over five decades of probability.</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92608"/>
            <a:ext cx="10789920" cy="219456"/>
          </a:xfrm>
          <a:prstGeom prst="rect">
            <a:avLst/>
          </a:prstGeom>
          <a:noFill/>
          <a:ln/>
        </p:spPr>
        <p:txBody>
          <a:bodyPr wrap="square" lIns="0" tIns="0" rIns="0" bIns="0" rtlCol="0" anchor="ctr"/>
          <a:lstStyle/>
          <a:p>
            <a:pPr marL="0" indent="0">
              <a:buNone/>
            </a:pPr>
            <a:r>
              <a:rPr lang="en-US" sz="1050" b="1" kern="0" spc="160" dirty="0">
                <a:solidFill>
                  <a:srgbClr val="0E6F66"/>
                </a:solidFill>
                <a:latin typeface="Calibri" pitchFamily="34" charset="0"/>
                <a:ea typeface="Calibri" pitchFamily="34" charset="-122"/>
                <a:cs typeface="Calibri" pitchFamily="34" charset="-120"/>
              </a:rPr>
              <a:t>GENERALISATION</a:t>
            </a:r>
            <a:endParaRPr lang="en-US" sz="1050" dirty="0"/>
          </a:p>
        </p:txBody>
      </p:sp>
      <p:sp>
        <p:nvSpPr>
          <p:cNvPr id="3" name="Text 1"/>
          <p:cNvSpPr txBox="1"/>
          <p:nvPr/>
        </p:nvSpPr>
        <p:spPr>
          <a:xfrm>
            <a:off x="566928" y="530352"/>
            <a:ext cx="11064240" cy="548640"/>
          </a:xfrm>
          <a:prstGeom prst="rect">
            <a:avLst/>
          </a:prstGeom>
          <a:noFill/>
          <a:ln/>
        </p:spPr>
        <p:txBody>
          <a:bodyPr wrap="square" lIns="0" tIns="0" rIns="0" bIns="0" rtlCol="0" anchor="ctr"/>
          <a:lstStyle/>
          <a:p>
            <a:pPr marL="0" indent="0">
              <a:buNone/>
            </a:pPr>
            <a:r>
              <a:rPr lang="en-US" sz="2900" b="1" dirty="0">
                <a:solidFill>
                  <a:srgbClr val="0E1B33"/>
                </a:solidFill>
                <a:latin typeface="Cambria" pitchFamily="34" charset="0"/>
                <a:ea typeface="Cambria" pitchFamily="34" charset="-122"/>
                <a:cs typeface="Cambria" pitchFamily="34" charset="-120"/>
              </a:rPr>
              <a:t>The general theory: arbitrary P(k) for the price of one symbol</a:t>
            </a:r>
            <a:endParaRPr lang="en-US" sz="2900" dirty="0"/>
          </a:p>
        </p:txBody>
      </p:sp>
      <p:sp>
        <p:nvSpPr>
          <p:cNvPr id="4" name="Text 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49</a:t>
            </a:r>
            <a:endParaRPr lang="en-US" sz="1050" dirty="0"/>
          </a:p>
        </p:txBody>
      </p:sp>
      <p:sp>
        <p:nvSpPr>
          <p:cNvPr id="5" name="Text 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VII  ·  Generating Functions</a:t>
            </a:r>
            <a:endParaRPr lang="en-US" sz="1000" dirty="0"/>
          </a:p>
        </p:txBody>
      </p:sp>
      <p:sp>
        <p:nvSpPr>
          <p:cNvPr id="6" name="Shape 4"/>
          <p:cNvSpPr/>
          <p:nvPr/>
        </p:nvSpPr>
        <p:spPr>
          <a:xfrm>
            <a:off x="566928" y="1152144"/>
            <a:ext cx="3566160" cy="713232"/>
          </a:xfrm>
          <a:prstGeom prst="roundRect">
            <a:avLst>
              <a:gd name="adj" fmla="val 7692"/>
            </a:avLst>
          </a:prstGeom>
          <a:solidFill>
            <a:srgbClr val="F4F6F9"/>
          </a:solidFill>
          <a:ln w="12700">
            <a:solidFill>
              <a:srgbClr val="333333"/>
            </a:solidFill>
            <a:prstDash val="solid"/>
          </a:ln>
        </p:spPr>
        <p:txBody>
          <a:bodyPr/>
          <a:lstStyle/>
          <a:p>
            <a:endParaRPr lang="en-IN"/>
          </a:p>
        </p:txBody>
      </p:sp>
      <p:sp>
        <p:nvSpPr>
          <p:cNvPr id="7" name="Text 5"/>
          <p:cNvSpPr txBox="1"/>
          <p:nvPr/>
        </p:nvSpPr>
        <p:spPr>
          <a:xfrm>
            <a:off x="749808" y="1225296"/>
            <a:ext cx="32004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ONE BRANCH</a:t>
            </a:r>
            <a:endParaRPr lang="en-US" sz="1050" dirty="0"/>
          </a:p>
        </p:txBody>
      </p:sp>
      <p:pic>
        <p:nvPicPr>
          <p:cNvPr id="8" name="Image 0" descr="/home/claude/eq/pgf_H1.png"/>
          <p:cNvPicPr>
            <a:picLocks noChangeAspect="1"/>
          </p:cNvPicPr>
          <p:nvPr/>
        </p:nvPicPr>
        <p:blipFill>
          <a:blip r:embed="rId3"/>
          <a:stretch>
            <a:fillRect/>
          </a:stretch>
        </p:blipFill>
        <p:spPr>
          <a:xfrm>
            <a:off x="1173390" y="1426464"/>
            <a:ext cx="2353235" cy="384048"/>
          </a:xfrm>
          <a:prstGeom prst="rect">
            <a:avLst/>
          </a:prstGeom>
        </p:spPr>
      </p:pic>
      <p:sp>
        <p:nvSpPr>
          <p:cNvPr id="9" name="Shape 6"/>
          <p:cNvSpPr/>
          <p:nvPr/>
        </p:nvSpPr>
        <p:spPr>
          <a:xfrm>
            <a:off x="4315968" y="1152144"/>
            <a:ext cx="3566160" cy="713232"/>
          </a:xfrm>
          <a:prstGeom prst="roundRect">
            <a:avLst>
              <a:gd name="adj" fmla="val 7692"/>
            </a:avLst>
          </a:prstGeom>
          <a:solidFill>
            <a:srgbClr val="F4F6F9"/>
          </a:solidFill>
          <a:ln w="12700">
            <a:solidFill>
              <a:srgbClr val="333333"/>
            </a:solidFill>
            <a:prstDash val="solid"/>
          </a:ln>
        </p:spPr>
        <p:txBody>
          <a:bodyPr/>
          <a:lstStyle/>
          <a:p>
            <a:endParaRPr lang="en-IN"/>
          </a:p>
        </p:txBody>
      </p:sp>
      <p:sp>
        <p:nvSpPr>
          <p:cNvPr id="10" name="Text 7"/>
          <p:cNvSpPr txBox="1"/>
          <p:nvPr/>
        </p:nvSpPr>
        <p:spPr>
          <a:xfrm>
            <a:off x="4498848" y="1225296"/>
            <a:ext cx="32004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WHOLE COMPONENT</a:t>
            </a:r>
            <a:endParaRPr lang="en-US" sz="1050" dirty="0"/>
          </a:p>
        </p:txBody>
      </p:sp>
      <p:pic>
        <p:nvPicPr>
          <p:cNvPr id="11" name="Image 1" descr="/home/claude/eq/pgf_H0.png"/>
          <p:cNvPicPr>
            <a:picLocks noChangeAspect="1"/>
          </p:cNvPicPr>
          <p:nvPr/>
        </p:nvPicPr>
        <p:blipFill>
          <a:blip r:embed="rId4"/>
          <a:stretch>
            <a:fillRect/>
          </a:stretch>
        </p:blipFill>
        <p:spPr>
          <a:xfrm>
            <a:off x="4922430" y="1426464"/>
            <a:ext cx="2353235" cy="384048"/>
          </a:xfrm>
          <a:prstGeom prst="rect">
            <a:avLst/>
          </a:prstGeom>
        </p:spPr>
      </p:pic>
      <p:sp>
        <p:nvSpPr>
          <p:cNvPr id="12" name="Shape 8"/>
          <p:cNvSpPr/>
          <p:nvPr/>
        </p:nvSpPr>
        <p:spPr>
          <a:xfrm>
            <a:off x="8065008" y="1152144"/>
            <a:ext cx="3566160" cy="713232"/>
          </a:xfrm>
          <a:prstGeom prst="roundRect">
            <a:avLst>
              <a:gd name="adj" fmla="val 7692"/>
            </a:avLst>
          </a:prstGeom>
          <a:solidFill>
            <a:srgbClr val="E4F0EE"/>
          </a:solidFill>
          <a:ln w="15875">
            <a:solidFill>
              <a:srgbClr val="0E6F66"/>
            </a:solidFill>
            <a:prstDash val="solid"/>
          </a:ln>
        </p:spPr>
        <p:txBody>
          <a:bodyPr/>
          <a:lstStyle/>
          <a:p>
            <a:endParaRPr lang="en-IN"/>
          </a:p>
        </p:txBody>
      </p:sp>
      <p:sp>
        <p:nvSpPr>
          <p:cNvPr id="13" name="Text 9"/>
          <p:cNvSpPr txBox="1"/>
          <p:nvPr/>
        </p:nvSpPr>
        <p:spPr>
          <a:xfrm>
            <a:off x="8247888" y="1225296"/>
            <a:ext cx="320040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MEAN COMPONENT SIZE</a:t>
            </a:r>
            <a:endParaRPr lang="en-US" sz="1050" dirty="0"/>
          </a:p>
        </p:txBody>
      </p:sp>
      <p:pic>
        <p:nvPicPr>
          <p:cNvPr id="14" name="Image 2" descr="/home/claude/eq/pgf_mean_gen.png"/>
          <p:cNvPicPr>
            <a:picLocks noChangeAspect="1"/>
          </p:cNvPicPr>
          <p:nvPr/>
        </p:nvPicPr>
        <p:blipFill>
          <a:blip r:embed="rId5"/>
          <a:stretch>
            <a:fillRect/>
          </a:stretch>
        </p:blipFill>
        <p:spPr>
          <a:xfrm>
            <a:off x="8860886" y="1408176"/>
            <a:ext cx="1974404" cy="420624"/>
          </a:xfrm>
          <a:prstGeom prst="rect">
            <a:avLst/>
          </a:prstGeom>
        </p:spPr>
      </p:pic>
      <p:pic>
        <p:nvPicPr>
          <p:cNvPr id="15" name="Image 3" descr="/home/claude/figs/18_pgf_g0g1.png"/>
          <p:cNvPicPr>
            <a:picLocks noChangeAspect="1"/>
          </p:cNvPicPr>
          <p:nvPr/>
        </p:nvPicPr>
        <p:blipFill>
          <a:blip r:embed="rId6"/>
          <a:stretch>
            <a:fillRect/>
          </a:stretch>
        </p:blipFill>
        <p:spPr>
          <a:xfrm>
            <a:off x="566928" y="1993392"/>
            <a:ext cx="6791977" cy="3017520"/>
          </a:xfrm>
          <a:prstGeom prst="rect">
            <a:avLst/>
          </a:prstGeom>
        </p:spPr>
      </p:pic>
      <p:sp>
        <p:nvSpPr>
          <p:cNvPr id="16" name="Shape 10"/>
          <p:cNvSpPr/>
          <p:nvPr/>
        </p:nvSpPr>
        <p:spPr>
          <a:xfrm>
            <a:off x="566928" y="5120640"/>
            <a:ext cx="6858000" cy="658368"/>
          </a:xfrm>
          <a:prstGeom prst="roundRect">
            <a:avLst>
              <a:gd name="adj" fmla="val 8333"/>
            </a:avLst>
          </a:prstGeom>
          <a:solidFill>
            <a:srgbClr val="F4F6F9"/>
          </a:solidFill>
          <a:ln w="12700">
            <a:solidFill>
              <a:srgbClr val="333333"/>
            </a:solidFill>
            <a:prstDash val="solid"/>
          </a:ln>
        </p:spPr>
        <p:txBody>
          <a:bodyPr/>
          <a:lstStyle/>
          <a:p>
            <a:endParaRPr lang="en-IN"/>
          </a:p>
        </p:txBody>
      </p:sp>
      <p:pic>
        <p:nvPicPr>
          <p:cNvPr id="17" name="Image 4" descr="/home/claude/eq/pgf_recap.png"/>
          <p:cNvPicPr>
            <a:picLocks noChangeAspect="1"/>
          </p:cNvPicPr>
          <p:nvPr/>
        </p:nvPicPr>
        <p:blipFill>
          <a:blip r:embed="rId7"/>
          <a:stretch>
            <a:fillRect/>
          </a:stretch>
        </p:blipFill>
        <p:spPr>
          <a:xfrm>
            <a:off x="1203795" y="5175504"/>
            <a:ext cx="5584266" cy="548640"/>
          </a:xfrm>
          <a:prstGeom prst="rect">
            <a:avLst/>
          </a:prstGeom>
        </p:spPr>
      </p:pic>
      <p:sp>
        <p:nvSpPr>
          <p:cNvPr id="18" name="Shape 11"/>
          <p:cNvSpPr/>
          <p:nvPr/>
        </p:nvSpPr>
        <p:spPr>
          <a:xfrm>
            <a:off x="7717536" y="1993392"/>
            <a:ext cx="3913632" cy="969264"/>
          </a:xfrm>
          <a:prstGeom prst="roundRect">
            <a:avLst>
              <a:gd name="adj" fmla="val 5660"/>
            </a:avLst>
          </a:prstGeom>
          <a:solidFill>
            <a:srgbClr val="FBEBE8"/>
          </a:solidFill>
          <a:ln w="15875">
            <a:solidFill>
              <a:srgbClr val="C0392B"/>
            </a:solidFill>
            <a:prstDash val="solid"/>
          </a:ln>
        </p:spPr>
        <p:txBody>
          <a:bodyPr/>
          <a:lstStyle/>
          <a:p>
            <a:endParaRPr lang="en-IN"/>
          </a:p>
        </p:txBody>
      </p:sp>
      <p:sp>
        <p:nvSpPr>
          <p:cNvPr id="19" name="Text 12"/>
          <p:cNvSpPr txBox="1"/>
          <p:nvPr/>
        </p:nvSpPr>
        <p:spPr>
          <a:xfrm>
            <a:off x="7918704" y="2084832"/>
            <a:ext cx="3520440" cy="237744"/>
          </a:xfrm>
          <a:prstGeom prst="rect">
            <a:avLst/>
          </a:prstGeom>
          <a:noFill/>
          <a:ln/>
        </p:spPr>
        <p:txBody>
          <a:bodyPr wrap="square" lIns="0" tIns="0" rIns="0" bIns="0" rtlCol="0" anchor="ctr"/>
          <a:lstStyle/>
          <a:p>
            <a:pPr marL="0" indent="0">
              <a:buNone/>
            </a:pPr>
            <a:r>
              <a:rPr lang="en-US" sz="1050" b="1" kern="0" spc="140" dirty="0">
                <a:solidFill>
                  <a:srgbClr val="C0392B"/>
                </a:solidFill>
                <a:latin typeface="Calibri" pitchFamily="34" charset="0"/>
                <a:ea typeface="Calibri" pitchFamily="34" charset="-122"/>
                <a:cs typeface="Calibri" pitchFamily="34" charset="-120"/>
              </a:rPr>
              <a:t>THRESHOLD IN PGF FORM</a:t>
            </a:r>
            <a:endParaRPr lang="en-US" sz="1050" dirty="0"/>
          </a:p>
        </p:txBody>
      </p:sp>
      <p:pic>
        <p:nvPicPr>
          <p:cNvPr id="20" name="Image 5" descr="/home/claude/eq/pgf_mr.png"/>
          <p:cNvPicPr>
            <a:picLocks noChangeAspect="1"/>
          </p:cNvPicPr>
          <p:nvPr/>
        </p:nvPicPr>
        <p:blipFill>
          <a:blip r:embed="rId8"/>
          <a:stretch>
            <a:fillRect/>
          </a:stretch>
        </p:blipFill>
        <p:spPr>
          <a:xfrm>
            <a:off x="8030792" y="2304288"/>
            <a:ext cx="3296265" cy="457200"/>
          </a:xfrm>
          <a:prstGeom prst="rect">
            <a:avLst/>
          </a:prstGeom>
        </p:spPr>
      </p:pic>
      <p:sp>
        <p:nvSpPr>
          <p:cNvPr id="21" name="Shape 13"/>
          <p:cNvSpPr/>
          <p:nvPr/>
        </p:nvSpPr>
        <p:spPr>
          <a:xfrm>
            <a:off x="7717536" y="3090672"/>
            <a:ext cx="3913632" cy="969264"/>
          </a:xfrm>
          <a:prstGeom prst="roundRect">
            <a:avLst>
              <a:gd name="adj" fmla="val 5660"/>
            </a:avLst>
          </a:prstGeom>
          <a:solidFill>
            <a:srgbClr val="F4F6F9"/>
          </a:solidFill>
          <a:ln w="12700">
            <a:solidFill>
              <a:srgbClr val="333333"/>
            </a:solidFill>
            <a:prstDash val="solid"/>
          </a:ln>
        </p:spPr>
        <p:txBody>
          <a:bodyPr/>
          <a:lstStyle/>
          <a:p>
            <a:endParaRPr lang="en-IN"/>
          </a:p>
        </p:txBody>
      </p:sp>
      <p:sp>
        <p:nvSpPr>
          <p:cNvPr id="22" name="Text 14"/>
          <p:cNvSpPr txBox="1"/>
          <p:nvPr/>
        </p:nvSpPr>
        <p:spPr>
          <a:xfrm>
            <a:off x="7918704" y="3182112"/>
            <a:ext cx="3520440" cy="237744"/>
          </a:xfrm>
          <a:prstGeom prst="rect">
            <a:avLst/>
          </a:prstGeom>
          <a:noFill/>
          <a:ln/>
        </p:spPr>
        <p:txBody>
          <a:bodyPr wrap="square" lIns="0" tIns="0" rIns="0" bIns="0" rtlCol="0" anchor="ctr"/>
          <a:lstStyle/>
          <a:p>
            <a:pPr marL="0" indent="0">
              <a:buNone/>
            </a:pPr>
            <a:r>
              <a:rPr lang="en-US" sz="1050" b="1" kern="0" spc="140" dirty="0">
                <a:solidFill>
                  <a:srgbClr val="0E6F66"/>
                </a:solidFill>
                <a:latin typeface="Calibri" pitchFamily="34" charset="0"/>
                <a:ea typeface="Calibri" pitchFamily="34" charset="-122"/>
                <a:cs typeface="Calibri" pitchFamily="34" charset="-120"/>
              </a:rPr>
              <a:t>GIANT COMPONENT, GENERAL P(K)</a:t>
            </a:r>
            <a:endParaRPr lang="en-US" sz="1050" dirty="0"/>
          </a:p>
        </p:txBody>
      </p:sp>
      <p:pic>
        <p:nvPicPr>
          <p:cNvPr id="23" name="Image 6" descr="/home/claude/eq/pgf_giant.png"/>
          <p:cNvPicPr>
            <a:picLocks noChangeAspect="1"/>
          </p:cNvPicPr>
          <p:nvPr/>
        </p:nvPicPr>
        <p:blipFill>
          <a:blip r:embed="rId9"/>
          <a:stretch>
            <a:fillRect/>
          </a:stretch>
        </p:blipFill>
        <p:spPr>
          <a:xfrm>
            <a:off x="7918704" y="3401568"/>
            <a:ext cx="3520440" cy="352846"/>
          </a:xfrm>
          <a:prstGeom prst="rect">
            <a:avLst/>
          </a:prstGeom>
        </p:spPr>
      </p:pic>
      <p:sp>
        <p:nvSpPr>
          <p:cNvPr id="24" name="Shape 15"/>
          <p:cNvSpPr/>
          <p:nvPr/>
        </p:nvSpPr>
        <p:spPr>
          <a:xfrm>
            <a:off x="7717536" y="4187952"/>
            <a:ext cx="3913632" cy="1591056"/>
          </a:xfrm>
          <a:prstGeom prst="roundRect">
            <a:avLst>
              <a:gd name="adj" fmla="val 3448"/>
            </a:avLst>
          </a:prstGeom>
          <a:solidFill>
            <a:srgbClr val="F4F6F9"/>
          </a:solidFill>
          <a:ln w="12700">
            <a:solidFill>
              <a:srgbClr val="333333"/>
            </a:solidFill>
            <a:prstDash val="solid"/>
          </a:ln>
        </p:spPr>
        <p:txBody>
          <a:bodyPr/>
          <a:lstStyle/>
          <a:p>
            <a:endParaRPr lang="en-IN"/>
          </a:p>
        </p:txBody>
      </p:sp>
      <p:sp>
        <p:nvSpPr>
          <p:cNvPr id="25" name="Text 16"/>
          <p:cNvSpPr txBox="1"/>
          <p:nvPr/>
        </p:nvSpPr>
        <p:spPr>
          <a:xfrm>
            <a:off x="7918704" y="4279392"/>
            <a:ext cx="3520440" cy="237744"/>
          </a:xfrm>
          <a:prstGeom prst="rect">
            <a:avLst/>
          </a:prstGeom>
          <a:noFill/>
          <a:ln/>
        </p:spPr>
        <p:txBody>
          <a:bodyPr wrap="square" lIns="0" tIns="0" rIns="0" bIns="0" rtlCol="0" anchor="ctr"/>
          <a:lstStyle/>
          <a:p>
            <a:pPr marL="0" indent="0">
              <a:buNone/>
            </a:pPr>
            <a:r>
              <a:rPr lang="en-US" sz="1250" b="1" dirty="0">
                <a:solidFill>
                  <a:srgbClr val="0E1B33"/>
                </a:solidFill>
                <a:latin typeface="Calibri" pitchFamily="34" charset="0"/>
                <a:ea typeface="Calibri" pitchFamily="34" charset="-122"/>
                <a:cs typeface="Calibri" pitchFamily="34" charset="-120"/>
              </a:rPr>
              <a:t>Everything recovered at once</a:t>
            </a:r>
            <a:endParaRPr lang="en-US" sz="1250" dirty="0"/>
          </a:p>
        </p:txBody>
      </p:sp>
      <p:sp>
        <p:nvSpPr>
          <p:cNvPr id="26" name="Text 17"/>
          <p:cNvSpPr txBox="1"/>
          <p:nvPr/>
        </p:nvSpPr>
        <p:spPr>
          <a:xfrm>
            <a:off x="7918704" y="4553712"/>
            <a:ext cx="3520440" cy="1152144"/>
          </a:xfrm>
          <a:prstGeom prst="rect">
            <a:avLst/>
          </a:prstGeom>
          <a:noFill/>
          <a:ln/>
        </p:spPr>
        <p:txBody>
          <a:bodyPr wrap="square" rtlCol="0" anchor="t"/>
          <a:lstStyle/>
          <a:p>
            <a:pPr marL="342900" indent="-342900">
              <a:lnSpc>
                <a:spcPct val="106000"/>
              </a:lnSpc>
              <a:spcAft>
                <a:spcPts val="500"/>
              </a:spcAft>
              <a:buSzPct val="100000"/>
              <a:buChar char="•"/>
            </a:pPr>
            <a:r>
              <a:rPr lang="en-US" sz="1050" dirty="0">
                <a:solidFill>
                  <a:srgbClr val="12203A"/>
                </a:solidFill>
                <a:latin typeface="Calibri" pitchFamily="34" charset="0"/>
                <a:ea typeface="Calibri" pitchFamily="34" charset="-122"/>
                <a:cs typeface="Calibri" pitchFamily="34" charset="-120"/>
              </a:rPr>
              <a:t>g₁′(1) = 1 is the Molloy–Reed criterion of Slide 40.</a:t>
            </a:r>
            <a:endParaRPr lang="en-US" sz="1050" dirty="0"/>
          </a:p>
          <a:p>
            <a:pPr marL="342900" indent="-342900">
              <a:lnSpc>
                <a:spcPct val="106000"/>
              </a:lnSpc>
              <a:spcAft>
                <a:spcPts val="500"/>
              </a:spcAft>
              <a:buSzPct val="100000"/>
              <a:buChar char="•"/>
            </a:pPr>
            <a:r>
              <a:rPr lang="en-US" sz="1050" dirty="0">
                <a:solidFill>
                  <a:srgbClr val="12203A"/>
                </a:solidFill>
                <a:latin typeface="Calibri" pitchFamily="34" charset="0"/>
                <a:ea typeface="Calibri" pitchFamily="34" charset="-122"/>
                <a:cs typeface="Calibri" pitchFamily="34" charset="-120"/>
              </a:rPr>
              <a:t>Substituting g₀ = g₁ = e^(⟨k⟩(z−1)) returns S = 1 − e^(−⟨k⟩S) and ⟨s⟩ = 1/(1 − ⟨k⟩).</a:t>
            </a:r>
            <a:endParaRPr lang="en-US" sz="1050" dirty="0"/>
          </a:p>
          <a:p>
            <a:pPr marL="342900" indent="-342900">
              <a:lnSpc>
                <a:spcPct val="106000"/>
              </a:lnSpc>
              <a:spcAft>
                <a:spcPts val="500"/>
              </a:spcAft>
              <a:buSzPct val="100000"/>
              <a:buChar char="•"/>
            </a:pPr>
            <a:r>
              <a:rPr lang="en-US" sz="1050" dirty="0">
                <a:solidFill>
                  <a:srgbClr val="12203A"/>
                </a:solidFill>
                <a:latin typeface="Calibri" pitchFamily="34" charset="0"/>
                <a:ea typeface="Calibri" pitchFamily="34" charset="-122"/>
                <a:cs typeface="Calibri" pitchFamily="34" charset="-120"/>
              </a:rPr>
              <a:t>For a power law with γ &lt; 3, g₁′(1) → ∞ and a giant component exists at any density.</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50">
    <p:bg>
      <p:bgPr>
        <a:solidFill>
          <a:srgbClr val="0E1B33"/>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7315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Summary of results</a:t>
            </a:r>
            <a:endParaRPr lang="en-US" sz="3000" dirty="0"/>
          </a:p>
        </p:txBody>
      </p:sp>
      <p:pic>
        <p:nvPicPr>
          <p:cNvPr id="3" name="Image 0" descr="/home/claude/eq/w_close.png"/>
          <p:cNvPicPr>
            <a:picLocks noChangeAspect="1"/>
          </p:cNvPicPr>
          <p:nvPr/>
        </p:nvPicPr>
        <p:blipFill>
          <a:blip r:embed="rId3"/>
          <a:stretch>
            <a:fillRect/>
          </a:stretch>
        </p:blipFill>
        <p:spPr>
          <a:xfrm>
            <a:off x="7415784" y="402336"/>
            <a:ext cx="4215384" cy="566928"/>
          </a:xfrm>
          <a:prstGeom prst="rect">
            <a:avLst/>
          </a:prstGeom>
        </p:spPr>
      </p:pic>
      <p:sp>
        <p:nvSpPr>
          <p:cNvPr id="4" name="Shape 1"/>
          <p:cNvSpPr/>
          <p:nvPr/>
        </p:nvSpPr>
        <p:spPr>
          <a:xfrm>
            <a:off x="566928" y="1097280"/>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5" name="Text 2"/>
          <p:cNvSpPr txBox="1"/>
          <p:nvPr/>
        </p:nvSpPr>
        <p:spPr>
          <a:xfrm>
            <a:off x="694944" y="1170432"/>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Degree distribution</a:t>
            </a:r>
            <a:endParaRPr lang="en-US" sz="950" dirty="0"/>
          </a:p>
        </p:txBody>
      </p:sp>
      <p:sp>
        <p:nvSpPr>
          <p:cNvPr id="6" name="Text 3"/>
          <p:cNvSpPr txBox="1"/>
          <p:nvPr/>
        </p:nvSpPr>
        <p:spPr>
          <a:xfrm>
            <a:off x="2647188" y="1170432"/>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§I</a:t>
            </a:r>
            <a:endParaRPr lang="en-US" sz="900" dirty="0"/>
          </a:p>
        </p:txBody>
      </p:sp>
      <p:pic>
        <p:nvPicPr>
          <p:cNvPr id="7" name="Image 1" descr="/home/claude/eq/w_pois_box.png"/>
          <p:cNvPicPr>
            <a:picLocks noChangeAspect="1"/>
          </p:cNvPicPr>
          <p:nvPr/>
        </p:nvPicPr>
        <p:blipFill>
          <a:blip r:embed="rId4"/>
          <a:stretch>
            <a:fillRect/>
          </a:stretch>
        </p:blipFill>
        <p:spPr>
          <a:xfrm>
            <a:off x="1363753" y="1444752"/>
            <a:ext cx="1035251" cy="402336"/>
          </a:xfrm>
          <a:prstGeom prst="rect">
            <a:avLst/>
          </a:prstGeom>
        </p:spPr>
      </p:pic>
      <p:sp>
        <p:nvSpPr>
          <p:cNvPr id="8" name="Shape 4"/>
          <p:cNvSpPr/>
          <p:nvPr/>
        </p:nvSpPr>
        <p:spPr>
          <a:xfrm>
            <a:off x="3378708" y="1097280"/>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9" name="Text 5"/>
          <p:cNvSpPr txBox="1"/>
          <p:nvPr/>
        </p:nvSpPr>
        <p:spPr>
          <a:xfrm>
            <a:off x="3506724" y="1170432"/>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Connectivity window</a:t>
            </a:r>
            <a:endParaRPr lang="en-US" sz="950" dirty="0"/>
          </a:p>
        </p:txBody>
      </p:sp>
      <p:sp>
        <p:nvSpPr>
          <p:cNvPr id="10" name="Text 6"/>
          <p:cNvSpPr txBox="1"/>
          <p:nvPr/>
        </p:nvSpPr>
        <p:spPr>
          <a:xfrm>
            <a:off x="5458968" y="1170432"/>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§II</a:t>
            </a:r>
            <a:endParaRPr lang="en-US" sz="900" dirty="0"/>
          </a:p>
        </p:txBody>
      </p:sp>
      <p:pic>
        <p:nvPicPr>
          <p:cNvPr id="11" name="Image 2" descr="/home/claude/eq/w_conn_box.png"/>
          <p:cNvPicPr>
            <a:picLocks noChangeAspect="1"/>
          </p:cNvPicPr>
          <p:nvPr/>
        </p:nvPicPr>
        <p:blipFill>
          <a:blip r:embed="rId5"/>
          <a:stretch>
            <a:fillRect/>
          </a:stretch>
        </p:blipFill>
        <p:spPr>
          <a:xfrm>
            <a:off x="3933453" y="1444752"/>
            <a:ext cx="1519410" cy="402336"/>
          </a:xfrm>
          <a:prstGeom prst="rect">
            <a:avLst/>
          </a:prstGeom>
        </p:spPr>
      </p:pic>
      <p:sp>
        <p:nvSpPr>
          <p:cNvPr id="12" name="Shape 7"/>
          <p:cNvSpPr/>
          <p:nvPr/>
        </p:nvSpPr>
        <p:spPr>
          <a:xfrm>
            <a:off x="6190488" y="1097280"/>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13" name="Text 8"/>
          <p:cNvSpPr txBox="1"/>
          <p:nvPr/>
        </p:nvSpPr>
        <p:spPr>
          <a:xfrm>
            <a:off x="6318504" y="1170432"/>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Giant component</a:t>
            </a:r>
            <a:endParaRPr lang="en-US" sz="950" dirty="0"/>
          </a:p>
        </p:txBody>
      </p:sp>
      <p:sp>
        <p:nvSpPr>
          <p:cNvPr id="14" name="Text 9"/>
          <p:cNvSpPr txBox="1"/>
          <p:nvPr/>
        </p:nvSpPr>
        <p:spPr>
          <a:xfrm>
            <a:off x="8270748" y="1170432"/>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§III</a:t>
            </a:r>
            <a:endParaRPr lang="en-US" sz="900" dirty="0"/>
          </a:p>
        </p:txBody>
      </p:sp>
      <p:pic>
        <p:nvPicPr>
          <p:cNvPr id="15" name="Image 3" descr="/home/claude/eq/w_giant_box.png"/>
          <p:cNvPicPr>
            <a:picLocks noChangeAspect="1"/>
          </p:cNvPicPr>
          <p:nvPr/>
        </p:nvPicPr>
        <p:blipFill>
          <a:blip r:embed="rId6"/>
          <a:stretch>
            <a:fillRect/>
          </a:stretch>
        </p:blipFill>
        <p:spPr>
          <a:xfrm>
            <a:off x="6473663" y="1444752"/>
            <a:ext cx="2062550" cy="402336"/>
          </a:xfrm>
          <a:prstGeom prst="rect">
            <a:avLst/>
          </a:prstGeom>
        </p:spPr>
      </p:pic>
      <p:sp>
        <p:nvSpPr>
          <p:cNvPr id="16" name="Shape 10"/>
          <p:cNvSpPr/>
          <p:nvPr/>
        </p:nvSpPr>
        <p:spPr>
          <a:xfrm>
            <a:off x="9002268" y="1097280"/>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17" name="Text 11"/>
          <p:cNvSpPr txBox="1"/>
          <p:nvPr/>
        </p:nvSpPr>
        <p:spPr>
          <a:xfrm>
            <a:off x="9130284" y="1170432"/>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Critical mean degree</a:t>
            </a:r>
            <a:endParaRPr lang="en-US" sz="950" dirty="0"/>
          </a:p>
        </p:txBody>
      </p:sp>
      <p:sp>
        <p:nvSpPr>
          <p:cNvPr id="18" name="Text 12"/>
          <p:cNvSpPr txBox="1"/>
          <p:nvPr/>
        </p:nvSpPr>
        <p:spPr>
          <a:xfrm>
            <a:off x="11082528" y="1170432"/>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§III</a:t>
            </a:r>
            <a:endParaRPr lang="en-US" sz="900" dirty="0"/>
          </a:p>
        </p:txBody>
      </p:sp>
      <p:pic>
        <p:nvPicPr>
          <p:cNvPr id="19" name="Image 4" descr="/home/claude/eq/w_kc_box.png"/>
          <p:cNvPicPr>
            <a:picLocks noChangeAspect="1"/>
          </p:cNvPicPr>
          <p:nvPr/>
        </p:nvPicPr>
        <p:blipFill>
          <a:blip r:embed="rId7"/>
          <a:stretch>
            <a:fillRect/>
          </a:stretch>
        </p:blipFill>
        <p:spPr>
          <a:xfrm>
            <a:off x="9722358" y="1444752"/>
            <a:ext cx="1188720" cy="402336"/>
          </a:xfrm>
          <a:prstGeom prst="rect">
            <a:avLst/>
          </a:prstGeom>
        </p:spPr>
      </p:pic>
      <p:sp>
        <p:nvSpPr>
          <p:cNvPr id="20" name="Shape 13"/>
          <p:cNvSpPr/>
          <p:nvPr/>
        </p:nvSpPr>
        <p:spPr>
          <a:xfrm>
            <a:off x="566928" y="2139696"/>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21" name="Text 14"/>
          <p:cNvSpPr txBox="1"/>
          <p:nvPr/>
        </p:nvSpPr>
        <p:spPr>
          <a:xfrm>
            <a:off x="694944" y="2212848"/>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Susceptibility</a:t>
            </a:r>
            <a:endParaRPr lang="en-US" sz="950" dirty="0"/>
          </a:p>
        </p:txBody>
      </p:sp>
      <p:sp>
        <p:nvSpPr>
          <p:cNvPr id="22" name="Text 15"/>
          <p:cNvSpPr txBox="1"/>
          <p:nvPr/>
        </p:nvSpPr>
        <p:spPr>
          <a:xfrm>
            <a:off x="2647188" y="2212848"/>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§III</a:t>
            </a:r>
            <a:endParaRPr lang="en-US" sz="900" dirty="0"/>
          </a:p>
        </p:txBody>
      </p:sp>
      <p:pic>
        <p:nvPicPr>
          <p:cNvPr id="23" name="Image 5" descr="/home/claude/eq/w_mean_box.png"/>
          <p:cNvPicPr>
            <a:picLocks noChangeAspect="1"/>
          </p:cNvPicPr>
          <p:nvPr/>
        </p:nvPicPr>
        <p:blipFill>
          <a:blip r:embed="rId8"/>
          <a:stretch>
            <a:fillRect/>
          </a:stretch>
        </p:blipFill>
        <p:spPr>
          <a:xfrm>
            <a:off x="1396276" y="2487168"/>
            <a:ext cx="970205" cy="402336"/>
          </a:xfrm>
          <a:prstGeom prst="rect">
            <a:avLst/>
          </a:prstGeom>
        </p:spPr>
      </p:pic>
      <p:sp>
        <p:nvSpPr>
          <p:cNvPr id="24" name="Shape 16"/>
          <p:cNvSpPr/>
          <p:nvPr/>
        </p:nvSpPr>
        <p:spPr>
          <a:xfrm>
            <a:off x="3378708" y="2139696"/>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25" name="Text 17"/>
          <p:cNvSpPr txBox="1"/>
          <p:nvPr/>
        </p:nvSpPr>
        <p:spPr>
          <a:xfrm>
            <a:off x="3506724" y="2212848"/>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Small-world property</a:t>
            </a:r>
            <a:endParaRPr lang="en-US" sz="950" dirty="0"/>
          </a:p>
        </p:txBody>
      </p:sp>
      <p:sp>
        <p:nvSpPr>
          <p:cNvPr id="26" name="Text 18"/>
          <p:cNvSpPr txBox="1"/>
          <p:nvPr/>
        </p:nvSpPr>
        <p:spPr>
          <a:xfrm>
            <a:off x="5458968" y="2212848"/>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§IV</a:t>
            </a:r>
            <a:endParaRPr lang="en-US" sz="900" dirty="0"/>
          </a:p>
        </p:txBody>
      </p:sp>
      <p:pic>
        <p:nvPicPr>
          <p:cNvPr id="27" name="Image 6" descr="/home/claude/eq/w_path_box.png"/>
          <p:cNvPicPr>
            <a:picLocks noChangeAspect="1"/>
          </p:cNvPicPr>
          <p:nvPr/>
        </p:nvPicPr>
        <p:blipFill>
          <a:blip r:embed="rId9"/>
          <a:stretch>
            <a:fillRect/>
          </a:stretch>
        </p:blipFill>
        <p:spPr>
          <a:xfrm>
            <a:off x="4291946" y="2487168"/>
            <a:ext cx="802424" cy="402336"/>
          </a:xfrm>
          <a:prstGeom prst="rect">
            <a:avLst/>
          </a:prstGeom>
        </p:spPr>
      </p:pic>
      <p:sp>
        <p:nvSpPr>
          <p:cNvPr id="28" name="Shape 19"/>
          <p:cNvSpPr/>
          <p:nvPr/>
        </p:nvSpPr>
        <p:spPr>
          <a:xfrm>
            <a:off x="6190488" y="2139696"/>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29" name="Text 20"/>
          <p:cNvSpPr txBox="1"/>
          <p:nvPr/>
        </p:nvSpPr>
        <p:spPr>
          <a:xfrm>
            <a:off x="6318504" y="2212848"/>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Friendship paradox</a:t>
            </a:r>
            <a:endParaRPr lang="en-US" sz="950" dirty="0"/>
          </a:p>
        </p:txBody>
      </p:sp>
      <p:sp>
        <p:nvSpPr>
          <p:cNvPr id="30" name="Text 21"/>
          <p:cNvSpPr txBox="1"/>
          <p:nvPr/>
        </p:nvSpPr>
        <p:spPr>
          <a:xfrm>
            <a:off x="8270748" y="2212848"/>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§IV</a:t>
            </a:r>
            <a:endParaRPr lang="en-US" sz="900" dirty="0"/>
          </a:p>
        </p:txBody>
      </p:sp>
      <p:pic>
        <p:nvPicPr>
          <p:cNvPr id="31" name="Image 7" descr="/home/claude/eq/w_annd_box.png"/>
          <p:cNvPicPr>
            <a:picLocks noChangeAspect="1"/>
          </p:cNvPicPr>
          <p:nvPr/>
        </p:nvPicPr>
        <p:blipFill>
          <a:blip r:embed="rId10"/>
          <a:stretch>
            <a:fillRect/>
          </a:stretch>
        </p:blipFill>
        <p:spPr>
          <a:xfrm>
            <a:off x="6423660" y="2487168"/>
            <a:ext cx="2162556" cy="402336"/>
          </a:xfrm>
          <a:prstGeom prst="rect">
            <a:avLst/>
          </a:prstGeom>
        </p:spPr>
      </p:pic>
      <p:sp>
        <p:nvSpPr>
          <p:cNvPr id="32" name="Shape 22"/>
          <p:cNvSpPr/>
          <p:nvPr/>
        </p:nvSpPr>
        <p:spPr>
          <a:xfrm>
            <a:off x="9002268" y="2139696"/>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33" name="Text 23"/>
          <p:cNvSpPr txBox="1"/>
          <p:nvPr/>
        </p:nvSpPr>
        <p:spPr>
          <a:xfrm>
            <a:off x="9130284" y="2212848"/>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Clustering (vanishes)</a:t>
            </a:r>
            <a:endParaRPr lang="en-US" sz="950" dirty="0"/>
          </a:p>
        </p:txBody>
      </p:sp>
      <p:sp>
        <p:nvSpPr>
          <p:cNvPr id="34" name="Text 24"/>
          <p:cNvSpPr txBox="1"/>
          <p:nvPr/>
        </p:nvSpPr>
        <p:spPr>
          <a:xfrm>
            <a:off x="11082528" y="2212848"/>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§IV</a:t>
            </a:r>
            <a:endParaRPr lang="en-US" sz="900" dirty="0"/>
          </a:p>
        </p:txBody>
      </p:sp>
      <p:pic>
        <p:nvPicPr>
          <p:cNvPr id="35" name="Image 8" descr="/home/claude/eq/w_trans_box.png"/>
          <p:cNvPicPr>
            <a:picLocks noChangeAspect="1"/>
          </p:cNvPicPr>
          <p:nvPr/>
        </p:nvPicPr>
        <p:blipFill>
          <a:blip r:embed="rId11"/>
          <a:stretch>
            <a:fillRect/>
          </a:stretch>
        </p:blipFill>
        <p:spPr>
          <a:xfrm>
            <a:off x="9550471" y="2487168"/>
            <a:ext cx="1532493" cy="402336"/>
          </a:xfrm>
          <a:prstGeom prst="rect">
            <a:avLst/>
          </a:prstGeom>
        </p:spPr>
      </p:pic>
      <p:sp>
        <p:nvSpPr>
          <p:cNvPr id="36" name="Shape 25"/>
          <p:cNvSpPr/>
          <p:nvPr/>
        </p:nvSpPr>
        <p:spPr>
          <a:xfrm>
            <a:off x="566928" y="3182112"/>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37" name="Text 26"/>
          <p:cNvSpPr txBox="1"/>
          <p:nvPr/>
        </p:nvSpPr>
        <p:spPr>
          <a:xfrm>
            <a:off x="694944" y="3255264"/>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Molloy–Reed</a:t>
            </a:r>
            <a:endParaRPr lang="en-US" sz="950" dirty="0"/>
          </a:p>
        </p:txBody>
      </p:sp>
      <p:sp>
        <p:nvSpPr>
          <p:cNvPr id="38" name="Text 27"/>
          <p:cNvSpPr txBox="1"/>
          <p:nvPr/>
        </p:nvSpPr>
        <p:spPr>
          <a:xfrm>
            <a:off x="2647188" y="3255264"/>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§VI</a:t>
            </a:r>
            <a:endParaRPr lang="en-US" sz="900" dirty="0"/>
          </a:p>
        </p:txBody>
      </p:sp>
      <p:pic>
        <p:nvPicPr>
          <p:cNvPr id="39" name="Image 9" descr="/home/claude/eq/w_mr_box.png"/>
          <p:cNvPicPr>
            <a:picLocks noChangeAspect="1"/>
          </p:cNvPicPr>
          <p:nvPr/>
        </p:nvPicPr>
        <p:blipFill>
          <a:blip r:embed="rId12"/>
          <a:stretch>
            <a:fillRect/>
          </a:stretch>
        </p:blipFill>
        <p:spPr>
          <a:xfrm>
            <a:off x="1580708" y="3529584"/>
            <a:ext cx="601341" cy="402336"/>
          </a:xfrm>
          <a:prstGeom prst="rect">
            <a:avLst/>
          </a:prstGeom>
        </p:spPr>
      </p:pic>
      <p:sp>
        <p:nvSpPr>
          <p:cNvPr id="40" name="Shape 28"/>
          <p:cNvSpPr/>
          <p:nvPr/>
        </p:nvSpPr>
        <p:spPr>
          <a:xfrm>
            <a:off x="3378708" y="3182112"/>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41" name="Text 29"/>
          <p:cNvSpPr txBox="1"/>
          <p:nvPr/>
        </p:nvSpPr>
        <p:spPr>
          <a:xfrm>
            <a:off x="3506724" y="3255264"/>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Central functional equation</a:t>
            </a:r>
            <a:endParaRPr lang="en-US" sz="950" dirty="0"/>
          </a:p>
        </p:txBody>
      </p:sp>
      <p:sp>
        <p:nvSpPr>
          <p:cNvPr id="42" name="Text 30"/>
          <p:cNvSpPr txBox="1"/>
          <p:nvPr/>
        </p:nvSpPr>
        <p:spPr>
          <a:xfrm>
            <a:off x="5458968" y="3255264"/>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§VII</a:t>
            </a:r>
            <a:endParaRPr lang="en-US" sz="900" dirty="0"/>
          </a:p>
        </p:txBody>
      </p:sp>
      <p:pic>
        <p:nvPicPr>
          <p:cNvPr id="43" name="Image 10" descr="/home/claude/eq/w_pgf_box.png"/>
          <p:cNvPicPr>
            <a:picLocks noChangeAspect="1"/>
          </p:cNvPicPr>
          <p:nvPr/>
        </p:nvPicPr>
        <p:blipFill>
          <a:blip r:embed="rId13"/>
          <a:stretch>
            <a:fillRect/>
          </a:stretch>
        </p:blipFill>
        <p:spPr>
          <a:xfrm>
            <a:off x="3543046" y="3529584"/>
            <a:ext cx="2300224" cy="402336"/>
          </a:xfrm>
          <a:prstGeom prst="rect">
            <a:avLst/>
          </a:prstGeom>
        </p:spPr>
      </p:pic>
      <p:sp>
        <p:nvSpPr>
          <p:cNvPr id="44" name="Shape 31"/>
          <p:cNvSpPr/>
          <p:nvPr/>
        </p:nvSpPr>
        <p:spPr>
          <a:xfrm>
            <a:off x="6190488" y="3182112"/>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45" name="Text 32"/>
          <p:cNvSpPr txBox="1"/>
          <p:nvPr/>
        </p:nvSpPr>
        <p:spPr>
          <a:xfrm>
            <a:off x="6318504" y="3255264"/>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Component-size law</a:t>
            </a:r>
            <a:endParaRPr lang="en-US" sz="950" dirty="0"/>
          </a:p>
        </p:txBody>
      </p:sp>
      <p:sp>
        <p:nvSpPr>
          <p:cNvPr id="46" name="Text 33"/>
          <p:cNvSpPr txBox="1"/>
          <p:nvPr/>
        </p:nvSpPr>
        <p:spPr>
          <a:xfrm>
            <a:off x="8270748" y="3255264"/>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§VII</a:t>
            </a:r>
            <a:endParaRPr lang="en-US" sz="900" dirty="0"/>
          </a:p>
        </p:txBody>
      </p:sp>
      <p:pic>
        <p:nvPicPr>
          <p:cNvPr id="47" name="Image 11" descr="/home/claude/eq/w_bt_box.png"/>
          <p:cNvPicPr>
            <a:picLocks noChangeAspect="1"/>
          </p:cNvPicPr>
          <p:nvPr/>
        </p:nvPicPr>
        <p:blipFill>
          <a:blip r:embed="rId14"/>
          <a:stretch>
            <a:fillRect/>
          </a:stretch>
        </p:blipFill>
        <p:spPr>
          <a:xfrm>
            <a:off x="6788640" y="3529584"/>
            <a:ext cx="1432595" cy="402336"/>
          </a:xfrm>
          <a:prstGeom prst="rect">
            <a:avLst/>
          </a:prstGeom>
        </p:spPr>
      </p:pic>
      <p:sp>
        <p:nvSpPr>
          <p:cNvPr id="48" name="Shape 34"/>
          <p:cNvSpPr/>
          <p:nvPr/>
        </p:nvSpPr>
        <p:spPr>
          <a:xfrm>
            <a:off x="9002268" y="3182112"/>
            <a:ext cx="2628900" cy="877824"/>
          </a:xfrm>
          <a:prstGeom prst="roundRect">
            <a:avLst>
              <a:gd name="adj" fmla="val 6250"/>
            </a:avLst>
          </a:prstGeom>
          <a:solidFill>
            <a:srgbClr val="18294A"/>
          </a:solidFill>
          <a:ln w="12700">
            <a:solidFill>
              <a:srgbClr val="2C4570"/>
            </a:solidFill>
            <a:prstDash val="solid"/>
          </a:ln>
        </p:spPr>
        <p:txBody>
          <a:bodyPr/>
          <a:lstStyle/>
          <a:p>
            <a:endParaRPr lang="en-IN"/>
          </a:p>
        </p:txBody>
      </p:sp>
      <p:sp>
        <p:nvSpPr>
          <p:cNvPr id="49" name="Text 35"/>
          <p:cNvSpPr txBox="1"/>
          <p:nvPr/>
        </p:nvSpPr>
        <p:spPr>
          <a:xfrm>
            <a:off x="9130284" y="3255264"/>
            <a:ext cx="2372868" cy="201168"/>
          </a:xfrm>
          <a:prstGeom prst="rect">
            <a:avLst/>
          </a:prstGeom>
          <a:noFill/>
          <a:ln/>
        </p:spPr>
        <p:txBody>
          <a:bodyPr wrap="square" lIns="0" tIns="0" rIns="0" bIns="0" rtlCol="0" anchor="ctr"/>
          <a:lstStyle/>
          <a:p>
            <a:pPr marL="0" indent="0">
              <a:buNone/>
            </a:pPr>
            <a:r>
              <a:rPr lang="en-US" sz="950" b="1" kern="0" spc="60" dirty="0">
                <a:solidFill>
                  <a:srgbClr val="BFD3E6"/>
                </a:solidFill>
                <a:latin typeface="Calibri" pitchFamily="34" charset="0"/>
                <a:ea typeface="Calibri" pitchFamily="34" charset="-122"/>
                <a:cs typeface="Calibri" pitchFamily="34" charset="-120"/>
              </a:rPr>
              <a:t>General mean size</a:t>
            </a:r>
            <a:endParaRPr lang="en-US" sz="950" dirty="0"/>
          </a:p>
        </p:txBody>
      </p:sp>
      <p:sp>
        <p:nvSpPr>
          <p:cNvPr id="50" name="Text 36"/>
          <p:cNvSpPr txBox="1"/>
          <p:nvPr/>
        </p:nvSpPr>
        <p:spPr>
          <a:xfrm>
            <a:off x="11082528" y="3255264"/>
            <a:ext cx="420624" cy="201168"/>
          </a:xfrm>
          <a:prstGeom prst="rect">
            <a:avLst/>
          </a:prstGeom>
          <a:noFill/>
          <a:ln/>
        </p:spPr>
        <p:txBody>
          <a:bodyPr wrap="square" lIns="0" tIns="0" rIns="0" bIns="0" rtlCol="0" anchor="ctr"/>
          <a:lstStyle/>
          <a:p>
            <a:pPr marL="0" indent="0" algn="r">
              <a:buNone/>
            </a:pPr>
            <a:r>
              <a:rPr lang="en-US" sz="900" dirty="0">
                <a:solidFill>
                  <a:srgbClr val="0E6F66"/>
                </a:solidFill>
                <a:latin typeface="Calibri" pitchFamily="34" charset="0"/>
                <a:ea typeface="Calibri" pitchFamily="34" charset="-122"/>
                <a:cs typeface="Calibri" pitchFamily="34" charset="-120"/>
              </a:rPr>
              <a:t>§VII</a:t>
            </a:r>
            <a:endParaRPr lang="en-US" sz="900" dirty="0"/>
          </a:p>
        </p:txBody>
      </p:sp>
      <p:pic>
        <p:nvPicPr>
          <p:cNvPr id="51" name="Image 12" descr="/home/claude/eq/w_ms_box.png"/>
          <p:cNvPicPr>
            <a:picLocks noChangeAspect="1"/>
          </p:cNvPicPr>
          <p:nvPr/>
        </p:nvPicPr>
        <p:blipFill>
          <a:blip r:embed="rId15"/>
          <a:stretch>
            <a:fillRect/>
          </a:stretch>
        </p:blipFill>
        <p:spPr>
          <a:xfrm>
            <a:off x="9662647" y="3529584"/>
            <a:ext cx="1308142" cy="402336"/>
          </a:xfrm>
          <a:prstGeom prst="rect">
            <a:avLst/>
          </a:prstGeom>
        </p:spPr>
      </p:pic>
      <p:sp>
        <p:nvSpPr>
          <p:cNvPr id="52" name="Text 37"/>
          <p:cNvSpPr txBox="1"/>
          <p:nvPr/>
        </p:nvSpPr>
        <p:spPr>
          <a:xfrm>
            <a:off x="566928" y="4352544"/>
            <a:ext cx="5486400"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References</a:t>
            </a:r>
            <a:endParaRPr lang="en-US" sz="1500" dirty="0"/>
          </a:p>
        </p:txBody>
      </p:sp>
      <p:sp>
        <p:nvSpPr>
          <p:cNvPr id="53" name="Text 38"/>
          <p:cNvSpPr txBox="1"/>
          <p:nvPr/>
        </p:nvSpPr>
        <p:spPr>
          <a:xfrm>
            <a:off x="566928" y="4663440"/>
            <a:ext cx="6949440" cy="1737360"/>
          </a:xfrm>
          <a:prstGeom prst="rect">
            <a:avLst/>
          </a:prstGeom>
          <a:noFill/>
          <a:ln/>
        </p:spPr>
        <p:txBody>
          <a:bodyPr wrap="square" lIns="0" tIns="0" rIns="0" bIns="0" rtlCol="0" anchor="ctr"/>
          <a:lstStyle/>
          <a:p>
            <a:pPr marL="0" indent="0">
              <a:lnSpc>
                <a:spcPct val="114000"/>
              </a:lnSpc>
              <a:buNone/>
            </a:pPr>
            <a:r>
              <a:rPr lang="en-US" sz="950" dirty="0">
                <a:solidFill>
                  <a:srgbClr val="BFD3E6"/>
                </a:solidFill>
                <a:latin typeface="Calibri" pitchFamily="34" charset="0"/>
                <a:ea typeface="Calibri" pitchFamily="34" charset="-122"/>
                <a:cs typeface="Calibri" pitchFamily="34" charset="-120"/>
              </a:rPr>
              <a:t>[1] P. Erdős and A. Rényi, On random graphs, Publ. Math. Debrecen 6 (1959), 290–297.</a:t>
            </a:r>
            <a:endParaRPr lang="en-US" sz="950" dirty="0"/>
          </a:p>
          <a:p>
            <a:pPr marL="0" indent="0">
              <a:lnSpc>
                <a:spcPct val="114000"/>
              </a:lnSpc>
              <a:buNone/>
            </a:pPr>
            <a:r>
              <a:rPr lang="en-US" sz="950" dirty="0">
                <a:solidFill>
                  <a:srgbClr val="BFD3E6"/>
                </a:solidFill>
                <a:latin typeface="Calibri" pitchFamily="34" charset="0"/>
                <a:ea typeface="Calibri" pitchFamily="34" charset="-122"/>
                <a:cs typeface="Calibri" pitchFamily="34" charset="-120"/>
              </a:rPr>
              <a:t>[2] B. Bollobás, Random Graphs, 2nd ed., Cambridge University Press, 2001.</a:t>
            </a:r>
            <a:endParaRPr lang="en-US" sz="950" dirty="0"/>
          </a:p>
          <a:p>
            <a:pPr marL="0" indent="0">
              <a:lnSpc>
                <a:spcPct val="114000"/>
              </a:lnSpc>
              <a:buNone/>
            </a:pPr>
            <a:r>
              <a:rPr lang="en-US" sz="950" dirty="0">
                <a:solidFill>
                  <a:srgbClr val="BFD3E6"/>
                </a:solidFill>
                <a:latin typeface="Calibri" pitchFamily="34" charset="0"/>
                <a:ea typeface="Calibri" pitchFamily="34" charset="-122"/>
                <a:cs typeface="Calibri" pitchFamily="34" charset="-120"/>
              </a:rPr>
              <a:t>[3] M. E. J. Newman, The structure and function of complex networks, SIAM Rev. 45(2) (2003), 167–256.</a:t>
            </a:r>
            <a:endParaRPr lang="en-US" sz="950" dirty="0"/>
          </a:p>
          <a:p>
            <a:pPr marL="0" indent="0">
              <a:lnSpc>
                <a:spcPct val="114000"/>
              </a:lnSpc>
              <a:buNone/>
            </a:pPr>
            <a:r>
              <a:rPr lang="en-US" sz="950" dirty="0">
                <a:solidFill>
                  <a:srgbClr val="BFD3E6"/>
                </a:solidFill>
                <a:latin typeface="Calibri" pitchFamily="34" charset="0"/>
                <a:ea typeface="Calibri" pitchFamily="34" charset="-122"/>
                <a:cs typeface="Calibri" pitchFamily="34" charset="-120"/>
              </a:rPr>
              <a:t>[4] M. E. J. Newman, S. H. Strogatz and D. J. Watts, Random graphs with arbitrary degree distributions and their applications, Phys. Rev. E 64 (2001), 026118.</a:t>
            </a:r>
            <a:endParaRPr lang="en-US" sz="950" dirty="0"/>
          </a:p>
          <a:p>
            <a:pPr marL="0" indent="0">
              <a:lnSpc>
                <a:spcPct val="114000"/>
              </a:lnSpc>
              <a:buNone/>
            </a:pPr>
            <a:r>
              <a:rPr lang="en-US" sz="950" dirty="0">
                <a:solidFill>
                  <a:srgbClr val="BFD3E6"/>
                </a:solidFill>
                <a:latin typeface="Calibri" pitchFamily="34" charset="0"/>
                <a:ea typeface="Calibri" pitchFamily="34" charset="-122"/>
                <a:cs typeface="Calibri" pitchFamily="34" charset="-120"/>
              </a:rPr>
              <a:t>[5] M. Molloy and B. Reed, A critical point for random graphs with a given degree sequence, Random Struct. Algorithms 6 (1995), 161–180.</a:t>
            </a:r>
            <a:endParaRPr lang="en-US" sz="950" dirty="0"/>
          </a:p>
          <a:p>
            <a:pPr marL="0" indent="0">
              <a:lnSpc>
                <a:spcPct val="114000"/>
              </a:lnSpc>
              <a:buNone/>
            </a:pPr>
            <a:r>
              <a:rPr lang="en-US" sz="950" dirty="0">
                <a:solidFill>
                  <a:srgbClr val="BFD3E6"/>
                </a:solidFill>
                <a:latin typeface="Calibri" pitchFamily="34" charset="0"/>
                <a:ea typeface="Calibri" pitchFamily="34" charset="-122"/>
                <a:cs typeface="Calibri" pitchFamily="34" charset="-120"/>
              </a:rPr>
              <a:t>[6] D. J. Watts and S. H. Strogatz, Collective dynamics of ‘small-world’ networks, Nature 393 (1998), 440–442.</a:t>
            </a:r>
            <a:endParaRPr lang="en-US" sz="950" dirty="0"/>
          </a:p>
          <a:p>
            <a:pPr marL="0" indent="0">
              <a:lnSpc>
                <a:spcPct val="114000"/>
              </a:lnSpc>
              <a:buNone/>
            </a:pPr>
            <a:r>
              <a:rPr lang="en-US" sz="950" dirty="0">
                <a:solidFill>
                  <a:srgbClr val="BFD3E6"/>
                </a:solidFill>
                <a:latin typeface="Calibri" pitchFamily="34" charset="0"/>
                <a:ea typeface="Calibri" pitchFamily="34" charset="-122"/>
                <a:cs typeface="Calibri" pitchFamily="34" charset="-120"/>
              </a:rPr>
              <a:t>[7] A.-L. Barabási and R. Albert, Emergence of scaling in random networks, Science 286 (1999), 509–512.</a:t>
            </a:r>
            <a:endParaRPr lang="en-US" sz="950" dirty="0"/>
          </a:p>
          <a:p>
            <a:pPr marL="0" indent="0">
              <a:lnSpc>
                <a:spcPct val="114000"/>
              </a:lnSpc>
              <a:buNone/>
            </a:pPr>
            <a:r>
              <a:rPr lang="en-US" sz="950" dirty="0">
                <a:solidFill>
                  <a:srgbClr val="BFD3E6"/>
                </a:solidFill>
                <a:latin typeface="Calibri" pitchFamily="34" charset="0"/>
                <a:ea typeface="Calibri" pitchFamily="34" charset="-122"/>
                <a:cs typeface="Calibri" pitchFamily="34" charset="-120"/>
              </a:rPr>
              <a:t>[8] R. Cohen, K. Erez, D. ben-Avraham and S. Havlin, Resilience of the Internet to random breakdowns, Phys. Rev. Lett. 85 (2000), 4626.</a:t>
            </a:r>
            <a:endParaRPr lang="en-US" sz="950" dirty="0"/>
          </a:p>
        </p:txBody>
      </p:sp>
      <p:sp>
        <p:nvSpPr>
          <p:cNvPr id="54" name="Shape 39"/>
          <p:cNvSpPr/>
          <p:nvPr/>
        </p:nvSpPr>
        <p:spPr>
          <a:xfrm>
            <a:off x="7790688" y="4352544"/>
            <a:ext cx="3840480" cy="1481328"/>
          </a:xfrm>
          <a:prstGeom prst="roundRect">
            <a:avLst>
              <a:gd name="adj" fmla="val 3704"/>
            </a:avLst>
          </a:prstGeom>
          <a:solidFill>
            <a:srgbClr val="18294A"/>
          </a:solidFill>
          <a:ln w="15875">
            <a:solidFill>
              <a:srgbClr val="C0392B"/>
            </a:solidFill>
            <a:prstDash val="solid"/>
          </a:ln>
        </p:spPr>
        <p:txBody>
          <a:bodyPr/>
          <a:lstStyle/>
          <a:p>
            <a:endParaRPr lang="en-IN"/>
          </a:p>
        </p:txBody>
      </p:sp>
      <p:sp>
        <p:nvSpPr>
          <p:cNvPr id="55" name="Text 40"/>
          <p:cNvSpPr txBox="1"/>
          <p:nvPr/>
        </p:nvSpPr>
        <p:spPr>
          <a:xfrm>
            <a:off x="7991856" y="4462272"/>
            <a:ext cx="3438144" cy="219456"/>
          </a:xfrm>
          <a:prstGeom prst="rect">
            <a:avLst/>
          </a:prstGeom>
          <a:noFill/>
          <a:ln/>
        </p:spPr>
        <p:txBody>
          <a:bodyPr wrap="square" lIns="0" tIns="0" rIns="0" bIns="0" rtlCol="0" anchor="ctr"/>
          <a:lstStyle/>
          <a:p>
            <a:pPr marL="0" indent="0">
              <a:buNone/>
            </a:pPr>
            <a:r>
              <a:rPr lang="en-US" sz="950" b="1" kern="0" spc="140" dirty="0">
                <a:solidFill>
                  <a:srgbClr val="C0392B"/>
                </a:solidFill>
                <a:latin typeface="Calibri" pitchFamily="34" charset="0"/>
                <a:ea typeface="Calibri" pitchFamily="34" charset="-122"/>
                <a:cs typeface="Calibri" pitchFamily="34" charset="-120"/>
              </a:rPr>
              <a:t>THE ONE-LINE SUMMARY</a:t>
            </a:r>
            <a:endParaRPr lang="en-US" sz="950" dirty="0"/>
          </a:p>
        </p:txBody>
      </p:sp>
      <p:sp>
        <p:nvSpPr>
          <p:cNvPr id="56" name="Text 41"/>
          <p:cNvSpPr txBox="1"/>
          <p:nvPr/>
        </p:nvSpPr>
        <p:spPr>
          <a:xfrm>
            <a:off x="7991856" y="4718304"/>
            <a:ext cx="3438144" cy="1005840"/>
          </a:xfrm>
          <a:prstGeom prst="rect">
            <a:avLst/>
          </a:prstGeom>
          <a:noFill/>
          <a:ln/>
        </p:spPr>
        <p:txBody>
          <a:bodyPr wrap="square" lIns="0" tIns="0" rIns="0" bIns="0" rtlCol="0" anchor="ctr"/>
          <a:lstStyle/>
          <a:p>
            <a:pPr marL="0" indent="0">
              <a:lnSpc>
                <a:spcPct val="100000"/>
              </a:lnSpc>
              <a:buNone/>
            </a:pPr>
            <a:r>
              <a:rPr lang="en-US" sz="1150" dirty="0">
                <a:solidFill>
                  <a:srgbClr val="FFFFFF"/>
                </a:solidFill>
                <a:latin typeface="Calibri" pitchFamily="34" charset="0"/>
                <a:ea typeface="Calibri" pitchFamily="34" charset="-122"/>
                <a:cs typeface="Calibri" pitchFamily="34" charset="-120"/>
              </a:rPr>
              <a:t>G(n,p) gets short paths, sharp thresholds and Poisson degrees exactly right, and gets hubs and clustering exactly wrong. The generating-function formalism explains both halves of that verdict — and hands you the repair.</a:t>
            </a:r>
            <a:endParaRPr lang="en-US" sz="1150" dirty="0"/>
          </a:p>
        </p:txBody>
      </p:sp>
      <p:sp>
        <p:nvSpPr>
          <p:cNvPr id="57" name="Text 42"/>
          <p:cNvSpPr txBox="1"/>
          <p:nvPr/>
        </p:nvSpPr>
        <p:spPr>
          <a:xfrm>
            <a:off x="11231575" y="6382512"/>
            <a:ext cx="502920" cy="274320"/>
          </a:xfrm>
          <a:prstGeom prst="rect">
            <a:avLst/>
          </a:prstGeom>
          <a:noFill/>
          <a:ln/>
        </p:spPr>
        <p:txBody>
          <a:bodyPr wrap="square" lIns="0" tIns="0" rIns="0" bIns="0" rtlCol="0" anchor="ctr"/>
          <a:lstStyle/>
          <a:p>
            <a:pPr marL="0" indent="0" algn="r">
              <a:buNone/>
            </a:pPr>
            <a:r>
              <a:rPr lang="en-US" sz="1050" dirty="0">
                <a:solidFill>
                  <a:srgbClr val="6B7684"/>
                </a:solidFill>
                <a:latin typeface="Calibri" pitchFamily="34" charset="0"/>
                <a:ea typeface="Calibri" pitchFamily="34" charset="-122"/>
                <a:cs typeface="Calibri" pitchFamily="34" charset="-120"/>
              </a:rPr>
              <a:t>50</a:t>
            </a:r>
            <a:endParaRPr lang="en-US" sz="1050" dirty="0"/>
          </a:p>
        </p:txBody>
      </p:sp>
      <p:sp>
        <p:nvSpPr>
          <p:cNvPr id="58" name="Text 43"/>
          <p:cNvSpPr txBox="1"/>
          <p:nvPr/>
        </p:nvSpPr>
        <p:spPr>
          <a:xfrm>
            <a:off x="566928" y="6382512"/>
            <a:ext cx="7680960" cy="274320"/>
          </a:xfrm>
          <a:prstGeom prst="rect">
            <a:avLst/>
          </a:prstGeom>
          <a:noFill/>
          <a:ln/>
        </p:spPr>
        <p:txBody>
          <a:bodyPr wrap="square" lIns="0" tIns="0" rIns="0" bIns="0" rtlCol="0" anchor="ctr"/>
          <a:lstStyle/>
          <a:p>
            <a:pPr marL="0" indent="0">
              <a:buNone/>
            </a:pPr>
            <a:r>
              <a:rPr lang="en-US" sz="1000" dirty="0">
                <a:solidFill>
                  <a:srgbClr val="6B7684"/>
                </a:solidFill>
                <a:latin typeface="Calibri" pitchFamily="34" charset="0"/>
                <a:ea typeface="Calibri" pitchFamily="34" charset="-122"/>
                <a:cs typeface="Calibri" pitchFamily="34" charset="-120"/>
              </a:rPr>
              <a:t>Summary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209</TotalTime>
  <Words>11528</Words>
  <Application>Microsoft Office PowerPoint</Application>
  <PresentationFormat>Widescreen</PresentationFormat>
  <Paragraphs>1063</Paragraphs>
  <Slides>80</Slides>
  <Notes>62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80</vt:i4>
      </vt:variant>
    </vt:vector>
  </HeadingPairs>
  <TitlesOfParts>
    <vt:vector size="86" baseType="lpstr">
      <vt:lpstr>Arial</vt:lpstr>
      <vt:lpstr>Calibri</vt:lpstr>
      <vt:lpstr>Cambria</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Average pathlength</vt:lpstr>
      <vt:lpstr>Average pathlength</vt:lpstr>
      <vt:lpstr>Average pathlength</vt:lpstr>
      <vt:lpstr>Average pathlength</vt:lpstr>
      <vt:lpstr>Average pathlength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Properties of Erdos-Renyi Random Graphs</dc:title>
  <dc:subject>PptxGenJS Presentation</dc:subject>
  <dc:creator>DPCN 2026 Session</dc:creator>
  <cp:lastModifiedBy>Chittaranjan Hens</cp:lastModifiedBy>
  <cp:revision>8</cp:revision>
  <dcterms:created xsi:type="dcterms:W3CDTF">2026-09-02T18:46:12Z</dcterms:created>
  <dcterms:modified xsi:type="dcterms:W3CDTF">2026-09-10T04:24:45Z</dcterms:modified>
</cp:coreProperties>
</file>